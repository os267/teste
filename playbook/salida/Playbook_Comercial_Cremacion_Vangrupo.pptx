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5A059"/>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E8EDF3"/>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A8794"/>
                </a:solidFill>
                <a:latin typeface="Montserrat"/>
              </a:rPr>
              <a:t>LOGO</a:t>
            </a:r>
          </a:p>
          <a:p>
            <a:pPr algn="ctr">
              <a:lnSpc>
                <a:spcPct val="115000"/>
              </a:lnSpc>
              <a:spcAft>
                <a:spcPts val="0"/>
              </a:spcAft>
            </a:pPr>
            <a:r>
              <a:rPr sz="1500" b="1" i="0">
                <a:solidFill>
                  <a:srgbClr val="1B365D"/>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9FB0C4"/>
                </a:solidFill>
                <a:latin typeface="Montserrat"/>
              </a:rPr>
              <a:t>Versión 1.0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C3E50"/>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5A059"/>
                </a:solidFill>
                <a:latin typeface="Montserrat"/>
              </a:rPr>
              <a:t>■  </a:t>
            </a:r>
            <a:r>
              <a:rPr sz="1200" b="0" i="0">
                <a:solidFill>
                  <a:srgbClr val="2C3E50"/>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Jardín de Mascotas: confirmar si la urna biodegradable está incluida en el precio.</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Placas de madera: confirmar el tratamiento de la madera para contacto con el suelo.</a:t>
            </a:r>
          </a:p>
          <a:p>
            <a:pPr algn="l">
              <a:lnSpc>
                <a:spcPct val="115000"/>
              </a:lnSpc>
              <a:spcAft>
                <a:spcPts val="400"/>
              </a:spcAft>
            </a:pPr>
            <a:r>
              <a:rPr sz="900" b="1" i="0">
                <a:solidFill>
                  <a:srgbClr val="C5A059"/>
                </a:solidFill>
                <a:latin typeface="Montserrat"/>
              </a:rPr>
              <a:t>■  </a:t>
            </a:r>
            <a:r>
              <a:rPr sz="1200" b="0" i="0">
                <a:solidFill>
                  <a:srgbClr val="2C3E50"/>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1B365D"/>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A quién le vendemos</a:t>
            </a:r>
          </a:p>
        </p:txBody>
      </p:sp>
      <p:sp>
        <p:nvSpPr>
          <p:cNvPr id="17" name="Rectangle 16"/>
          <p:cNvSpPr/>
          <p:nvPr/>
        </p:nvSpPr>
        <p:spPr>
          <a:xfrm>
            <a:off x="6720840" y="3090672"/>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El proceso de venta</a:t>
            </a:r>
          </a:p>
        </p:txBody>
      </p:sp>
      <p:sp>
        <p:nvSpPr>
          <p:cNvPr id="20" name="Rectangle 19"/>
          <p:cNvSpPr/>
          <p:nvPr/>
        </p:nvSpPr>
        <p:spPr>
          <a:xfrm>
            <a:off x="6720840" y="3575304"/>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Manejo de objeciones</a:t>
            </a:r>
          </a:p>
        </p:txBody>
      </p:sp>
      <p:sp>
        <p:nvSpPr>
          <p:cNvPr id="26" name="Rectangle 25"/>
          <p:cNvSpPr/>
          <p:nvPr/>
        </p:nvSpPr>
        <p:spPr>
          <a:xfrm>
            <a:off x="6720840" y="4544568"/>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Política de comisiones</a:t>
            </a:r>
          </a:p>
        </p:txBody>
      </p:sp>
      <p:sp>
        <p:nvSpPr>
          <p:cNvPr id="32" name="Rectangle 31"/>
          <p:cNvSpPr/>
          <p:nvPr/>
        </p:nvSpPr>
        <p:spPr>
          <a:xfrm>
            <a:off x="6720840" y="5513832"/>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Herramientas de apoyo</a:t>
            </a:r>
          </a:p>
        </p:txBody>
      </p:sp>
      <p:sp>
        <p:nvSpPr>
          <p:cNvPr id="35" name="Rectangle 34"/>
          <p:cNvSpPr/>
          <p:nvPr/>
        </p:nvSpPr>
        <p:spPr>
          <a:xfrm>
            <a:off x="6720840" y="5998464"/>
            <a:ext cx="4846320" cy="9525"/>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Acompañar, no vender: la familia primero, siempre.</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En La Auxiliadora y Hogar de las Memorias,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Desde US$ 400 y con financiamiento: un destino final al alcance de más familias.</a:t>
            </a:r>
          </a:p>
        </p:txBody>
      </p:sp>
      <p:sp>
        <p:nvSpPr>
          <p:cNvPr id="15" name="Rectangle 14"/>
          <p:cNvSpPr/>
          <p:nvPr/>
        </p:nvSpPr>
        <p:spPr>
          <a:xfrm>
            <a:off x="6181344"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5A059"/>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635698" y="1508760"/>
            <a:ext cx="10920298" cy="4754880"/>
          </a:xfrm>
          <a:prstGeom prst="rect">
            <a:avLst/>
          </a:prstGeom>
        </p:spPr>
      </p:pic>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1B365D"/>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1B365D"/>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C3E50"/>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UAF · Unidad de Apoyo Familiar</a:t>
            </a:r>
          </a:p>
          <a:p>
            <a:pPr algn="l">
              <a:lnSpc>
                <a:spcPct val="115000"/>
              </a:lnSpc>
              <a:spcAft>
                <a:spcPts val="300"/>
              </a:spcAft>
            </a:pPr>
            <a:r>
              <a:rPr sz="1100" b="0" i="0">
                <a:solidFill>
                  <a:srgbClr val="2C3E50"/>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Pilares Alternativos</a:t>
            </a:r>
          </a:p>
          <a:p>
            <a:pPr algn="l">
              <a:lnSpc>
                <a:spcPct val="115000"/>
              </a:lnSpc>
              <a:spcAft>
                <a:spcPts val="300"/>
              </a:spcAft>
            </a:pPr>
            <a:r>
              <a:rPr sz="1100" b="0" i="0">
                <a:solidFill>
                  <a:srgbClr val="2C3E50"/>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1B365D"/>
                </a:solidFill>
                <a:latin typeface="Montserrat"/>
              </a:rPr>
              <a:t>AML · Puerta a puerta</a:t>
            </a:r>
          </a:p>
          <a:p>
            <a:pPr algn="l">
              <a:lnSpc>
                <a:spcPct val="115000"/>
              </a:lnSpc>
              <a:spcAft>
                <a:spcPts val="300"/>
              </a:spcAft>
            </a:pPr>
            <a:r>
              <a:rPr sz="1100" b="0" i="0">
                <a:solidFill>
                  <a:srgbClr val="2C3E50"/>
                </a:solidFill>
                <a:latin typeface="Montserrat"/>
              </a:rPr>
              <a:t>Solución Modular + Jardín Individual: la combinación más completa para el hogar.</a:t>
            </a:r>
          </a:p>
        </p:txBody>
      </p:sp>
      <p:sp>
        <p:nvSpPr>
          <p:cNvPr id="21" name="TextBox 20"/>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Conocer al cliente es la mitad de la venta.</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45–65 años, compra para sí mismo.</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Tranquilidad y legado. No quiere dejar cargas a su familia.</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Calma, sin prisa, datos claros.</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25–45 años, compra para sus padres.</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Practicidad, control del presupuesto, evitar improvisar.</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Claro, práctico, comparativo.</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En el momento de la pérdida.</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Quitar peso, dignidad, agilidad.</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Acogida total, nunca comercial.</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30–55 años, valora la naturaleza.</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Volver a la tierra, sencillez, sostenibilidad.</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Inspirador, natural, sin solemnidad excesiva.</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Ecológico</a:t>
            </a:r>
          </a:p>
        </p:txBody>
      </p:sp>
      <p:sp>
        <p:nvSpPr>
          <p:cNvPr id="23" name="Rectangle 22"/>
          <p:cNvSpPr/>
          <p:nvPr/>
        </p:nvSpPr>
        <p:spPr>
          <a:xfrm>
            <a:off x="9509756" y="2011680"/>
            <a:ext cx="2084831" cy="32461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A8794"/>
                </a:solidFill>
                <a:latin typeface="Montserrat"/>
              </a:rPr>
              <a:t>20–60 años, despide a su compañero.</a:t>
            </a:r>
          </a:p>
          <a:p>
            <a:pPr algn="l">
              <a:lnSpc>
                <a:spcPct val="115000"/>
              </a:lnSpc>
              <a:spcAft>
                <a:spcPts val="500"/>
              </a:spcAft>
            </a:pPr>
            <a:r>
              <a:rPr sz="1050" b="1" i="0">
                <a:solidFill>
                  <a:srgbClr val="1B365D"/>
                </a:solidFill>
                <a:latin typeface="Montserrat"/>
              </a:rPr>
              <a:t>Busca: </a:t>
            </a:r>
            <a:r>
              <a:rPr sz="1050" b="0" i="0">
                <a:solidFill>
                  <a:srgbClr val="2C3E50"/>
                </a:solidFill>
                <a:latin typeface="Montserrat"/>
              </a:rPr>
              <a:t>Respeto al vínculo, un lugar para recordar.</a:t>
            </a:r>
          </a:p>
          <a:p>
            <a:pPr algn="l">
              <a:lnSpc>
                <a:spcPct val="115000"/>
              </a:lnSpc>
              <a:spcAft>
                <a:spcPts val="500"/>
              </a:spcAft>
            </a:pPr>
            <a:r>
              <a:rPr sz="1050" b="1" i="0">
                <a:solidFill>
                  <a:srgbClr val="1B365D"/>
                </a:solidFill>
                <a:latin typeface="Montserrat"/>
              </a:rPr>
              <a:t>Tono: </a:t>
            </a:r>
            <a:r>
              <a:rPr sz="1050" b="0" i="0">
                <a:solidFill>
                  <a:srgbClr val="2C3E50"/>
                </a:solidFill>
                <a:latin typeface="Montserrat"/>
              </a:rPr>
              <a:t>Emocional, cálido y ligero.</a:t>
            </a:r>
          </a:p>
          <a:p>
            <a:pPr algn="l">
              <a:lnSpc>
                <a:spcPct val="115000"/>
              </a:lnSpc>
              <a:spcAft>
                <a:spcPts val="500"/>
              </a:spcAft>
            </a:pPr>
            <a:r>
              <a:rPr sz="1050" b="1" i="0">
                <a:solidFill>
                  <a:srgbClr val="C5A059"/>
                </a:solidFill>
                <a:latin typeface="Montserrat"/>
              </a:rPr>
              <a:t>Ideal: </a:t>
            </a:r>
            <a:r>
              <a:rPr sz="1050" b="1" i="0">
                <a:solidFill>
                  <a:srgbClr val="2C3E50"/>
                </a:solidFill>
                <a:latin typeface="Montserrat"/>
              </a:rPr>
              <a:t>Jardín de Mascotas</a:t>
            </a:r>
          </a:p>
        </p:txBody>
      </p:sp>
      <p:sp>
        <p:nvSpPr>
          <p:cNvPr id="27" name="Rectangle 26"/>
          <p:cNvSpPr/>
          <p:nvPr/>
        </p:nvSpPr>
        <p:spPr>
          <a:xfrm>
            <a:off x="548640" y="5440680"/>
            <a:ext cx="11094415" cy="7315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1B365D"/>
                </a:solidFill>
                <a:latin typeface="Montserrat"/>
              </a:rPr>
              <a:t>FILTRO N·O·A   </a:t>
            </a:r>
            <a:r>
              <a:rPr sz="1150" b="0" i="0">
                <a:solidFill>
                  <a:srgbClr val="2C3E50"/>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Un camino claro, del primer contacto a la posventa.</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Rituales del equipo</a:t>
            </a:r>
          </a:p>
        </p:txBody>
      </p:sp>
      <p:sp>
        <p:nvSpPr>
          <p:cNvPr id="10" name="Rectangle 9"/>
          <p:cNvSpPr/>
          <p:nvPr/>
        </p:nvSpPr>
        <p:spPr>
          <a:xfrm>
            <a:off x="54864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Qué es, qué incluye, sus reglas y cómo presentarlo.</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Hasta 120 cuotas mensuales (≈ US$ 8,50/mes)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Proceso completo de cremación individual</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Urna cineraria de línea modular</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Trámites legales básicos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Alquiler temporal de columbario por 1 año (nivel 1, Hogar de las Memorias)</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Se vende como adicional a un plan funerario (actual o nuevo).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Cobertura individual: un módulo por titular o beneficiario.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Debe estar pagado en su totalidad para usar la cremación y el columbario.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¿Su plan actual incluye la cremación o solo el servicio funerario?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¿Ha conversado en familia qué preferencia tiene usted?</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¿Qué le preocupa más: el costo o tener que decidir de urgencia?</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parece si lo sumamos a su plan desde este mes, con la primera cuota de hoy?»</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«Mi plan ya es suficiente.» → «Su plan cubre el servicio funerario; la cremación y la urna se pagarían aparte y de una sola vez. Con el módulo queda todo cubierto en cuotas pequeñas.»</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Ofrézcalo siempre junto a un jardín: la familia resuelve cremación y destino final en una sola decisión.</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Inhumación de la urna en un contenedor enterrado con tapa de granito grabada, en un jardín de plantas de sombra: un lugar permanente para visitar.</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quieren un lugar permanente para visitar, con una inversión moderada.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la urna en contenedor individual (Ø 32 × 40 cm)</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Tapa de granito con los datos del ser querido</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Ubicación en el Jardín 1, con paisajismo de plantas de sombra</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urna.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Cuota de mantenimiento anual: US$ 15.</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El contenedor queda con 20 cm a la vista; la tapa de granito es la identificación.</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¿Dónde le gustaría poder visitar a su ser querido?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¿Tienen hoy las cenizas en casa o en un columbario temporal?</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¿Quién más de la familia participaría en las visitas?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gustaría conocer el jardín esta semana para elegir el lugar con calma?»</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El jardín vende solo: priorice siempre la visita.</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Mantenimiento US$ 25/año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Parcela familiar en el Jardín 1 con cuatro contenedores agrupados, cada uno con tapa de granito grabada. Sin plazo de permanencia.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buscan un espacio propio y permanente para varias generaciones.</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hasta 4 urnas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Tapa de granito grabada para cada espacio</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Ubicación en el Jardín 1, con paisajismo de plantas de sombra</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Lugar permanente de homenaje familiar, sin plazo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hasta 4 espacios.</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sin plazo.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Cuota de mantenimiento anual: US$ 25 por parcela.</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que la familia esté reunida en un mismo lugar?</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¿Cuántas personas de la familia considerarían este destino?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¿Prefieren pagarlo de una vez o en cuotas?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«¿Reservamos hoy la parcela para su familia y la pagan en cuotas cómodas?»</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«Es mucho dinero.» → «Son US$ 500 por cada espacio, con financiamiento. Y es una decisión que se toma una sola vez para toda la familia.»</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Use el argumento por espacio (US$ 500) y no el total.</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ecológica con urna biodegradable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de identificación (madera en el Jardín 2 · mármol en el Bosque)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Entorno natural con agua corriente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urna. Espacio de 30 × 30 cm, 40 cm de profundidad.</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3 años. Después, el espacio se reutiliza.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Placa memorial en el monumento: incluida en el precio de US$ 750.</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Explique el plazo de 3 años con total transparencia desde la primera conversación.</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¿Su ser querido tenía un vínculo especial con la naturaleza?</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¿Qué significa para ustedes «volver a la tierra»?</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¿Es importante para la familia un lugar con nombre para siempre?</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«¿Le parece si visitamos el Bosque de las Orquídeas y elegimos juntos el lugar?»</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«¿Y después de 3 años?» → «La urna ya se habrá integrado a la tierra, como era el deseo. El nombre pasa a la placa memorial del monumento, que queda para siempre en el jardín.»</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Para familias católicas, enfatice que las cenizas reposan en el cementerio, un lugar dedicado a la memoria.</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US$ 400 solo espacio · US$ 550 con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Inhumación ecológica de las cenizas de la mascota: la urna biodegradable se entierra en el jardín y se identifica con una placa de madera.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ecológica en el jardín de mascotas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de madera de 20 cm para identificación</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Permanencia de 3 años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Placa memorial en el monumento al término del plazo (opción US$ 550)</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Capacidad: 1 mascota por servicio.</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Permanencia: 3 años. Después, el espacio se reutiliza.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Placa memorial en el monumento: incluida solo en la opción de US$ 550.</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Pago único; puede contratarse como adicional al plan funerario.</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presentarlo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0F2537"/>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TextBox 9"/>
          <p:cNvSpPr txBox="1"/>
          <p:nvPr/>
        </p:nvSpPr>
        <p:spPr>
          <a:xfrm>
            <a:off x="7498079" y="1600200"/>
            <a:ext cx="41605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PREGUNTAS DE DESCUBRIMIENTO</a:t>
            </a:r>
          </a:p>
        </p:txBody>
      </p:sp>
      <p:sp>
        <p:nvSpPr>
          <p:cNvPr id="11" name="TextBox 10"/>
          <p:cNvSpPr txBox="1"/>
          <p:nvPr/>
        </p:nvSpPr>
        <p:spPr>
          <a:xfrm>
            <a:off x="7498079" y="1965960"/>
            <a:ext cx="4160520" cy="1920240"/>
          </a:xfrm>
          <a:prstGeom prst="rect">
            <a:avLst/>
          </a:prstGeom>
          <a:noFill/>
        </p:spPr>
        <p:txBody>
          <a:bodyPr wrap="square" anchor="t" lIns="45720" rIns="45720" tIns="27432" bIns="27432">
            <a:spAutoFit/>
          </a:bodyPr>
          <a:lstStyle/>
          <a:p>
            <a:pPr algn="l">
              <a:lnSpc>
                <a:spcPct val="115000"/>
              </a:lnSpc>
              <a:spcAft>
                <a:spcPts val="600"/>
              </a:spcAft>
            </a:pPr>
            <a:r>
              <a:rPr sz="950" b="1" i="0">
                <a:solidFill>
                  <a:srgbClr val="C5A059"/>
                </a:solidFill>
                <a:latin typeface="Montserrat"/>
              </a:rPr>
              <a:t>?  </a:t>
            </a:r>
            <a:r>
              <a:rPr sz="1250" b="0" i="0">
                <a:solidFill>
                  <a:srgbClr val="2C3E50"/>
                </a:solidFill>
                <a:latin typeface="Montserrat"/>
              </a:rPr>
              <a:t>¿Cómo se llamaba su compañero?</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que su nombre quede para siempre en el monumento memorial?</a:t>
            </a:r>
          </a:p>
          <a:p>
            <a:pPr algn="l">
              <a:lnSpc>
                <a:spcPct val="115000"/>
              </a:lnSpc>
              <a:spcAft>
                <a:spcPts val="600"/>
              </a:spcAft>
            </a:pPr>
            <a:r>
              <a:rPr sz="950" b="1" i="0">
                <a:solidFill>
                  <a:srgbClr val="C5A059"/>
                </a:solidFill>
                <a:latin typeface="Montserrat"/>
              </a:rPr>
              <a:t>?  </a:t>
            </a:r>
            <a:r>
              <a:rPr sz="1250" b="0" i="0">
                <a:solidFill>
                  <a:srgbClr val="2C3E50"/>
                </a:solidFill>
                <a:latin typeface="Montserrat"/>
              </a:rPr>
              <a:t>¿Les gustaría un lugar para visitarlo con los niños?</a:t>
            </a:r>
          </a:p>
        </p:txBody>
      </p:sp>
      <p:sp>
        <p:nvSpPr>
          <p:cNvPr id="12" name="Rectangle 11"/>
          <p:cNvSpPr/>
          <p:nvPr/>
        </p:nvSpPr>
        <p:spPr>
          <a:xfrm>
            <a:off x="54864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3360"/>
            <a:ext cx="3566160"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Frase de cierre</a:t>
            </a:r>
          </a:p>
        </p:txBody>
      </p:sp>
      <p:sp>
        <p:nvSpPr>
          <p:cNvPr id="15" name="TextBox 14"/>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«¿Prefieren la opción con placa memorial incluida, para que su nombre quede siempre en el jardín?»</a:t>
            </a:r>
          </a:p>
        </p:txBody>
      </p:sp>
      <p:sp>
        <p:nvSpPr>
          <p:cNvPr id="16" name="Rectangle 15"/>
          <p:cNvSpPr/>
          <p:nvPr/>
        </p:nvSpPr>
        <p:spPr>
          <a:xfrm>
            <a:off x="429768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4023360"/>
            <a:ext cx="3566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Objeción típica</a:t>
            </a:r>
          </a:p>
        </p:txBody>
      </p:sp>
      <p:sp>
        <p:nvSpPr>
          <p:cNvPr id="19" name="TextBox 18"/>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«Es solo una mascota.» → No discuta el vínculo de la familia. Si el cliente minimiza, respete y ofrezca la información por escrito para que decida con calma.</a:t>
            </a:r>
          </a:p>
        </p:txBody>
      </p:sp>
      <p:sp>
        <p:nvSpPr>
          <p:cNvPr id="20" name="Rectangle 19"/>
          <p:cNvSpPr/>
          <p:nvPr/>
        </p:nvSpPr>
        <p:spPr>
          <a:xfrm>
            <a:off x="8046720" y="4023360"/>
            <a:ext cx="3566160" cy="22402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20" y="4023360"/>
            <a:ext cx="356616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1B365D"/>
                </a:solidFill>
                <a:latin typeface="Montserrat"/>
              </a:rPr>
              <a:t>Tip del asesor</a:t>
            </a:r>
          </a:p>
        </p:txBody>
      </p:sp>
      <p:sp>
        <p:nvSpPr>
          <p:cNvPr id="23" name="TextBox 22"/>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Llame a la mascota por su nombre durante toda la conversación.</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5A059"/>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1B365D"/>
                </a:solidFill>
                <a:latin typeface="Montserrat"/>
              </a:rPr>
              <a:t>Qué es.  </a:t>
            </a:r>
            <a:r>
              <a:rPr sz="1400" b="0" i="0">
                <a:solidFill>
                  <a:srgbClr val="2C3E50"/>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1B365D"/>
                </a:solidFill>
                <a:latin typeface="Montserrat"/>
              </a:rPr>
              <a:t>Para quién.  </a:t>
            </a:r>
            <a:r>
              <a:rPr sz="1400" b="0" i="0">
                <a:solidFill>
                  <a:srgbClr val="2C3E50"/>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4F7A5A"/>
                </a:solidFill>
                <a:latin typeface="Montserrat"/>
              </a:rPr>
              <a:t>✓  </a:t>
            </a:r>
            <a:r>
              <a:rPr sz="1250" b="0" i="0">
                <a:solidFill>
                  <a:srgbClr val="2C3E50"/>
                </a:solidFill>
                <a:latin typeface="Montserrat"/>
              </a:rPr>
              <a:t>Inhumación de urnas de cenizas</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Ceremonia con agua en fuente</a:t>
            </a:r>
          </a:p>
          <a:p>
            <a:pPr algn="l">
              <a:lnSpc>
                <a:spcPct val="115000"/>
              </a:lnSpc>
              <a:spcAft>
                <a:spcPts val="500"/>
              </a:spcAft>
            </a:pPr>
            <a:r>
              <a:rPr sz="950" b="1" i="0">
                <a:solidFill>
                  <a:srgbClr val="4F7A5A"/>
                </a:solidFill>
                <a:latin typeface="Montserrat"/>
              </a:rPr>
              <a:t>✓  </a:t>
            </a:r>
            <a:r>
              <a:rPr sz="1250" b="0" i="0">
                <a:solidFill>
                  <a:srgbClr val="2C3E50"/>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5A059"/>
                </a:solidFill>
                <a:latin typeface="Montserrat"/>
              </a:rPr>
              <a:t>■  </a:t>
            </a:r>
            <a:r>
              <a:rPr sz="1250" b="0" i="0">
                <a:solidFill>
                  <a:srgbClr val="2C3E50"/>
                </a:solidFill>
                <a:latin typeface="Montserrat"/>
              </a:rPr>
              <a:t>PRÓXIMO LANZAMIENTO: no se vende ni se cotiza todavía.</a:t>
            </a:r>
          </a:p>
          <a:p>
            <a:pPr algn="l">
              <a:lnSpc>
                <a:spcPct val="115000"/>
              </a:lnSpc>
              <a:spcAft>
                <a:spcPts val="500"/>
              </a:spcAft>
            </a:pPr>
            <a:r>
              <a:rPr sz="950" b="1" i="0">
                <a:solidFill>
                  <a:srgbClr val="C5A059"/>
                </a:solidFill>
                <a:latin typeface="Montserrat"/>
              </a:rPr>
              <a:t>■  </a:t>
            </a:r>
            <a:r>
              <a:rPr sz="1250" b="0" i="0">
                <a:solidFill>
                  <a:srgbClr val="2C3E50"/>
                </a:solidFill>
                <a:latin typeface="Montserrat"/>
              </a:rPr>
              <a:t>Si un cliente muestra interés, registre su contacto como «interesado Ceremonial».</a:t>
            </a:r>
          </a:p>
        </p:txBody>
      </p:sp>
      <p:sp>
        <p:nvSpPr>
          <p:cNvPr id="18" name="TextBox 17"/>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Una objeción no es un «no»: es una duda que aún no resolvimos.</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método V·R·A</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gustaría conocer el jardín y ver cómo es el lugar?»</a:t>
            </a:r>
          </a:p>
        </p:txBody>
      </p:sp>
      <p:sp>
        <p:nvSpPr>
          <p:cNvPr id="22" name="TextBox 21"/>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«¿Qué cuota mensual le resultaría cómoda?»</a:t>
            </a:r>
          </a:p>
        </p:txBody>
      </p:sp>
      <p:sp>
        <p:nvSpPr>
          <p:cNvPr id="22" name="TextBox 21"/>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gustaría visitar el jardín antes de decidir?»</a:t>
            </a:r>
          </a:p>
        </p:txBody>
      </p:sp>
      <p:sp>
        <p:nvSpPr>
          <p:cNvPr id="22" name="TextBox 21"/>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La cuota (US$ 15 o US$ 25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V  </a:t>
            </a:r>
            <a:r>
              <a:rPr sz="1000" b="1" i="0">
                <a:solidFill>
                  <a:srgbClr val="1B365D"/>
                </a:solidFill>
                <a:latin typeface="Montserrat"/>
              </a:rPr>
              <a:t>VALIDAR</a:t>
            </a:r>
          </a:p>
          <a:p>
            <a:pPr algn="l">
              <a:lnSpc>
                <a:spcPct val="115000"/>
              </a:lnSpc>
              <a:spcAft>
                <a:spcPts val="300"/>
              </a:spcAft>
            </a:pPr>
            <a:r>
              <a:rPr sz="1100" b="0" i="1">
                <a:solidFill>
                  <a:srgbClr val="2C3E50"/>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R  </a:t>
            </a:r>
            <a:r>
              <a:rPr sz="1000" b="1" i="0">
                <a:solidFill>
                  <a:srgbClr val="1B365D"/>
                </a:solidFill>
                <a:latin typeface="Montserrat"/>
              </a:rPr>
              <a:t>REPOSICIONAR</a:t>
            </a:r>
          </a:p>
          <a:p>
            <a:pPr algn="l">
              <a:lnSpc>
                <a:spcPct val="115000"/>
              </a:lnSpc>
              <a:spcAft>
                <a:spcPts val="300"/>
              </a:spcAft>
            </a:pPr>
            <a:r>
              <a:rPr sz="1100" b="0" i="0">
                <a:solidFill>
                  <a:srgbClr val="2C3E50"/>
                </a:solidFill>
                <a:latin typeface="Montserrat"/>
              </a:rPr>
              <a:t>Somos La Auxiliadora y Hogar de las Memorias,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5A059"/>
                </a:solidFill>
                <a:latin typeface="Playfair Display"/>
              </a:rPr>
              <a:t>A  </a:t>
            </a:r>
            <a:r>
              <a:rPr sz="1000" b="1" i="0">
                <a:solidFill>
                  <a:srgbClr val="1B365D"/>
                </a:solidFill>
                <a:latin typeface="Montserrat"/>
              </a:rPr>
              <a:t>AVANZAR</a:t>
            </a:r>
          </a:p>
          <a:p>
            <a:pPr algn="l">
              <a:lnSpc>
                <a:spcPct val="115000"/>
              </a:lnSpc>
              <a:spcAft>
                <a:spcPts val="300"/>
              </a:spcAft>
            </a:pPr>
            <a:r>
              <a:rPr sz="1100" b="0" i="1">
                <a:solidFill>
                  <a:srgbClr val="2C3E50"/>
                </a:solidFill>
                <a:latin typeface="Montserrat"/>
              </a:rPr>
              <a:t>«¿Agendamos una visita sin compromiso?»</a:t>
            </a:r>
          </a:p>
        </p:txBody>
      </p:sp>
      <p:sp>
        <p:nvSpPr>
          <p:cNvPr id="22" name="TextBox 21"/>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Transparencia desde la primera conversación.</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Tabla de precios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1B365D"/>
                    </a:solidFill>
                  </a:tcPr>
                </a:tc>
                <a:tc>
                  <a:txBody>
                    <a:bodyPr wrap="square"/>
                    <a:lstStyle/>
                    <a:p>
                      <a:r>
                        <a:rPr sz="1250" b="1">
                          <a:solidFill>
                            <a:srgbClr val="FFFFFF"/>
                          </a:solidFill>
                          <a:latin typeface="Montserrat"/>
                        </a:rPr>
                        <a:t>Precio</a:t>
                      </a:r>
                    </a:p>
                  </a:txBody>
                  <a:tcPr marL="73152" marR="73152" marT="36576" marB="36576" anchor="ctr">
                    <a:solidFill>
                      <a:srgbClr val="1B365D"/>
                    </a:solidFill>
                  </a:tcPr>
                </a:tc>
                <a:tc>
                  <a:txBody>
                    <a:bodyPr wrap="square"/>
                    <a:lstStyle/>
                    <a:p>
                      <a:r>
                        <a:rPr sz="1250" b="1">
                          <a:solidFill>
                            <a:srgbClr val="FFFFFF"/>
                          </a:solidFill>
                          <a:latin typeface="Montserrat"/>
                        </a:rPr>
                        <a:t>Forma de pago</a:t>
                      </a:r>
                    </a:p>
                  </a:txBody>
                  <a:tcPr marL="73152" marR="73152" marT="36576" marB="36576" anchor="ctr">
                    <a:solidFill>
                      <a:srgbClr val="1B365D"/>
                    </a:solidFill>
                  </a:tcPr>
                </a:tc>
                <a:tc>
                  <a:txBody>
                    <a:bodyPr wrap="square"/>
                    <a:lstStyle/>
                    <a:p>
                      <a:r>
                        <a:rPr sz="1250" b="1">
                          <a:solidFill>
                            <a:srgbClr val="FFFFFF"/>
                          </a:solidFill>
                          <a:latin typeface="Montserrat"/>
                        </a:rPr>
                        <a:t>Mantenimiento</a:t>
                      </a:r>
                    </a:p>
                  </a:txBody>
                  <a:tcPr marL="73152" marR="73152" marT="36576" marB="36576" anchor="ctr">
                    <a:solidFill>
                      <a:srgbClr val="1B365D"/>
                    </a:solidFill>
                  </a:tcPr>
                </a:tc>
                <a:tc>
                  <a:txBody>
                    <a:bodyPr wrap="square"/>
                    <a:lstStyle/>
                    <a:p>
                      <a:r>
                        <a:rPr sz="1250" b="1">
                          <a:solidFill>
                            <a:srgbClr val="FFFFFF"/>
                          </a:solidFill>
                          <a:latin typeface="Montserrat"/>
                        </a:rPr>
                        <a:t>Plazo / condición</a:t>
                      </a:r>
                    </a:p>
                  </a:txBody>
                  <a:tcPr marL="73152" marR="73152" marT="36576" marB="36576" anchor="ctr">
                    <a:solidFill>
                      <a:srgbClr val="1B365D"/>
                    </a:solidFill>
                  </a:tcPr>
                </a:tc>
              </a:tr>
              <a:tr h="502920">
                <a:tc>
                  <a:txBody>
                    <a:bodyPr wrap="square"/>
                    <a:lstStyle/>
                    <a:p>
                      <a:r>
                        <a:rPr sz="1250" b="1">
                          <a:solidFill>
                            <a:srgbClr val="1B365D"/>
                          </a:solidFill>
                          <a:latin typeface="Montserrat"/>
                        </a:rPr>
                        <a:t>Solución Modular</a:t>
                      </a:r>
                    </a:p>
                  </a:txBody>
                  <a:tcPr marL="73152" marR="73152" marT="36576" marB="36576" anchor="ctr">
                    <a:solidFill>
                      <a:srgbClr val="FFFFFF"/>
                    </a:solidFill>
                  </a:tcPr>
                </a:tc>
                <a:tc>
                  <a:txBody>
                    <a:bodyPr wrap="square"/>
                    <a:lstStyle/>
                    <a:p>
                      <a:r>
                        <a:rPr sz="1250" b="0">
                          <a:solidFill>
                            <a:srgbClr val="2C3E50"/>
                          </a:solidFill>
                          <a:latin typeface="Montserrat"/>
                        </a:rPr>
                        <a:t>US$ 1.000</a:t>
                      </a:r>
                    </a:p>
                  </a:txBody>
                  <a:tcPr marL="73152" marR="73152" marT="36576" marB="36576" anchor="ctr">
                    <a:solidFill>
                      <a:srgbClr val="FFFFFF"/>
                    </a:solidFill>
                  </a:tcPr>
                </a:tc>
                <a:tc>
                  <a:txBody>
                    <a:bodyPr wrap="square"/>
                    <a:lstStyle/>
                    <a:p>
                      <a:r>
                        <a:rPr sz="1250" b="0">
                          <a:solidFill>
                            <a:srgbClr val="2C3E50"/>
                          </a:solidFill>
                          <a:latin typeface="Montserrat"/>
                        </a:rPr>
                        <a:t>Hasta 120 cuotas (≈ US$ 8,50/mes)</a:t>
                      </a:r>
                    </a:p>
                  </a:txBody>
                  <a:tcPr marL="73152" marR="73152" marT="36576" marB="36576" anchor="ctr">
                    <a:solidFill>
                      <a:srgbClr val="FFFFFF"/>
                    </a:solidFill>
                  </a:tcPr>
                </a:tc>
                <a:tc>
                  <a:txBody>
                    <a:bodyPr wrap="square"/>
                    <a:lstStyle/>
                    <a:p>
                      <a:r>
                        <a:rPr sz="1250" b="0">
                          <a:solidFill>
                            <a:srgbClr val="2C3E50"/>
                          </a:solidFill>
                          <a:latin typeface="Montserrat"/>
                        </a:rPr>
                        <a:t>—</a:t>
                      </a:r>
                    </a:p>
                  </a:txBody>
                  <a:tcPr marL="73152" marR="73152" marT="36576" marB="36576" anchor="ctr">
                    <a:solidFill>
                      <a:srgbClr val="FFFFFF"/>
                    </a:solidFill>
                  </a:tcPr>
                </a:tc>
                <a:tc>
                  <a:txBody>
                    <a:bodyPr wrap="square"/>
                    <a:lstStyle/>
                    <a:p>
                      <a:r>
                        <a:rPr sz="1250" b="0">
                          <a:solidFill>
                            <a:srgbClr val="2C3E50"/>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Individual</a:t>
                      </a:r>
                    </a:p>
                  </a:txBody>
                  <a:tcPr marL="73152" marR="73152" marT="36576" marB="36576" anchor="ctr">
                    <a:solidFill>
                      <a:srgbClr val="F4F7FA"/>
                    </a:solidFill>
                  </a:tcPr>
                </a:tc>
                <a:tc>
                  <a:txBody>
                    <a:bodyPr wrap="square"/>
                    <a:lstStyle/>
                    <a:p>
                      <a:r>
                        <a:rPr sz="1250" b="0">
                          <a:solidFill>
                            <a:srgbClr val="2C3E50"/>
                          </a:solidFill>
                          <a:latin typeface="Montserrat"/>
                        </a:rPr>
                        <a:t>US$ 600</a:t>
                      </a:r>
                    </a:p>
                  </a:txBody>
                  <a:tcPr marL="73152" marR="73152" marT="36576" marB="36576" anchor="ctr">
                    <a:solidFill>
                      <a:srgbClr val="F4F7FA"/>
                    </a:solidFill>
                  </a:tcPr>
                </a:tc>
                <a:tc>
                  <a:txBody>
                    <a:bodyPr wrap="square"/>
                    <a:lstStyle/>
                    <a:p>
                      <a:r>
                        <a:rPr sz="1250" b="0">
                          <a:solidFill>
                            <a:srgbClr val="2C3E50"/>
                          </a:solidFill>
                          <a:latin typeface="Montserrat"/>
                        </a:rPr>
                        <a:t>Único o financiado</a:t>
                      </a:r>
                    </a:p>
                  </a:txBody>
                  <a:tcPr marL="73152" marR="73152" marT="36576" marB="36576" anchor="ctr">
                    <a:solidFill>
                      <a:srgbClr val="F4F7FA"/>
                    </a:solidFill>
                  </a:tcPr>
                </a:tc>
                <a:tc>
                  <a:txBody>
                    <a:bodyPr wrap="square"/>
                    <a:lstStyle/>
                    <a:p>
                      <a:r>
                        <a:rPr sz="1250" b="0">
                          <a:solidFill>
                            <a:srgbClr val="2C3E50"/>
                          </a:solidFill>
                          <a:latin typeface="Montserrat"/>
                        </a:rPr>
                        <a:t>US$ 15/año</a:t>
                      </a:r>
                    </a:p>
                  </a:txBody>
                  <a:tcPr marL="73152" marR="73152" marT="36576" marB="36576" anchor="ctr">
                    <a:solidFill>
                      <a:srgbClr val="F4F7FA"/>
                    </a:solidFill>
                  </a:tcPr>
                </a:tc>
                <a:tc>
                  <a:txBody>
                    <a:bodyPr wrap="square"/>
                    <a:lstStyle/>
                    <a:p>
                      <a:r>
                        <a:rPr sz="1250" b="0">
                          <a:solidFill>
                            <a:srgbClr val="2C3E50"/>
                          </a:solidFill>
                          <a:latin typeface="Montserrat"/>
                        </a:rPr>
                        <a:t>Sin plazo</a:t>
                      </a:r>
                    </a:p>
                  </a:txBody>
                  <a:tcPr marL="73152" marR="73152" marT="36576" marB="36576" anchor="ctr">
                    <a:solidFill>
                      <a:srgbClr val="F4F7FA"/>
                    </a:solidFill>
                  </a:tcPr>
                </a:tc>
              </a:tr>
              <a:tr h="502920">
                <a:tc>
                  <a:txBody>
                    <a:bodyPr wrap="square"/>
                    <a:lstStyle/>
                    <a:p>
                      <a:r>
                        <a:rPr sz="1250" b="1">
                          <a:solidFill>
                            <a:srgbClr val="1B365D"/>
                          </a:solidFill>
                          <a:latin typeface="Montserrat"/>
                        </a:rPr>
                        <a:t>Jardín Familiar</a:t>
                      </a:r>
                    </a:p>
                  </a:txBody>
                  <a:tcPr marL="73152" marR="73152" marT="36576" marB="36576" anchor="ctr">
                    <a:solidFill>
                      <a:srgbClr val="FFFFFF"/>
                    </a:solidFill>
                  </a:tcPr>
                </a:tc>
                <a:tc>
                  <a:txBody>
                    <a:bodyPr wrap="square"/>
                    <a:lstStyle/>
                    <a:p>
                      <a:r>
                        <a:rPr sz="1250" b="0">
                          <a:solidFill>
                            <a:srgbClr val="2C3E50"/>
                          </a:solidFill>
                          <a:latin typeface="Montserrat"/>
                        </a:rPr>
                        <a:t>US$ 2.000</a:t>
                      </a:r>
                    </a:p>
                  </a:txBody>
                  <a:tcPr marL="73152" marR="73152" marT="36576" marB="36576" anchor="ctr">
                    <a:solidFill>
                      <a:srgbClr val="FFFFFF"/>
                    </a:solidFill>
                  </a:tcPr>
                </a:tc>
                <a:tc>
                  <a:txBody>
                    <a:bodyPr wrap="square"/>
                    <a:lstStyle/>
                    <a:p>
                      <a:r>
                        <a:rPr sz="1250" b="0">
                          <a:solidFill>
                            <a:srgbClr val="2C3E50"/>
                          </a:solidFill>
                          <a:latin typeface="Montserrat"/>
                        </a:rPr>
                        <a:t>Único o financiado</a:t>
                      </a:r>
                    </a:p>
                  </a:txBody>
                  <a:tcPr marL="73152" marR="73152" marT="36576" marB="36576" anchor="ctr">
                    <a:solidFill>
                      <a:srgbClr val="FFFFFF"/>
                    </a:solidFill>
                  </a:tcPr>
                </a:tc>
                <a:tc>
                  <a:txBody>
                    <a:bodyPr wrap="square"/>
                    <a:lstStyle/>
                    <a:p>
                      <a:r>
                        <a:rPr sz="1250" b="0">
                          <a:solidFill>
                            <a:srgbClr val="2C3E50"/>
                          </a:solidFill>
                          <a:latin typeface="Montserrat"/>
                        </a:rPr>
                        <a:t>US$ 25/año</a:t>
                      </a:r>
                    </a:p>
                  </a:txBody>
                  <a:tcPr marL="73152" marR="73152" marT="36576" marB="36576" anchor="ctr">
                    <a:solidFill>
                      <a:srgbClr val="FFFFFF"/>
                    </a:solidFill>
                  </a:tcPr>
                </a:tc>
                <a:tc>
                  <a:txBody>
                    <a:bodyPr wrap="square"/>
                    <a:lstStyle/>
                    <a:p>
                      <a:r>
                        <a:rPr sz="1250" b="0">
                          <a:solidFill>
                            <a:srgbClr val="2C3E50"/>
                          </a:solidFill>
                          <a:latin typeface="Montserrat"/>
                        </a:rPr>
                        <a:t>Hasta 4 espacios, sin plazo</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Ecológico</a:t>
                      </a:r>
                    </a:p>
                  </a:txBody>
                  <a:tcPr marL="73152" marR="73152" marT="36576" marB="36576" anchor="ctr">
                    <a:solidFill>
                      <a:srgbClr val="F4F7FA"/>
                    </a:solidFill>
                  </a:tcPr>
                </a:tc>
                <a:tc>
                  <a:txBody>
                    <a:bodyPr wrap="square"/>
                    <a:lstStyle/>
                    <a:p>
                      <a:r>
                        <a:rPr sz="1250" b="0">
                          <a:solidFill>
                            <a:srgbClr val="2C3E50"/>
                          </a:solidFill>
                          <a:latin typeface="Montserrat"/>
                        </a:rPr>
                        <a:t>US$ 750</a:t>
                      </a:r>
                    </a:p>
                  </a:txBody>
                  <a:tcPr marL="73152" marR="73152" marT="36576" marB="36576" anchor="ctr">
                    <a:solidFill>
                      <a:srgbClr val="F4F7FA"/>
                    </a:solidFill>
                  </a:tcPr>
                </a:tc>
                <a:tc>
                  <a:txBody>
                    <a:bodyPr wrap="square"/>
                    <a:lstStyle/>
                    <a:p>
                      <a:r>
                        <a:rPr sz="1250" b="0">
                          <a:solidFill>
                            <a:srgbClr val="2C3E50"/>
                          </a:solidFill>
                          <a:latin typeface="Montserrat"/>
                        </a:rPr>
                        <a:t>Único o financiado</a:t>
                      </a:r>
                    </a:p>
                  </a:txBody>
                  <a:tcPr marL="73152" marR="73152" marT="36576" marB="36576" anchor="ctr">
                    <a:solidFill>
                      <a:srgbClr val="F4F7FA"/>
                    </a:solidFill>
                  </a:tcPr>
                </a:tc>
                <a:tc>
                  <a:txBody>
                    <a:bodyPr wrap="square"/>
                    <a:lstStyle/>
                    <a:p>
                      <a:r>
                        <a:rPr sz="1250" b="0">
                          <a:solidFill>
                            <a:srgbClr val="2C3E50"/>
                          </a:solidFill>
                          <a:latin typeface="Montserrat"/>
                        </a:rPr>
                        <a:t>—</a:t>
                      </a:r>
                    </a:p>
                  </a:txBody>
                  <a:tcPr marL="73152" marR="73152" marT="36576" marB="36576" anchor="ctr">
                    <a:solidFill>
                      <a:srgbClr val="F4F7FA"/>
                    </a:solidFill>
                  </a:tcPr>
                </a:tc>
                <a:tc>
                  <a:txBody>
                    <a:bodyPr wrap="square"/>
                    <a:lstStyle/>
                    <a:p>
                      <a:r>
                        <a:rPr sz="1250" b="0">
                          <a:solidFill>
                            <a:srgbClr val="2C3E50"/>
                          </a:solidFill>
                          <a:latin typeface="Montserrat"/>
                        </a:rPr>
                        <a:t>3 años · placa memorial incluida</a:t>
                      </a:r>
                    </a:p>
                  </a:txBody>
                  <a:tcPr marL="73152" marR="73152" marT="36576" marB="36576" anchor="ctr">
                    <a:solidFill>
                      <a:srgbClr val="F4F7FA"/>
                    </a:solidFill>
                  </a:tcPr>
                </a:tc>
              </a:tr>
              <a:tr h="502920">
                <a:tc>
                  <a:txBody>
                    <a:bodyPr wrap="square"/>
                    <a:lstStyle/>
                    <a:p>
                      <a:r>
                        <a:rPr sz="1250" b="1">
                          <a:solidFill>
                            <a:srgbClr val="1B365D"/>
                          </a:solidFill>
                          <a:latin typeface="Montserrat"/>
                        </a:rPr>
                        <a:t>Jardín de Mascotas</a:t>
                      </a:r>
                    </a:p>
                  </a:txBody>
                  <a:tcPr marL="73152" marR="73152" marT="36576" marB="36576" anchor="ctr">
                    <a:solidFill>
                      <a:srgbClr val="FFFFFF"/>
                    </a:solidFill>
                  </a:tcPr>
                </a:tc>
                <a:tc>
                  <a:txBody>
                    <a:bodyPr wrap="square"/>
                    <a:lstStyle/>
                    <a:p>
                      <a:r>
                        <a:rPr sz="1250" b="0">
                          <a:solidFill>
                            <a:srgbClr val="2C3E50"/>
                          </a:solidFill>
                          <a:latin typeface="Montserrat"/>
                        </a:rPr>
                        <a:t>US$ 400 / 550</a:t>
                      </a:r>
                    </a:p>
                  </a:txBody>
                  <a:tcPr marL="73152" marR="73152" marT="36576" marB="36576" anchor="ctr">
                    <a:solidFill>
                      <a:srgbClr val="FFFFFF"/>
                    </a:solidFill>
                  </a:tcPr>
                </a:tc>
                <a:tc>
                  <a:txBody>
                    <a:bodyPr wrap="square"/>
                    <a:lstStyle/>
                    <a:p>
                      <a:r>
                        <a:rPr sz="1250" b="0">
                          <a:solidFill>
                            <a:srgbClr val="2C3E50"/>
                          </a:solidFill>
                          <a:latin typeface="Montserrat"/>
                        </a:rPr>
                        <a:t>Pago único</a:t>
                      </a:r>
                    </a:p>
                  </a:txBody>
                  <a:tcPr marL="73152" marR="73152" marT="36576" marB="36576" anchor="ctr">
                    <a:solidFill>
                      <a:srgbClr val="FFFFFF"/>
                    </a:solidFill>
                  </a:tcPr>
                </a:tc>
                <a:tc>
                  <a:txBody>
                    <a:bodyPr wrap="square"/>
                    <a:lstStyle/>
                    <a:p>
                      <a:r>
                        <a:rPr sz="1250" b="0">
                          <a:solidFill>
                            <a:srgbClr val="2C3E50"/>
                          </a:solidFill>
                          <a:latin typeface="Montserrat"/>
                        </a:rPr>
                        <a:t>—</a:t>
                      </a:r>
                    </a:p>
                  </a:txBody>
                  <a:tcPr marL="73152" marR="73152" marT="36576" marB="36576" anchor="ctr">
                    <a:solidFill>
                      <a:srgbClr val="FFFFFF"/>
                    </a:solidFill>
                  </a:tcPr>
                </a:tc>
                <a:tc>
                  <a:txBody>
                    <a:bodyPr wrap="square"/>
                    <a:lstStyle/>
                    <a:p>
                      <a:r>
                        <a:rPr sz="1250" b="0">
                          <a:solidFill>
                            <a:srgbClr val="2C3E50"/>
                          </a:solidFill>
                          <a:latin typeface="Montserrat"/>
                        </a:rPr>
                        <a:t>3 años · placa incluida en la opción de US$ 550</a:t>
                      </a:r>
                    </a:p>
                  </a:txBody>
                  <a:tcPr marL="73152" marR="73152" marT="36576" marB="36576" anchor="ctr">
                    <a:solidFill>
                      <a:srgbClr val="FFFFFF"/>
                    </a:solidFill>
                  </a:tcPr>
                </a:tc>
              </a:tr>
              <a:tr h="502920">
                <a:tc>
                  <a:txBody>
                    <a:bodyPr wrap="square"/>
                    <a:lstStyle/>
                    <a:p>
                      <a:r>
                        <a:rPr sz="1250" b="1">
                          <a:solidFill>
                            <a:srgbClr val="1B365D"/>
                          </a:solidFill>
                          <a:latin typeface="Montserrat"/>
                        </a:rPr>
                        <a:t>Jardín Ceremonial</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A definir</a:t>
                      </a:r>
                    </a:p>
                  </a:txBody>
                  <a:tcPr marL="73152" marR="73152" marT="36576" marB="36576" anchor="ctr">
                    <a:solidFill>
                      <a:srgbClr val="FBF3E1"/>
                    </a:solidFill>
                  </a:tcPr>
                </a:tc>
                <a:tc>
                  <a:txBody>
                    <a:bodyPr wrap="square"/>
                    <a:lstStyle/>
                    <a:p>
                      <a:r>
                        <a:rPr sz="1250" b="0">
                          <a:solidFill>
                            <a:srgbClr val="2C3E50"/>
                          </a:solidFill>
                          <a:latin typeface="Montserrat"/>
                        </a:rPr>
                        <a:t>Próximo lanzamiento</a:t>
                      </a:r>
                    </a:p>
                  </a:txBody>
                  <a:tcPr marL="73152" marR="73152" marT="36576" marB="36576" anchor="ctr">
                    <a:solidFill>
                      <a:srgbClr val="FBF3E1"/>
                    </a:solidFill>
                  </a:tcPr>
                </a:tc>
              </a:tr>
            </a:tbl>
          </a:graphicData>
        </a:graphic>
      </p:graphicFrame>
      <p:sp>
        <p:nvSpPr>
          <p:cNvPr id="8" name="Rectangle 7"/>
          <p:cNvSpPr/>
          <p:nvPr/>
        </p:nvSpPr>
        <p:spPr>
          <a:xfrm>
            <a:off x="548640" y="5669280"/>
            <a:ext cx="11094415" cy="54864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1B365D"/>
                </a:solidFill>
                <a:latin typeface="Montserrat"/>
              </a:rPr>
              <a:t>EL DESCUENTO NO ES LA SALIDA   </a:t>
            </a:r>
            <a:r>
              <a:rPr sz="1100" b="0" i="0">
                <a:solidFill>
                  <a:srgbClr val="2C3E50"/>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comerciales</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1B365D"/>
                    </a:solidFill>
                  </a:tcPr>
                </a:tc>
                <a:tc>
                  <a:txBody>
                    <a:bodyPr wrap="square"/>
                    <a:lstStyle/>
                    <a:p>
                      <a:r>
                        <a:rPr sz="1300" b="1">
                          <a:solidFill>
                            <a:srgbClr val="FFFFFF"/>
                          </a:solidFill>
                          <a:latin typeface="Montserrat"/>
                        </a:rPr>
                        <a:t>Regla</a:t>
                      </a:r>
                    </a:p>
                  </a:txBody>
                  <a:tcPr marL="73152" marR="73152" marT="36576" marB="36576" anchor="ctr">
                    <a:solidFill>
                      <a:srgbClr val="1B365D"/>
                    </a:solidFill>
                  </a:tcPr>
                </a:tc>
              </a:tr>
              <a:tr h="548640">
                <a:tc>
                  <a:txBody>
                    <a:bodyPr wrap="square"/>
                    <a:lstStyle/>
                    <a:p>
                      <a:r>
                        <a:rPr sz="1300" b="1">
                          <a:solidFill>
                            <a:srgbClr val="1B365D"/>
                          </a:solidFill>
                          <a:latin typeface="Montserrat"/>
                        </a:rPr>
                        <a:t>Precios</a:t>
                      </a:r>
                    </a:p>
                  </a:txBody>
                  <a:tcPr marL="73152" marR="73152" marT="36576" marB="36576" anchor="ctr">
                    <a:solidFill>
                      <a:srgbClr val="FFFFFF"/>
                    </a:solidFill>
                  </a:tcPr>
                </a:tc>
                <a:tc>
                  <a:txBody>
                    <a:bodyPr wrap="square"/>
                    <a:lstStyle/>
                    <a:p>
                      <a:r>
                        <a:rPr sz="1300" b="0">
                          <a:solidFill>
                            <a:srgbClr val="2C3E50"/>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1B365D"/>
                          </a:solidFill>
                          <a:latin typeface="Montserrat"/>
                        </a:rPr>
                        <a:t>Descuentos</a:t>
                      </a:r>
                    </a:p>
                  </a:txBody>
                  <a:tcPr marL="73152" marR="73152" marT="36576" marB="36576" anchor="ctr">
                    <a:solidFill>
                      <a:srgbClr val="F4F7FA"/>
                    </a:solidFill>
                  </a:tcPr>
                </a:tc>
                <a:tc>
                  <a:txBody>
                    <a:bodyPr wrap="square"/>
                    <a:lstStyle/>
                    <a:p>
                      <a:r>
                        <a:rPr sz="1300" b="0">
                          <a:solidFill>
                            <a:srgbClr val="2C3E50"/>
                          </a:solidFill>
                          <a:latin typeface="Montserrat"/>
                        </a:rPr>
                        <a:t>Prenecesidad: hasta 20% según la campaña del mes. Emergencia: máximo 5%. Siempre con autorización del supervisor.</a:t>
                      </a:r>
                    </a:p>
                  </a:txBody>
                  <a:tcPr marL="73152" marR="73152" marT="36576" marB="36576" anchor="ctr">
                    <a:solidFill>
                      <a:srgbClr val="F4F7FA"/>
                    </a:solidFill>
                  </a:tcPr>
                </a:tc>
              </a:tr>
              <a:tr h="548640">
                <a:tc>
                  <a:txBody>
                    <a:bodyPr wrap="square"/>
                    <a:lstStyle/>
                    <a:p>
                      <a:r>
                        <a:rPr sz="1300" b="1">
                          <a:solidFill>
                            <a:srgbClr val="1B365D"/>
                          </a:solidFill>
                          <a:latin typeface="Montserrat"/>
                        </a:rPr>
                        <a:t>Mantenimiento</a:t>
                      </a:r>
                    </a:p>
                  </a:txBody>
                  <a:tcPr marL="73152" marR="73152" marT="36576" marB="36576" anchor="ctr">
                    <a:solidFill>
                      <a:srgbClr val="FFFFFF"/>
                    </a:solidFill>
                  </a:tcPr>
                </a:tc>
                <a:tc>
                  <a:txBody>
                    <a:bodyPr wrap="square"/>
                    <a:lstStyle/>
                    <a:p>
                      <a:r>
                        <a:rPr sz="1300" b="0">
                          <a:solidFill>
                            <a:srgbClr val="2C3E50"/>
                          </a:solidFill>
                          <a:latin typeface="Montserrat"/>
                        </a:rPr>
                        <a:t>Individual US$ 15/año y Familiar US$ 25/año. No es opcional: se explica antes de firmar.</a:t>
                      </a:r>
                    </a:p>
                  </a:txBody>
                  <a:tcPr marL="73152" marR="73152" marT="36576" marB="36576" anchor="ctr">
                    <a:solidFill>
                      <a:srgbClr val="FFFFFF"/>
                    </a:solidFill>
                  </a:tcPr>
                </a:tc>
              </a:tr>
              <a:tr h="548640">
                <a:tc>
                  <a:txBody>
                    <a:bodyPr wrap="square"/>
                    <a:lstStyle/>
                    <a:p>
                      <a:r>
                        <a:rPr sz="1300" b="1">
                          <a:solidFill>
                            <a:srgbClr val="1B365D"/>
                          </a:solidFill>
                          <a:latin typeface="Montserrat"/>
                        </a:rPr>
                        <a:t>Plazo de 3 años</a:t>
                      </a:r>
                    </a:p>
                  </a:txBody>
                  <a:tcPr marL="73152" marR="73152" marT="36576" marB="36576" anchor="ctr">
                    <a:solidFill>
                      <a:srgbClr val="F4F7FA"/>
                    </a:solidFill>
                  </a:tcPr>
                </a:tc>
                <a:tc>
                  <a:txBody>
                    <a:bodyPr wrap="square"/>
                    <a:lstStyle/>
                    <a:p>
                      <a:r>
                        <a:rPr sz="1300" b="0">
                          <a:solidFill>
                            <a:srgbClr val="2C3E50"/>
                          </a:solidFill>
                          <a:latin typeface="Montserrat"/>
                        </a:rPr>
                        <a:t>Ecológico y Mascotas: se explica con total transparencia en la primera conversación.</a:t>
                      </a:r>
                    </a:p>
                  </a:txBody>
                  <a:tcPr marL="73152" marR="73152" marT="36576" marB="36576" anchor="ctr">
                    <a:solidFill>
                      <a:srgbClr val="F4F7FA"/>
                    </a:solidFill>
                  </a:tcPr>
                </a:tc>
              </a:tr>
              <a:tr h="548640">
                <a:tc>
                  <a:txBody>
                    <a:bodyPr wrap="square"/>
                    <a:lstStyle/>
                    <a:p>
                      <a:r>
                        <a:rPr sz="1300" b="1">
                          <a:solidFill>
                            <a:srgbClr val="1B365D"/>
                          </a:solidFill>
                          <a:latin typeface="Montserrat"/>
                        </a:rPr>
                        <a:t>Placas memoriales</a:t>
                      </a:r>
                    </a:p>
                  </a:txBody>
                  <a:tcPr marL="73152" marR="73152" marT="36576" marB="36576" anchor="ctr">
                    <a:solidFill>
                      <a:srgbClr val="FFFFFF"/>
                    </a:solidFill>
                  </a:tcPr>
                </a:tc>
                <a:tc>
                  <a:txBody>
                    <a:bodyPr wrap="square"/>
                    <a:lstStyle/>
                    <a:p>
                      <a:r>
                        <a:rPr sz="1300" b="0">
                          <a:solidFill>
                            <a:srgbClr val="2C3E50"/>
                          </a:solidFill>
                          <a:latin typeface="Montserrat"/>
                        </a:rPr>
                        <a:t>Incluida en el Jardín Ecológico (US$ 750) y en la opción de Mascotas de US$ 550.</a:t>
                      </a:r>
                    </a:p>
                  </a:txBody>
                  <a:tcPr marL="73152" marR="73152" marT="36576" marB="36576" anchor="ctr">
                    <a:solidFill>
                      <a:srgbClr val="FFFFFF"/>
                    </a:solidFill>
                  </a:tcPr>
                </a:tc>
              </a:tr>
              <a:tr h="548640">
                <a:tc>
                  <a:txBody>
                    <a:bodyPr wrap="square"/>
                    <a:lstStyle/>
                    <a:p>
                      <a:r>
                        <a:rPr sz="1300" b="1">
                          <a:solidFill>
                            <a:srgbClr val="1B365D"/>
                          </a:solidFill>
                          <a:latin typeface="Montserrat"/>
                        </a:rPr>
                        <a:t>Dueño del contacto</a:t>
                      </a:r>
                    </a:p>
                  </a:txBody>
                  <a:tcPr marL="73152" marR="73152" marT="36576" marB="36576" anchor="ctr">
                    <a:solidFill>
                      <a:srgbClr val="F4F7FA"/>
                    </a:solidFill>
                  </a:tcPr>
                </a:tc>
                <a:tc>
                  <a:txBody>
                    <a:bodyPr wrap="square"/>
                    <a:lstStyle/>
                    <a:p>
                      <a:r>
                        <a:rPr sz="1300" b="0">
                          <a:solidFill>
                            <a:srgbClr val="2C3E50"/>
                          </a:solidFill>
                          <a:latin typeface="Montserrat"/>
                        </a:rPr>
                        <a:t>Quien registra primero. Sin interacción en 15 días, el contacto puede reasignarse.</a:t>
                      </a:r>
                    </a:p>
                  </a:txBody>
                  <a:tcPr marL="73152" marR="73152" marT="36576" marB="36576" anchor="ctr">
                    <a:solidFill>
                      <a:srgbClr val="F4F7FA"/>
                    </a:solidFill>
                  </a:tcPr>
                </a:tc>
              </a:tr>
              <a:tr h="548640">
                <a:tc>
                  <a:txBody>
                    <a:bodyPr wrap="square"/>
                    <a:lstStyle/>
                    <a:p>
                      <a:r>
                        <a:rPr sz="1300" b="1">
                          <a:solidFill>
                            <a:srgbClr val="1B365D"/>
                          </a:solidFill>
                          <a:latin typeface="Montserrat"/>
                        </a:rPr>
                        <a:t>Lo que NO se promete</a:t>
                      </a:r>
                    </a:p>
                  </a:txBody>
                  <a:tcPr marL="73152" marR="73152" marT="36576" marB="36576" anchor="ctr">
                    <a:solidFill>
                      <a:srgbClr val="FFFFFF"/>
                    </a:solidFill>
                  </a:tcPr>
                </a:tc>
                <a:tc>
                  <a:txBody>
                    <a:bodyPr wrap="square"/>
                    <a:lstStyle/>
                    <a:p>
                      <a:r>
                        <a:rPr sz="1300" b="0">
                          <a:solidFill>
                            <a:srgbClr val="2C3E50"/>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La comisión premia la venta buena, no solo la venta.</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Comisión única de 8%</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5A059"/>
                </a:solidFill>
                <a:latin typeface="Montserrat"/>
              </a:rPr>
              <a:t>■  </a:t>
            </a:r>
            <a:r>
              <a:rPr sz="1200" b="0" i="0">
                <a:solidFill>
                  <a:srgbClr val="2C3E50"/>
                </a:solidFill>
                <a:latin typeface="Montserrat"/>
              </a:rPr>
              <a:t>Base de cálculo: valor efectivamente cobrado al cliente, sin IVA (13%).</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Comisión única de 8% para todos los productos.</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No generan comisión: cuotas de mantenimiento anual (US$ 15 / US$ 25).</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Bono de venta combinada: US$ 15 al vender la Solución Modular junto con cualquier jardín.</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Acelerador Día de los Muertos (opcional): +2 pp en Individual y Ecológico hasta el 30/11/2026.</a:t>
            </a:r>
          </a:p>
          <a:p>
            <a:pPr algn="l">
              <a:lnSpc>
                <a:spcPct val="115000"/>
              </a:lnSpc>
              <a:spcAft>
                <a:spcPts val="500"/>
              </a:spcAft>
            </a:pPr>
            <a:r>
              <a:rPr sz="900" b="1" i="0">
                <a:solidFill>
                  <a:srgbClr val="C5A059"/>
                </a:solidFill>
                <a:latin typeface="Montserrat"/>
              </a:rPr>
              <a:t>■  </a:t>
            </a:r>
            <a:r>
              <a:rPr sz="1200" b="0" i="0">
                <a:solidFill>
                  <a:srgbClr val="2C3E50"/>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C3E50"/>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1B365D"/>
                    </a:solidFill>
                  </a:tcPr>
                </a:tc>
                <a:tc>
                  <a:txBody>
                    <a:bodyPr wrap="square"/>
                    <a:lstStyle/>
                    <a:p>
                      <a:r>
                        <a:rPr sz="1200" b="1">
                          <a:solidFill>
                            <a:srgbClr val="FFFFFF"/>
                          </a:solidFill>
                          <a:latin typeface="Montserrat"/>
                        </a:rPr>
                        <a:t>%</a:t>
                      </a:r>
                    </a:p>
                  </a:txBody>
                  <a:tcPr marL="73152" marR="73152" marT="36576" marB="36576" anchor="ctr">
                    <a:solidFill>
                      <a:srgbClr val="1B365D"/>
                    </a:solidFill>
                  </a:tcPr>
                </a:tc>
                <a:tc>
                  <a:txBody>
                    <a:bodyPr wrap="square"/>
                    <a:lstStyle/>
                    <a:p>
                      <a:r>
                        <a:rPr sz="1200" b="1">
                          <a:solidFill>
                            <a:srgbClr val="FFFFFF"/>
                          </a:solidFill>
                          <a:latin typeface="Montserrat"/>
                        </a:rPr>
                        <a:t>Comisión (sin IVA)</a:t>
                      </a:r>
                    </a:p>
                  </a:txBody>
                  <a:tcPr marL="73152" marR="73152" marT="36576" marB="36576" anchor="ctr">
                    <a:solidFill>
                      <a:srgbClr val="1B365D"/>
                    </a:solidFill>
                  </a:tcPr>
                </a:tc>
                <a:tc>
                  <a:txBody>
                    <a:bodyPr wrap="square"/>
                    <a:lstStyle/>
                    <a:p>
                      <a:r>
                        <a:rPr sz="1200" b="1">
                          <a:solidFill>
                            <a:srgbClr val="FFFFFF"/>
                          </a:solidFill>
                          <a:latin typeface="Montserrat"/>
                        </a:rPr>
                        <a:t>Cuándo se paga</a:t>
                      </a:r>
                    </a:p>
                  </a:txBody>
                  <a:tcPr marL="73152" marR="73152" marT="36576" marB="36576" anchor="ctr">
                    <a:solidFill>
                      <a:srgbClr val="1B365D"/>
                    </a:solidFill>
                  </a:tcPr>
                </a:tc>
                <a:tc>
                  <a:txBody>
                    <a:bodyPr wrap="square"/>
                    <a:lstStyle/>
                    <a:p>
                      <a:r>
                        <a:rPr sz="1200" b="1">
                          <a:solidFill>
                            <a:srgbClr val="FFFFFF"/>
                          </a:solidFill>
                          <a:latin typeface="Montserrat"/>
                        </a:rPr>
                        <a:t>Estorno</a:t>
                      </a:r>
                    </a:p>
                  </a:txBody>
                  <a:tcPr marL="73152" marR="73152" marT="36576" marB="36576" anchor="ctr">
                    <a:solidFill>
                      <a:srgbClr val="1B365D"/>
                    </a:solidFill>
                  </a:tcPr>
                </a:tc>
              </a:tr>
              <a:tr h="548640">
                <a:tc>
                  <a:txBody>
                    <a:bodyPr wrap="square"/>
                    <a:lstStyle/>
                    <a:p>
                      <a:r>
                        <a:rPr sz="1200" b="1">
                          <a:solidFill>
                            <a:srgbClr val="1B365D"/>
                          </a:solidFill>
                          <a:latin typeface="Montserrat"/>
                        </a:rPr>
                        <a:t>Solución Modular</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US$ 70,80</a:t>
                      </a:r>
                    </a:p>
                  </a:txBody>
                  <a:tcPr marL="73152" marR="73152" marT="36576" marB="36576" anchor="ctr">
                    <a:solidFill>
                      <a:srgbClr val="FFFFFF"/>
                    </a:solidFill>
                  </a:tcPr>
                </a:tc>
                <a:tc>
                  <a:txBody>
                    <a:bodyPr wrap="square"/>
                    <a:lstStyle/>
                    <a:p>
                      <a:r>
                        <a:rPr sz="1200" b="0">
                          <a:solidFill>
                            <a:srgbClr val="2C3E50"/>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C3E50"/>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1B365D"/>
                          </a:solidFill>
                          <a:latin typeface="Montserrat"/>
                        </a:rPr>
                        <a:t>Jardín Individual</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US$ 42,48</a:t>
                      </a:r>
                    </a:p>
                  </a:txBody>
                  <a:tcPr marL="73152" marR="73152" marT="36576" marB="36576" anchor="ctr">
                    <a:solidFill>
                      <a:srgbClr val="F4F7FA"/>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Jardín Familiar</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US$ 141,59</a:t>
                      </a:r>
                    </a:p>
                  </a:txBody>
                  <a:tcPr marL="73152" marR="73152" marT="36576" marB="36576" anchor="ctr">
                    <a:solidFill>
                      <a:srgbClr val="FFFFFF"/>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C3E50"/>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1B365D"/>
                          </a:solidFill>
                          <a:latin typeface="Montserrat"/>
                        </a:rPr>
                        <a:t>Jardín Ecológico</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US$ 53,10</a:t>
                      </a:r>
                    </a:p>
                  </a:txBody>
                  <a:tcPr marL="73152" marR="73152" marT="36576" marB="36576" anchor="ctr">
                    <a:solidFill>
                      <a:srgbClr val="F4F7FA"/>
                    </a:solidFill>
                  </a:tcPr>
                </a:tc>
                <a:tc>
                  <a:txBody>
                    <a:bodyPr wrap="square"/>
                    <a:lstStyle/>
                    <a:p>
                      <a:r>
                        <a:rPr sz="120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Mascotas · solo espacio</a:t>
                      </a:r>
                    </a:p>
                  </a:txBody>
                  <a:tcPr marL="73152" marR="73152" marT="36576" marB="36576" anchor="ctr">
                    <a:solidFill>
                      <a:srgbClr val="FFFFFF"/>
                    </a:solidFill>
                  </a:tcPr>
                </a:tc>
                <a:tc>
                  <a:txBody>
                    <a:bodyPr wrap="square"/>
                    <a:lstStyle/>
                    <a:p>
                      <a:r>
                        <a:rPr sz="1200" b="0">
                          <a:solidFill>
                            <a:srgbClr val="2C3E50"/>
                          </a:solidFill>
                          <a:latin typeface="Montserrat"/>
                        </a:rPr>
                        <a:t>8%</a:t>
                      </a:r>
                    </a:p>
                  </a:txBody>
                  <a:tcPr marL="73152" marR="73152" marT="36576" marB="36576" anchor="ctr">
                    <a:solidFill>
                      <a:srgbClr val="FFFFFF"/>
                    </a:solidFill>
                  </a:tcPr>
                </a:tc>
                <a:tc>
                  <a:txBody>
                    <a:bodyPr wrap="square"/>
                    <a:lstStyle/>
                    <a:p>
                      <a:r>
                        <a:rPr sz="1200" b="0">
                          <a:solidFill>
                            <a:srgbClr val="2C3E50"/>
                          </a:solidFill>
                          <a:latin typeface="Montserrat"/>
                        </a:rPr>
                        <a:t>US$ 28,32</a:t>
                      </a:r>
                    </a:p>
                  </a:txBody>
                  <a:tcPr marL="73152" marR="73152" marT="36576" marB="36576" anchor="ctr">
                    <a:solidFill>
                      <a:srgbClr val="FFFFFF"/>
                    </a:solidFill>
                  </a:tcPr>
                </a:tc>
                <a:tc>
                  <a:txBody>
                    <a:bodyPr wrap="square"/>
                    <a:lstStyle/>
                    <a:p>
                      <a:r>
                        <a:rPr sz="1200" b="0">
                          <a:solidFill>
                            <a:srgbClr val="2C3E50"/>
                          </a:solidFill>
                          <a:latin typeface="Montserrat"/>
                        </a:rPr>
                        <a:t>Mes siguiente al pago</a:t>
                      </a:r>
                    </a:p>
                  </a:txBody>
                  <a:tcPr marL="73152" marR="73152" marT="36576" marB="36576" anchor="ctr">
                    <a:solidFill>
                      <a:srgbClr val="FFFFFF"/>
                    </a:solidFill>
                  </a:tcPr>
                </a:tc>
                <a:tc>
                  <a:txBody>
                    <a:bodyPr wrap="square"/>
                    <a:lstStyle/>
                    <a:p>
                      <a:r>
                        <a:rPr sz="1200" b="0">
                          <a:solidFill>
                            <a:srgbClr val="2C3E50"/>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1B365D"/>
                          </a:solidFill>
                          <a:latin typeface="Montserrat"/>
                        </a:rPr>
                        <a:t>Mascotas · con placa</a:t>
                      </a:r>
                    </a:p>
                  </a:txBody>
                  <a:tcPr marL="73152" marR="73152" marT="36576" marB="36576" anchor="ctr">
                    <a:solidFill>
                      <a:srgbClr val="F4F7FA"/>
                    </a:solidFill>
                  </a:tcPr>
                </a:tc>
                <a:tc>
                  <a:txBody>
                    <a:bodyPr wrap="square"/>
                    <a:lstStyle/>
                    <a:p>
                      <a:r>
                        <a:rPr sz="1200" b="0">
                          <a:solidFill>
                            <a:srgbClr val="2C3E50"/>
                          </a:solidFill>
                          <a:latin typeface="Montserrat"/>
                        </a:rPr>
                        <a:t>8%</a:t>
                      </a:r>
                    </a:p>
                  </a:txBody>
                  <a:tcPr marL="73152" marR="73152" marT="36576" marB="36576" anchor="ctr">
                    <a:solidFill>
                      <a:srgbClr val="F4F7FA"/>
                    </a:solidFill>
                  </a:tcPr>
                </a:tc>
                <a:tc>
                  <a:txBody>
                    <a:bodyPr wrap="square"/>
                    <a:lstStyle/>
                    <a:p>
                      <a:r>
                        <a:rPr sz="1200" b="0">
                          <a:solidFill>
                            <a:srgbClr val="2C3E50"/>
                          </a:solidFill>
                          <a:latin typeface="Montserrat"/>
                        </a:rPr>
                        <a:t>US$ 38,94</a:t>
                      </a:r>
                    </a:p>
                  </a:txBody>
                  <a:tcPr marL="73152" marR="73152" marT="36576" marB="36576" anchor="ctr">
                    <a:solidFill>
                      <a:srgbClr val="F4F7FA"/>
                    </a:solidFill>
                  </a:tcPr>
                </a:tc>
                <a:tc>
                  <a:txBody>
                    <a:bodyPr wrap="square"/>
                    <a:lstStyle/>
                    <a:p>
                      <a:r>
                        <a:rPr sz="1200" b="0">
                          <a:solidFill>
                            <a:srgbClr val="2C3E50"/>
                          </a:solidFill>
                          <a:latin typeface="Montserrat"/>
                        </a:rPr>
                        <a:t>Mes siguiente al pago</a:t>
                      </a:r>
                    </a:p>
                  </a:txBody>
                  <a:tcPr marL="73152" marR="73152" marT="36576" marB="36576" anchor="ctr">
                    <a:solidFill>
                      <a:srgbClr val="F4F7FA"/>
                    </a:solidFill>
                  </a:tcPr>
                </a:tc>
                <a:tc>
                  <a:txBody>
                    <a:bodyPr wrap="square"/>
                    <a:lstStyle/>
                    <a:p>
                      <a:r>
                        <a:rPr sz="1200" b="0">
                          <a:solidFill>
                            <a:srgbClr val="2C3E50"/>
                          </a:solidFill>
                          <a:latin typeface="Montserrat"/>
                        </a:rPr>
                        <a:t>Cancelación en 90 días</a:t>
                      </a:r>
                    </a:p>
                  </a:txBody>
                  <a:tcPr marL="73152" marR="73152" marT="36576" marB="36576" anchor="ctr">
                    <a:solidFill>
                      <a:srgbClr val="F4F7FA"/>
                    </a:solidFill>
                  </a:tcPr>
                </a:tc>
              </a:tr>
              <a:tr h="548640">
                <a:tc>
                  <a:txBody>
                    <a:bodyPr wrap="square"/>
                    <a:lstStyle/>
                    <a:p>
                      <a:r>
                        <a:rPr sz="1200" b="1">
                          <a:solidFill>
                            <a:srgbClr val="1B365D"/>
                          </a:solidFill>
                          <a:latin typeface="Montserrat"/>
                        </a:rPr>
                        <a:t>Jardín Ceremonial</a:t>
                      </a:r>
                    </a:p>
                  </a:txBody>
                  <a:tcPr marL="73152" marR="73152" marT="36576" marB="36576" anchor="ctr">
                    <a:solidFill>
                      <a:srgbClr val="FBF3E1"/>
                    </a:solidFill>
                  </a:tcPr>
                </a:tc>
                <a:tc>
                  <a:txBody>
                    <a:bodyPr wrap="square"/>
                    <a:lstStyle/>
                    <a:p>
                      <a:r>
                        <a:rPr sz="1200" b="0">
                          <a:solidFill>
                            <a:srgbClr val="2C3E50"/>
                          </a:solidFill>
                          <a:latin typeface="Montserrat"/>
                        </a:rPr>
                        <a:t>A definir</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c>
                  <a:txBody>
                    <a:bodyPr wrap="square"/>
                    <a:lstStyle/>
                    <a:p>
                      <a:r>
                        <a:rPr sz="1200" b="0">
                          <a:solidFill>
                            <a:srgbClr val="2C3E50"/>
                          </a:solidFill>
                          <a:latin typeface="Montserrat"/>
                        </a:rPr>
                        <a:t>—</a:t>
                      </a:r>
                    </a:p>
                  </a:txBody>
                  <a:tcPr marL="73152" marR="73152" marT="36576" marB="36576" anchor="ctr">
                    <a:solidFill>
                      <a:srgbClr val="FBF3E1"/>
                    </a:solidFill>
                  </a:tcPr>
                </a:tc>
              </a:tr>
            </a:tbl>
          </a:graphicData>
        </a:graphic>
      </p:graphicFrame>
      <p:sp>
        <p:nvSpPr>
          <p:cNvPr id="7" name="TextBox 6"/>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5A059"/>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C9D3DF"/>
                </a:solidFill>
                <a:latin typeface="Montserrat"/>
              </a:rPr>
              <a:t>Todo lo que necesita para vender con confianza.</a:t>
            </a:r>
          </a:p>
        </p:txBody>
      </p:sp>
      <p:sp>
        <p:nvSpPr>
          <p:cNvPr id="6" name="TextBox 5"/>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9FB0C4"/>
                </a:solidFill>
                <a:latin typeface="Montserrat"/>
              </a:rPr>
              <a:t>Playbook Comercial  ·  La Auxiliadora · Hogar de las Memorias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9FB0C4"/>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Ficha Técnica de Cremación</a:t>
            </a:r>
          </a:p>
          <a:p>
            <a:pPr algn="l">
              <a:lnSpc>
                <a:spcPct val="115000"/>
              </a:lnSpc>
              <a:spcAft>
                <a:spcPts val="100"/>
              </a:spcAft>
            </a:pPr>
            <a:r>
              <a:rPr sz="1100" b="0" i="0">
                <a:solidFill>
                  <a:srgbClr val="2C3E50"/>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Visita al jardín</a:t>
            </a:r>
          </a:p>
          <a:p>
            <a:pPr algn="l">
              <a:lnSpc>
                <a:spcPct val="115000"/>
              </a:lnSpc>
              <a:spcAft>
                <a:spcPts val="100"/>
              </a:spcAft>
            </a:pPr>
            <a:r>
              <a:rPr sz="1100" b="0" i="0">
                <a:solidFill>
                  <a:srgbClr val="2C3E50"/>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Presentación «Jardines de Cenizas»</a:t>
            </a:r>
          </a:p>
          <a:p>
            <a:pPr algn="l">
              <a:lnSpc>
                <a:spcPct val="115000"/>
              </a:lnSpc>
              <a:spcAft>
                <a:spcPts val="100"/>
              </a:spcAft>
            </a:pPr>
            <a:r>
              <a:rPr sz="1100" b="0" i="0">
                <a:solidFill>
                  <a:srgbClr val="2C3E50"/>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Simulación de cuotas</a:t>
            </a:r>
          </a:p>
          <a:p>
            <a:pPr algn="l">
              <a:lnSpc>
                <a:spcPct val="115000"/>
              </a:lnSpc>
              <a:spcAft>
                <a:spcPts val="100"/>
              </a:spcAft>
            </a:pPr>
            <a:r>
              <a:rPr sz="1100" b="0" i="0">
                <a:solidFill>
                  <a:srgbClr val="2C3E50"/>
                </a:solidFill>
                <a:latin typeface="Montserrat"/>
              </a:rPr>
              <a:t>Calcule la cuota con el cliente: transparencia genera confianza.</a:t>
            </a:r>
          </a:p>
        </p:txBody>
      </p:sp>
      <p:sp>
        <p:nvSpPr>
          <p:cNvPr id="18" name="Rectangle 17"/>
          <p:cNvSpPr/>
          <p:nvPr/>
        </p:nvSpPr>
        <p:spPr>
          <a:xfrm>
            <a:off x="548640" y="5230368"/>
            <a:ext cx="5669280" cy="7772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1B365D"/>
                </a:solidFill>
                <a:latin typeface="Montserrat"/>
              </a:rPr>
              <a:t>Registro de contactos</a:t>
            </a:r>
          </a:p>
          <a:p>
            <a:pPr algn="l">
              <a:lnSpc>
                <a:spcPct val="115000"/>
              </a:lnSpc>
              <a:spcAft>
                <a:spcPts val="100"/>
              </a:spcAft>
            </a:pPr>
            <a:r>
              <a:rPr sz="1100" b="0" i="0">
                <a:solidFill>
                  <a:srgbClr val="2C3E50"/>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5A059"/>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5A059"/>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5A059"/>
                </a:solidFill>
                <a:latin typeface="Montserrat"/>
              </a:rPr>
              <a:t>La Auxiliadora · Hogar de las Memorias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