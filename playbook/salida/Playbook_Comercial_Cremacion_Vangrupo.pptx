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US$ 320 en lanzamiento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836994" y="1508760"/>
            <a:ext cx="10517706"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US$ 800 · Pago en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en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 o un columbario).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US$ 480 · 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propio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 Permanencia: 30 años desde la primera inhumación, renovable.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US$ 1.600 · Pago único o financiado · Mantenimiento US$ 24/año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de homenaje familiar por 30 años, renovable por igual período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30 años desde la primera inhumación, renovable por igual período.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US$ 24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US$ 600 · 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US$ 320 / US$ 440 · US$ 400 solo espacio · US$ 550 con cremación</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 cremación y urna biodegradable en la opción de US$ 550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incluida. Urna biodegradable incluida solo con cremación (US$ 550); con solo espacio (US$ 400) se compra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¿Ya se realizó la cremación o necesitan también ese servicio?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cremación incluida, para resolver todo en un solo paso?»</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Portafolio existente: columbarios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SERVICIO COMPLETO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Supremo Plus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US$ 2.700 – 3.900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US$ 2.295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estándar permanente de cristal o mármol, para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 Programa Vive de acompañamiento en el duelo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cinerarias básicas (2) y 2 cremaciones con certificado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Capilla de velación 24 h, ataúd ceremonial y carroza tradicional</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2 urnas; incluye 2 cremaciones.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US$ 3.400 – 3.900; a futuro: US$ 2.700 – 3.200 (según fila y nivel).</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Elija velación en La Auxiliadora (Maquilishuat o Básica) o en Capillas Memoriales (Las Camelias o Básica).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SUPREMO PLUS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¿Han pensado dónde quedarían las cenizas después de la cremación?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usted y su pareja, o para sus padres?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 elegir hoy el nicho o dejar la ubicación para más adelante?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elegimos hoy la ubicación?»</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una inversión alta.» → «Incluye todo para dos personas: funeral, dos cremaciones y el columbario permanente. Y puede pagarse en hasta 120 meses.»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Si el presupuesto no alcanza para la ubicación definida, ofrezca la ubicación a futuro: el mismo producto, a menor precio.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Mármol o Cristal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US$ 1.200 – 2.600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US$ 1.020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mármol o cristal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 o a futuro, según la opción contratada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 (por ejemplo, con la Solución Modular).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US$ 2.600; a futuro: US$ 1.200 – 1.900 (según fila y nivel).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MÁRMOL O CRISTAL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¿Las cenizas están hoy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 mármol o el cristal?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¿Pensarían en un espacio para dos personas de la familia?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«¿Visitamos El Hogar de las Memorias para que elija la fila y el nivel?»</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«Ya tengo las cenizas en casa.» → «Es natural tenerlas cerca. En el columbario quedan protegidas para siempre y toda la familia puede visitarlas.»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el destino natural al terminar los 12 meses de columbario temporal de la Solución Modular.</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PREMIUM</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Ónix</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MODALIDAD</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US$ 3.100 / 5.000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US$ 2.635 / 4.250 ·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exclusividad y una piedra natural de alta gama para el homenaje.</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ónix natural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 con ubicación definida (US$ 3.100)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Una opción familiar: hasta 4 urnas, con ubicación a futuro (US$ 5.000)</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la modalidad estándar la ubicación es definida; con la familiar, a futuro.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COLUMBARIO ÓNIX</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tipo de homenaje imagina para su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¿Sería para dos personas o para la familia completa?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muestro el columbario de ónix para que vea la piedra en persona?»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«Hay opciones más baratas.» → «Sí, y con gusto se las muestro. El ónix es para quien busca algo único: una piedra natural que no se repite.»</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Muestre la piedra en persona: la luz del ónix se aprecia mejor que en cualquier foto.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Obra de Arte</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US$ 12.500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US$ 10.625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Imagen religiosa sobre tapa de ónix: un columbario familiar que es una expresión única de fe, memoria y belleza.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de fe que desean un legado único y de máxima exclusividad.</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familiar permanente para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exclusiva de ónix con obra de arte religiosa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urnas (familiar).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OBRA DE ARTE</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lugar tiene la fe en la forma en que su familia recuerda?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¿Cuántos miembros de la familia lo considerarían?</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el espacio familiar con el precio de noviembre?»</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muy caro.» → «Es un legado para cuatro personas, para siempre, y puede pagarse en hasta 120 meses. Es la opción más exclusiva del portafolio.»</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Preséntelo con calma y en persona; no lo ofrezca a quien busca la opción más económica.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MAUSOLEO BELLA VISTA · CREMACIÓN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Cristal · Bella Vista</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US$ 1.300 – 2.900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US$ 1.105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de cristal permanente (30 × 30 × 30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y cremaciones: 2 en la modalidad estándar, 4 en la familiar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Certificado de cremación y ceremonia privada de colocación</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estándar: definida US$ 1.800 · a futuro US$ 1.300.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familiar: definida US$ 2.900 · a futuro US$ 2.300.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En este producto la cremación está incluida: no hace falta contratarla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BELLA VISTA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dos personas o para la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elegir ya la ubicación o dejarla a futuro?</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lo dejamos resuelto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un jardín.» → «Perfecto, también tenemos los Jardines de Cenizas. Bella Vista es para quien prefiere un columbario, con la cremación ya incluida.»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la puerta de entrada a los columbarios: cremación y destino final desde US$ 1.105 en noviembre.</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resulta más cómodo pagarlo en cuotas mensuales?»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US$ 24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 · lanz. US$ 800</a:t>
                      </a:r>
                    </a:p>
                  </a:txBody>
                  <a:tcPr marL="73152" marR="73152" marT="36576" marB="36576" anchor="ctr">
                    <a:solidFill>
                      <a:srgbClr val="FFFFFF"/>
                    </a:solidFill>
                  </a:tcPr>
                </a:tc>
                <a:tc>
                  <a:txBody>
                    <a:bodyPr wrap="square"/>
                    <a:lstStyle/>
                    <a:p>
                      <a:r>
                        <a:rPr sz="125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 · lanz. US$ 480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30 años, renovable</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 · lanz. US$ 1.600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US$ 24/año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 30 años, renovable</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 · lanz. 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 cremación y urna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 Pago único o hasta 120 meses, con intereses.</a:t>
            </a:r>
          </a:p>
        </p:txBody>
      </p:sp>
      <p:graphicFrame>
        <p:nvGraphicFramePr>
          <p:cNvPr id="7" name="Table 6"/>
          <p:cNvGraphicFramePr>
            <a:graphicFrameLocks noGrp="1"/>
          </p:cNvGraphicFramePr>
          <p:nvPr/>
        </p:nvGraphicFramePr>
        <p:xfrm>
          <a:off x="548640" y="2011680"/>
          <a:ext cx="11094413" cy="3401568"/>
        </p:xfrm>
        <a:graphic>
          <a:graphicData uri="http://schemas.openxmlformats.org/drawingml/2006/table">
            <a:tbl>
              <a:tblPr firstRow="1" bandRow="1">
                <a:tableStyleId>{5C22544A-7EE6-4342-B048-85BDC9FD1C3A}</a:tableStyleId>
              </a:tblPr>
              <a:tblGrid>
                <a:gridCol w="1733502"/>
                <a:gridCol w="3120304"/>
                <a:gridCol w="2600253"/>
                <a:gridCol w="1213451"/>
                <a:gridCol w="2426903"/>
              </a:tblGrid>
              <a:tr h="566928">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Precio</a:t>
                      </a:r>
                    </a:p>
                  </a:txBody>
                  <a:tcPr marL="73152" marR="73152" marT="36576" marB="36576" anchor="ctr">
                    <a:solidFill>
                      <a:srgbClr val="5B3F80"/>
                    </a:solidFill>
                  </a:tcPr>
                </a:tc>
                <a:tc>
                  <a:txBody>
                    <a:bodyPr wrap="square"/>
                    <a:lstStyle/>
                    <a:p>
                      <a:r>
                        <a:rPr sz="1200" b="1">
                          <a:solidFill>
                            <a:srgbClr val="FFFFFF"/>
                          </a:solidFill>
                          <a:latin typeface="Montserrat"/>
                        </a:rPr>
                        <a:t>Finados y noviembre (−15%)</a:t>
                      </a:r>
                    </a:p>
                  </a:txBody>
                  <a:tcPr marL="73152" marR="73152" marT="36576" marB="36576" anchor="ctr">
                    <a:solidFill>
                      <a:srgbClr val="5B3F80"/>
                    </a:solidFill>
                  </a:tcPr>
                </a:tc>
                <a:tc>
                  <a:txBody>
                    <a:bodyPr wrap="square"/>
                    <a:lstStyle/>
                    <a:p>
                      <a:r>
                        <a:rPr sz="1200" b="1">
                          <a:solidFill>
                            <a:srgbClr val="FFFFFF"/>
                          </a:solidFill>
                          <a:latin typeface="Montserrat"/>
                        </a:rPr>
                        <a:t>Capacidad</a:t>
                      </a:r>
                    </a:p>
                  </a:txBody>
                  <a:tcPr marL="73152" marR="73152" marT="36576" marB="36576" anchor="ctr">
                    <a:solidFill>
                      <a:srgbClr val="5B3F80"/>
                    </a:solidFill>
                  </a:tcPr>
                </a:tc>
                <a:tc>
                  <a:txBody>
                    <a:bodyPr wrap="square"/>
                    <a:lstStyle/>
                    <a:p>
                      <a:r>
                        <a:rPr sz="1200" b="1">
                          <a:solidFill>
                            <a:srgbClr val="FFFFFF"/>
                          </a:solidFill>
                          <a:latin typeface="Montserrat"/>
                        </a:rPr>
                        <a:t>Incluye</a:t>
                      </a:r>
                    </a:p>
                  </a:txBody>
                  <a:tcPr marL="73152" marR="73152" marT="36576" marB="36576" anchor="ctr">
                    <a:solidFill>
                      <a:srgbClr val="5B3F80"/>
                    </a:solidFill>
                  </a:tcPr>
                </a:tc>
              </a:tr>
              <a:tr h="566928">
                <a:tc>
                  <a:txBody>
                    <a:bodyPr wrap="square"/>
                    <a:lstStyle/>
                    <a:p>
                      <a:r>
                        <a:rPr sz="1200" b="1">
                          <a:solidFill>
                            <a:srgbClr val="5B3F80"/>
                          </a:solidFill>
                          <a:latin typeface="Montserrat"/>
                        </a:rPr>
                        <a:t>Supremo Plus</a:t>
                      </a:r>
                    </a:p>
                  </a:txBody>
                  <a:tcPr marL="73152" marR="73152" marT="36576" marB="36576" anchor="ctr">
                    <a:solidFill>
                      <a:srgbClr val="FFFFFF"/>
                    </a:solidFill>
                  </a:tcPr>
                </a:tc>
                <a:tc>
                  <a:txBody>
                    <a:bodyPr wrap="square"/>
                    <a:lstStyle/>
                    <a:p>
                      <a:r>
                        <a:rPr sz="120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120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1200" b="0">
                          <a:solidFill>
                            <a:srgbClr val="2E2A36"/>
                          </a:solidFill>
                          <a:latin typeface="Montserrat"/>
                        </a:rPr>
                        <a:t>2 urnas</a:t>
                      </a:r>
                    </a:p>
                  </a:txBody>
                  <a:tcPr marL="73152" marR="73152" marT="36576" marB="36576" anchor="ctr">
                    <a:solidFill>
                      <a:srgbClr val="FFFFFF"/>
                    </a:solidFill>
                  </a:tcPr>
                </a:tc>
                <a:tc>
                  <a:txBody>
                    <a:bodyPr wrap="square"/>
                    <a:lstStyle/>
                    <a:p>
                      <a:r>
                        <a:rPr sz="1200" b="0">
                          <a:solidFill>
                            <a:srgbClr val="2E2A36"/>
                          </a:solidFill>
                          <a:latin typeface="Montserrat"/>
                        </a:rPr>
                        <a:t>Funeral + 2 cremaciones +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Mármol o Cristal</a:t>
                      </a:r>
                    </a:p>
                  </a:txBody>
                  <a:tcPr marL="73152" marR="73152" marT="36576" marB="36576" anchor="ctr">
                    <a:solidFill>
                      <a:srgbClr val="F5F2F8"/>
                    </a:solidFill>
                  </a:tcPr>
                </a:tc>
                <a:tc>
                  <a:txBody>
                    <a:bodyPr wrap="square"/>
                    <a:lstStyle/>
                    <a:p>
                      <a:r>
                        <a:rPr sz="120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1200" b="0">
                          <a:solidFill>
                            <a:srgbClr val="2E2A36"/>
                          </a:solidFill>
                          <a:latin typeface="Montserrat"/>
                        </a:rPr>
                        <a:t>US$ 2.210 · US$ 1.020–1.615</a:t>
                      </a:r>
                    </a:p>
                  </a:txBody>
                  <a:tcPr marL="73152" marR="73152" marT="36576" marB="36576" anchor="ctr">
                    <a:solidFill>
                      <a:srgbClr val="F5F2F8"/>
                    </a:solidFill>
                  </a:tcPr>
                </a:tc>
                <a:tc>
                  <a:txBody>
                    <a:bodyPr wrap="square"/>
                    <a:lstStyle/>
                    <a:p>
                      <a:r>
                        <a:rPr sz="1200" b="0">
                          <a:solidFill>
                            <a:srgbClr val="2E2A36"/>
                          </a:solidFill>
                          <a:latin typeface="Montserrat"/>
                        </a:rPr>
                        <a:t>2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Columbario Ónix</a:t>
                      </a:r>
                    </a:p>
                  </a:txBody>
                  <a:tcPr marL="73152" marR="73152" marT="36576" marB="36576" anchor="ctr">
                    <a:solidFill>
                      <a:srgbClr val="FFFFFF"/>
                    </a:solidFill>
                  </a:tcPr>
                </a:tc>
                <a:tc>
                  <a:txBody>
                    <a:bodyPr wrap="square"/>
                    <a:lstStyle/>
                    <a:p>
                      <a:r>
                        <a:rPr sz="120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1200" b="0">
                          <a:solidFill>
                            <a:srgbClr val="2E2A36"/>
                          </a:solidFill>
                          <a:latin typeface="Montserrat"/>
                        </a:rPr>
                        <a:t>US$ 2.635 · US$ 4.250</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Solo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Obra de Arte</a:t>
                      </a:r>
                    </a:p>
                  </a:txBody>
                  <a:tcPr marL="73152" marR="73152" marT="36576" marB="36576" anchor="ctr">
                    <a:solidFill>
                      <a:srgbClr val="F5F2F8"/>
                    </a:solidFill>
                  </a:tcPr>
                </a:tc>
                <a:tc>
                  <a:txBody>
                    <a:bodyPr wrap="square"/>
                    <a:lstStyle/>
                    <a:p>
                      <a:r>
                        <a:rPr sz="1200" b="0">
                          <a:solidFill>
                            <a:srgbClr val="2E2A36"/>
                          </a:solidFill>
                          <a:latin typeface="Montserrat"/>
                        </a:rPr>
                        <a:t>Familiar US$ 12.500</a:t>
                      </a:r>
                    </a:p>
                  </a:txBody>
                  <a:tcPr marL="73152" marR="73152" marT="36576" marB="36576" anchor="ctr">
                    <a:solidFill>
                      <a:srgbClr val="F5F2F8"/>
                    </a:solidFill>
                  </a:tcPr>
                </a:tc>
                <a:tc>
                  <a:txBody>
                    <a:bodyPr wrap="square"/>
                    <a:lstStyle/>
                    <a:p>
                      <a:r>
                        <a:rPr sz="1200" b="0">
                          <a:solidFill>
                            <a:srgbClr val="2E2A36"/>
                          </a:solidFill>
                          <a:latin typeface="Montserrat"/>
                        </a:rPr>
                        <a:t>US$ 10.625</a:t>
                      </a:r>
                    </a:p>
                  </a:txBody>
                  <a:tcPr marL="73152" marR="73152" marT="36576" marB="36576" anchor="ctr">
                    <a:solidFill>
                      <a:srgbClr val="F5F2F8"/>
                    </a:solidFill>
                  </a:tcPr>
                </a:tc>
                <a:tc>
                  <a:txBody>
                    <a:bodyPr wrap="square"/>
                    <a:lstStyle/>
                    <a:p>
                      <a:r>
                        <a:rPr sz="1200" b="0">
                          <a:solidFill>
                            <a:srgbClr val="2E2A36"/>
                          </a:solidFill>
                          <a:latin typeface="Montserrat"/>
                        </a:rPr>
                        <a:t>4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Bella Vista</a:t>
                      </a:r>
                    </a:p>
                  </a:txBody>
                  <a:tcPr marL="73152" marR="73152" marT="36576" marB="36576" anchor="ctr">
                    <a:solidFill>
                      <a:srgbClr val="FFFFFF"/>
                    </a:solidFill>
                  </a:tcPr>
                </a:tc>
                <a:tc>
                  <a:txBody>
                    <a:bodyPr wrap="square"/>
                    <a:lstStyle/>
                    <a:p>
                      <a:r>
                        <a:rPr sz="120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120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Plazos</a:t>
                      </a:r>
                    </a:p>
                  </a:txBody>
                  <a:tcPr marL="73152" marR="73152" marT="36576" marB="36576" anchor="ctr">
                    <a:solidFill>
                      <a:srgbClr val="F5F2F8"/>
                    </a:solidFill>
                  </a:tcPr>
                </a:tc>
                <a:tc>
                  <a:txBody>
                    <a:bodyPr wrap="square"/>
                    <a:lstStyle/>
                    <a:p>
                      <a:r>
                        <a:rPr sz="13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y en el Jardín de Mascotas.</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Confirmar con la Gerencia Comercial antes de aplicar.</a:t>
            </a:r>
          </a:p>
        </p:txBody>
      </p:sp>
      <p:pic>
        <p:nvPicPr>
          <p:cNvPr id="7" name="Picture 6" descr="05_comisiones.png"/>
          <p:cNvPicPr>
            <a:picLocks noChangeAspect="1"/>
          </p:cNvPicPr>
          <p:nvPr/>
        </p:nvPicPr>
        <p:blipFill>
          <a:blip r:embed="rId2"/>
          <a:stretch>
            <a:fillRect/>
          </a:stretch>
        </p:blipFill>
        <p:spPr>
          <a:xfrm>
            <a:off x="548640" y="2951226"/>
            <a:ext cx="6035040" cy="1961388"/>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valor efectivamente cobrado al cliente, sin IVA (13%).</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Comisión única de 8% para todos los productos.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generan comisión: cuotas de mantenimiento anual (US$ 15 / US$ 24).</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Bono de venta combinada: US$ 15 al vender la Solución Modular junto con cualquier jardín.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Acelerador Día de los Muertos (opcional): +2 pp en Individual y Ecológico hasta el 30/11/2026.</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Portafolio existente (columbarios): la comisión se definirá en un sistema propio, en preparación.</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Cuándo se paga y cuándo se descuenta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4389120"/>
        </p:xfrm>
        <a:graphic>
          <a:graphicData uri="http://schemas.openxmlformats.org/drawingml/2006/table">
            <a:tbl>
              <a:tblPr firstRow="1" bandRow="1">
                <a:tableStyleId>{5C22544A-7EE6-4342-B048-85BDC9FD1C3A}</a:tableStyleId>
              </a:tblPr>
              <a:tblGrid>
                <a:gridCol w="2326248"/>
                <a:gridCol w="715768"/>
                <a:gridCol w="1610479"/>
                <a:gridCol w="4115670"/>
                <a:gridCol w="2326248"/>
              </a:tblGrid>
              <a:tr h="54864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a:t>
                      </a:r>
                    </a:p>
                  </a:txBody>
                  <a:tcPr marL="73152" marR="73152" marT="36576" marB="36576" anchor="ctr">
                    <a:solidFill>
                      <a:srgbClr val="5B3F80"/>
                    </a:solidFill>
                  </a:tcPr>
                </a:tc>
                <a:tc>
                  <a:txBody>
                    <a:bodyPr wrap="square"/>
                    <a:lstStyle/>
                    <a:p>
                      <a:r>
                        <a:rPr sz="1200" b="1">
                          <a:solidFill>
                            <a:srgbClr val="FFFFFF"/>
                          </a:solidFill>
                          <a:latin typeface="Montserrat"/>
                        </a:rPr>
                        <a:t>Comisión (sin IVA)</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54864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Individual</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US$ 42,48</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Familiar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US$ 141,59</a:t>
                      </a:r>
                    </a:p>
                  </a:txBody>
                  <a:tcPr marL="73152" marR="73152" marT="36576" marB="36576" anchor="ctr">
                    <a:solidFill>
                      <a:srgbClr val="FFFFFF"/>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Ecológico</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US$ 53,10</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Mascotas · solo espacio</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US$ 28,32</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US$ 38,94</a:t>
                      </a:r>
                    </a:p>
                  </a:txBody>
                  <a:tcPr marL="73152" marR="73152" marT="36576" marB="36576" anchor="ctr">
                    <a:solidFill>
                      <a:srgbClr val="F5F2F8"/>
                    </a:solidFill>
                  </a:tcPr>
                </a:tc>
                <a:tc>
                  <a:txBody>
                    <a:bodyPr wrap="square"/>
                    <a:lstStyle/>
                    <a:p>
                      <a:r>
                        <a:rPr sz="1200" b="0">
                          <a:solidFill>
                            <a:srgbClr val="2E2A36"/>
                          </a:solidFill>
                          <a:latin typeface="Montserrat"/>
                        </a:rPr>
                        <a:t>Mes siguiente al pago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Ceremonial</a:t>
                      </a:r>
                    </a:p>
                  </a:txBody>
                  <a:tcPr marL="73152" marR="73152" marT="36576" marB="36576" anchor="ctr">
                    <a:solidFill>
                      <a:srgbClr val="FBF6EC"/>
                    </a:solidFill>
                  </a:tcPr>
                </a:tc>
                <a:tc>
                  <a:txBody>
                    <a:bodyPr wrap="square"/>
                    <a:lstStyle/>
                    <a:p>
                      <a:r>
                        <a:rPr sz="1200" b="0">
                          <a:solidFill>
                            <a:srgbClr val="2E2A36"/>
                          </a:solidFill>
                          <a:latin typeface="Montserrat"/>
                        </a:rPr>
                        <a:t>A definir</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Plazo de pago</a:t>
            </a:r>
          </a:p>
          <a:p>
            <a:pPr algn="l">
              <a:lnSpc>
                <a:spcPct val="115000"/>
              </a:lnSpc>
              <a:spcAft>
                <a:spcPts val="100"/>
              </a:spcAft>
            </a:pPr>
            <a:r>
              <a:rPr sz="1100" b="0" i="0">
                <a:solidFill>
                  <a:srgbClr val="2E2A36"/>
                </a:solidFill>
                <a:latin typeface="Montserrat"/>
              </a:rPr>
              <a:t>Comunique que se paga en hasta 120 meses con intereses; no prometa un valor de cuota.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