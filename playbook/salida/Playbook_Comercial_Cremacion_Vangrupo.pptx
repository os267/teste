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2026 (aprobada): 1 venta en el mes = 8%, 2 ventas = 10%, 3 o más = 12% sobre la facturación.</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 2026</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la modalidad estándar la ubicación es definida; con la familiar,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 2026</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 2026</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por cantidad de ventas: 8% · 10% · 12%</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Según la cantidad de ventas del mes, sobre toda la facturación sin IVA.</a:t>
            </a:r>
          </a:p>
        </p:txBody>
      </p:sp>
      <p:pic>
        <p:nvPicPr>
          <p:cNvPr id="7" name="Picture 6" descr="05_comisiones.png"/>
          <p:cNvPicPr>
            <a:picLocks noChangeAspect="1"/>
          </p:cNvPicPr>
          <p:nvPr/>
        </p:nvPicPr>
        <p:blipFill>
          <a:blip r:embed="rId2"/>
          <a:stretch>
            <a:fillRect/>
          </a:stretch>
        </p:blipFill>
        <p:spPr>
          <a:xfrm>
            <a:off x="548640" y="3290697"/>
            <a:ext cx="6035040" cy="1282446"/>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1 venta en el mes = 8%; 2 ventas = 10%; 3 o más = 12%, sobre toda la facturación del mes.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Cuenta cualquier producto de cremación (nuevos y columbarios): cada contrato es 1 venta.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facturación sin IVA (13%), neta de descuentos; se paga sobre lo cobrado.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Mismo criterio para call center, contratados y freelancers. Sin bonos adicionales.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Venta compartida (call center agenda, otro cierra): 1 venta para ambos; comisión 30% / 70%.</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cuentan ni comisionan: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 ventas anuladas no cuentan.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 2026</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Escala, pago y estorno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1828800"/>
        </p:xfrm>
        <a:graphic>
          <a:graphicData uri="http://schemas.openxmlformats.org/drawingml/2006/table">
            <a:tbl>
              <a:tblPr firstRow="1" bandRow="1">
                <a:tableStyleId>{5C22544A-7EE6-4342-B048-85BDC9FD1C3A}</a:tableStyleId>
              </a:tblPr>
              <a:tblGrid>
                <a:gridCol w="2600253"/>
                <a:gridCol w="1906852"/>
                <a:gridCol w="3813705"/>
                <a:gridCol w="2773603"/>
              </a:tblGrid>
              <a:tr h="457200">
                <a:tc>
                  <a:txBody>
                    <a:bodyPr wrap="square"/>
                    <a:lstStyle/>
                    <a:p>
                      <a:r>
                        <a:rPr sz="1200" b="1">
                          <a:solidFill>
                            <a:srgbClr val="FFFFFF"/>
                          </a:solidFill>
                          <a:latin typeface="Montserrat"/>
                        </a:rPr>
                        <a:t>Ventas en el mes</a:t>
                      </a:r>
                    </a:p>
                  </a:txBody>
                  <a:tcPr marL="73152" marR="73152" marT="36576" marB="36576" anchor="ctr">
                    <a:solidFill>
                      <a:srgbClr val="5B3F80"/>
                    </a:solidFill>
                  </a:tcPr>
                </a:tc>
                <a:tc>
                  <a:txBody>
                    <a:bodyPr wrap="square"/>
                    <a:lstStyle/>
                    <a:p>
                      <a:r>
                        <a:rPr sz="1200" b="1">
                          <a:solidFill>
                            <a:srgbClr val="FFFFFF"/>
                          </a:solidFill>
                          <a:latin typeface="Montserrat"/>
                        </a:rPr>
                        <a:t>% comisión</a:t>
                      </a:r>
                    </a:p>
                  </a:txBody>
                  <a:tcPr marL="73152" marR="73152" marT="36576" marB="36576" anchor="ctr">
                    <a:solidFill>
                      <a:srgbClr val="5B3F80"/>
                    </a:solidFill>
                  </a:tcPr>
                </a:tc>
                <a:tc>
                  <a:txBody>
                    <a:bodyPr wrap="square"/>
                    <a:lstStyle/>
                    <a:p>
                      <a:r>
                        <a:rPr sz="1200" b="1">
                          <a:solidFill>
                            <a:srgbClr val="FFFFFF"/>
                          </a:solidFill>
                          <a:latin typeface="Montserrat"/>
                        </a:rPr>
                        <a:t>Ejemplo: facturación (Solución Modular)</a:t>
                      </a:r>
                    </a:p>
                  </a:txBody>
                  <a:tcPr marL="73152" marR="73152" marT="36576" marB="36576" anchor="ctr">
                    <a:solidFill>
                      <a:srgbClr val="5B3F80"/>
                    </a:solidFill>
                  </a:tcPr>
                </a:tc>
                <a:tc>
                  <a:txBody>
                    <a:bodyPr wrap="square"/>
                    <a:lstStyle/>
                    <a:p>
                      <a:r>
                        <a:rPr sz="1200" b="1">
                          <a:solidFill>
                            <a:srgbClr val="FFFFFF"/>
                          </a:solidFill>
                          <a:latin typeface="Montserrat"/>
                        </a:rPr>
                        <a:t>Comisión del ejemplo</a:t>
                      </a:r>
                    </a:p>
                  </a:txBody>
                  <a:tcPr marL="73152" marR="73152" marT="36576" marB="36576" anchor="ctr">
                    <a:solidFill>
                      <a:srgbClr val="5B3F80"/>
                    </a:solidFill>
                  </a:tcPr>
                </a:tc>
              </a:tr>
              <a:tr h="457200">
                <a:tc>
                  <a:txBody>
                    <a:bodyPr wrap="square"/>
                    <a:lstStyle/>
                    <a:p>
                      <a:r>
                        <a:rPr sz="1200" b="1">
                          <a:solidFill>
                            <a:srgbClr val="5B3F80"/>
                          </a:solidFill>
                          <a:latin typeface="Montserrat"/>
                        </a:rPr>
                        <a:t>1 venta</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US$ 885</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r>
              <a:tr h="457200">
                <a:tc>
                  <a:txBody>
                    <a:bodyPr wrap="square"/>
                    <a:lstStyle/>
                    <a:p>
                      <a:r>
                        <a:rPr sz="1200" b="1">
                          <a:solidFill>
                            <a:srgbClr val="5B3F80"/>
                          </a:solidFill>
                          <a:latin typeface="Montserrat"/>
                        </a:rPr>
                        <a:t>2 ventas</a:t>
                      </a:r>
                    </a:p>
                  </a:txBody>
                  <a:tcPr marL="73152" marR="73152" marT="36576" marB="36576" anchor="ctr">
                    <a:solidFill>
                      <a:srgbClr val="F5F2F8"/>
                    </a:solidFill>
                  </a:tcPr>
                </a:tc>
                <a:tc>
                  <a:txBody>
                    <a:bodyPr wrap="square"/>
                    <a:lstStyle/>
                    <a:p>
                      <a:r>
                        <a:rPr sz="1200" b="0">
                          <a:solidFill>
                            <a:srgbClr val="2E2A36"/>
                          </a:solidFill>
                          <a:latin typeface="Montserrat"/>
                        </a:rPr>
                        <a:t>10%</a:t>
                      </a:r>
                    </a:p>
                  </a:txBody>
                  <a:tcPr marL="73152" marR="73152" marT="36576" marB="36576" anchor="ctr">
                    <a:solidFill>
                      <a:srgbClr val="F5F2F8"/>
                    </a:solidFill>
                  </a:tcPr>
                </a:tc>
                <a:tc>
                  <a:txBody>
                    <a:bodyPr wrap="square"/>
                    <a:lstStyle/>
                    <a:p>
                      <a:r>
                        <a:rPr sz="1200" b="0">
                          <a:solidFill>
                            <a:srgbClr val="2E2A36"/>
                          </a:solidFill>
                          <a:latin typeface="Montserrat"/>
                        </a:rPr>
                        <a:t>US$ 1.770</a:t>
                      </a:r>
                    </a:p>
                  </a:txBody>
                  <a:tcPr marL="73152" marR="73152" marT="36576" marB="36576" anchor="ctr">
                    <a:solidFill>
                      <a:srgbClr val="F5F2F8"/>
                    </a:solidFill>
                  </a:tcPr>
                </a:tc>
                <a:tc>
                  <a:txBody>
                    <a:bodyPr wrap="square"/>
                    <a:lstStyle/>
                    <a:p>
                      <a:r>
                        <a:rPr sz="1200" b="0">
                          <a:solidFill>
                            <a:srgbClr val="2E2A36"/>
                          </a:solidFill>
                          <a:latin typeface="Montserrat"/>
                        </a:rPr>
                        <a:t>US$ 177,00</a:t>
                      </a:r>
                    </a:p>
                  </a:txBody>
                  <a:tcPr marL="73152" marR="73152" marT="36576" marB="36576" anchor="ctr">
                    <a:solidFill>
                      <a:srgbClr val="F5F2F8"/>
                    </a:solidFill>
                  </a:tcPr>
                </a:tc>
              </a:tr>
              <a:tr h="457200">
                <a:tc>
                  <a:txBody>
                    <a:bodyPr wrap="square"/>
                    <a:lstStyle/>
                    <a:p>
                      <a:r>
                        <a:rPr sz="1200" b="1">
                          <a:solidFill>
                            <a:srgbClr val="5B3F80"/>
                          </a:solidFill>
                          <a:latin typeface="Montserrat"/>
                        </a:rPr>
                        <a:t>3 ventas o más</a:t>
                      </a:r>
                    </a:p>
                  </a:txBody>
                  <a:tcPr marL="73152" marR="73152" marT="36576" marB="36576" anchor="ctr">
                    <a:solidFill>
                      <a:srgbClr val="FFFFFF"/>
                    </a:solidFill>
                  </a:tcPr>
                </a:tc>
                <a:tc>
                  <a:txBody>
                    <a:bodyPr wrap="square"/>
                    <a:lstStyle/>
                    <a:p>
                      <a:r>
                        <a:rPr sz="1200" b="0">
                          <a:solidFill>
                            <a:srgbClr val="2E2A36"/>
                          </a:solidFill>
                          <a:latin typeface="Montserrat"/>
                        </a:rPr>
                        <a:t>12%</a:t>
                      </a:r>
                    </a:p>
                  </a:txBody>
                  <a:tcPr marL="73152" marR="73152" marT="36576" marB="36576" anchor="ctr">
                    <a:solidFill>
                      <a:srgbClr val="FFFFFF"/>
                    </a:solidFill>
                  </a:tcPr>
                </a:tc>
                <a:tc>
                  <a:txBody>
                    <a:bodyPr wrap="square"/>
                    <a:lstStyle/>
                    <a:p>
                      <a:r>
                        <a:rPr sz="1200" b="0">
                          <a:solidFill>
                            <a:srgbClr val="2E2A36"/>
                          </a:solidFill>
                          <a:latin typeface="Montserrat"/>
                        </a:rPr>
                        <a:t>US$ 2.655</a:t>
                      </a:r>
                    </a:p>
                  </a:txBody>
                  <a:tcPr marL="73152" marR="73152" marT="36576" marB="36576" anchor="ctr">
                    <a:solidFill>
                      <a:srgbClr val="FFFFFF"/>
                    </a:solidFill>
                  </a:tcPr>
                </a:tc>
                <a:tc>
                  <a:txBody>
                    <a:bodyPr wrap="square"/>
                    <a:lstStyle/>
                    <a:p>
                      <a:r>
                        <a:rPr sz="1200" b="0">
                          <a:solidFill>
                            <a:srgbClr val="2E2A36"/>
                          </a:solidFill>
                          <a:latin typeface="Montserrat"/>
                        </a:rPr>
                        <a:t>US$ 318,60</a:t>
                      </a:r>
                    </a:p>
                  </a:txBody>
                  <a:tcPr marL="73152" marR="73152" marT="36576" marB="36576" anchor="ctr">
                    <a:solidFill>
                      <a:srgbClr val="FFFFFF"/>
                    </a:solidFill>
                  </a:tcPr>
                </a:tc>
              </a:tr>
            </a:tbl>
          </a:graphicData>
        </a:graphic>
      </p:graphicFrame>
      <p:graphicFrame>
        <p:nvGraphicFramePr>
          <p:cNvPr id="7" name="Table 6"/>
          <p:cNvGraphicFramePr>
            <a:graphicFrameLocks noGrp="1"/>
          </p:cNvGraphicFramePr>
          <p:nvPr/>
        </p:nvGraphicFramePr>
        <p:xfrm>
          <a:off x="548640" y="3794760"/>
          <a:ext cx="11094413" cy="2286000"/>
        </p:xfrm>
        <a:graphic>
          <a:graphicData uri="http://schemas.openxmlformats.org/drawingml/2006/table">
            <a:tbl>
              <a:tblPr firstRow="1" bandRow="1">
                <a:tableStyleId>{5C22544A-7EE6-4342-B048-85BDC9FD1C3A}</a:tableStyleId>
              </a:tblPr>
              <a:tblGrid>
                <a:gridCol w="3120304"/>
                <a:gridCol w="5027156"/>
                <a:gridCol w="2946953"/>
              </a:tblGrid>
              <a:tr h="45720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45720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457200">
                <a:tc>
                  <a:txBody>
                    <a:bodyPr wrap="square"/>
                    <a:lstStyle/>
                    <a:p>
                      <a:r>
                        <a:rPr sz="1200" b="1">
                          <a:solidFill>
                            <a:srgbClr val="5B3F80"/>
                          </a:solidFill>
                          <a:latin typeface="Montserrat"/>
                        </a:rPr>
                        <a:t>Jardines de Cenizas</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457200">
                <a:tc>
                  <a:txBody>
                    <a:bodyPr wrap="square"/>
                    <a:lstStyle/>
                    <a:p>
                      <a:r>
                        <a:rPr sz="1200" b="1">
                          <a:solidFill>
                            <a:srgbClr val="5B3F80"/>
                          </a:solidFill>
                          <a:latin typeface="Montserrat"/>
                        </a:rPr>
                        <a:t>Jardín de Mascotas</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457200">
                <a:tc>
                  <a:txBody>
                    <a:bodyPr wrap="square"/>
                    <a:lstStyle/>
                    <a:p>
                      <a:r>
                        <a:rPr sz="1200" b="1">
                          <a:solidFill>
                            <a:srgbClr val="5B3F80"/>
                          </a:solidFill>
                          <a:latin typeface="Montserrat"/>
                        </a:rPr>
                        <a:t>Columbarios (portafolio existente)</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bl>
          </a:graphicData>
        </a:graphic>
      </p:graphicFrame>
      <p:sp>
        <p:nvSpPr>
          <p:cNvPr id="8" name="TextBox 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9" name="TextBox 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