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Rectangle 1"/>
          <p:cNvSpPr/>
          <p:nvPr/>
        </p:nvSpPr>
        <p:spPr>
          <a:xfrm>
            <a:off x="0" y="6629400"/>
            <a:ext cx="12191695" cy="22860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914400"/>
            <a:ext cx="8229600" cy="365760"/>
          </a:xfrm>
          <a:prstGeom prst="rect">
            <a:avLst/>
          </a:prstGeom>
          <a:noFill/>
        </p:spPr>
        <p:txBody>
          <a:bodyPr wrap="square" anchor="t" lIns="45720" rIns="45720" tIns="27432" bIns="27432">
            <a:spAutoFit/>
          </a:bodyPr>
          <a:lstStyle/>
          <a:p>
            <a:pPr algn="l">
              <a:lnSpc>
                <a:spcPct val="115000"/>
              </a:lnSpc>
              <a:spcAft>
                <a:spcPts val="400"/>
              </a:spcAft>
            </a:pPr>
            <a:r>
              <a:rPr sz="1300" b="1" i="0">
                <a:solidFill>
                  <a:srgbClr val="C9A86A"/>
                </a:solidFill>
                <a:latin typeface="Montserrat"/>
              </a:rPr>
              <a:t>CAMPAÑA DÍA DE LOS MUERTOS 2026</a:t>
            </a:r>
          </a:p>
        </p:txBody>
      </p:sp>
      <p:sp>
        <p:nvSpPr>
          <p:cNvPr id="4" name="TextBox 3"/>
          <p:cNvSpPr txBox="1"/>
          <p:nvPr/>
        </p:nvSpPr>
        <p:spPr>
          <a:xfrm>
            <a:off x="731520" y="1371600"/>
            <a:ext cx="10058400" cy="1188720"/>
          </a:xfrm>
          <a:prstGeom prst="rect">
            <a:avLst/>
          </a:prstGeom>
          <a:noFill/>
        </p:spPr>
        <p:txBody>
          <a:bodyPr wrap="square" anchor="t" lIns="45720" rIns="45720" tIns="27432" bIns="27432">
            <a:spAutoFit/>
          </a:bodyPr>
          <a:lstStyle/>
          <a:p>
            <a:pPr algn="l">
              <a:lnSpc>
                <a:spcPct val="115000"/>
              </a:lnSpc>
              <a:spcAft>
                <a:spcPts val="400"/>
              </a:spcAft>
            </a:pPr>
            <a:r>
              <a:rPr sz="6000" b="1" i="0">
                <a:solidFill>
                  <a:srgbClr val="FFFFFF"/>
                </a:solidFill>
                <a:latin typeface="Playfair Display"/>
              </a:rPr>
              <a:t>Playbook Comercial</a:t>
            </a:r>
          </a:p>
        </p:txBody>
      </p:sp>
      <p:sp>
        <p:nvSpPr>
          <p:cNvPr id="5" name="TextBox 4"/>
          <p:cNvSpPr txBox="1"/>
          <p:nvPr/>
        </p:nvSpPr>
        <p:spPr>
          <a:xfrm>
            <a:off x="731520" y="2560320"/>
            <a:ext cx="10058400" cy="640080"/>
          </a:xfrm>
          <a:prstGeom prst="rect">
            <a:avLst/>
          </a:prstGeom>
          <a:noFill/>
        </p:spPr>
        <p:txBody>
          <a:bodyPr wrap="square" anchor="t" lIns="45720" rIns="45720" tIns="27432" bIns="27432">
            <a:spAutoFit/>
          </a:bodyPr>
          <a:lstStyle/>
          <a:p>
            <a:pPr algn="l">
              <a:lnSpc>
                <a:spcPct val="115000"/>
              </a:lnSpc>
              <a:spcAft>
                <a:spcPts val="400"/>
              </a:spcAft>
            </a:pPr>
            <a:r>
              <a:rPr sz="2600" b="0" i="0">
                <a:solidFill>
                  <a:srgbClr val="F1ECF7"/>
                </a:solidFill>
                <a:latin typeface="Playfair Display"/>
              </a:rPr>
              <a:t>Portafolio de Cremación y Jardines de Cenizas</a:t>
            </a:r>
          </a:p>
        </p:txBody>
      </p:sp>
      <p:sp>
        <p:nvSpPr>
          <p:cNvPr id="6" name="Rectangle 5"/>
          <p:cNvSpPr/>
          <p:nvPr/>
        </p:nvSpPr>
        <p:spPr>
          <a:xfrm>
            <a:off x="777240" y="333756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3566160"/>
            <a:ext cx="10058400" cy="45720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FFFFFF"/>
                </a:solidFill>
                <a:latin typeface="Playfair Display"/>
              </a:rPr>
              <a:t>«Acompañar, no vender: la familia primero, siempre.»</a:t>
            </a:r>
          </a:p>
        </p:txBody>
      </p:sp>
      <p:sp>
        <p:nvSpPr>
          <p:cNvPr id="8" name="LOGO La Auxiliadora"/>
          <p:cNvSpPr/>
          <p:nvPr/>
        </p:nvSpPr>
        <p:spPr>
          <a:xfrm>
            <a:off x="731520" y="4663440"/>
            <a:ext cx="3017520" cy="105156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4663440"/>
            <a:ext cx="3017520" cy="1051560"/>
          </a:xfrm>
          <a:prstGeom prst="rect">
            <a:avLst/>
          </a:prstGeom>
          <a:noFill/>
        </p:spPr>
        <p:txBody>
          <a:bodyPr wrap="square" anchor="ctr" lIns="45720" rIns="45720" tIns="27432" bIns="27432">
            <a:spAutoFit/>
          </a:bodyPr>
          <a:lstStyle/>
          <a:p>
            <a:pPr algn="ctr">
              <a:lnSpc>
                <a:spcPct val="115000"/>
              </a:lnSpc>
              <a:spcAft>
                <a:spcPts val="0"/>
              </a:spcAft>
            </a:pPr>
            <a:r>
              <a:rPr sz="900" b="1" i="0">
                <a:solidFill>
                  <a:srgbClr val="7D7887"/>
                </a:solidFill>
                <a:latin typeface="Montserrat"/>
              </a:rPr>
              <a:t>LOGO</a:t>
            </a:r>
          </a:p>
          <a:p>
            <a:pPr algn="ctr">
              <a:lnSpc>
                <a:spcPct val="115000"/>
              </a:lnSpc>
              <a:spcAft>
                <a:spcPts val="0"/>
              </a:spcAft>
            </a:pPr>
            <a:r>
              <a:rPr sz="1500" b="1" i="0">
                <a:solidFill>
                  <a:srgbClr val="5B3F80"/>
                </a:solidFill>
                <a:latin typeface="Montserrat"/>
              </a:rPr>
              <a:t>La Auxiliadora</a:t>
            </a:r>
          </a:p>
        </p:txBody>
      </p:sp>
      <p:sp>
        <p:nvSpPr>
          <p:cNvPr id="10" name="LOGO Hogar de las Memorias"/>
          <p:cNvSpPr/>
          <p:nvPr/>
        </p:nvSpPr>
        <p:spPr>
          <a:xfrm>
            <a:off x="4069080" y="4663440"/>
            <a:ext cx="3017520" cy="105156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069080" y="4663440"/>
            <a:ext cx="3017520" cy="1051560"/>
          </a:xfrm>
          <a:prstGeom prst="rect">
            <a:avLst/>
          </a:prstGeom>
          <a:noFill/>
        </p:spPr>
        <p:txBody>
          <a:bodyPr wrap="square" anchor="ctr" lIns="45720" rIns="45720" tIns="27432" bIns="27432">
            <a:spAutoFit/>
          </a:bodyPr>
          <a:lstStyle/>
          <a:p>
            <a:pPr algn="ctr">
              <a:lnSpc>
                <a:spcPct val="115000"/>
              </a:lnSpc>
              <a:spcAft>
                <a:spcPts val="0"/>
              </a:spcAft>
            </a:pPr>
            <a:r>
              <a:rPr sz="900" b="1" i="0">
                <a:solidFill>
                  <a:srgbClr val="7D7887"/>
                </a:solidFill>
                <a:latin typeface="Montserrat"/>
              </a:rPr>
              <a:t>LOGO</a:t>
            </a:r>
          </a:p>
          <a:p>
            <a:pPr algn="ctr">
              <a:lnSpc>
                <a:spcPct val="115000"/>
              </a:lnSpc>
              <a:spcAft>
                <a:spcPts val="0"/>
              </a:spcAft>
            </a:pPr>
            <a:r>
              <a:rPr sz="1500" b="1" i="0">
                <a:solidFill>
                  <a:srgbClr val="5B3F80"/>
                </a:solidFill>
                <a:latin typeface="Montserrat"/>
              </a:rPr>
              <a:t>Hogar de las Memorias</a:t>
            </a:r>
          </a:p>
        </p:txBody>
      </p:sp>
      <p:sp>
        <p:nvSpPr>
          <p:cNvPr id="12" name="LOGO Vangrupo"/>
          <p:cNvSpPr/>
          <p:nvPr/>
        </p:nvSpPr>
        <p:spPr>
          <a:xfrm>
            <a:off x="7406640" y="4663440"/>
            <a:ext cx="3017520" cy="105156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06640" y="4663440"/>
            <a:ext cx="3017520" cy="1051560"/>
          </a:xfrm>
          <a:prstGeom prst="rect">
            <a:avLst/>
          </a:prstGeom>
          <a:noFill/>
        </p:spPr>
        <p:txBody>
          <a:bodyPr wrap="square" anchor="ctr" lIns="45720" rIns="45720" tIns="27432" bIns="27432">
            <a:spAutoFit/>
          </a:bodyPr>
          <a:lstStyle/>
          <a:p>
            <a:pPr algn="ctr">
              <a:lnSpc>
                <a:spcPct val="115000"/>
              </a:lnSpc>
              <a:spcAft>
                <a:spcPts val="0"/>
              </a:spcAft>
            </a:pPr>
            <a:r>
              <a:rPr sz="900" b="1" i="0">
                <a:solidFill>
                  <a:srgbClr val="7D7887"/>
                </a:solidFill>
                <a:latin typeface="Montserrat"/>
              </a:rPr>
              <a:t>LOGO</a:t>
            </a:r>
          </a:p>
          <a:p>
            <a:pPr algn="ctr">
              <a:lnSpc>
                <a:spcPct val="115000"/>
              </a:lnSpc>
              <a:spcAft>
                <a:spcPts val="0"/>
              </a:spcAft>
            </a:pPr>
            <a:r>
              <a:rPr sz="1500" b="1" i="0">
                <a:solidFill>
                  <a:srgbClr val="5B3F80"/>
                </a:solidFill>
                <a:latin typeface="Montserrat"/>
              </a:rPr>
              <a:t>Vangrupo</a:t>
            </a:r>
          </a:p>
        </p:txBody>
      </p:sp>
      <p:sp>
        <p:nvSpPr>
          <p:cNvPr id="14" name="TextBox 13"/>
          <p:cNvSpPr txBox="1"/>
          <p:nvPr/>
        </p:nvSpPr>
        <p:spPr>
          <a:xfrm>
            <a:off x="731520" y="5989320"/>
            <a:ext cx="10058400" cy="320040"/>
          </a:xfrm>
          <a:prstGeom prst="rect">
            <a:avLst/>
          </a:prstGeom>
          <a:noFill/>
        </p:spPr>
        <p:txBody>
          <a:bodyPr wrap="square" anchor="t" lIns="45720" rIns="45720" tIns="27432" bIns="27432">
            <a:spAutoFit/>
          </a:bodyPr>
          <a:lstStyle/>
          <a:p>
            <a:pPr algn="l">
              <a:lnSpc>
                <a:spcPct val="115000"/>
              </a:lnSpc>
              <a:spcAft>
                <a:spcPts val="400"/>
              </a:spcAft>
            </a:pPr>
            <a:r>
              <a:rPr sz="1000" b="0" i="0">
                <a:solidFill>
                  <a:srgbClr val="D9CFE6"/>
                </a:solidFill>
                <a:latin typeface="Montserrat"/>
              </a:rPr>
              <a:t>Versión 1.1 · Octubre 2026 · Uso interno del equipo comercial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ANTES DE EMPEZAR</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Cómo usar este playbook</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00200"/>
            <a:ext cx="5669280" cy="1828800"/>
          </a:xfrm>
          <a:prstGeom prst="rect">
            <a:avLst/>
          </a:prstGeom>
          <a:noFill/>
        </p:spPr>
        <p:txBody>
          <a:bodyPr wrap="square" anchor="t" lIns="45720" rIns="45720" tIns="27432" bIns="27432">
            <a:spAutoFit/>
          </a:bodyPr>
          <a:lstStyle/>
          <a:p>
            <a:pPr algn="l">
              <a:lnSpc>
                <a:spcPct val="115000"/>
              </a:lnSpc>
              <a:spcAft>
                <a:spcPts val="400"/>
              </a:spcAft>
            </a:pPr>
            <a:r>
              <a:rPr sz="1400" b="0" i="0">
                <a:solidFill>
                  <a:srgbClr val="2E2A36"/>
                </a:solidFill>
                <a:latin typeface="Montserrat"/>
              </a:rPr>
              <a:t>Este playbook es la referencia única del equipo comercial para el portafolio de cremación y jardines de cenizas. Reúne reglas, precios, discurso por producto, manejo de objeciones y política de comisiones. Se revisa cada trimestre con la Gerencia Comercial. Si algo cambia en la Ficha Técnica, este documento se actualiza.</a:t>
            </a:r>
          </a:p>
        </p:txBody>
      </p:sp>
      <p:sp>
        <p:nvSpPr>
          <p:cNvPr id="7" name="Rectangle 6"/>
          <p:cNvSpPr/>
          <p:nvPr/>
        </p:nvSpPr>
        <p:spPr>
          <a:xfrm>
            <a:off x="548640" y="3429000"/>
            <a:ext cx="5669280" cy="265176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3429000"/>
            <a:ext cx="73152" cy="265176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3566160"/>
            <a:ext cx="521208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PENDIENTES DE VALIDACIÓN</a:t>
            </a:r>
          </a:p>
        </p:txBody>
      </p:sp>
      <p:sp>
        <p:nvSpPr>
          <p:cNvPr id="10" name="TextBox 9"/>
          <p:cNvSpPr txBox="1"/>
          <p:nvPr/>
        </p:nvSpPr>
        <p:spPr>
          <a:xfrm>
            <a:off x="822960" y="3931920"/>
            <a:ext cx="5212080" cy="2103120"/>
          </a:xfrm>
          <a:prstGeom prst="rect">
            <a:avLst/>
          </a:prstGeom>
          <a:noFill/>
        </p:spPr>
        <p:txBody>
          <a:bodyPr wrap="square" anchor="t" lIns="45720" rIns="45720" tIns="27432" bIns="27432">
            <a:spAutoFit/>
          </a:bodyPr>
          <a:lstStyle/>
          <a:p>
            <a:pPr algn="l">
              <a:lnSpc>
                <a:spcPct val="115000"/>
              </a:lnSpc>
              <a:spcAft>
                <a:spcPts val="400"/>
              </a:spcAft>
            </a:pPr>
            <a:r>
              <a:rPr sz="900" b="1" i="0">
                <a:solidFill>
                  <a:srgbClr val="C9A86A"/>
                </a:solidFill>
                <a:latin typeface="Montserrat"/>
              </a:rPr>
              <a:t>■  </a:t>
            </a:r>
            <a:r>
              <a:rPr sz="1200" b="0" i="0">
                <a:solidFill>
                  <a:srgbClr val="2E2A36"/>
                </a:solidFill>
                <a:latin typeface="Montserrat"/>
              </a:rPr>
              <a:t>Política de comisiones: 8% en todos los productos. Confirmar con el Gerente Comercial antes de aplicar.</a:t>
            </a:r>
          </a:p>
          <a:p>
            <a:pPr algn="l">
              <a:lnSpc>
                <a:spcPct val="115000"/>
              </a:lnSpc>
              <a:spcAft>
                <a:spcPts val="400"/>
              </a:spcAft>
            </a:pPr>
            <a:r>
              <a:rPr sz="900" b="1" i="0">
                <a:solidFill>
                  <a:srgbClr val="C9A86A"/>
                </a:solidFill>
                <a:latin typeface="Montserrat"/>
              </a:rPr>
              <a:t>■  </a:t>
            </a:r>
            <a:r>
              <a:rPr sz="1200" b="0" i="0">
                <a:solidFill>
                  <a:srgbClr val="2E2A36"/>
                </a:solidFill>
                <a:latin typeface="Montserrat"/>
              </a:rPr>
              <a:t>Placas de madera: confirmar el tratamiento de la madera para contacto con el suelo.</a:t>
            </a:r>
          </a:p>
          <a:p>
            <a:pPr algn="l">
              <a:lnSpc>
                <a:spcPct val="115000"/>
              </a:lnSpc>
              <a:spcAft>
                <a:spcPts val="400"/>
              </a:spcAft>
            </a:pPr>
            <a:r>
              <a:rPr sz="900" b="1" i="0">
                <a:solidFill>
                  <a:srgbClr val="C9A86A"/>
                </a:solidFill>
                <a:latin typeface="Montserrat"/>
              </a:rPr>
              <a:t>■  </a:t>
            </a:r>
            <a:r>
              <a:rPr sz="1200" b="0" i="0">
                <a:solidFill>
                  <a:srgbClr val="2E2A36"/>
                </a:solidFill>
                <a:latin typeface="Montserrat"/>
              </a:rPr>
              <a:t>Jardín Ceremonial: producto en definición. No se vende ni se cotiza todavía.</a:t>
            </a:r>
          </a:p>
        </p:txBody>
      </p:sp>
      <p:sp>
        <p:nvSpPr>
          <p:cNvPr id="11" name="TextBox 10"/>
          <p:cNvSpPr txBox="1"/>
          <p:nvPr/>
        </p:nvSpPr>
        <p:spPr>
          <a:xfrm>
            <a:off x="6720840" y="1600200"/>
            <a:ext cx="4846320" cy="457200"/>
          </a:xfrm>
          <a:prstGeom prst="rect">
            <a:avLst/>
          </a:prstGeom>
          <a:noFill/>
        </p:spPr>
        <p:txBody>
          <a:bodyPr wrap="square" anchor="t" lIns="45720" rIns="45720" tIns="27432" bIns="27432">
            <a:spAutoFit/>
          </a:bodyPr>
          <a:lstStyle/>
          <a:p>
            <a:pPr algn="l">
              <a:lnSpc>
                <a:spcPct val="115000"/>
              </a:lnSpc>
              <a:spcAft>
                <a:spcPts val="400"/>
              </a:spcAft>
            </a:pPr>
            <a:r>
              <a:rPr sz="2000" b="1" i="0">
                <a:solidFill>
                  <a:srgbClr val="5B3F80"/>
                </a:solidFill>
                <a:latin typeface="Playfair Display"/>
              </a:rPr>
              <a:t>Contenido</a:t>
            </a:r>
          </a:p>
        </p:txBody>
      </p:sp>
      <p:sp>
        <p:nvSpPr>
          <p:cNvPr id="12" name="TextBox 11"/>
          <p:cNvSpPr txBox="1"/>
          <p:nvPr/>
        </p:nvSpPr>
        <p:spPr>
          <a:xfrm>
            <a:off x="6720840" y="2148840"/>
            <a:ext cx="73152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01</a:t>
            </a:r>
          </a:p>
        </p:txBody>
      </p:sp>
      <p:sp>
        <p:nvSpPr>
          <p:cNvPr id="13" name="TextBox 12"/>
          <p:cNvSpPr txBox="1"/>
          <p:nvPr/>
        </p:nvSpPr>
        <p:spPr>
          <a:xfrm>
            <a:off x="7452360" y="2221992"/>
            <a:ext cx="4206240" cy="411480"/>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Quiénes somos y lo que vendemos</a:t>
            </a:r>
          </a:p>
        </p:txBody>
      </p:sp>
      <p:sp>
        <p:nvSpPr>
          <p:cNvPr id="14" name="Rectangle 13"/>
          <p:cNvSpPr/>
          <p:nvPr/>
        </p:nvSpPr>
        <p:spPr>
          <a:xfrm>
            <a:off x="6720840" y="2606040"/>
            <a:ext cx="4846320" cy="9525"/>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20840" y="2633472"/>
            <a:ext cx="73152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02</a:t>
            </a:r>
          </a:p>
        </p:txBody>
      </p:sp>
      <p:sp>
        <p:nvSpPr>
          <p:cNvPr id="16" name="TextBox 15"/>
          <p:cNvSpPr txBox="1"/>
          <p:nvPr/>
        </p:nvSpPr>
        <p:spPr>
          <a:xfrm>
            <a:off x="7452360" y="2706624"/>
            <a:ext cx="4206240" cy="411480"/>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A quién le vendemos</a:t>
            </a:r>
          </a:p>
        </p:txBody>
      </p:sp>
      <p:sp>
        <p:nvSpPr>
          <p:cNvPr id="17" name="Rectangle 16"/>
          <p:cNvSpPr/>
          <p:nvPr/>
        </p:nvSpPr>
        <p:spPr>
          <a:xfrm>
            <a:off x="6720840" y="3090672"/>
            <a:ext cx="4846320" cy="9525"/>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20840" y="3118104"/>
            <a:ext cx="73152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03</a:t>
            </a:r>
          </a:p>
        </p:txBody>
      </p:sp>
      <p:sp>
        <p:nvSpPr>
          <p:cNvPr id="19" name="TextBox 18"/>
          <p:cNvSpPr txBox="1"/>
          <p:nvPr/>
        </p:nvSpPr>
        <p:spPr>
          <a:xfrm>
            <a:off x="7452360" y="3191256"/>
            <a:ext cx="4206240" cy="411480"/>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El proceso de venta</a:t>
            </a:r>
          </a:p>
        </p:txBody>
      </p:sp>
      <p:sp>
        <p:nvSpPr>
          <p:cNvPr id="20" name="Rectangle 19"/>
          <p:cNvSpPr/>
          <p:nvPr/>
        </p:nvSpPr>
        <p:spPr>
          <a:xfrm>
            <a:off x="6720840" y="3575304"/>
            <a:ext cx="4846320" cy="9525"/>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20840" y="3602736"/>
            <a:ext cx="73152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04</a:t>
            </a:r>
          </a:p>
        </p:txBody>
      </p:sp>
      <p:sp>
        <p:nvSpPr>
          <p:cNvPr id="22" name="TextBox 21"/>
          <p:cNvSpPr txBox="1"/>
          <p:nvPr/>
        </p:nvSpPr>
        <p:spPr>
          <a:xfrm>
            <a:off x="7452360" y="3675888"/>
            <a:ext cx="4206240" cy="411480"/>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Producto por producto: speech y reglas</a:t>
            </a:r>
          </a:p>
        </p:txBody>
      </p:sp>
      <p:sp>
        <p:nvSpPr>
          <p:cNvPr id="23" name="Rectangle 22"/>
          <p:cNvSpPr/>
          <p:nvPr/>
        </p:nvSpPr>
        <p:spPr>
          <a:xfrm>
            <a:off x="6720840" y="4059936"/>
            <a:ext cx="4846320" cy="9525"/>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720840" y="4087368"/>
            <a:ext cx="73152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05</a:t>
            </a:r>
          </a:p>
        </p:txBody>
      </p:sp>
      <p:sp>
        <p:nvSpPr>
          <p:cNvPr id="25" name="TextBox 24"/>
          <p:cNvSpPr txBox="1"/>
          <p:nvPr/>
        </p:nvSpPr>
        <p:spPr>
          <a:xfrm>
            <a:off x="7452360" y="4160520"/>
            <a:ext cx="4206240" cy="411480"/>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Manejo de objeciones</a:t>
            </a:r>
          </a:p>
        </p:txBody>
      </p:sp>
      <p:sp>
        <p:nvSpPr>
          <p:cNvPr id="26" name="Rectangle 25"/>
          <p:cNvSpPr/>
          <p:nvPr/>
        </p:nvSpPr>
        <p:spPr>
          <a:xfrm>
            <a:off x="6720840" y="4544568"/>
            <a:ext cx="4846320" cy="9525"/>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720840" y="4572000"/>
            <a:ext cx="73152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06</a:t>
            </a:r>
          </a:p>
        </p:txBody>
      </p:sp>
      <p:sp>
        <p:nvSpPr>
          <p:cNvPr id="28" name="TextBox 27"/>
          <p:cNvSpPr txBox="1"/>
          <p:nvPr/>
        </p:nvSpPr>
        <p:spPr>
          <a:xfrm>
            <a:off x="7452360" y="4645152"/>
            <a:ext cx="4206240" cy="411480"/>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Precios, reglas y condiciones</a:t>
            </a:r>
          </a:p>
        </p:txBody>
      </p:sp>
      <p:sp>
        <p:nvSpPr>
          <p:cNvPr id="29" name="Rectangle 28"/>
          <p:cNvSpPr/>
          <p:nvPr/>
        </p:nvSpPr>
        <p:spPr>
          <a:xfrm>
            <a:off x="6720840" y="5029200"/>
            <a:ext cx="4846320" cy="9525"/>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720840" y="5056632"/>
            <a:ext cx="73152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07</a:t>
            </a:r>
          </a:p>
        </p:txBody>
      </p:sp>
      <p:sp>
        <p:nvSpPr>
          <p:cNvPr id="31" name="TextBox 30"/>
          <p:cNvSpPr txBox="1"/>
          <p:nvPr/>
        </p:nvSpPr>
        <p:spPr>
          <a:xfrm>
            <a:off x="7452360" y="5129784"/>
            <a:ext cx="4206240" cy="411480"/>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Política de comisiones</a:t>
            </a:r>
          </a:p>
        </p:txBody>
      </p:sp>
      <p:sp>
        <p:nvSpPr>
          <p:cNvPr id="32" name="Rectangle 31"/>
          <p:cNvSpPr/>
          <p:nvPr/>
        </p:nvSpPr>
        <p:spPr>
          <a:xfrm>
            <a:off x="6720840" y="5513832"/>
            <a:ext cx="4846320" cy="9525"/>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720840" y="5541264"/>
            <a:ext cx="73152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08</a:t>
            </a:r>
          </a:p>
        </p:txBody>
      </p:sp>
      <p:sp>
        <p:nvSpPr>
          <p:cNvPr id="34" name="TextBox 33"/>
          <p:cNvSpPr txBox="1"/>
          <p:nvPr/>
        </p:nvSpPr>
        <p:spPr>
          <a:xfrm>
            <a:off x="7452360" y="5614416"/>
            <a:ext cx="4206240" cy="411480"/>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Herramientas de apoyo</a:t>
            </a:r>
          </a:p>
        </p:txBody>
      </p:sp>
      <p:sp>
        <p:nvSpPr>
          <p:cNvPr id="35" name="Rectangle 34"/>
          <p:cNvSpPr/>
          <p:nvPr/>
        </p:nvSpPr>
        <p:spPr>
          <a:xfrm>
            <a:off x="6720840" y="5998464"/>
            <a:ext cx="4846320" cy="9525"/>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7" name="TextBox 3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TextBox 1"/>
          <p:cNvSpPr txBox="1"/>
          <p:nvPr/>
        </p:nvSpPr>
        <p:spPr>
          <a:xfrm>
            <a:off x="914400" y="1417320"/>
            <a:ext cx="3200400" cy="1920240"/>
          </a:xfrm>
          <a:prstGeom prst="rect">
            <a:avLst/>
          </a:prstGeom>
          <a:noFill/>
        </p:spPr>
        <p:txBody>
          <a:bodyPr wrap="square" anchor="t" lIns="45720" rIns="45720" tIns="27432" bIns="27432">
            <a:spAutoFit/>
          </a:bodyPr>
          <a:lstStyle/>
          <a:p>
            <a:pPr algn="l">
              <a:lnSpc>
                <a:spcPct val="115000"/>
              </a:lnSpc>
              <a:spcAft>
                <a:spcPts val="400"/>
              </a:spcAft>
            </a:pPr>
            <a:r>
              <a:rPr sz="11000" b="1" i="0">
                <a:solidFill>
                  <a:srgbClr val="C9A86A"/>
                </a:solidFill>
                <a:latin typeface="Playfair Display"/>
              </a:rPr>
              <a:t>01</a:t>
            </a:r>
          </a:p>
        </p:txBody>
      </p:sp>
      <p:sp>
        <p:nvSpPr>
          <p:cNvPr id="3" name="TextBox 2"/>
          <p:cNvSpPr txBox="1"/>
          <p:nvPr/>
        </p:nvSpPr>
        <p:spPr>
          <a:xfrm>
            <a:off x="914400" y="3429000"/>
            <a:ext cx="10515600" cy="914400"/>
          </a:xfrm>
          <a:prstGeom prst="rect">
            <a:avLst/>
          </a:prstGeom>
          <a:noFill/>
        </p:spPr>
        <p:txBody>
          <a:bodyPr wrap="square" anchor="t" lIns="45720" rIns="45720" tIns="27432" bIns="27432">
            <a:spAutoFit/>
          </a:bodyPr>
          <a:lstStyle/>
          <a:p>
            <a:pPr algn="l">
              <a:lnSpc>
                <a:spcPct val="115000"/>
              </a:lnSpc>
              <a:spcAft>
                <a:spcPts val="400"/>
              </a:spcAft>
            </a:pPr>
            <a:r>
              <a:rPr sz="4000" b="1" i="0">
                <a:solidFill>
                  <a:srgbClr val="FFFFFF"/>
                </a:solidFill>
                <a:latin typeface="Playfair Display"/>
              </a:rPr>
              <a:t>Quiénes somos y lo que vendemos</a:t>
            </a:r>
          </a:p>
        </p:txBody>
      </p:sp>
      <p:sp>
        <p:nvSpPr>
          <p:cNvPr id="4" name="Rectangle 3"/>
          <p:cNvSpPr/>
          <p:nvPr/>
        </p:nvSpPr>
        <p:spPr>
          <a:xfrm>
            <a:off x="960120" y="443484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617720"/>
            <a:ext cx="10058400" cy="73152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D9CFE6"/>
                </a:solidFill>
                <a:latin typeface="Montserrat"/>
              </a:rPr>
              <a:t>Acompañar, no vender: la familia primero, siempre.</a:t>
            </a:r>
          </a:p>
        </p:txBody>
      </p:sp>
      <p:sp>
        <p:nvSpPr>
          <p:cNvPr id="6" name="TextBox 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D9CFE6"/>
                </a:solidFill>
                <a:latin typeface="Montserrat"/>
              </a:rPr>
              <a:t>Playbook Comercial  ·  La Auxiliadora · Hogar de las Memorias · Las Colinas · Vangrupo</a:t>
            </a:r>
          </a:p>
        </p:txBody>
      </p:sp>
      <p:sp>
        <p:nvSpPr>
          <p:cNvPr id="7" name="TextBox 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D9CFE6"/>
                </a:solidFill>
                <a:latin typeface="Montserrat"/>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01 · QUIÉNES SOMOS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No vendemos parcelas: acompañamos familias</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00200"/>
            <a:ext cx="10972800" cy="1280160"/>
          </a:xfrm>
          <a:prstGeom prst="rect">
            <a:avLst/>
          </a:prstGeom>
          <a:noFill/>
        </p:spPr>
        <p:txBody>
          <a:bodyPr wrap="square" anchor="t" lIns="45720" rIns="45720" tIns="27432" bIns="27432">
            <a:spAutoFit/>
          </a:bodyPr>
          <a:lstStyle/>
          <a:p>
            <a:pPr algn="l">
              <a:lnSpc>
                <a:spcPct val="115000"/>
              </a:lnSpc>
              <a:spcAft>
                <a:spcPts val="400"/>
              </a:spcAft>
            </a:pPr>
            <a:r>
              <a:rPr sz="1500" b="0" i="0">
                <a:solidFill>
                  <a:srgbClr val="2E2A36"/>
                </a:solidFill>
                <a:latin typeface="Montserrat"/>
              </a:rPr>
              <a:t>En La Auxiliadora, Hogar de las Memorias y Parque Memorial Las Colinas, empresas de Vangrupo, no vendemos nichos, parcelas ni servicios: acompañamos a las familias salvadoreñas a honrar la memoria de quienes aman. La cremación es una decisión cada vez más elegida, y nuestros nuevos jardines de cenizas responden a una pregunta que muchas familias se hacen y pocas se atreven a decir: «¿y después de la cremación, dónde las visitamos?».</a:t>
            </a:r>
          </a:p>
        </p:txBody>
      </p:sp>
      <p:sp>
        <p:nvSpPr>
          <p:cNvPr id="7" name="Rectangle 6"/>
          <p:cNvSpPr/>
          <p:nvPr/>
        </p:nvSpPr>
        <p:spPr>
          <a:xfrm>
            <a:off x="548640" y="3154680"/>
            <a:ext cx="2633472" cy="17373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3154680"/>
            <a:ext cx="2633472"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3319272"/>
            <a:ext cx="2267712"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Un lugar para volver</a:t>
            </a:r>
          </a:p>
        </p:txBody>
      </p:sp>
      <p:sp>
        <p:nvSpPr>
          <p:cNvPr id="10" name="TextBox 9"/>
          <p:cNvSpPr txBox="1"/>
          <p:nvPr/>
        </p:nvSpPr>
        <p:spPr>
          <a:xfrm>
            <a:off x="731520" y="3904488"/>
            <a:ext cx="2267712" cy="89611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La familia tiene un sitio físico, digno y verde para visitar y recordar.</a:t>
            </a:r>
          </a:p>
        </p:txBody>
      </p:sp>
      <p:sp>
        <p:nvSpPr>
          <p:cNvPr id="11" name="Rectangle 10"/>
          <p:cNvSpPr/>
          <p:nvPr/>
        </p:nvSpPr>
        <p:spPr>
          <a:xfrm>
            <a:off x="3364992" y="3154680"/>
            <a:ext cx="2633472" cy="17373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64992" y="3154680"/>
            <a:ext cx="2633472"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47872" y="3319272"/>
            <a:ext cx="2267712"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Precio accesible</a:t>
            </a:r>
          </a:p>
        </p:txBody>
      </p:sp>
      <p:sp>
        <p:nvSpPr>
          <p:cNvPr id="14" name="TextBox 13"/>
          <p:cNvSpPr txBox="1"/>
          <p:nvPr/>
        </p:nvSpPr>
        <p:spPr>
          <a:xfrm>
            <a:off x="3547872" y="3904488"/>
            <a:ext cx="2267712" cy="89611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Desde US$ 320 en lanzamiento y con financiamiento: un destino final al alcance de más familias.</a:t>
            </a:r>
          </a:p>
        </p:txBody>
      </p:sp>
      <p:sp>
        <p:nvSpPr>
          <p:cNvPr id="15" name="Rectangle 14"/>
          <p:cNvSpPr/>
          <p:nvPr/>
        </p:nvSpPr>
        <p:spPr>
          <a:xfrm>
            <a:off x="6181344" y="3154680"/>
            <a:ext cx="2633472" cy="17373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81344" y="3154680"/>
            <a:ext cx="2633472"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64224" y="3319272"/>
            <a:ext cx="2267712"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Naturaleza y legado</a:t>
            </a:r>
          </a:p>
        </p:txBody>
      </p:sp>
      <p:sp>
        <p:nvSpPr>
          <p:cNvPr id="18" name="TextBox 17"/>
          <p:cNvSpPr txBox="1"/>
          <p:nvPr/>
        </p:nvSpPr>
        <p:spPr>
          <a:xfrm>
            <a:off x="6364224" y="3904488"/>
            <a:ext cx="2267712" cy="89611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Jardines de plantas de sombra, agua corriente y bosque: un homenaje que vive.</a:t>
            </a:r>
          </a:p>
        </p:txBody>
      </p:sp>
      <p:sp>
        <p:nvSpPr>
          <p:cNvPr id="19" name="Rectangle 18"/>
          <p:cNvSpPr/>
          <p:nvPr/>
        </p:nvSpPr>
        <p:spPr>
          <a:xfrm>
            <a:off x="8997696" y="3154680"/>
            <a:ext cx="2633472" cy="17373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997696" y="3154680"/>
            <a:ext cx="2633472"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80576" y="3319272"/>
            <a:ext cx="2267712"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Sin decisiones bajo presión</a:t>
            </a:r>
          </a:p>
        </p:txBody>
      </p:sp>
      <p:sp>
        <p:nvSpPr>
          <p:cNvPr id="22" name="TextBox 21"/>
          <p:cNvSpPr txBox="1"/>
          <p:nvPr/>
        </p:nvSpPr>
        <p:spPr>
          <a:xfrm>
            <a:off x="9180576" y="3904488"/>
            <a:ext cx="2267712" cy="89611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Planificar hoy evita que la familia decida en el peor momento.</a:t>
            </a:r>
          </a:p>
        </p:txBody>
      </p:sp>
      <p:sp>
        <p:nvSpPr>
          <p:cNvPr id="23" name="Rectangle 22"/>
          <p:cNvSpPr/>
          <p:nvPr/>
        </p:nvSpPr>
        <p:spPr>
          <a:xfrm>
            <a:off x="548640" y="5166360"/>
            <a:ext cx="11094415" cy="96012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 y="5166360"/>
            <a:ext cx="10545775" cy="96012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C9A86A"/>
                </a:solidFill>
                <a:latin typeface="Montserrat"/>
              </a:rPr>
              <a:t>REGLA DE ORO   </a:t>
            </a:r>
            <a:r>
              <a:rPr sz="1400" b="0" i="1">
                <a:solidFill>
                  <a:srgbClr val="FFFFFF"/>
                </a:solidFill>
                <a:latin typeface="Montserrat"/>
              </a:rPr>
              <a:t>Nuestra diferencia no es el precio: es la atención. Antes de cada propuesta, pregúntese: «¿esto acoge a la familia o solo cierra un negocio?».</a:t>
            </a:r>
          </a:p>
        </p:txBody>
      </p:sp>
      <p:sp>
        <p:nvSpPr>
          <p:cNvPr id="25" name="TextBox 24"/>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6" name="TextBox 25"/>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01 · LO QUE VENDEMOS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El portafolio en un vistazo</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1_portafolio.png"/>
          <p:cNvPicPr>
            <a:picLocks noChangeAspect="1"/>
          </p:cNvPicPr>
          <p:nvPr/>
        </p:nvPicPr>
        <p:blipFill>
          <a:blip r:embed="rId2"/>
          <a:stretch>
            <a:fillRect/>
          </a:stretch>
        </p:blipFill>
        <p:spPr>
          <a:xfrm>
            <a:off x="836994" y="1508760"/>
            <a:ext cx="10517706" cy="4754880"/>
          </a:xfrm>
          <a:prstGeom prst="rect">
            <a:avLst/>
          </a:prstGeom>
        </p:spPr>
      </p:pic>
      <p:sp>
        <p:nvSpPr>
          <p:cNvPr id="7" name="TextBox 6"/>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8" name="TextBox 7"/>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01 · LO QUE VENDEMOS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Dos momentos de venta, dos actitudes</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737360"/>
            <a:ext cx="5440680" cy="21945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37360"/>
            <a:ext cx="5440680" cy="54864"/>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901952"/>
            <a:ext cx="5074920" cy="566928"/>
          </a:xfrm>
          <a:prstGeom prst="rect">
            <a:avLst/>
          </a:prstGeom>
          <a:noFill/>
        </p:spPr>
        <p:txBody>
          <a:bodyPr wrap="square" anchor="ctr" lIns="45720" rIns="45720" tIns="27432" bIns="27432">
            <a:spAutoFit/>
          </a:bodyPr>
          <a:lstStyle/>
          <a:p>
            <a:pPr algn="l">
              <a:lnSpc>
                <a:spcPct val="100000"/>
              </a:lnSpc>
              <a:spcAft>
                <a:spcPts val="400"/>
              </a:spcAft>
            </a:pPr>
            <a:r>
              <a:rPr sz="1800" b="1" i="0">
                <a:solidFill>
                  <a:srgbClr val="5B3F80"/>
                </a:solidFill>
                <a:latin typeface="Montserrat"/>
              </a:rPr>
              <a:t>Prenecesidad (preventiva)</a:t>
            </a:r>
          </a:p>
        </p:txBody>
      </p:sp>
      <p:sp>
        <p:nvSpPr>
          <p:cNvPr id="9" name="TextBox 8"/>
          <p:cNvSpPr txBox="1"/>
          <p:nvPr/>
        </p:nvSpPr>
        <p:spPr>
          <a:xfrm>
            <a:off x="731520" y="2487168"/>
            <a:ext cx="5074920" cy="1353312"/>
          </a:xfrm>
          <a:prstGeom prst="rect">
            <a:avLst/>
          </a:prstGeom>
          <a:noFill/>
        </p:spPr>
        <p:txBody>
          <a:bodyPr wrap="square" anchor="t" lIns="45720" rIns="45720" tIns="27432" bIns="27432">
            <a:spAutoFit/>
          </a:bodyPr>
          <a:lstStyle/>
          <a:p>
            <a:pPr algn="l">
              <a:lnSpc>
                <a:spcPct val="115000"/>
              </a:lnSpc>
              <a:spcAft>
                <a:spcPts val="400"/>
              </a:spcAft>
            </a:pPr>
            <a:r>
              <a:rPr sz="1500" b="0" i="0">
                <a:solidFill>
                  <a:srgbClr val="2E2A36"/>
                </a:solidFill>
                <a:latin typeface="Montserrat"/>
              </a:rPr>
              <a:t>Venta planificada, de ciclo largo. La familia contrata hoy para protegerse y pagar en cuotas. Es la venta que conducimos activamente.</a:t>
            </a:r>
          </a:p>
        </p:txBody>
      </p:sp>
      <p:sp>
        <p:nvSpPr>
          <p:cNvPr id="10" name="Rectangle 9"/>
          <p:cNvSpPr/>
          <p:nvPr/>
        </p:nvSpPr>
        <p:spPr>
          <a:xfrm>
            <a:off x="6217920" y="1737360"/>
            <a:ext cx="5440680" cy="21945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17920" y="1737360"/>
            <a:ext cx="544068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1901952"/>
            <a:ext cx="5074920" cy="566928"/>
          </a:xfrm>
          <a:prstGeom prst="rect">
            <a:avLst/>
          </a:prstGeom>
          <a:noFill/>
        </p:spPr>
        <p:txBody>
          <a:bodyPr wrap="square" anchor="ctr" lIns="45720" rIns="45720" tIns="27432" bIns="27432">
            <a:spAutoFit/>
          </a:bodyPr>
          <a:lstStyle/>
          <a:p>
            <a:pPr algn="l">
              <a:lnSpc>
                <a:spcPct val="100000"/>
              </a:lnSpc>
              <a:spcAft>
                <a:spcPts val="400"/>
              </a:spcAft>
            </a:pPr>
            <a:r>
              <a:rPr sz="1800" b="1" i="0">
                <a:solidFill>
                  <a:srgbClr val="5B3F80"/>
                </a:solidFill>
                <a:latin typeface="Montserrat"/>
              </a:rPr>
              <a:t>Necesidad inmediata (emergencia)</a:t>
            </a:r>
          </a:p>
        </p:txBody>
      </p:sp>
      <p:sp>
        <p:nvSpPr>
          <p:cNvPr id="13" name="TextBox 12"/>
          <p:cNvSpPr txBox="1"/>
          <p:nvPr/>
        </p:nvSpPr>
        <p:spPr>
          <a:xfrm>
            <a:off x="6400800" y="2487168"/>
            <a:ext cx="5074920" cy="1353312"/>
          </a:xfrm>
          <a:prstGeom prst="rect">
            <a:avLst/>
          </a:prstGeom>
          <a:noFill/>
        </p:spPr>
        <p:txBody>
          <a:bodyPr wrap="square" anchor="t" lIns="45720" rIns="45720" tIns="27432" bIns="27432">
            <a:spAutoFit/>
          </a:bodyPr>
          <a:lstStyle/>
          <a:p>
            <a:pPr algn="l">
              <a:lnSpc>
                <a:spcPct val="115000"/>
              </a:lnSpc>
              <a:spcAft>
                <a:spcPts val="400"/>
              </a:spcAft>
            </a:pPr>
            <a:r>
              <a:rPr sz="1500" b="0" i="0">
                <a:solidFill>
                  <a:srgbClr val="2E2A36"/>
                </a:solidFill>
                <a:latin typeface="Montserrat"/>
              </a:rPr>
              <a:t>En el momento de la pérdida. Aquí no se «vende»: se acoge, se informa con calma y se resuelve con agilidad y respeto.</a:t>
            </a:r>
          </a:p>
        </p:txBody>
      </p:sp>
      <p:sp>
        <p:nvSpPr>
          <p:cNvPr id="14" name="TextBox 13"/>
          <p:cNvSpPr txBox="1"/>
          <p:nvPr/>
        </p:nvSpPr>
        <p:spPr>
          <a:xfrm>
            <a:off x="548640" y="4297680"/>
            <a:ext cx="11094415" cy="457200"/>
          </a:xfrm>
          <a:prstGeom prst="rect">
            <a:avLst/>
          </a:prstGeom>
          <a:noFill/>
        </p:spPr>
        <p:txBody>
          <a:bodyPr wrap="square" anchor="t" lIns="45720" rIns="45720" tIns="27432" bIns="27432">
            <a:spAutoFit/>
          </a:bodyPr>
          <a:lstStyle/>
          <a:p>
            <a:pPr algn="l">
              <a:lnSpc>
                <a:spcPct val="115000"/>
              </a:lnSpc>
              <a:spcAft>
                <a:spcPts val="400"/>
              </a:spcAft>
            </a:pPr>
            <a:r>
              <a:rPr sz="1800" b="1" i="0">
                <a:solidFill>
                  <a:srgbClr val="5B3F80"/>
                </a:solidFill>
                <a:latin typeface="Playfair Display"/>
              </a:rPr>
              <a:t>Qué producto lleva cada equipo</a:t>
            </a:r>
          </a:p>
        </p:txBody>
      </p:sp>
      <p:sp>
        <p:nvSpPr>
          <p:cNvPr id="15" name="Rectangle 14"/>
          <p:cNvSpPr/>
          <p:nvPr/>
        </p:nvSpPr>
        <p:spPr>
          <a:xfrm>
            <a:off x="548640" y="4800600"/>
            <a:ext cx="3566160" cy="14173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4864608"/>
            <a:ext cx="3291840" cy="1325880"/>
          </a:xfrm>
          <a:prstGeom prst="rect">
            <a:avLst/>
          </a:prstGeom>
          <a:noFill/>
        </p:spPr>
        <p:txBody>
          <a:bodyPr wrap="square" anchor="t" lIns="45720" rIns="45720" tIns="27432" bIns="27432">
            <a:spAutoFit/>
          </a:bodyPr>
          <a:lstStyle/>
          <a:p>
            <a:pPr algn="l">
              <a:lnSpc>
                <a:spcPct val="115000"/>
              </a:lnSpc>
              <a:spcAft>
                <a:spcPts val="300"/>
              </a:spcAft>
            </a:pPr>
            <a:r>
              <a:rPr sz="1200" b="1" i="0">
                <a:solidFill>
                  <a:srgbClr val="5B3F80"/>
                </a:solidFill>
                <a:latin typeface="Montserrat"/>
              </a:rPr>
              <a:t>UAF · Unidad de Apoyo Familiar</a:t>
            </a:r>
          </a:p>
          <a:p>
            <a:pPr algn="l">
              <a:lnSpc>
                <a:spcPct val="115000"/>
              </a:lnSpc>
              <a:spcAft>
                <a:spcPts val="300"/>
              </a:spcAft>
            </a:pPr>
            <a:r>
              <a:rPr sz="1100" b="0" i="0">
                <a:solidFill>
                  <a:srgbClr val="2E2A36"/>
                </a:solidFill>
                <a:latin typeface="Montserrat"/>
              </a:rPr>
              <a:t>Jardín Individual y Ecológico como destino de las cenizas; Solución Modular para el resto de la familia (venta de prenecesidad posterior).</a:t>
            </a:r>
          </a:p>
        </p:txBody>
      </p:sp>
      <p:sp>
        <p:nvSpPr>
          <p:cNvPr id="17" name="Rectangle 16"/>
          <p:cNvSpPr/>
          <p:nvPr/>
        </p:nvSpPr>
        <p:spPr>
          <a:xfrm>
            <a:off x="4297680" y="4800600"/>
            <a:ext cx="3566160" cy="14173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34840" y="4864608"/>
            <a:ext cx="3291840" cy="1325880"/>
          </a:xfrm>
          <a:prstGeom prst="rect">
            <a:avLst/>
          </a:prstGeom>
          <a:noFill/>
        </p:spPr>
        <p:txBody>
          <a:bodyPr wrap="square" anchor="t" lIns="45720" rIns="45720" tIns="27432" bIns="27432">
            <a:spAutoFit/>
          </a:bodyPr>
          <a:lstStyle/>
          <a:p>
            <a:pPr algn="l">
              <a:lnSpc>
                <a:spcPct val="115000"/>
              </a:lnSpc>
              <a:spcAft>
                <a:spcPts val="300"/>
              </a:spcAft>
            </a:pPr>
            <a:r>
              <a:rPr sz="1200" b="1" i="0">
                <a:solidFill>
                  <a:srgbClr val="5B3F80"/>
                </a:solidFill>
                <a:latin typeface="Montserrat"/>
              </a:rPr>
              <a:t>Pilares Alternativos</a:t>
            </a:r>
          </a:p>
          <a:p>
            <a:pPr algn="l">
              <a:lnSpc>
                <a:spcPct val="115000"/>
              </a:lnSpc>
              <a:spcAft>
                <a:spcPts val="300"/>
              </a:spcAft>
            </a:pPr>
            <a:r>
              <a:rPr sz="1100" b="0" i="0">
                <a:solidFill>
                  <a:srgbClr val="2E2A36"/>
                </a:solidFill>
                <a:latin typeface="Montserrat"/>
              </a:rPr>
              <a:t>Solución Modular (cuota baja, fácil de explicar) y Jardín de Mascotas.</a:t>
            </a:r>
          </a:p>
        </p:txBody>
      </p:sp>
      <p:sp>
        <p:nvSpPr>
          <p:cNvPr id="19" name="Rectangle 18"/>
          <p:cNvSpPr/>
          <p:nvPr/>
        </p:nvSpPr>
        <p:spPr>
          <a:xfrm>
            <a:off x="8046720" y="4800600"/>
            <a:ext cx="3566160" cy="14173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83880" y="4864608"/>
            <a:ext cx="3291840" cy="1325880"/>
          </a:xfrm>
          <a:prstGeom prst="rect">
            <a:avLst/>
          </a:prstGeom>
          <a:noFill/>
        </p:spPr>
        <p:txBody>
          <a:bodyPr wrap="square" anchor="t" lIns="45720" rIns="45720" tIns="27432" bIns="27432">
            <a:spAutoFit/>
          </a:bodyPr>
          <a:lstStyle/>
          <a:p>
            <a:pPr algn="l">
              <a:lnSpc>
                <a:spcPct val="115000"/>
              </a:lnSpc>
              <a:spcAft>
                <a:spcPts val="300"/>
              </a:spcAft>
            </a:pPr>
            <a:r>
              <a:rPr sz="1200" b="1" i="0">
                <a:solidFill>
                  <a:srgbClr val="5B3F80"/>
                </a:solidFill>
                <a:latin typeface="Montserrat"/>
              </a:rPr>
              <a:t>AML · Puerta a puerta</a:t>
            </a:r>
          </a:p>
          <a:p>
            <a:pPr algn="l">
              <a:lnSpc>
                <a:spcPct val="115000"/>
              </a:lnSpc>
              <a:spcAft>
                <a:spcPts val="300"/>
              </a:spcAft>
            </a:pPr>
            <a:r>
              <a:rPr sz="1100" b="0" i="0">
                <a:solidFill>
                  <a:srgbClr val="2E2A36"/>
                </a:solidFill>
                <a:latin typeface="Montserrat"/>
              </a:rPr>
              <a:t>Solución Modular + Jardín Individual: la combinación más completa para el hogar.</a:t>
            </a:r>
          </a:p>
        </p:txBody>
      </p:sp>
      <p:sp>
        <p:nvSpPr>
          <p:cNvPr id="21" name="TextBox 20"/>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2" name="TextBox 21"/>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TextBox 1"/>
          <p:cNvSpPr txBox="1"/>
          <p:nvPr/>
        </p:nvSpPr>
        <p:spPr>
          <a:xfrm>
            <a:off x="914400" y="1417320"/>
            <a:ext cx="3200400" cy="1920240"/>
          </a:xfrm>
          <a:prstGeom prst="rect">
            <a:avLst/>
          </a:prstGeom>
          <a:noFill/>
        </p:spPr>
        <p:txBody>
          <a:bodyPr wrap="square" anchor="t" lIns="45720" rIns="45720" tIns="27432" bIns="27432">
            <a:spAutoFit/>
          </a:bodyPr>
          <a:lstStyle/>
          <a:p>
            <a:pPr algn="l">
              <a:lnSpc>
                <a:spcPct val="115000"/>
              </a:lnSpc>
              <a:spcAft>
                <a:spcPts val="400"/>
              </a:spcAft>
            </a:pPr>
            <a:r>
              <a:rPr sz="11000" b="1" i="0">
                <a:solidFill>
                  <a:srgbClr val="C9A86A"/>
                </a:solidFill>
                <a:latin typeface="Playfair Display"/>
              </a:rPr>
              <a:t>02</a:t>
            </a:r>
          </a:p>
        </p:txBody>
      </p:sp>
      <p:sp>
        <p:nvSpPr>
          <p:cNvPr id="3" name="TextBox 2"/>
          <p:cNvSpPr txBox="1"/>
          <p:nvPr/>
        </p:nvSpPr>
        <p:spPr>
          <a:xfrm>
            <a:off x="914400" y="3429000"/>
            <a:ext cx="10515600" cy="914400"/>
          </a:xfrm>
          <a:prstGeom prst="rect">
            <a:avLst/>
          </a:prstGeom>
          <a:noFill/>
        </p:spPr>
        <p:txBody>
          <a:bodyPr wrap="square" anchor="t" lIns="45720" rIns="45720" tIns="27432" bIns="27432">
            <a:spAutoFit/>
          </a:bodyPr>
          <a:lstStyle/>
          <a:p>
            <a:pPr algn="l">
              <a:lnSpc>
                <a:spcPct val="115000"/>
              </a:lnSpc>
              <a:spcAft>
                <a:spcPts val="400"/>
              </a:spcAft>
            </a:pPr>
            <a:r>
              <a:rPr sz="4000" b="1" i="0">
                <a:solidFill>
                  <a:srgbClr val="FFFFFF"/>
                </a:solidFill>
                <a:latin typeface="Playfair Display"/>
              </a:rPr>
              <a:t>A quién le vendemos</a:t>
            </a:r>
          </a:p>
        </p:txBody>
      </p:sp>
      <p:sp>
        <p:nvSpPr>
          <p:cNvPr id="4" name="Rectangle 3"/>
          <p:cNvSpPr/>
          <p:nvPr/>
        </p:nvSpPr>
        <p:spPr>
          <a:xfrm>
            <a:off x="960120" y="443484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617720"/>
            <a:ext cx="10058400" cy="73152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D9CFE6"/>
                </a:solidFill>
                <a:latin typeface="Montserrat"/>
              </a:rPr>
              <a:t>Conocer al cliente es la mitad de la venta.</a:t>
            </a:r>
          </a:p>
        </p:txBody>
      </p:sp>
      <p:sp>
        <p:nvSpPr>
          <p:cNvPr id="6" name="TextBox 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D9CFE6"/>
                </a:solidFill>
                <a:latin typeface="Montserrat"/>
              </a:rPr>
              <a:t>Playbook Comercial  ·  La Auxiliadora · Hogar de las Memorias · Las Colinas · Vangrupo</a:t>
            </a:r>
          </a:p>
        </p:txBody>
      </p:sp>
      <p:sp>
        <p:nvSpPr>
          <p:cNvPr id="7" name="TextBox 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D9CFE6"/>
                </a:solidFill>
                <a:latin typeface="Montserrat"/>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02 · A QUIÉN LE VENDEMOS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Cinco perfiles de cliente</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444752"/>
            <a:ext cx="11094415" cy="41148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Identifique el perfil en los primeros minutos y adapte el tono.</a:t>
            </a:r>
          </a:p>
        </p:txBody>
      </p:sp>
      <p:sp>
        <p:nvSpPr>
          <p:cNvPr id="7" name="Rectangle 6"/>
          <p:cNvSpPr/>
          <p:nvPr/>
        </p:nvSpPr>
        <p:spPr>
          <a:xfrm>
            <a:off x="548640" y="2011680"/>
            <a:ext cx="2084831" cy="32461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2011680"/>
            <a:ext cx="2084831" cy="6858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2011680"/>
            <a:ext cx="1865375" cy="685800"/>
          </a:xfrm>
          <a:prstGeom prst="rect">
            <a:avLst/>
          </a:prstGeom>
          <a:noFill/>
        </p:spPr>
        <p:txBody>
          <a:bodyPr wrap="square" anchor="ctr" lIns="45720" rIns="45720" tIns="27432" bIns="27432">
            <a:spAutoFit/>
          </a:bodyPr>
          <a:lstStyle/>
          <a:p>
            <a:pPr algn="l">
              <a:lnSpc>
                <a:spcPct val="115000"/>
              </a:lnSpc>
              <a:spcAft>
                <a:spcPts val="400"/>
              </a:spcAft>
            </a:pPr>
            <a:r>
              <a:rPr sz="1400" b="1" i="0">
                <a:solidFill>
                  <a:srgbClr val="FFFFFF"/>
                </a:solidFill>
                <a:latin typeface="Montserrat"/>
              </a:rPr>
              <a:t>El Planificador</a:t>
            </a:r>
          </a:p>
        </p:txBody>
      </p:sp>
      <p:sp>
        <p:nvSpPr>
          <p:cNvPr id="10" name="TextBox 9"/>
          <p:cNvSpPr txBox="1"/>
          <p:nvPr/>
        </p:nvSpPr>
        <p:spPr>
          <a:xfrm>
            <a:off x="658368" y="2788920"/>
            <a:ext cx="1865375" cy="2423160"/>
          </a:xfrm>
          <a:prstGeom prst="rect">
            <a:avLst/>
          </a:prstGeom>
          <a:noFill/>
        </p:spPr>
        <p:txBody>
          <a:bodyPr wrap="square" anchor="t" lIns="45720" rIns="45720" tIns="27432" bIns="27432">
            <a:spAutoFit/>
          </a:bodyPr>
          <a:lstStyle/>
          <a:p>
            <a:pPr algn="l">
              <a:lnSpc>
                <a:spcPct val="115000"/>
              </a:lnSpc>
              <a:spcAft>
                <a:spcPts val="500"/>
              </a:spcAft>
            </a:pPr>
            <a:r>
              <a:rPr sz="1050" b="0" i="1">
                <a:solidFill>
                  <a:srgbClr val="7D7887"/>
                </a:solidFill>
                <a:latin typeface="Montserrat"/>
              </a:rPr>
              <a:t>45–65 años, compra para sí mismo.</a:t>
            </a:r>
          </a:p>
          <a:p>
            <a:pPr algn="l">
              <a:lnSpc>
                <a:spcPct val="115000"/>
              </a:lnSpc>
              <a:spcAft>
                <a:spcPts val="500"/>
              </a:spcAft>
            </a:pPr>
            <a:r>
              <a:rPr sz="1050" b="1" i="0">
                <a:solidFill>
                  <a:srgbClr val="5B3F80"/>
                </a:solidFill>
                <a:latin typeface="Montserrat"/>
              </a:rPr>
              <a:t>Busca: </a:t>
            </a:r>
            <a:r>
              <a:rPr sz="1050" b="0" i="0">
                <a:solidFill>
                  <a:srgbClr val="2E2A36"/>
                </a:solidFill>
                <a:latin typeface="Montserrat"/>
              </a:rPr>
              <a:t>Tranquilidad y legado. No quiere dejar cargas a su familia.</a:t>
            </a:r>
          </a:p>
          <a:p>
            <a:pPr algn="l">
              <a:lnSpc>
                <a:spcPct val="115000"/>
              </a:lnSpc>
              <a:spcAft>
                <a:spcPts val="500"/>
              </a:spcAft>
            </a:pPr>
            <a:r>
              <a:rPr sz="1050" b="1" i="0">
                <a:solidFill>
                  <a:srgbClr val="5B3F80"/>
                </a:solidFill>
                <a:latin typeface="Montserrat"/>
              </a:rPr>
              <a:t>Tono: </a:t>
            </a:r>
            <a:r>
              <a:rPr sz="1050" b="0" i="0">
                <a:solidFill>
                  <a:srgbClr val="2E2A36"/>
                </a:solidFill>
                <a:latin typeface="Montserrat"/>
              </a:rPr>
              <a:t>Calma, sin prisa, datos claros.</a:t>
            </a:r>
          </a:p>
          <a:p>
            <a:pPr algn="l">
              <a:lnSpc>
                <a:spcPct val="115000"/>
              </a:lnSpc>
              <a:spcAft>
                <a:spcPts val="500"/>
              </a:spcAft>
            </a:pPr>
            <a:r>
              <a:rPr sz="1050" b="1" i="0">
                <a:solidFill>
                  <a:srgbClr val="C9A86A"/>
                </a:solidFill>
                <a:latin typeface="Montserrat"/>
              </a:rPr>
              <a:t>Ideal: </a:t>
            </a:r>
            <a:r>
              <a:rPr sz="1050" b="1" i="0">
                <a:solidFill>
                  <a:srgbClr val="2E2A36"/>
                </a:solidFill>
                <a:latin typeface="Montserrat"/>
              </a:rPr>
              <a:t>Solución Modular · Jardín Individual · Jardín Familiar</a:t>
            </a:r>
          </a:p>
        </p:txBody>
      </p:sp>
      <p:sp>
        <p:nvSpPr>
          <p:cNvPr id="11" name="Rectangle 10"/>
          <p:cNvSpPr/>
          <p:nvPr/>
        </p:nvSpPr>
        <p:spPr>
          <a:xfrm>
            <a:off x="2788919" y="2011680"/>
            <a:ext cx="2084831" cy="32461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788919" y="2011680"/>
            <a:ext cx="2084831" cy="6858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898647" y="2011680"/>
            <a:ext cx="1865375" cy="685800"/>
          </a:xfrm>
          <a:prstGeom prst="rect">
            <a:avLst/>
          </a:prstGeom>
          <a:noFill/>
        </p:spPr>
        <p:txBody>
          <a:bodyPr wrap="square" anchor="ctr" lIns="45720" rIns="45720" tIns="27432" bIns="27432">
            <a:spAutoFit/>
          </a:bodyPr>
          <a:lstStyle/>
          <a:p>
            <a:pPr algn="l">
              <a:lnSpc>
                <a:spcPct val="115000"/>
              </a:lnSpc>
              <a:spcAft>
                <a:spcPts val="400"/>
              </a:spcAft>
            </a:pPr>
            <a:r>
              <a:rPr sz="1400" b="1" i="0">
                <a:solidFill>
                  <a:srgbClr val="FFFFFF"/>
                </a:solidFill>
                <a:latin typeface="Montserrat"/>
              </a:rPr>
              <a:t>El Hijo Cuidador</a:t>
            </a:r>
          </a:p>
        </p:txBody>
      </p:sp>
      <p:sp>
        <p:nvSpPr>
          <p:cNvPr id="14" name="TextBox 13"/>
          <p:cNvSpPr txBox="1"/>
          <p:nvPr/>
        </p:nvSpPr>
        <p:spPr>
          <a:xfrm>
            <a:off x="2898647" y="2788920"/>
            <a:ext cx="1865375" cy="2423160"/>
          </a:xfrm>
          <a:prstGeom prst="rect">
            <a:avLst/>
          </a:prstGeom>
          <a:noFill/>
        </p:spPr>
        <p:txBody>
          <a:bodyPr wrap="square" anchor="t" lIns="45720" rIns="45720" tIns="27432" bIns="27432">
            <a:spAutoFit/>
          </a:bodyPr>
          <a:lstStyle/>
          <a:p>
            <a:pPr algn="l">
              <a:lnSpc>
                <a:spcPct val="115000"/>
              </a:lnSpc>
              <a:spcAft>
                <a:spcPts val="500"/>
              </a:spcAft>
            </a:pPr>
            <a:r>
              <a:rPr sz="1050" b="0" i="1">
                <a:solidFill>
                  <a:srgbClr val="7D7887"/>
                </a:solidFill>
                <a:latin typeface="Montserrat"/>
              </a:rPr>
              <a:t>25–45 años, compra para sus padres.</a:t>
            </a:r>
          </a:p>
          <a:p>
            <a:pPr algn="l">
              <a:lnSpc>
                <a:spcPct val="115000"/>
              </a:lnSpc>
              <a:spcAft>
                <a:spcPts val="500"/>
              </a:spcAft>
            </a:pPr>
            <a:r>
              <a:rPr sz="1050" b="1" i="0">
                <a:solidFill>
                  <a:srgbClr val="5B3F80"/>
                </a:solidFill>
                <a:latin typeface="Montserrat"/>
              </a:rPr>
              <a:t>Busca: </a:t>
            </a:r>
            <a:r>
              <a:rPr sz="1050" b="0" i="0">
                <a:solidFill>
                  <a:srgbClr val="2E2A36"/>
                </a:solidFill>
                <a:latin typeface="Montserrat"/>
              </a:rPr>
              <a:t>Practicidad, control del presupuesto, evitar improvisar.</a:t>
            </a:r>
          </a:p>
          <a:p>
            <a:pPr algn="l">
              <a:lnSpc>
                <a:spcPct val="115000"/>
              </a:lnSpc>
              <a:spcAft>
                <a:spcPts val="500"/>
              </a:spcAft>
            </a:pPr>
            <a:r>
              <a:rPr sz="1050" b="1" i="0">
                <a:solidFill>
                  <a:srgbClr val="5B3F80"/>
                </a:solidFill>
                <a:latin typeface="Montserrat"/>
              </a:rPr>
              <a:t>Tono: </a:t>
            </a:r>
            <a:r>
              <a:rPr sz="1050" b="0" i="0">
                <a:solidFill>
                  <a:srgbClr val="2E2A36"/>
                </a:solidFill>
                <a:latin typeface="Montserrat"/>
              </a:rPr>
              <a:t>Claro, práctico, comparativo.</a:t>
            </a:r>
          </a:p>
          <a:p>
            <a:pPr algn="l">
              <a:lnSpc>
                <a:spcPct val="115000"/>
              </a:lnSpc>
              <a:spcAft>
                <a:spcPts val="500"/>
              </a:spcAft>
            </a:pPr>
            <a:r>
              <a:rPr sz="1050" b="1" i="0">
                <a:solidFill>
                  <a:srgbClr val="C9A86A"/>
                </a:solidFill>
                <a:latin typeface="Montserrat"/>
              </a:rPr>
              <a:t>Ideal: </a:t>
            </a:r>
            <a:r>
              <a:rPr sz="1050" b="1" i="0">
                <a:solidFill>
                  <a:srgbClr val="2E2A36"/>
                </a:solidFill>
                <a:latin typeface="Montserrat"/>
              </a:rPr>
              <a:t>Solución Modular · Jardín Familiar</a:t>
            </a:r>
          </a:p>
        </p:txBody>
      </p:sp>
      <p:sp>
        <p:nvSpPr>
          <p:cNvPr id="15" name="Rectangle 14"/>
          <p:cNvSpPr/>
          <p:nvPr/>
        </p:nvSpPr>
        <p:spPr>
          <a:xfrm>
            <a:off x="5029198" y="2011680"/>
            <a:ext cx="2084831" cy="32461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029198" y="2011680"/>
            <a:ext cx="2084831" cy="6858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38926" y="2011680"/>
            <a:ext cx="1865375" cy="685800"/>
          </a:xfrm>
          <a:prstGeom prst="rect">
            <a:avLst/>
          </a:prstGeom>
          <a:noFill/>
        </p:spPr>
        <p:txBody>
          <a:bodyPr wrap="square" anchor="ctr" lIns="45720" rIns="45720" tIns="27432" bIns="27432">
            <a:spAutoFit/>
          </a:bodyPr>
          <a:lstStyle/>
          <a:p>
            <a:pPr algn="l">
              <a:lnSpc>
                <a:spcPct val="115000"/>
              </a:lnSpc>
              <a:spcAft>
                <a:spcPts val="400"/>
              </a:spcAft>
            </a:pPr>
            <a:r>
              <a:rPr sz="1400" b="1" i="0">
                <a:solidFill>
                  <a:srgbClr val="FFFFFF"/>
                </a:solidFill>
                <a:latin typeface="Montserrat"/>
              </a:rPr>
              <a:t>La Familia en Urgencia</a:t>
            </a:r>
          </a:p>
        </p:txBody>
      </p:sp>
      <p:sp>
        <p:nvSpPr>
          <p:cNvPr id="18" name="TextBox 17"/>
          <p:cNvSpPr txBox="1"/>
          <p:nvPr/>
        </p:nvSpPr>
        <p:spPr>
          <a:xfrm>
            <a:off x="5138926" y="2788920"/>
            <a:ext cx="1865375" cy="2423160"/>
          </a:xfrm>
          <a:prstGeom prst="rect">
            <a:avLst/>
          </a:prstGeom>
          <a:noFill/>
        </p:spPr>
        <p:txBody>
          <a:bodyPr wrap="square" anchor="t" lIns="45720" rIns="45720" tIns="27432" bIns="27432">
            <a:spAutoFit/>
          </a:bodyPr>
          <a:lstStyle/>
          <a:p>
            <a:pPr algn="l">
              <a:lnSpc>
                <a:spcPct val="115000"/>
              </a:lnSpc>
              <a:spcAft>
                <a:spcPts val="500"/>
              </a:spcAft>
            </a:pPr>
            <a:r>
              <a:rPr sz="1050" b="0" i="1">
                <a:solidFill>
                  <a:srgbClr val="7D7887"/>
                </a:solidFill>
                <a:latin typeface="Montserrat"/>
              </a:rPr>
              <a:t>En el momento de la pérdida.</a:t>
            </a:r>
          </a:p>
          <a:p>
            <a:pPr algn="l">
              <a:lnSpc>
                <a:spcPct val="115000"/>
              </a:lnSpc>
              <a:spcAft>
                <a:spcPts val="500"/>
              </a:spcAft>
            </a:pPr>
            <a:r>
              <a:rPr sz="1050" b="1" i="0">
                <a:solidFill>
                  <a:srgbClr val="5B3F80"/>
                </a:solidFill>
                <a:latin typeface="Montserrat"/>
              </a:rPr>
              <a:t>Busca: </a:t>
            </a:r>
            <a:r>
              <a:rPr sz="1050" b="0" i="0">
                <a:solidFill>
                  <a:srgbClr val="2E2A36"/>
                </a:solidFill>
                <a:latin typeface="Montserrat"/>
              </a:rPr>
              <a:t>Quitar peso, dignidad, agilidad.</a:t>
            </a:r>
          </a:p>
          <a:p>
            <a:pPr algn="l">
              <a:lnSpc>
                <a:spcPct val="115000"/>
              </a:lnSpc>
              <a:spcAft>
                <a:spcPts val="500"/>
              </a:spcAft>
            </a:pPr>
            <a:r>
              <a:rPr sz="1050" b="1" i="0">
                <a:solidFill>
                  <a:srgbClr val="5B3F80"/>
                </a:solidFill>
                <a:latin typeface="Montserrat"/>
              </a:rPr>
              <a:t>Tono: </a:t>
            </a:r>
            <a:r>
              <a:rPr sz="1050" b="0" i="0">
                <a:solidFill>
                  <a:srgbClr val="2E2A36"/>
                </a:solidFill>
                <a:latin typeface="Montserrat"/>
              </a:rPr>
              <a:t>Acogida total, nunca comercial.</a:t>
            </a:r>
          </a:p>
          <a:p>
            <a:pPr algn="l">
              <a:lnSpc>
                <a:spcPct val="115000"/>
              </a:lnSpc>
              <a:spcAft>
                <a:spcPts val="500"/>
              </a:spcAft>
            </a:pPr>
            <a:r>
              <a:rPr sz="1050" b="1" i="0">
                <a:solidFill>
                  <a:srgbClr val="C9A86A"/>
                </a:solidFill>
                <a:latin typeface="Montserrat"/>
              </a:rPr>
              <a:t>Ideal: </a:t>
            </a:r>
            <a:r>
              <a:rPr sz="1050" b="1" i="0">
                <a:solidFill>
                  <a:srgbClr val="2E2A36"/>
                </a:solidFill>
                <a:latin typeface="Montserrat"/>
              </a:rPr>
              <a:t>Jardín Individual · Jardín Ecológico</a:t>
            </a:r>
          </a:p>
        </p:txBody>
      </p:sp>
      <p:sp>
        <p:nvSpPr>
          <p:cNvPr id="19" name="Rectangle 18"/>
          <p:cNvSpPr/>
          <p:nvPr/>
        </p:nvSpPr>
        <p:spPr>
          <a:xfrm>
            <a:off x="7269477" y="2011680"/>
            <a:ext cx="2084831" cy="32461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269477" y="2011680"/>
            <a:ext cx="2084831" cy="6858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79205" y="2011680"/>
            <a:ext cx="1865375" cy="685800"/>
          </a:xfrm>
          <a:prstGeom prst="rect">
            <a:avLst/>
          </a:prstGeom>
          <a:noFill/>
        </p:spPr>
        <p:txBody>
          <a:bodyPr wrap="square" anchor="ctr" lIns="45720" rIns="45720" tIns="27432" bIns="27432">
            <a:spAutoFit/>
          </a:bodyPr>
          <a:lstStyle/>
          <a:p>
            <a:pPr algn="l">
              <a:lnSpc>
                <a:spcPct val="115000"/>
              </a:lnSpc>
              <a:spcAft>
                <a:spcPts val="400"/>
              </a:spcAft>
            </a:pPr>
            <a:r>
              <a:rPr sz="1400" b="1" i="0">
                <a:solidFill>
                  <a:srgbClr val="FFFFFF"/>
                </a:solidFill>
                <a:latin typeface="Montserrat"/>
              </a:rPr>
              <a:t>El Consciente Ecológico</a:t>
            </a:r>
          </a:p>
        </p:txBody>
      </p:sp>
      <p:sp>
        <p:nvSpPr>
          <p:cNvPr id="22" name="TextBox 21"/>
          <p:cNvSpPr txBox="1"/>
          <p:nvPr/>
        </p:nvSpPr>
        <p:spPr>
          <a:xfrm>
            <a:off x="7379205" y="2788920"/>
            <a:ext cx="1865375" cy="2423160"/>
          </a:xfrm>
          <a:prstGeom prst="rect">
            <a:avLst/>
          </a:prstGeom>
          <a:noFill/>
        </p:spPr>
        <p:txBody>
          <a:bodyPr wrap="square" anchor="t" lIns="45720" rIns="45720" tIns="27432" bIns="27432">
            <a:spAutoFit/>
          </a:bodyPr>
          <a:lstStyle/>
          <a:p>
            <a:pPr algn="l">
              <a:lnSpc>
                <a:spcPct val="115000"/>
              </a:lnSpc>
              <a:spcAft>
                <a:spcPts val="500"/>
              </a:spcAft>
            </a:pPr>
            <a:r>
              <a:rPr sz="1050" b="0" i="1">
                <a:solidFill>
                  <a:srgbClr val="7D7887"/>
                </a:solidFill>
                <a:latin typeface="Montserrat"/>
              </a:rPr>
              <a:t>30–55 años, valora la naturaleza.</a:t>
            </a:r>
          </a:p>
          <a:p>
            <a:pPr algn="l">
              <a:lnSpc>
                <a:spcPct val="115000"/>
              </a:lnSpc>
              <a:spcAft>
                <a:spcPts val="500"/>
              </a:spcAft>
            </a:pPr>
            <a:r>
              <a:rPr sz="1050" b="1" i="0">
                <a:solidFill>
                  <a:srgbClr val="5B3F80"/>
                </a:solidFill>
                <a:latin typeface="Montserrat"/>
              </a:rPr>
              <a:t>Busca: </a:t>
            </a:r>
            <a:r>
              <a:rPr sz="1050" b="0" i="0">
                <a:solidFill>
                  <a:srgbClr val="2E2A36"/>
                </a:solidFill>
                <a:latin typeface="Montserrat"/>
              </a:rPr>
              <a:t>Volver a la tierra, sencillez, sostenibilidad.</a:t>
            </a:r>
          </a:p>
          <a:p>
            <a:pPr algn="l">
              <a:lnSpc>
                <a:spcPct val="115000"/>
              </a:lnSpc>
              <a:spcAft>
                <a:spcPts val="500"/>
              </a:spcAft>
            </a:pPr>
            <a:r>
              <a:rPr sz="1050" b="1" i="0">
                <a:solidFill>
                  <a:srgbClr val="5B3F80"/>
                </a:solidFill>
                <a:latin typeface="Montserrat"/>
              </a:rPr>
              <a:t>Tono: </a:t>
            </a:r>
            <a:r>
              <a:rPr sz="1050" b="0" i="0">
                <a:solidFill>
                  <a:srgbClr val="2E2A36"/>
                </a:solidFill>
                <a:latin typeface="Montserrat"/>
              </a:rPr>
              <a:t>Inspirador, natural, sin solemnidad excesiva.</a:t>
            </a:r>
          </a:p>
          <a:p>
            <a:pPr algn="l">
              <a:lnSpc>
                <a:spcPct val="115000"/>
              </a:lnSpc>
              <a:spcAft>
                <a:spcPts val="500"/>
              </a:spcAft>
            </a:pPr>
            <a:r>
              <a:rPr sz="1050" b="1" i="0">
                <a:solidFill>
                  <a:srgbClr val="C9A86A"/>
                </a:solidFill>
                <a:latin typeface="Montserrat"/>
              </a:rPr>
              <a:t>Ideal: </a:t>
            </a:r>
            <a:r>
              <a:rPr sz="1050" b="1" i="0">
                <a:solidFill>
                  <a:srgbClr val="2E2A36"/>
                </a:solidFill>
                <a:latin typeface="Montserrat"/>
              </a:rPr>
              <a:t>Jardín Ecológico</a:t>
            </a:r>
          </a:p>
        </p:txBody>
      </p:sp>
      <p:sp>
        <p:nvSpPr>
          <p:cNvPr id="23" name="Rectangle 22"/>
          <p:cNvSpPr/>
          <p:nvPr/>
        </p:nvSpPr>
        <p:spPr>
          <a:xfrm>
            <a:off x="9509756" y="2011680"/>
            <a:ext cx="2084831" cy="32461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509756" y="2011680"/>
            <a:ext cx="2084831" cy="6858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619484" y="2011680"/>
            <a:ext cx="1865375" cy="685800"/>
          </a:xfrm>
          <a:prstGeom prst="rect">
            <a:avLst/>
          </a:prstGeom>
          <a:noFill/>
        </p:spPr>
        <p:txBody>
          <a:bodyPr wrap="square" anchor="ctr" lIns="45720" rIns="45720" tIns="27432" bIns="27432">
            <a:spAutoFit/>
          </a:bodyPr>
          <a:lstStyle/>
          <a:p>
            <a:pPr algn="l">
              <a:lnSpc>
                <a:spcPct val="115000"/>
              </a:lnSpc>
              <a:spcAft>
                <a:spcPts val="400"/>
              </a:spcAft>
            </a:pPr>
            <a:r>
              <a:rPr sz="1400" b="1" i="0">
                <a:solidFill>
                  <a:srgbClr val="FFFFFF"/>
                </a:solidFill>
                <a:latin typeface="Montserrat"/>
              </a:rPr>
              <a:t>El Tutor de Mascota</a:t>
            </a:r>
          </a:p>
        </p:txBody>
      </p:sp>
      <p:sp>
        <p:nvSpPr>
          <p:cNvPr id="26" name="TextBox 25"/>
          <p:cNvSpPr txBox="1"/>
          <p:nvPr/>
        </p:nvSpPr>
        <p:spPr>
          <a:xfrm>
            <a:off x="9619484" y="2788920"/>
            <a:ext cx="1865375" cy="2423160"/>
          </a:xfrm>
          <a:prstGeom prst="rect">
            <a:avLst/>
          </a:prstGeom>
          <a:noFill/>
        </p:spPr>
        <p:txBody>
          <a:bodyPr wrap="square" anchor="t" lIns="45720" rIns="45720" tIns="27432" bIns="27432">
            <a:spAutoFit/>
          </a:bodyPr>
          <a:lstStyle/>
          <a:p>
            <a:pPr algn="l">
              <a:lnSpc>
                <a:spcPct val="115000"/>
              </a:lnSpc>
              <a:spcAft>
                <a:spcPts val="500"/>
              </a:spcAft>
            </a:pPr>
            <a:r>
              <a:rPr sz="1050" b="0" i="1">
                <a:solidFill>
                  <a:srgbClr val="7D7887"/>
                </a:solidFill>
                <a:latin typeface="Montserrat"/>
              </a:rPr>
              <a:t>20–60 años, despide a su compañero.</a:t>
            </a:r>
          </a:p>
          <a:p>
            <a:pPr algn="l">
              <a:lnSpc>
                <a:spcPct val="115000"/>
              </a:lnSpc>
              <a:spcAft>
                <a:spcPts val="500"/>
              </a:spcAft>
            </a:pPr>
            <a:r>
              <a:rPr sz="1050" b="1" i="0">
                <a:solidFill>
                  <a:srgbClr val="5B3F80"/>
                </a:solidFill>
                <a:latin typeface="Montserrat"/>
              </a:rPr>
              <a:t>Busca: </a:t>
            </a:r>
            <a:r>
              <a:rPr sz="1050" b="0" i="0">
                <a:solidFill>
                  <a:srgbClr val="2E2A36"/>
                </a:solidFill>
                <a:latin typeface="Montserrat"/>
              </a:rPr>
              <a:t>Respeto al vínculo, un lugar para recordar.</a:t>
            </a:r>
          </a:p>
          <a:p>
            <a:pPr algn="l">
              <a:lnSpc>
                <a:spcPct val="115000"/>
              </a:lnSpc>
              <a:spcAft>
                <a:spcPts val="500"/>
              </a:spcAft>
            </a:pPr>
            <a:r>
              <a:rPr sz="1050" b="1" i="0">
                <a:solidFill>
                  <a:srgbClr val="5B3F80"/>
                </a:solidFill>
                <a:latin typeface="Montserrat"/>
              </a:rPr>
              <a:t>Tono: </a:t>
            </a:r>
            <a:r>
              <a:rPr sz="1050" b="0" i="0">
                <a:solidFill>
                  <a:srgbClr val="2E2A36"/>
                </a:solidFill>
                <a:latin typeface="Montserrat"/>
              </a:rPr>
              <a:t>Emocional, cálido y ligero.</a:t>
            </a:r>
          </a:p>
          <a:p>
            <a:pPr algn="l">
              <a:lnSpc>
                <a:spcPct val="115000"/>
              </a:lnSpc>
              <a:spcAft>
                <a:spcPts val="500"/>
              </a:spcAft>
            </a:pPr>
            <a:r>
              <a:rPr sz="1050" b="1" i="0">
                <a:solidFill>
                  <a:srgbClr val="C9A86A"/>
                </a:solidFill>
                <a:latin typeface="Montserrat"/>
              </a:rPr>
              <a:t>Ideal: </a:t>
            </a:r>
            <a:r>
              <a:rPr sz="1050" b="1" i="0">
                <a:solidFill>
                  <a:srgbClr val="2E2A36"/>
                </a:solidFill>
                <a:latin typeface="Montserrat"/>
              </a:rPr>
              <a:t>Jardín de Mascotas</a:t>
            </a:r>
          </a:p>
        </p:txBody>
      </p:sp>
      <p:sp>
        <p:nvSpPr>
          <p:cNvPr id="27" name="Rectangle 26"/>
          <p:cNvSpPr/>
          <p:nvPr/>
        </p:nvSpPr>
        <p:spPr>
          <a:xfrm>
            <a:off x="548640" y="5440680"/>
            <a:ext cx="11094415" cy="73152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77240" y="5440680"/>
            <a:ext cx="10637215" cy="731520"/>
          </a:xfrm>
          <a:prstGeom prst="rect">
            <a:avLst/>
          </a:prstGeom>
          <a:noFill/>
        </p:spPr>
        <p:txBody>
          <a:bodyPr wrap="square" anchor="ctr" lIns="45720" rIns="45720" tIns="27432" bIns="27432">
            <a:spAutoFit/>
          </a:bodyPr>
          <a:lstStyle/>
          <a:p>
            <a:pPr algn="l">
              <a:lnSpc>
                <a:spcPct val="115000"/>
              </a:lnSpc>
              <a:spcAft>
                <a:spcPts val="400"/>
              </a:spcAft>
            </a:pPr>
            <a:r>
              <a:rPr sz="1100" b="1" i="0">
                <a:solidFill>
                  <a:srgbClr val="5B3F80"/>
                </a:solidFill>
                <a:latin typeface="Montserrat"/>
              </a:rPr>
              <a:t>FILTRO N·O·A   </a:t>
            </a:r>
            <a:r>
              <a:rPr sz="1150" b="0" i="0">
                <a:solidFill>
                  <a:srgbClr val="2E2A36"/>
                </a:solidFill>
                <a:latin typeface="Montserrat"/>
              </a:rPr>
              <a:t>Antes de invertir energía en un contacto, evalúe tres puntos: Necesidad (¿lo necesita?), Oportunidad (¿es el momento y tiene capacidad de pago?) y Adecuación (¿qué producto encaja con su perfil?). Calificar bien en la entrada evita morosidad en el cobro.</a:t>
            </a:r>
          </a:p>
        </p:txBody>
      </p:sp>
      <p:sp>
        <p:nvSpPr>
          <p:cNvPr id="29" name="TextBox 28"/>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0" name="TextBox 29"/>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TextBox 1"/>
          <p:cNvSpPr txBox="1"/>
          <p:nvPr/>
        </p:nvSpPr>
        <p:spPr>
          <a:xfrm>
            <a:off x="914400" y="1417320"/>
            <a:ext cx="3200400" cy="1920240"/>
          </a:xfrm>
          <a:prstGeom prst="rect">
            <a:avLst/>
          </a:prstGeom>
          <a:noFill/>
        </p:spPr>
        <p:txBody>
          <a:bodyPr wrap="square" anchor="t" lIns="45720" rIns="45720" tIns="27432" bIns="27432">
            <a:spAutoFit/>
          </a:bodyPr>
          <a:lstStyle/>
          <a:p>
            <a:pPr algn="l">
              <a:lnSpc>
                <a:spcPct val="115000"/>
              </a:lnSpc>
              <a:spcAft>
                <a:spcPts val="400"/>
              </a:spcAft>
            </a:pPr>
            <a:r>
              <a:rPr sz="11000" b="1" i="0">
                <a:solidFill>
                  <a:srgbClr val="C9A86A"/>
                </a:solidFill>
                <a:latin typeface="Playfair Display"/>
              </a:rPr>
              <a:t>03</a:t>
            </a:r>
          </a:p>
        </p:txBody>
      </p:sp>
      <p:sp>
        <p:nvSpPr>
          <p:cNvPr id="3" name="TextBox 2"/>
          <p:cNvSpPr txBox="1"/>
          <p:nvPr/>
        </p:nvSpPr>
        <p:spPr>
          <a:xfrm>
            <a:off x="914400" y="3429000"/>
            <a:ext cx="10515600" cy="914400"/>
          </a:xfrm>
          <a:prstGeom prst="rect">
            <a:avLst/>
          </a:prstGeom>
          <a:noFill/>
        </p:spPr>
        <p:txBody>
          <a:bodyPr wrap="square" anchor="t" lIns="45720" rIns="45720" tIns="27432" bIns="27432">
            <a:spAutoFit/>
          </a:bodyPr>
          <a:lstStyle/>
          <a:p>
            <a:pPr algn="l">
              <a:lnSpc>
                <a:spcPct val="115000"/>
              </a:lnSpc>
              <a:spcAft>
                <a:spcPts val="400"/>
              </a:spcAft>
            </a:pPr>
            <a:r>
              <a:rPr sz="4000" b="1" i="0">
                <a:solidFill>
                  <a:srgbClr val="FFFFFF"/>
                </a:solidFill>
                <a:latin typeface="Playfair Display"/>
              </a:rPr>
              <a:t>El proceso de venta</a:t>
            </a:r>
          </a:p>
        </p:txBody>
      </p:sp>
      <p:sp>
        <p:nvSpPr>
          <p:cNvPr id="4" name="Rectangle 3"/>
          <p:cNvSpPr/>
          <p:nvPr/>
        </p:nvSpPr>
        <p:spPr>
          <a:xfrm>
            <a:off x="960120" y="443484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617720"/>
            <a:ext cx="10058400" cy="73152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D9CFE6"/>
                </a:solidFill>
                <a:latin typeface="Montserrat"/>
              </a:rPr>
              <a:t>Un camino claro, del primer contacto a la posventa.</a:t>
            </a:r>
          </a:p>
        </p:txBody>
      </p:sp>
      <p:sp>
        <p:nvSpPr>
          <p:cNvPr id="6" name="TextBox 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D9CFE6"/>
                </a:solidFill>
                <a:latin typeface="Montserrat"/>
              </a:rPr>
              <a:t>Playbook Comercial  ·  La Auxiliadora · Hogar de las Memorias · Las Colinas · Vangrupo</a:t>
            </a:r>
          </a:p>
        </p:txBody>
      </p:sp>
      <p:sp>
        <p:nvSpPr>
          <p:cNvPr id="7" name="TextBox 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D9CFE6"/>
                </a:solidFill>
                <a:latin typeface="Montserrat"/>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03 · EL PROCESO DE VENTA</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El embudo de prenecesidad</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2_embudo.png"/>
          <p:cNvPicPr>
            <a:picLocks noChangeAspect="1"/>
          </p:cNvPicPr>
          <p:nvPr/>
        </p:nvPicPr>
        <p:blipFill>
          <a:blip r:embed="rId2"/>
          <a:stretch>
            <a:fillRect/>
          </a:stretch>
        </p:blipFill>
        <p:spPr>
          <a:xfrm>
            <a:off x="996870" y="1600200"/>
            <a:ext cx="10197955" cy="4663440"/>
          </a:xfrm>
          <a:prstGeom prst="rect">
            <a:avLst/>
          </a:prstGeom>
        </p:spPr>
      </p:pic>
      <p:sp>
        <p:nvSpPr>
          <p:cNvPr id="7" name="TextBox 6"/>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8" name="TextBox 7"/>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03 · EL PROCESO DE VENTA</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Las cinco etapas de una conversación</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3_conversacion.png"/>
          <p:cNvPicPr>
            <a:picLocks noChangeAspect="1"/>
          </p:cNvPicPr>
          <p:nvPr/>
        </p:nvPicPr>
        <p:blipFill>
          <a:blip r:embed="rId2"/>
          <a:stretch>
            <a:fillRect/>
          </a:stretch>
        </p:blipFill>
        <p:spPr>
          <a:xfrm>
            <a:off x="548640" y="1645920"/>
            <a:ext cx="11094415" cy="2328671"/>
          </a:xfrm>
          <a:prstGeom prst="rect">
            <a:avLst/>
          </a:prstGeom>
        </p:spPr>
      </p:pic>
      <p:sp>
        <p:nvSpPr>
          <p:cNvPr id="7" name="TextBox 6"/>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8" name="TextBox 7"/>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11</a:t>
            </a:r>
          </a:p>
        </p:txBody>
      </p:sp>
      <p:sp>
        <p:nvSpPr>
          <p:cNvPr id="9" name="TextBox 8"/>
          <p:cNvSpPr txBox="1"/>
          <p:nvPr/>
        </p:nvSpPr>
        <p:spPr>
          <a:xfrm>
            <a:off x="548640" y="4343400"/>
            <a:ext cx="5486400" cy="411480"/>
          </a:xfrm>
          <a:prstGeom prst="rect">
            <a:avLst/>
          </a:prstGeom>
          <a:noFill/>
        </p:spPr>
        <p:txBody>
          <a:bodyPr wrap="square" anchor="t" lIns="45720" rIns="45720" tIns="27432" bIns="27432">
            <a:spAutoFit/>
          </a:bodyPr>
          <a:lstStyle/>
          <a:p>
            <a:pPr algn="l">
              <a:lnSpc>
                <a:spcPct val="115000"/>
              </a:lnSpc>
              <a:spcAft>
                <a:spcPts val="400"/>
              </a:spcAft>
            </a:pPr>
            <a:r>
              <a:rPr sz="1800" b="1" i="0">
                <a:solidFill>
                  <a:srgbClr val="5B3F80"/>
                </a:solidFill>
                <a:latin typeface="Playfair Display"/>
              </a:rPr>
              <a:t>Rituales del equipo</a:t>
            </a:r>
          </a:p>
        </p:txBody>
      </p:sp>
      <p:sp>
        <p:nvSpPr>
          <p:cNvPr id="10" name="Rectangle 9"/>
          <p:cNvSpPr/>
          <p:nvPr/>
        </p:nvSpPr>
        <p:spPr>
          <a:xfrm>
            <a:off x="548640" y="4800600"/>
            <a:ext cx="3566160" cy="13716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4800600"/>
            <a:ext cx="3566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496519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Diario</a:t>
            </a:r>
          </a:p>
        </p:txBody>
      </p:sp>
      <p:sp>
        <p:nvSpPr>
          <p:cNvPr id="13" name="TextBox 12"/>
          <p:cNvSpPr txBox="1"/>
          <p:nvPr/>
        </p:nvSpPr>
        <p:spPr>
          <a:xfrm>
            <a:off x="731520" y="5550408"/>
            <a:ext cx="3200400" cy="53035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Alineación rápida de 10 minutos: pendientes y bloqueos.</a:t>
            </a:r>
          </a:p>
        </p:txBody>
      </p:sp>
      <p:sp>
        <p:nvSpPr>
          <p:cNvPr id="14" name="Rectangle 13"/>
          <p:cNvSpPr/>
          <p:nvPr/>
        </p:nvSpPr>
        <p:spPr>
          <a:xfrm>
            <a:off x="4297680" y="4800600"/>
            <a:ext cx="3566160" cy="13716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97680" y="4800600"/>
            <a:ext cx="3566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80560" y="496519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Semanal</a:t>
            </a:r>
          </a:p>
        </p:txBody>
      </p:sp>
      <p:sp>
        <p:nvSpPr>
          <p:cNvPr id="17" name="TextBox 16"/>
          <p:cNvSpPr txBox="1"/>
          <p:nvPr/>
        </p:nvSpPr>
        <p:spPr>
          <a:xfrm>
            <a:off x="4480560" y="5550408"/>
            <a:ext cx="3200400" cy="53035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Revisión del embudo: dónde se están quedando los contactos.</a:t>
            </a:r>
          </a:p>
        </p:txBody>
      </p:sp>
      <p:sp>
        <p:nvSpPr>
          <p:cNvPr id="18" name="Rectangle 17"/>
          <p:cNvSpPr/>
          <p:nvPr/>
        </p:nvSpPr>
        <p:spPr>
          <a:xfrm>
            <a:off x="8046720" y="4800600"/>
            <a:ext cx="3566160" cy="13716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46720" y="4800600"/>
            <a:ext cx="3566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0" y="496519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Mensual</a:t>
            </a:r>
          </a:p>
        </p:txBody>
      </p:sp>
      <p:sp>
        <p:nvSpPr>
          <p:cNvPr id="21" name="TextBox 20"/>
          <p:cNvSpPr txBox="1"/>
          <p:nvPr/>
        </p:nvSpPr>
        <p:spPr>
          <a:xfrm>
            <a:off x="8229600" y="5550408"/>
            <a:ext cx="3200400" cy="53035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Resultado vs. meta, ajuste de ruta y reconocimiento.</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TextBox 1"/>
          <p:cNvSpPr txBox="1"/>
          <p:nvPr/>
        </p:nvSpPr>
        <p:spPr>
          <a:xfrm>
            <a:off x="914400" y="1417320"/>
            <a:ext cx="3200400" cy="1920240"/>
          </a:xfrm>
          <a:prstGeom prst="rect">
            <a:avLst/>
          </a:prstGeom>
          <a:noFill/>
        </p:spPr>
        <p:txBody>
          <a:bodyPr wrap="square" anchor="t" lIns="45720" rIns="45720" tIns="27432" bIns="27432">
            <a:spAutoFit/>
          </a:bodyPr>
          <a:lstStyle/>
          <a:p>
            <a:pPr algn="l">
              <a:lnSpc>
                <a:spcPct val="115000"/>
              </a:lnSpc>
              <a:spcAft>
                <a:spcPts val="400"/>
              </a:spcAft>
            </a:pPr>
            <a:r>
              <a:rPr sz="11000" b="1" i="0">
                <a:solidFill>
                  <a:srgbClr val="C9A86A"/>
                </a:solidFill>
                <a:latin typeface="Playfair Display"/>
              </a:rPr>
              <a:t>04</a:t>
            </a:r>
          </a:p>
        </p:txBody>
      </p:sp>
      <p:sp>
        <p:nvSpPr>
          <p:cNvPr id="3" name="TextBox 2"/>
          <p:cNvSpPr txBox="1"/>
          <p:nvPr/>
        </p:nvSpPr>
        <p:spPr>
          <a:xfrm>
            <a:off x="914400" y="3429000"/>
            <a:ext cx="10515600" cy="914400"/>
          </a:xfrm>
          <a:prstGeom prst="rect">
            <a:avLst/>
          </a:prstGeom>
          <a:noFill/>
        </p:spPr>
        <p:txBody>
          <a:bodyPr wrap="square" anchor="t" lIns="45720" rIns="45720" tIns="27432" bIns="27432">
            <a:spAutoFit/>
          </a:bodyPr>
          <a:lstStyle/>
          <a:p>
            <a:pPr algn="l">
              <a:lnSpc>
                <a:spcPct val="115000"/>
              </a:lnSpc>
              <a:spcAft>
                <a:spcPts val="400"/>
              </a:spcAft>
            </a:pPr>
            <a:r>
              <a:rPr sz="4000" b="1" i="0">
                <a:solidFill>
                  <a:srgbClr val="FFFFFF"/>
                </a:solidFill>
                <a:latin typeface="Playfair Display"/>
              </a:rPr>
              <a:t>Producto por producto</a:t>
            </a:r>
          </a:p>
        </p:txBody>
      </p:sp>
      <p:sp>
        <p:nvSpPr>
          <p:cNvPr id="4" name="Rectangle 3"/>
          <p:cNvSpPr/>
          <p:nvPr/>
        </p:nvSpPr>
        <p:spPr>
          <a:xfrm>
            <a:off x="960120" y="443484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617720"/>
            <a:ext cx="10058400" cy="73152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D9CFE6"/>
                </a:solidFill>
                <a:latin typeface="Montserrat"/>
              </a:rPr>
              <a:t>Qué es, qué incluye, sus reglas y cómo presentarlo.</a:t>
            </a:r>
          </a:p>
        </p:txBody>
      </p:sp>
      <p:sp>
        <p:nvSpPr>
          <p:cNvPr id="6" name="TextBox 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D9CFE6"/>
                </a:solidFill>
                <a:latin typeface="Montserrat"/>
              </a:rPr>
              <a:t>Playbook Comercial  ·  La Auxiliadora · Hogar de las Memorias · Las Colinas · Vangrupo</a:t>
            </a:r>
          </a:p>
        </p:txBody>
      </p:sp>
      <p:sp>
        <p:nvSpPr>
          <p:cNvPr id="7" name="TextBox 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D9CFE6"/>
                </a:solidFill>
                <a:latin typeface="Montserrat"/>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50876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508760"/>
            <a:ext cx="12191695"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77724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CREMACIÓN · ADD-ON</a:t>
            </a:r>
          </a:p>
        </p:txBody>
      </p:sp>
      <p:sp>
        <p:nvSpPr>
          <p:cNvPr id="5" name="TextBox 4"/>
          <p:cNvSpPr txBox="1"/>
          <p:nvPr/>
        </p:nvSpPr>
        <p:spPr>
          <a:xfrm>
            <a:off x="548640" y="548640"/>
            <a:ext cx="7772400" cy="82296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FFFFFF"/>
                </a:solidFill>
                <a:latin typeface="Playfair Display"/>
              </a:rPr>
              <a:t>Solución Modular de Cremación</a:t>
            </a:r>
          </a:p>
        </p:txBody>
      </p:sp>
      <p:sp>
        <p:nvSpPr>
          <p:cNvPr id="6" name="TextBox 5"/>
          <p:cNvSpPr txBox="1"/>
          <p:nvPr/>
        </p:nvSpPr>
        <p:spPr>
          <a:xfrm>
            <a:off x="8046720" y="256032"/>
            <a:ext cx="3611880" cy="320040"/>
          </a:xfrm>
          <a:prstGeom prst="rect">
            <a:avLst/>
          </a:prstGeom>
          <a:noFill/>
        </p:spPr>
        <p:txBody>
          <a:bodyPr wrap="square" anchor="t" lIns="45720" rIns="45720" tIns="27432" bIns="27432">
            <a:spAutoFit/>
          </a:bodyPr>
          <a:lstStyle/>
          <a:p>
            <a:pPr algn="r">
              <a:lnSpc>
                <a:spcPct val="115000"/>
              </a:lnSpc>
              <a:spcAft>
                <a:spcPts val="400"/>
              </a:spcAft>
            </a:pPr>
            <a:r>
              <a:rPr sz="1100" b="1" i="0">
                <a:solidFill>
                  <a:srgbClr val="C9A86A"/>
                </a:solidFill>
                <a:latin typeface="Montserrat"/>
              </a:rPr>
              <a:t>PRECIO SUGERIDO</a:t>
            </a:r>
          </a:p>
        </p:txBody>
      </p:sp>
      <p:sp>
        <p:nvSpPr>
          <p:cNvPr id="7" name="TextBox 6"/>
          <p:cNvSpPr txBox="1"/>
          <p:nvPr/>
        </p:nvSpPr>
        <p:spPr>
          <a:xfrm>
            <a:off x="8046720" y="548640"/>
            <a:ext cx="3611880" cy="822960"/>
          </a:xfrm>
          <a:prstGeom prst="rect">
            <a:avLst/>
          </a:prstGeom>
          <a:noFill/>
        </p:spPr>
        <p:txBody>
          <a:bodyPr wrap="square" anchor="ctr" lIns="45720" rIns="45720" tIns="27432" bIns="27432">
            <a:spAutoFit/>
          </a:bodyPr>
          <a:lstStyle/>
          <a:p>
            <a:pPr algn="r">
              <a:lnSpc>
                <a:spcPct val="115000"/>
              </a:lnSpc>
              <a:spcAft>
                <a:spcPts val="400"/>
              </a:spcAft>
            </a:pPr>
            <a:r>
              <a:rPr sz="3200" b="1" i="0">
                <a:solidFill>
                  <a:srgbClr val="FFFFFF"/>
                </a:solidFill>
                <a:latin typeface="Montserrat"/>
              </a:rPr>
              <a:t>US$ 1.000</a:t>
            </a:r>
          </a:p>
        </p:txBody>
      </p:sp>
      <p:sp>
        <p:nvSpPr>
          <p:cNvPr id="8" name="TextBox 7"/>
          <p:cNvSpPr txBox="1"/>
          <p:nvPr/>
        </p:nvSpPr>
        <p:spPr>
          <a:xfrm>
            <a:off x="548640" y="1691640"/>
            <a:ext cx="11094415" cy="36576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Lanzamiento (−20%): US$ 800 · Pago en hasta 120 meses, con intereses</a:t>
            </a:r>
          </a:p>
        </p:txBody>
      </p:sp>
      <p:sp>
        <p:nvSpPr>
          <p:cNvPr id="9" name="TextBox 8"/>
          <p:cNvSpPr txBox="1"/>
          <p:nvPr/>
        </p:nvSpPr>
        <p:spPr>
          <a:xfrm>
            <a:off x="548640" y="2148840"/>
            <a:ext cx="11094415" cy="1005840"/>
          </a:xfrm>
          <a:prstGeom prst="rect">
            <a:avLst/>
          </a:prstGeom>
          <a:noFill/>
        </p:spPr>
        <p:txBody>
          <a:bodyPr wrap="square" anchor="t" lIns="45720" rIns="45720" tIns="27432" bIns="27432">
            <a:spAutoFit/>
          </a:bodyPr>
          <a:lstStyle/>
          <a:p>
            <a:pPr algn="l">
              <a:lnSpc>
                <a:spcPct val="115000"/>
              </a:lnSpc>
              <a:spcAft>
                <a:spcPts val="600"/>
              </a:spcAft>
            </a:pPr>
            <a:r>
              <a:rPr sz="1400" b="1" i="0">
                <a:solidFill>
                  <a:srgbClr val="5B3F80"/>
                </a:solidFill>
                <a:latin typeface="Montserrat"/>
              </a:rPr>
              <a:t>Qué es.  </a:t>
            </a:r>
            <a:r>
              <a:rPr sz="1400" b="0" i="0">
                <a:solidFill>
                  <a:srgbClr val="2E2A36"/>
                </a:solidFill>
                <a:latin typeface="Montserrat"/>
              </a:rPr>
              <a:t>Módulo de cremación que se integra a cualquier plan funerario vigente o nuevo de Vangrupo, sin cambiar de plan.</a:t>
            </a:r>
          </a:p>
          <a:p>
            <a:pPr algn="l">
              <a:lnSpc>
                <a:spcPct val="115000"/>
              </a:lnSpc>
              <a:spcAft>
                <a:spcPts val="600"/>
              </a:spcAft>
            </a:pPr>
            <a:r>
              <a:rPr sz="1400" b="1" i="0">
                <a:solidFill>
                  <a:srgbClr val="5B3F80"/>
                </a:solidFill>
                <a:latin typeface="Montserrat"/>
              </a:rPr>
              <a:t>Para quién.  </a:t>
            </a:r>
            <a:r>
              <a:rPr sz="1400" b="0" i="0">
                <a:solidFill>
                  <a:srgbClr val="2E2A36"/>
                </a:solidFill>
                <a:latin typeface="Montserrat"/>
              </a:rPr>
              <a:t>Afiliados actuales y nuevos que quieren sumar la cremación con una cuota mínima.</a:t>
            </a:r>
          </a:p>
        </p:txBody>
      </p:sp>
      <p:sp>
        <p:nvSpPr>
          <p:cNvPr id="10" name="Rectangle 9"/>
          <p:cNvSpPr/>
          <p:nvPr/>
        </p:nvSpPr>
        <p:spPr>
          <a:xfrm>
            <a:off x="54864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337560"/>
            <a:ext cx="544068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INCLUYE</a:t>
            </a:r>
          </a:p>
        </p:txBody>
      </p:sp>
      <p:sp>
        <p:nvSpPr>
          <p:cNvPr id="13" name="TextBox 12"/>
          <p:cNvSpPr txBox="1"/>
          <p:nvPr/>
        </p:nvSpPr>
        <p:spPr>
          <a:xfrm>
            <a:off x="73152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5E9A3C"/>
                </a:solidFill>
                <a:latin typeface="Montserrat"/>
              </a:rPr>
              <a:t>✓  </a:t>
            </a:r>
            <a:r>
              <a:rPr sz="1250" b="0" i="0">
                <a:solidFill>
                  <a:srgbClr val="2E2A36"/>
                </a:solidFill>
                <a:latin typeface="Montserrat"/>
              </a:rPr>
              <a:t>Proceso completo de cremación individual</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Urna cineraria de línea modular</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Trámites legales básicos</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Alquiler temporal de columbario por 1 año en Hogar de las Memorias</a:t>
            </a:r>
          </a:p>
        </p:txBody>
      </p:sp>
      <p:sp>
        <p:nvSpPr>
          <p:cNvPr id="14" name="Rectangle 13"/>
          <p:cNvSpPr/>
          <p:nvPr/>
        </p:nvSpPr>
        <p:spPr>
          <a:xfrm>
            <a:off x="621792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3337560"/>
            <a:ext cx="544068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REGLAS DEL PRODUCTO</a:t>
            </a:r>
          </a:p>
        </p:txBody>
      </p:sp>
      <p:sp>
        <p:nvSpPr>
          <p:cNvPr id="17" name="TextBox 16"/>
          <p:cNvSpPr txBox="1"/>
          <p:nvPr/>
        </p:nvSpPr>
        <p:spPr>
          <a:xfrm>
            <a:off x="640080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C9A86A"/>
                </a:solidFill>
                <a:latin typeface="Montserrat"/>
              </a:rPr>
              <a:t>■  </a:t>
            </a:r>
            <a:r>
              <a:rPr sz="1250" b="0" i="0">
                <a:solidFill>
                  <a:srgbClr val="2E2A36"/>
                </a:solidFill>
                <a:latin typeface="Montserrat"/>
              </a:rPr>
              <a:t>Se vende como adicional a un plan funerario (actual o nuevo).</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Cobertura individual: un módulo por titular o beneficiario.</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Debe estar pagado en su totalidad para usar la cremación y el columbario.</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El columbario temporal es por 12 meses; al término, la familia elige destino final (oportunidad para ofrecer un Jardín de Cenizas).</a:t>
            </a:r>
          </a:p>
        </p:txBody>
      </p:sp>
      <p:sp>
        <p:nvSpPr>
          <p:cNvPr id="18" name="TextBox 17"/>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9" name="TextBox 18"/>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04 · SOLUCIÓN MODULAR</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Cómo presentarlo</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00200"/>
            <a:ext cx="667512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00200"/>
            <a:ext cx="73152" cy="224028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691640"/>
            <a:ext cx="621792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SPEECH SUGERIDO</a:t>
            </a:r>
          </a:p>
        </p:txBody>
      </p:sp>
      <p:sp>
        <p:nvSpPr>
          <p:cNvPr id="9" name="TextBox 8"/>
          <p:cNvSpPr txBox="1"/>
          <p:nvPr/>
        </p:nvSpPr>
        <p:spPr>
          <a:xfrm>
            <a:off x="822960" y="2011680"/>
            <a:ext cx="6263640" cy="1783080"/>
          </a:xfrm>
          <a:prstGeom prst="rect">
            <a:avLst/>
          </a:prstGeom>
          <a:noFill/>
        </p:spPr>
        <p:txBody>
          <a:bodyPr wrap="square" anchor="t" lIns="45720" rIns="45720" tIns="27432" bIns="27432">
            <a:spAutoFit/>
          </a:bodyPr>
          <a:lstStyle/>
          <a:p>
            <a:pPr algn="l">
              <a:lnSpc>
                <a:spcPct val="115000"/>
              </a:lnSpc>
              <a:spcAft>
                <a:spcPts val="400"/>
              </a:spcAft>
            </a:pPr>
            <a:r>
              <a:rPr sz="1400" b="0" i="1">
                <a:solidFill>
                  <a:srgbClr val="3E2A5C"/>
                </a:solidFill>
                <a:latin typeface="Playfair Display"/>
              </a:rPr>
              <a:t>«Usted ya protegió a su familia con su plan. Pagando en hasta 120 meses, puede sumar la cremación completa, con urna, trámites y un año de columbario incluido. Así nadie tendrá que decidir ni pagar de golpe en un momento difícil.»</a:t>
            </a:r>
          </a:p>
        </p:txBody>
      </p:sp>
      <p:sp>
        <p:nvSpPr>
          <p:cNvPr id="10" name="Rectangle 9"/>
          <p:cNvSpPr/>
          <p:nvPr/>
        </p:nvSpPr>
        <p:spPr>
          <a:xfrm>
            <a:off x="7406639" y="1600200"/>
            <a:ext cx="434340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06639" y="1600200"/>
            <a:ext cx="4343400"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79" y="1737360"/>
            <a:ext cx="41148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PREGUNTAS DE DESCUBRIMIENTO</a:t>
            </a:r>
          </a:p>
        </p:txBody>
      </p:sp>
      <p:sp>
        <p:nvSpPr>
          <p:cNvPr id="13" name="TextBox 12"/>
          <p:cNvSpPr txBox="1"/>
          <p:nvPr/>
        </p:nvSpPr>
        <p:spPr>
          <a:xfrm>
            <a:off x="7498079" y="2103120"/>
            <a:ext cx="4114800" cy="1691640"/>
          </a:xfrm>
          <a:prstGeom prst="rect">
            <a:avLst/>
          </a:prstGeom>
          <a:noFill/>
        </p:spPr>
        <p:txBody>
          <a:bodyPr wrap="square" anchor="t" lIns="45720" rIns="45720" tIns="27432" bIns="27432">
            <a:spAutoFit/>
          </a:bodyPr>
          <a:lstStyle/>
          <a:p>
            <a:pPr algn="l">
              <a:lnSpc>
                <a:spcPct val="115000"/>
              </a:lnSpc>
              <a:spcAft>
                <a:spcPts val="500"/>
              </a:spcAft>
            </a:pPr>
            <a:r>
              <a:rPr sz="900" b="1" i="0">
                <a:solidFill>
                  <a:srgbClr val="C9A86A"/>
                </a:solidFill>
                <a:latin typeface="Montserrat"/>
              </a:rPr>
              <a:t>?  </a:t>
            </a:r>
            <a:r>
              <a:rPr sz="1200" b="0" i="0">
                <a:solidFill>
                  <a:srgbClr val="2E2A36"/>
                </a:solidFill>
                <a:latin typeface="Montserrat"/>
              </a:rPr>
              <a:t>¿Su plan actual incluye la cremación o solo el servicio funerario?</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¿Ha conversado en familia qué preferencia tiene usted?</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¿Qué le preocupa más: el costo o tener que decidir de urgencia?</a:t>
            </a:r>
          </a:p>
        </p:txBody>
      </p:sp>
      <p:sp>
        <p:nvSpPr>
          <p:cNvPr id="14" name="Rectangle 13"/>
          <p:cNvSpPr/>
          <p:nvPr/>
        </p:nvSpPr>
        <p:spPr>
          <a:xfrm>
            <a:off x="548640" y="4023360"/>
            <a:ext cx="3566160" cy="224028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4023360"/>
            <a:ext cx="356616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Frase de cierre</a:t>
            </a:r>
          </a:p>
        </p:txBody>
      </p:sp>
      <p:sp>
        <p:nvSpPr>
          <p:cNvPr id="17" name="TextBox 16"/>
          <p:cNvSpPr txBox="1"/>
          <p:nvPr/>
        </p:nvSpPr>
        <p:spPr>
          <a:xfrm>
            <a:off x="73152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«¿Le parece si lo sumamos a su plan desde este mes, con la primera cuota de hoy?»</a:t>
            </a:r>
          </a:p>
        </p:txBody>
      </p:sp>
      <p:sp>
        <p:nvSpPr>
          <p:cNvPr id="18" name="Rectangle 17"/>
          <p:cNvSpPr/>
          <p:nvPr/>
        </p:nvSpPr>
        <p:spPr>
          <a:xfrm>
            <a:off x="4297680" y="4023360"/>
            <a:ext cx="3566160" cy="22402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97680" y="4023360"/>
            <a:ext cx="356616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8056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Objeción típica</a:t>
            </a:r>
          </a:p>
        </p:txBody>
      </p:sp>
      <p:sp>
        <p:nvSpPr>
          <p:cNvPr id="21" name="TextBox 20"/>
          <p:cNvSpPr txBox="1"/>
          <p:nvPr/>
        </p:nvSpPr>
        <p:spPr>
          <a:xfrm>
            <a:off x="448056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«Mi plan ya es suficiente.» → «Su plan cubre el servicio funerario; la cremación y la urna se pagarían aparte y de una sola vez. Con el módulo queda todo cubierto en cuotas pequeñas.»</a:t>
            </a:r>
          </a:p>
        </p:txBody>
      </p:sp>
      <p:sp>
        <p:nvSpPr>
          <p:cNvPr id="22" name="Rectangle 21"/>
          <p:cNvSpPr/>
          <p:nvPr/>
        </p:nvSpPr>
        <p:spPr>
          <a:xfrm>
            <a:off x="8046720" y="4023360"/>
            <a:ext cx="3566160" cy="22402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046720" y="4023360"/>
            <a:ext cx="3566160" cy="54864"/>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Tip del asesor</a:t>
            </a:r>
          </a:p>
        </p:txBody>
      </p:sp>
      <p:sp>
        <p:nvSpPr>
          <p:cNvPr id="25" name="TextBox 24"/>
          <p:cNvSpPr txBox="1"/>
          <p:nvPr/>
        </p:nvSpPr>
        <p:spPr>
          <a:xfrm>
            <a:off x="822960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Ofrézcalo siempre junto a un jardín: la familia resuelve cremación y destino final en una sola decisión.</a:t>
            </a:r>
          </a:p>
        </p:txBody>
      </p:sp>
      <p:sp>
        <p:nvSpPr>
          <p:cNvPr id="26" name="TextBox 2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7" name="TextBox 2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50876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508760"/>
            <a:ext cx="12191695"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77724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JARDÍN 1 · INHUMACIÓN INDIVIDUAL</a:t>
            </a:r>
          </a:p>
        </p:txBody>
      </p:sp>
      <p:sp>
        <p:nvSpPr>
          <p:cNvPr id="5" name="TextBox 4"/>
          <p:cNvSpPr txBox="1"/>
          <p:nvPr/>
        </p:nvSpPr>
        <p:spPr>
          <a:xfrm>
            <a:off x="548640" y="548640"/>
            <a:ext cx="7772400" cy="82296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FFFFFF"/>
                </a:solidFill>
                <a:latin typeface="Playfair Display"/>
              </a:rPr>
              <a:t>Jardín de Cenizas · Individual</a:t>
            </a:r>
          </a:p>
        </p:txBody>
      </p:sp>
      <p:sp>
        <p:nvSpPr>
          <p:cNvPr id="6" name="TextBox 5"/>
          <p:cNvSpPr txBox="1"/>
          <p:nvPr/>
        </p:nvSpPr>
        <p:spPr>
          <a:xfrm>
            <a:off x="8046720" y="256032"/>
            <a:ext cx="3611880" cy="320040"/>
          </a:xfrm>
          <a:prstGeom prst="rect">
            <a:avLst/>
          </a:prstGeom>
          <a:noFill/>
        </p:spPr>
        <p:txBody>
          <a:bodyPr wrap="square" anchor="t" lIns="45720" rIns="45720" tIns="27432" bIns="27432">
            <a:spAutoFit/>
          </a:bodyPr>
          <a:lstStyle/>
          <a:p>
            <a:pPr algn="r">
              <a:lnSpc>
                <a:spcPct val="115000"/>
              </a:lnSpc>
              <a:spcAft>
                <a:spcPts val="400"/>
              </a:spcAft>
            </a:pPr>
            <a:r>
              <a:rPr sz="1100" b="1" i="0">
                <a:solidFill>
                  <a:srgbClr val="C9A86A"/>
                </a:solidFill>
                <a:latin typeface="Montserrat"/>
              </a:rPr>
              <a:t>PRECIO SUGERIDO</a:t>
            </a:r>
          </a:p>
        </p:txBody>
      </p:sp>
      <p:sp>
        <p:nvSpPr>
          <p:cNvPr id="7" name="TextBox 6"/>
          <p:cNvSpPr txBox="1"/>
          <p:nvPr/>
        </p:nvSpPr>
        <p:spPr>
          <a:xfrm>
            <a:off x="8046720" y="548640"/>
            <a:ext cx="3611880" cy="822960"/>
          </a:xfrm>
          <a:prstGeom prst="rect">
            <a:avLst/>
          </a:prstGeom>
          <a:noFill/>
        </p:spPr>
        <p:txBody>
          <a:bodyPr wrap="square" anchor="ctr" lIns="45720" rIns="45720" tIns="27432" bIns="27432">
            <a:spAutoFit/>
          </a:bodyPr>
          <a:lstStyle/>
          <a:p>
            <a:pPr algn="r">
              <a:lnSpc>
                <a:spcPct val="115000"/>
              </a:lnSpc>
              <a:spcAft>
                <a:spcPts val="400"/>
              </a:spcAft>
            </a:pPr>
            <a:r>
              <a:rPr sz="3200" b="1" i="0">
                <a:solidFill>
                  <a:srgbClr val="FFFFFF"/>
                </a:solidFill>
                <a:latin typeface="Montserrat"/>
              </a:rPr>
              <a:t>US$ 600</a:t>
            </a:r>
          </a:p>
        </p:txBody>
      </p:sp>
      <p:sp>
        <p:nvSpPr>
          <p:cNvPr id="8" name="TextBox 7"/>
          <p:cNvSpPr txBox="1"/>
          <p:nvPr/>
        </p:nvSpPr>
        <p:spPr>
          <a:xfrm>
            <a:off x="548640" y="1691640"/>
            <a:ext cx="11094415" cy="36576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Lanzamiento (−20%): US$ 480 · Pago único o financiado · Mantenimiento US$ 15/año</a:t>
            </a:r>
          </a:p>
        </p:txBody>
      </p:sp>
      <p:sp>
        <p:nvSpPr>
          <p:cNvPr id="9" name="TextBox 8"/>
          <p:cNvSpPr txBox="1"/>
          <p:nvPr/>
        </p:nvSpPr>
        <p:spPr>
          <a:xfrm>
            <a:off x="548640" y="2148840"/>
            <a:ext cx="11094415" cy="1005840"/>
          </a:xfrm>
          <a:prstGeom prst="rect">
            <a:avLst/>
          </a:prstGeom>
          <a:noFill/>
        </p:spPr>
        <p:txBody>
          <a:bodyPr wrap="square" anchor="t" lIns="45720" rIns="45720" tIns="27432" bIns="27432">
            <a:spAutoFit/>
          </a:bodyPr>
          <a:lstStyle/>
          <a:p>
            <a:pPr algn="l">
              <a:lnSpc>
                <a:spcPct val="115000"/>
              </a:lnSpc>
              <a:spcAft>
                <a:spcPts val="600"/>
              </a:spcAft>
            </a:pPr>
            <a:r>
              <a:rPr sz="1400" b="1" i="0">
                <a:solidFill>
                  <a:srgbClr val="5B3F80"/>
                </a:solidFill>
                <a:latin typeface="Montserrat"/>
              </a:rPr>
              <a:t>Qué es.  </a:t>
            </a:r>
            <a:r>
              <a:rPr sz="1400" b="0" i="0">
                <a:solidFill>
                  <a:srgbClr val="2E2A36"/>
                </a:solidFill>
                <a:latin typeface="Montserrat"/>
              </a:rPr>
              <a:t>Inhumación de la urna en un contenedor enterrado con tapa de granito grabada, en un jardín de plantas de sombra: un lugar para visitar por 30 años desde la primera inhumación, renovable.</a:t>
            </a:r>
          </a:p>
          <a:p>
            <a:pPr algn="l">
              <a:lnSpc>
                <a:spcPct val="115000"/>
              </a:lnSpc>
              <a:spcAft>
                <a:spcPts val="600"/>
              </a:spcAft>
            </a:pPr>
            <a:r>
              <a:rPr sz="1400" b="1" i="0">
                <a:solidFill>
                  <a:srgbClr val="5B3F80"/>
                </a:solidFill>
                <a:latin typeface="Montserrat"/>
              </a:rPr>
              <a:t>Para quién.  </a:t>
            </a:r>
            <a:r>
              <a:rPr sz="1400" b="0" i="0">
                <a:solidFill>
                  <a:srgbClr val="2E2A36"/>
                </a:solidFill>
                <a:latin typeface="Montserrat"/>
              </a:rPr>
              <a:t>Familias que quieren un lugar propio para visitar, con una inversión moderada.</a:t>
            </a:r>
          </a:p>
        </p:txBody>
      </p:sp>
      <p:sp>
        <p:nvSpPr>
          <p:cNvPr id="10" name="Rectangle 9"/>
          <p:cNvSpPr/>
          <p:nvPr/>
        </p:nvSpPr>
        <p:spPr>
          <a:xfrm>
            <a:off x="54864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337560"/>
            <a:ext cx="544068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INCLUYE</a:t>
            </a:r>
          </a:p>
        </p:txBody>
      </p:sp>
      <p:sp>
        <p:nvSpPr>
          <p:cNvPr id="13" name="TextBox 12"/>
          <p:cNvSpPr txBox="1"/>
          <p:nvPr/>
        </p:nvSpPr>
        <p:spPr>
          <a:xfrm>
            <a:off x="73152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5E9A3C"/>
                </a:solidFill>
                <a:latin typeface="Montserrat"/>
              </a:rPr>
              <a:t>✓  </a:t>
            </a:r>
            <a:r>
              <a:rPr sz="1250" b="0" i="0">
                <a:solidFill>
                  <a:srgbClr val="2E2A36"/>
                </a:solidFill>
                <a:latin typeface="Montserrat"/>
              </a:rPr>
              <a:t>Inhumación de la urna en contenedor individual (Ø 32 × 40 cm)</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Tapa de granito con los datos del ser querido</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Ubicación en el Jardín 1, con paisajismo de plantas de sombra</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Camino en gravilla y espacio de contemplación con banco</a:t>
            </a:r>
          </a:p>
        </p:txBody>
      </p:sp>
      <p:sp>
        <p:nvSpPr>
          <p:cNvPr id="14" name="Rectangle 13"/>
          <p:cNvSpPr/>
          <p:nvPr/>
        </p:nvSpPr>
        <p:spPr>
          <a:xfrm>
            <a:off x="621792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3337560"/>
            <a:ext cx="544068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REGLAS DEL PRODUCTO</a:t>
            </a:r>
          </a:p>
        </p:txBody>
      </p:sp>
      <p:sp>
        <p:nvSpPr>
          <p:cNvPr id="17" name="TextBox 16"/>
          <p:cNvSpPr txBox="1"/>
          <p:nvPr/>
        </p:nvSpPr>
        <p:spPr>
          <a:xfrm>
            <a:off x="640080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Capacidad: 1 urna.</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Cuota de mantenimiento anual: US$ 15. Permanencia: 30 años desde la primera inhumación, renovable.</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El contenedor queda con 20 cm a la vista; la tapa de granito es la identificación.</a:t>
            </a:r>
          </a:p>
        </p:txBody>
      </p:sp>
      <p:sp>
        <p:nvSpPr>
          <p:cNvPr id="18" name="TextBox 17"/>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9" name="TextBox 18"/>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04 · JARDÍN INDIVIDUAL</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Cómo presentarlo</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00200"/>
            <a:ext cx="667512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00200"/>
            <a:ext cx="73152" cy="224028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691640"/>
            <a:ext cx="621792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SPEECH SUGERIDO</a:t>
            </a:r>
          </a:p>
        </p:txBody>
      </p:sp>
      <p:sp>
        <p:nvSpPr>
          <p:cNvPr id="9" name="TextBox 8"/>
          <p:cNvSpPr txBox="1"/>
          <p:nvPr/>
        </p:nvSpPr>
        <p:spPr>
          <a:xfrm>
            <a:off x="822960" y="2011680"/>
            <a:ext cx="6263640" cy="1783080"/>
          </a:xfrm>
          <a:prstGeom prst="rect">
            <a:avLst/>
          </a:prstGeom>
          <a:noFill/>
        </p:spPr>
        <p:txBody>
          <a:bodyPr wrap="square" anchor="t" lIns="45720" rIns="45720" tIns="27432" bIns="27432">
            <a:spAutoFit/>
          </a:bodyPr>
          <a:lstStyle/>
          <a:p>
            <a:pPr algn="l">
              <a:lnSpc>
                <a:spcPct val="115000"/>
              </a:lnSpc>
              <a:spcAft>
                <a:spcPts val="400"/>
              </a:spcAft>
            </a:pPr>
            <a:r>
              <a:rPr sz="1400" b="0" i="1">
                <a:solidFill>
                  <a:srgbClr val="3E2A5C"/>
                </a:solidFill>
                <a:latin typeface="Playfair Display"/>
              </a:rPr>
              <a:t>«Después de la cremación, muchas familias se preguntan dónde dejar las cenizas. En nuestro Jardín 1, su ser querido descansa bajo una tapa de granito con su nombre, rodeado de plantas y con un banco para sentarse a recordar. Es un lugar para volver, con la dignidad que merece.»</a:t>
            </a:r>
          </a:p>
        </p:txBody>
      </p:sp>
      <p:sp>
        <p:nvSpPr>
          <p:cNvPr id="10" name="Rectangle 9"/>
          <p:cNvSpPr/>
          <p:nvPr/>
        </p:nvSpPr>
        <p:spPr>
          <a:xfrm>
            <a:off x="7406639" y="1600200"/>
            <a:ext cx="434340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06639" y="1600200"/>
            <a:ext cx="4343400"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79" y="1737360"/>
            <a:ext cx="41148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PREGUNTAS DE DESCUBRIMIENTO</a:t>
            </a:r>
          </a:p>
        </p:txBody>
      </p:sp>
      <p:sp>
        <p:nvSpPr>
          <p:cNvPr id="13" name="TextBox 12"/>
          <p:cNvSpPr txBox="1"/>
          <p:nvPr/>
        </p:nvSpPr>
        <p:spPr>
          <a:xfrm>
            <a:off x="7498079" y="2103120"/>
            <a:ext cx="4114800" cy="1691640"/>
          </a:xfrm>
          <a:prstGeom prst="rect">
            <a:avLst/>
          </a:prstGeom>
          <a:noFill/>
        </p:spPr>
        <p:txBody>
          <a:bodyPr wrap="square" anchor="t" lIns="45720" rIns="45720" tIns="27432" bIns="27432">
            <a:spAutoFit/>
          </a:bodyPr>
          <a:lstStyle/>
          <a:p>
            <a:pPr algn="l">
              <a:lnSpc>
                <a:spcPct val="115000"/>
              </a:lnSpc>
              <a:spcAft>
                <a:spcPts val="500"/>
              </a:spcAft>
            </a:pPr>
            <a:r>
              <a:rPr sz="900" b="1" i="0">
                <a:solidFill>
                  <a:srgbClr val="C9A86A"/>
                </a:solidFill>
                <a:latin typeface="Montserrat"/>
              </a:rPr>
              <a:t>?  </a:t>
            </a:r>
            <a:r>
              <a:rPr sz="1200" b="0" i="0">
                <a:solidFill>
                  <a:srgbClr val="2E2A36"/>
                </a:solidFill>
                <a:latin typeface="Montserrat"/>
              </a:rPr>
              <a:t>¿Dónde le gustaría poder visitar a su ser querido?</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¿Tienen hoy las cenizas en casa o en un columbario temporal?</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¿Quién más de la familia participaría en las visitas?</a:t>
            </a:r>
          </a:p>
        </p:txBody>
      </p:sp>
      <p:sp>
        <p:nvSpPr>
          <p:cNvPr id="14" name="Rectangle 13"/>
          <p:cNvSpPr/>
          <p:nvPr/>
        </p:nvSpPr>
        <p:spPr>
          <a:xfrm>
            <a:off x="548640" y="4023360"/>
            <a:ext cx="3566160" cy="224028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4023360"/>
            <a:ext cx="356616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Frase de cierre</a:t>
            </a:r>
          </a:p>
        </p:txBody>
      </p:sp>
      <p:sp>
        <p:nvSpPr>
          <p:cNvPr id="17" name="TextBox 16"/>
          <p:cNvSpPr txBox="1"/>
          <p:nvPr/>
        </p:nvSpPr>
        <p:spPr>
          <a:xfrm>
            <a:off x="73152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«¿Le gustaría conocer el jardín esta semana para elegir el lugar con calma?»</a:t>
            </a:r>
          </a:p>
        </p:txBody>
      </p:sp>
      <p:sp>
        <p:nvSpPr>
          <p:cNvPr id="18" name="Rectangle 17"/>
          <p:cNvSpPr/>
          <p:nvPr/>
        </p:nvSpPr>
        <p:spPr>
          <a:xfrm>
            <a:off x="4297680" y="4023360"/>
            <a:ext cx="3566160" cy="22402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97680" y="4023360"/>
            <a:ext cx="356616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8056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Objeción típica</a:t>
            </a:r>
          </a:p>
        </p:txBody>
      </p:sp>
      <p:sp>
        <p:nvSpPr>
          <p:cNvPr id="21" name="TextBox 20"/>
          <p:cNvSpPr txBox="1"/>
          <p:nvPr/>
        </p:nvSpPr>
        <p:spPr>
          <a:xfrm>
            <a:off x="448056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«Prefiero tener las cenizas en casa.» → «Es comprensible querer tenerlas cerca. En el jardín, toda la familia puede visitarlas, y las cenizas quedan protegidas si algún día hay mudanzas o cambios en el hogar.»</a:t>
            </a:r>
          </a:p>
        </p:txBody>
      </p:sp>
      <p:sp>
        <p:nvSpPr>
          <p:cNvPr id="22" name="Rectangle 21"/>
          <p:cNvSpPr/>
          <p:nvPr/>
        </p:nvSpPr>
        <p:spPr>
          <a:xfrm>
            <a:off x="8046720" y="4023360"/>
            <a:ext cx="3566160" cy="22402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046720" y="4023360"/>
            <a:ext cx="3566160" cy="54864"/>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Tip del asesor</a:t>
            </a:r>
          </a:p>
        </p:txBody>
      </p:sp>
      <p:sp>
        <p:nvSpPr>
          <p:cNvPr id="25" name="TextBox 24"/>
          <p:cNvSpPr txBox="1"/>
          <p:nvPr/>
        </p:nvSpPr>
        <p:spPr>
          <a:xfrm>
            <a:off x="822960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El jardín vende solo: priorice siempre la visita.</a:t>
            </a:r>
          </a:p>
        </p:txBody>
      </p:sp>
      <p:sp>
        <p:nvSpPr>
          <p:cNvPr id="26" name="TextBox 2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7" name="TextBox 2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50876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508760"/>
            <a:ext cx="12191695"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77724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JARDÍN 1 · PARCELA FAMILIAR</a:t>
            </a:r>
          </a:p>
        </p:txBody>
      </p:sp>
      <p:sp>
        <p:nvSpPr>
          <p:cNvPr id="5" name="TextBox 4"/>
          <p:cNvSpPr txBox="1"/>
          <p:nvPr/>
        </p:nvSpPr>
        <p:spPr>
          <a:xfrm>
            <a:off x="548640" y="548640"/>
            <a:ext cx="7772400" cy="82296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FFFFFF"/>
                </a:solidFill>
                <a:latin typeface="Playfair Display"/>
              </a:rPr>
              <a:t>Jardín de Cenizas · Familiar</a:t>
            </a:r>
          </a:p>
        </p:txBody>
      </p:sp>
      <p:sp>
        <p:nvSpPr>
          <p:cNvPr id="6" name="TextBox 5"/>
          <p:cNvSpPr txBox="1"/>
          <p:nvPr/>
        </p:nvSpPr>
        <p:spPr>
          <a:xfrm>
            <a:off x="8046720" y="256032"/>
            <a:ext cx="3611880" cy="320040"/>
          </a:xfrm>
          <a:prstGeom prst="rect">
            <a:avLst/>
          </a:prstGeom>
          <a:noFill/>
        </p:spPr>
        <p:txBody>
          <a:bodyPr wrap="square" anchor="t" lIns="45720" rIns="45720" tIns="27432" bIns="27432">
            <a:spAutoFit/>
          </a:bodyPr>
          <a:lstStyle/>
          <a:p>
            <a:pPr algn="r">
              <a:lnSpc>
                <a:spcPct val="115000"/>
              </a:lnSpc>
              <a:spcAft>
                <a:spcPts val="400"/>
              </a:spcAft>
            </a:pPr>
            <a:r>
              <a:rPr sz="1100" b="1" i="0">
                <a:solidFill>
                  <a:srgbClr val="C9A86A"/>
                </a:solidFill>
                <a:latin typeface="Montserrat"/>
              </a:rPr>
              <a:t>PRECIO SUGERIDO</a:t>
            </a:r>
          </a:p>
        </p:txBody>
      </p:sp>
      <p:sp>
        <p:nvSpPr>
          <p:cNvPr id="7" name="TextBox 6"/>
          <p:cNvSpPr txBox="1"/>
          <p:nvPr/>
        </p:nvSpPr>
        <p:spPr>
          <a:xfrm>
            <a:off x="8046720" y="548640"/>
            <a:ext cx="3611880" cy="822960"/>
          </a:xfrm>
          <a:prstGeom prst="rect">
            <a:avLst/>
          </a:prstGeom>
          <a:noFill/>
        </p:spPr>
        <p:txBody>
          <a:bodyPr wrap="square" anchor="ctr" lIns="45720" rIns="45720" tIns="27432" bIns="27432">
            <a:spAutoFit/>
          </a:bodyPr>
          <a:lstStyle/>
          <a:p>
            <a:pPr algn="r">
              <a:lnSpc>
                <a:spcPct val="115000"/>
              </a:lnSpc>
              <a:spcAft>
                <a:spcPts val="400"/>
              </a:spcAft>
            </a:pPr>
            <a:r>
              <a:rPr sz="3200" b="1" i="0">
                <a:solidFill>
                  <a:srgbClr val="FFFFFF"/>
                </a:solidFill>
                <a:latin typeface="Montserrat"/>
              </a:rPr>
              <a:t>US$ 2.000</a:t>
            </a:r>
          </a:p>
        </p:txBody>
      </p:sp>
      <p:sp>
        <p:nvSpPr>
          <p:cNvPr id="8" name="TextBox 7"/>
          <p:cNvSpPr txBox="1"/>
          <p:nvPr/>
        </p:nvSpPr>
        <p:spPr>
          <a:xfrm>
            <a:off x="548640" y="1691640"/>
            <a:ext cx="11094415" cy="36576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Lanzamiento (−20%): US$ 1.600 · Pago único o financiado · Mantenimiento US$ 24/año</a:t>
            </a:r>
          </a:p>
        </p:txBody>
      </p:sp>
      <p:sp>
        <p:nvSpPr>
          <p:cNvPr id="9" name="TextBox 8"/>
          <p:cNvSpPr txBox="1"/>
          <p:nvPr/>
        </p:nvSpPr>
        <p:spPr>
          <a:xfrm>
            <a:off x="548640" y="2148840"/>
            <a:ext cx="11094415" cy="1005840"/>
          </a:xfrm>
          <a:prstGeom prst="rect">
            <a:avLst/>
          </a:prstGeom>
          <a:noFill/>
        </p:spPr>
        <p:txBody>
          <a:bodyPr wrap="square" anchor="t" lIns="45720" rIns="45720" tIns="27432" bIns="27432">
            <a:spAutoFit/>
          </a:bodyPr>
          <a:lstStyle/>
          <a:p>
            <a:pPr algn="l">
              <a:lnSpc>
                <a:spcPct val="115000"/>
              </a:lnSpc>
              <a:spcAft>
                <a:spcPts val="600"/>
              </a:spcAft>
            </a:pPr>
            <a:r>
              <a:rPr sz="1400" b="1" i="0">
                <a:solidFill>
                  <a:srgbClr val="5B3F80"/>
                </a:solidFill>
                <a:latin typeface="Montserrat"/>
              </a:rPr>
              <a:t>Qué es.  </a:t>
            </a:r>
            <a:r>
              <a:rPr sz="1400" b="0" i="0">
                <a:solidFill>
                  <a:srgbClr val="2E2A36"/>
                </a:solidFill>
                <a:latin typeface="Montserrat"/>
              </a:rPr>
              <a:t>Parcela familiar en el Jardín 1 con cuatro contenedores agrupados, cada uno con tapa de granito grabada. Permanencia de 30 años desde la primera inhumación, renovable.</a:t>
            </a:r>
          </a:p>
          <a:p>
            <a:pPr algn="l">
              <a:lnSpc>
                <a:spcPct val="115000"/>
              </a:lnSpc>
              <a:spcAft>
                <a:spcPts val="600"/>
              </a:spcAft>
            </a:pPr>
            <a:r>
              <a:rPr sz="1400" b="1" i="0">
                <a:solidFill>
                  <a:srgbClr val="5B3F80"/>
                </a:solidFill>
                <a:latin typeface="Montserrat"/>
              </a:rPr>
              <a:t>Para quién.  </a:t>
            </a:r>
            <a:r>
              <a:rPr sz="1400" b="0" i="0">
                <a:solidFill>
                  <a:srgbClr val="2E2A36"/>
                </a:solidFill>
                <a:latin typeface="Montserrat"/>
              </a:rPr>
              <a:t>Familias que buscan un espacio propio para varias generaciones.</a:t>
            </a:r>
          </a:p>
        </p:txBody>
      </p:sp>
      <p:sp>
        <p:nvSpPr>
          <p:cNvPr id="10" name="Rectangle 9"/>
          <p:cNvSpPr/>
          <p:nvPr/>
        </p:nvSpPr>
        <p:spPr>
          <a:xfrm>
            <a:off x="54864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337560"/>
            <a:ext cx="544068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INCLUYE</a:t>
            </a:r>
          </a:p>
        </p:txBody>
      </p:sp>
      <p:sp>
        <p:nvSpPr>
          <p:cNvPr id="13" name="TextBox 12"/>
          <p:cNvSpPr txBox="1"/>
          <p:nvPr/>
        </p:nvSpPr>
        <p:spPr>
          <a:xfrm>
            <a:off x="73152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5E9A3C"/>
                </a:solidFill>
                <a:latin typeface="Montserrat"/>
              </a:rPr>
              <a:t>✓  </a:t>
            </a:r>
            <a:r>
              <a:rPr sz="1250" b="0" i="0">
                <a:solidFill>
                  <a:srgbClr val="2E2A36"/>
                </a:solidFill>
                <a:latin typeface="Montserrat"/>
              </a:rPr>
              <a:t>Inhumación de hasta 4 urnas</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Tapa de granito grabada para cada espacio</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Ubicación en el Jardín 1, con paisajismo de plantas de sombra</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Lugar de homenaje familiar por 30 años, renovable por igual período</a:t>
            </a:r>
          </a:p>
        </p:txBody>
      </p:sp>
      <p:sp>
        <p:nvSpPr>
          <p:cNvPr id="14" name="Rectangle 13"/>
          <p:cNvSpPr/>
          <p:nvPr/>
        </p:nvSpPr>
        <p:spPr>
          <a:xfrm>
            <a:off x="621792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3337560"/>
            <a:ext cx="544068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REGLAS DEL PRODUCTO</a:t>
            </a:r>
          </a:p>
        </p:txBody>
      </p:sp>
      <p:sp>
        <p:nvSpPr>
          <p:cNvPr id="17" name="TextBox 16"/>
          <p:cNvSpPr txBox="1"/>
          <p:nvPr/>
        </p:nvSpPr>
        <p:spPr>
          <a:xfrm>
            <a:off x="640080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Capacidad: hasta 4 espacios.</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Permanencia: 30 años desde la primera inhumación, renovable por igual período.</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Cuota de mantenimiento anual: US$ 24 por parcela.</a:t>
            </a:r>
          </a:p>
        </p:txBody>
      </p:sp>
      <p:sp>
        <p:nvSpPr>
          <p:cNvPr id="18" name="TextBox 17"/>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9" name="TextBox 18"/>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04 · JARDÍN FAMILIAR</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Cómo presentarlo</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00200"/>
            <a:ext cx="667512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00200"/>
            <a:ext cx="73152" cy="224028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691640"/>
            <a:ext cx="621792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SPEECH SUGERIDO</a:t>
            </a:r>
          </a:p>
        </p:txBody>
      </p:sp>
      <p:sp>
        <p:nvSpPr>
          <p:cNvPr id="9" name="TextBox 8"/>
          <p:cNvSpPr txBox="1"/>
          <p:nvPr/>
        </p:nvSpPr>
        <p:spPr>
          <a:xfrm>
            <a:off x="822960" y="2011680"/>
            <a:ext cx="6263640" cy="1783080"/>
          </a:xfrm>
          <a:prstGeom prst="rect">
            <a:avLst/>
          </a:prstGeom>
          <a:noFill/>
        </p:spPr>
        <p:txBody>
          <a:bodyPr wrap="square" anchor="t" lIns="45720" rIns="45720" tIns="27432" bIns="27432">
            <a:spAutoFit/>
          </a:bodyPr>
          <a:lstStyle/>
          <a:p>
            <a:pPr algn="l">
              <a:lnSpc>
                <a:spcPct val="115000"/>
              </a:lnSpc>
              <a:spcAft>
                <a:spcPts val="400"/>
              </a:spcAft>
            </a:pPr>
            <a:r>
              <a:rPr sz="1400" b="0" i="1">
                <a:solidFill>
                  <a:srgbClr val="3E2A5C"/>
                </a:solidFill>
                <a:latin typeface="Playfair Display"/>
              </a:rPr>
              <a:t>«Así como una familia comparte una casa, también puede compartir un lugar de memoria. La parcela familiar reúne hasta cuatro seres queridos en un mismo espacio, por 30 años renovables, y cuesta US$ 500 por espacio (US$ 400 con el precio de lanzamiento), menos que comprarlos por separado.»</a:t>
            </a:r>
          </a:p>
        </p:txBody>
      </p:sp>
      <p:sp>
        <p:nvSpPr>
          <p:cNvPr id="10" name="Rectangle 9"/>
          <p:cNvSpPr/>
          <p:nvPr/>
        </p:nvSpPr>
        <p:spPr>
          <a:xfrm>
            <a:off x="7406639" y="1600200"/>
            <a:ext cx="434340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06639" y="1600200"/>
            <a:ext cx="4343400"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79" y="1737360"/>
            <a:ext cx="41148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PREGUNTAS DE DESCUBRIMIENTO</a:t>
            </a:r>
          </a:p>
        </p:txBody>
      </p:sp>
      <p:sp>
        <p:nvSpPr>
          <p:cNvPr id="13" name="TextBox 12"/>
          <p:cNvSpPr txBox="1"/>
          <p:nvPr/>
        </p:nvSpPr>
        <p:spPr>
          <a:xfrm>
            <a:off x="7498079" y="2103120"/>
            <a:ext cx="4114800" cy="1691640"/>
          </a:xfrm>
          <a:prstGeom prst="rect">
            <a:avLst/>
          </a:prstGeom>
          <a:noFill/>
        </p:spPr>
        <p:txBody>
          <a:bodyPr wrap="square" anchor="t" lIns="45720" rIns="45720" tIns="27432" bIns="27432">
            <a:spAutoFit/>
          </a:bodyPr>
          <a:lstStyle/>
          <a:p>
            <a:pPr algn="l">
              <a:lnSpc>
                <a:spcPct val="115000"/>
              </a:lnSpc>
              <a:spcAft>
                <a:spcPts val="500"/>
              </a:spcAft>
            </a:pPr>
            <a:r>
              <a:rPr sz="900" b="1" i="0">
                <a:solidFill>
                  <a:srgbClr val="C9A86A"/>
                </a:solidFill>
                <a:latin typeface="Montserrat"/>
              </a:rPr>
              <a:t>?  </a:t>
            </a:r>
            <a:r>
              <a:rPr sz="1200" b="0" i="0">
                <a:solidFill>
                  <a:srgbClr val="2E2A36"/>
                </a:solidFill>
                <a:latin typeface="Montserrat"/>
              </a:rPr>
              <a:t>¿Les gustaría que la familia esté reunida en un mismo lugar?</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¿Cuántas personas de la familia considerarían este destino?</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¿Prefieren pagarlo de una vez o en cuotas?</a:t>
            </a:r>
          </a:p>
        </p:txBody>
      </p:sp>
      <p:sp>
        <p:nvSpPr>
          <p:cNvPr id="14" name="Rectangle 13"/>
          <p:cNvSpPr/>
          <p:nvPr/>
        </p:nvSpPr>
        <p:spPr>
          <a:xfrm>
            <a:off x="548640" y="4023360"/>
            <a:ext cx="3566160" cy="224028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4023360"/>
            <a:ext cx="356616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Frase de cierre</a:t>
            </a:r>
          </a:p>
        </p:txBody>
      </p:sp>
      <p:sp>
        <p:nvSpPr>
          <p:cNvPr id="17" name="TextBox 16"/>
          <p:cNvSpPr txBox="1"/>
          <p:nvPr/>
        </p:nvSpPr>
        <p:spPr>
          <a:xfrm>
            <a:off x="73152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«¿Reservamos hoy la parcela para su familia y la pagan en cuotas cómodas?»</a:t>
            </a:r>
          </a:p>
        </p:txBody>
      </p:sp>
      <p:sp>
        <p:nvSpPr>
          <p:cNvPr id="18" name="Rectangle 17"/>
          <p:cNvSpPr/>
          <p:nvPr/>
        </p:nvSpPr>
        <p:spPr>
          <a:xfrm>
            <a:off x="4297680" y="4023360"/>
            <a:ext cx="3566160" cy="22402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97680" y="4023360"/>
            <a:ext cx="356616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8056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Objeción típica</a:t>
            </a:r>
          </a:p>
        </p:txBody>
      </p:sp>
      <p:sp>
        <p:nvSpPr>
          <p:cNvPr id="21" name="TextBox 20"/>
          <p:cNvSpPr txBox="1"/>
          <p:nvPr/>
        </p:nvSpPr>
        <p:spPr>
          <a:xfrm>
            <a:off x="448056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«Es mucho dinero.» → «Son US$ 500 por cada espacio, con financiamiento. Y es una decisión que se toma una sola vez para toda la familia.»</a:t>
            </a:r>
          </a:p>
        </p:txBody>
      </p:sp>
      <p:sp>
        <p:nvSpPr>
          <p:cNvPr id="22" name="Rectangle 21"/>
          <p:cNvSpPr/>
          <p:nvPr/>
        </p:nvSpPr>
        <p:spPr>
          <a:xfrm>
            <a:off x="8046720" y="4023360"/>
            <a:ext cx="3566160" cy="22402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046720" y="4023360"/>
            <a:ext cx="3566160" cy="54864"/>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Tip del asesor</a:t>
            </a:r>
          </a:p>
        </p:txBody>
      </p:sp>
      <p:sp>
        <p:nvSpPr>
          <p:cNvPr id="25" name="TextBox 24"/>
          <p:cNvSpPr txBox="1"/>
          <p:nvPr/>
        </p:nvSpPr>
        <p:spPr>
          <a:xfrm>
            <a:off x="822960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Use el argumento por espacio (US$ 500) y no el total.</a:t>
            </a:r>
          </a:p>
        </p:txBody>
      </p:sp>
      <p:sp>
        <p:nvSpPr>
          <p:cNvPr id="26" name="TextBox 2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7" name="TextBox 2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50876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508760"/>
            <a:ext cx="12191695"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77724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JARDÍN 2 · BOSQUE DE LAS ORQUÍDEAS</a:t>
            </a:r>
          </a:p>
        </p:txBody>
      </p:sp>
      <p:sp>
        <p:nvSpPr>
          <p:cNvPr id="5" name="TextBox 4"/>
          <p:cNvSpPr txBox="1"/>
          <p:nvPr/>
        </p:nvSpPr>
        <p:spPr>
          <a:xfrm>
            <a:off x="548640" y="548640"/>
            <a:ext cx="7772400" cy="82296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FFFFFF"/>
                </a:solidFill>
                <a:latin typeface="Playfair Display"/>
              </a:rPr>
              <a:t>Jardín de Cenizas · Ecológico</a:t>
            </a:r>
          </a:p>
        </p:txBody>
      </p:sp>
      <p:sp>
        <p:nvSpPr>
          <p:cNvPr id="6" name="TextBox 5"/>
          <p:cNvSpPr txBox="1"/>
          <p:nvPr/>
        </p:nvSpPr>
        <p:spPr>
          <a:xfrm>
            <a:off x="8046720" y="256032"/>
            <a:ext cx="3611880" cy="320040"/>
          </a:xfrm>
          <a:prstGeom prst="rect">
            <a:avLst/>
          </a:prstGeom>
          <a:noFill/>
        </p:spPr>
        <p:txBody>
          <a:bodyPr wrap="square" anchor="t" lIns="45720" rIns="45720" tIns="27432" bIns="27432">
            <a:spAutoFit/>
          </a:bodyPr>
          <a:lstStyle/>
          <a:p>
            <a:pPr algn="r">
              <a:lnSpc>
                <a:spcPct val="115000"/>
              </a:lnSpc>
              <a:spcAft>
                <a:spcPts val="400"/>
              </a:spcAft>
            </a:pPr>
            <a:r>
              <a:rPr sz="1100" b="1" i="0">
                <a:solidFill>
                  <a:srgbClr val="C9A86A"/>
                </a:solidFill>
                <a:latin typeface="Montserrat"/>
              </a:rPr>
              <a:t>PRECIO SUGERIDO</a:t>
            </a:r>
          </a:p>
        </p:txBody>
      </p:sp>
      <p:sp>
        <p:nvSpPr>
          <p:cNvPr id="7" name="TextBox 6"/>
          <p:cNvSpPr txBox="1"/>
          <p:nvPr/>
        </p:nvSpPr>
        <p:spPr>
          <a:xfrm>
            <a:off x="8046720" y="548640"/>
            <a:ext cx="3611880" cy="822960"/>
          </a:xfrm>
          <a:prstGeom prst="rect">
            <a:avLst/>
          </a:prstGeom>
          <a:noFill/>
        </p:spPr>
        <p:txBody>
          <a:bodyPr wrap="square" anchor="ctr" lIns="45720" rIns="45720" tIns="27432" bIns="27432">
            <a:spAutoFit/>
          </a:bodyPr>
          <a:lstStyle/>
          <a:p>
            <a:pPr algn="r">
              <a:lnSpc>
                <a:spcPct val="115000"/>
              </a:lnSpc>
              <a:spcAft>
                <a:spcPts val="400"/>
              </a:spcAft>
            </a:pPr>
            <a:r>
              <a:rPr sz="3200" b="1" i="0">
                <a:solidFill>
                  <a:srgbClr val="FFFFFF"/>
                </a:solidFill>
                <a:latin typeface="Montserrat"/>
              </a:rPr>
              <a:t>US$ 750</a:t>
            </a:r>
          </a:p>
        </p:txBody>
      </p:sp>
      <p:sp>
        <p:nvSpPr>
          <p:cNvPr id="8" name="TextBox 7"/>
          <p:cNvSpPr txBox="1"/>
          <p:nvPr/>
        </p:nvSpPr>
        <p:spPr>
          <a:xfrm>
            <a:off x="548640" y="1691640"/>
            <a:ext cx="11094415" cy="36576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Lanzamiento (−20%): US$ 600 · Pago único o financiado · Placa memorial incluida</a:t>
            </a:r>
          </a:p>
        </p:txBody>
      </p:sp>
      <p:sp>
        <p:nvSpPr>
          <p:cNvPr id="9" name="TextBox 8"/>
          <p:cNvSpPr txBox="1"/>
          <p:nvPr/>
        </p:nvSpPr>
        <p:spPr>
          <a:xfrm>
            <a:off x="548640" y="2148840"/>
            <a:ext cx="11094415" cy="1005840"/>
          </a:xfrm>
          <a:prstGeom prst="rect">
            <a:avLst/>
          </a:prstGeom>
          <a:noFill/>
        </p:spPr>
        <p:txBody>
          <a:bodyPr wrap="square" anchor="t" lIns="45720" rIns="45720" tIns="27432" bIns="27432">
            <a:spAutoFit/>
          </a:bodyPr>
          <a:lstStyle/>
          <a:p>
            <a:pPr algn="l">
              <a:lnSpc>
                <a:spcPct val="115000"/>
              </a:lnSpc>
              <a:spcAft>
                <a:spcPts val="600"/>
              </a:spcAft>
            </a:pPr>
            <a:r>
              <a:rPr sz="1400" b="1" i="0">
                <a:solidFill>
                  <a:srgbClr val="5B3F80"/>
                </a:solidFill>
                <a:latin typeface="Montserrat"/>
              </a:rPr>
              <a:t>Qué es.  </a:t>
            </a:r>
            <a:r>
              <a:rPr sz="1400" b="0" i="0">
                <a:solidFill>
                  <a:srgbClr val="2E2A36"/>
                </a:solidFill>
                <a:latin typeface="Montserrat"/>
              </a:rPr>
              <a:t>La urna biodegradable se entierra directamente en el suelo y se integra a la naturaleza. Jardín con agua corriente, en el Jardín 2 o en el Bosque de las Orquídeas.</a:t>
            </a:r>
          </a:p>
          <a:p>
            <a:pPr algn="l">
              <a:lnSpc>
                <a:spcPct val="115000"/>
              </a:lnSpc>
              <a:spcAft>
                <a:spcPts val="600"/>
              </a:spcAft>
            </a:pPr>
            <a:r>
              <a:rPr sz="1400" b="1" i="0">
                <a:solidFill>
                  <a:srgbClr val="5B3F80"/>
                </a:solidFill>
                <a:latin typeface="Montserrat"/>
              </a:rPr>
              <a:t>Para quién.  </a:t>
            </a:r>
            <a:r>
              <a:rPr sz="1400" b="0" i="0">
                <a:solidFill>
                  <a:srgbClr val="2E2A36"/>
                </a:solidFill>
                <a:latin typeface="Montserrat"/>
              </a:rPr>
              <a:t>Personas con conciencia ambiental que desean que sus cenizas vuelvan a la tierra.</a:t>
            </a:r>
          </a:p>
        </p:txBody>
      </p:sp>
      <p:sp>
        <p:nvSpPr>
          <p:cNvPr id="10" name="Rectangle 9"/>
          <p:cNvSpPr/>
          <p:nvPr/>
        </p:nvSpPr>
        <p:spPr>
          <a:xfrm>
            <a:off x="54864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337560"/>
            <a:ext cx="544068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INCLUYE</a:t>
            </a:r>
          </a:p>
        </p:txBody>
      </p:sp>
      <p:sp>
        <p:nvSpPr>
          <p:cNvPr id="13" name="TextBox 12"/>
          <p:cNvSpPr txBox="1"/>
          <p:nvPr/>
        </p:nvSpPr>
        <p:spPr>
          <a:xfrm>
            <a:off x="73152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5E9A3C"/>
                </a:solidFill>
                <a:latin typeface="Montserrat"/>
              </a:rPr>
              <a:t>✓  </a:t>
            </a:r>
            <a:r>
              <a:rPr sz="1250" b="0" i="0">
                <a:solidFill>
                  <a:srgbClr val="2E2A36"/>
                </a:solidFill>
                <a:latin typeface="Montserrat"/>
              </a:rPr>
              <a:t>Inhumación ecológica con urna biodegradable</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Placa de identificación (madera en el Jardín 2 · mármol en el Bosque)</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Entorno natural con agua corriente</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Permanencia de 3 años; luego, nombre en la placa memorial del monumento (incluida)</a:t>
            </a:r>
          </a:p>
        </p:txBody>
      </p:sp>
      <p:sp>
        <p:nvSpPr>
          <p:cNvPr id="14" name="Rectangle 13"/>
          <p:cNvSpPr/>
          <p:nvPr/>
        </p:nvSpPr>
        <p:spPr>
          <a:xfrm>
            <a:off x="621792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3337560"/>
            <a:ext cx="544068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REGLAS DEL PRODUCTO</a:t>
            </a:r>
          </a:p>
        </p:txBody>
      </p:sp>
      <p:sp>
        <p:nvSpPr>
          <p:cNvPr id="17" name="TextBox 16"/>
          <p:cNvSpPr txBox="1"/>
          <p:nvPr/>
        </p:nvSpPr>
        <p:spPr>
          <a:xfrm>
            <a:off x="640080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Capacidad: 1 urna. Espacio de 30 × 30 cm, 40 cm de profundidad.</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Permanencia: 3 años. Después, el espacio se reutiliza.</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Placa memorial en el monumento: incluida en el precio de US$ 750.</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Explique el plazo de 3 años con total transparencia desde la primera conversación.</a:t>
            </a:r>
          </a:p>
        </p:txBody>
      </p:sp>
      <p:sp>
        <p:nvSpPr>
          <p:cNvPr id="18" name="TextBox 17"/>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9" name="TextBox 18"/>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04 · JARDÍN ECOLÓGICO</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Cómo presentarlo</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00200"/>
            <a:ext cx="667512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00200"/>
            <a:ext cx="73152" cy="224028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691640"/>
            <a:ext cx="621792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SPEECH SUGERIDO</a:t>
            </a:r>
          </a:p>
        </p:txBody>
      </p:sp>
      <p:sp>
        <p:nvSpPr>
          <p:cNvPr id="9" name="TextBox 8"/>
          <p:cNvSpPr txBox="1"/>
          <p:nvPr/>
        </p:nvSpPr>
        <p:spPr>
          <a:xfrm>
            <a:off x="822960" y="2011680"/>
            <a:ext cx="6263640" cy="1783080"/>
          </a:xfrm>
          <a:prstGeom prst="rect">
            <a:avLst/>
          </a:prstGeom>
          <a:noFill/>
        </p:spPr>
        <p:txBody>
          <a:bodyPr wrap="square" anchor="t" lIns="45720" rIns="45720" tIns="27432" bIns="27432">
            <a:spAutoFit/>
          </a:bodyPr>
          <a:lstStyle/>
          <a:p>
            <a:pPr algn="l">
              <a:lnSpc>
                <a:spcPct val="115000"/>
              </a:lnSpc>
              <a:spcAft>
                <a:spcPts val="400"/>
              </a:spcAft>
            </a:pPr>
            <a:r>
              <a:rPr sz="1400" b="0" i="1">
                <a:solidFill>
                  <a:srgbClr val="3E2A5C"/>
                </a:solidFill>
                <a:latin typeface="Playfair Display"/>
              </a:rPr>
              <a:t>«Para quienes aman la naturaleza, el Jardín Ecológico es volver a la tierra. La urna se integra al suelo del bosque, junto al agua, y durante tres años la familia tiene un lugar señalado para visitar. Después, el nombre queda para siempre en el monumento memorial del jardín.»</a:t>
            </a:r>
          </a:p>
        </p:txBody>
      </p:sp>
      <p:sp>
        <p:nvSpPr>
          <p:cNvPr id="10" name="Rectangle 9"/>
          <p:cNvSpPr/>
          <p:nvPr/>
        </p:nvSpPr>
        <p:spPr>
          <a:xfrm>
            <a:off x="7406639" y="1600200"/>
            <a:ext cx="434340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06639" y="1600200"/>
            <a:ext cx="4343400"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79" y="1737360"/>
            <a:ext cx="41148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PREGUNTAS DE DESCUBRIMIENTO</a:t>
            </a:r>
          </a:p>
        </p:txBody>
      </p:sp>
      <p:sp>
        <p:nvSpPr>
          <p:cNvPr id="13" name="TextBox 12"/>
          <p:cNvSpPr txBox="1"/>
          <p:nvPr/>
        </p:nvSpPr>
        <p:spPr>
          <a:xfrm>
            <a:off x="7498079" y="2103120"/>
            <a:ext cx="4114800" cy="1691640"/>
          </a:xfrm>
          <a:prstGeom prst="rect">
            <a:avLst/>
          </a:prstGeom>
          <a:noFill/>
        </p:spPr>
        <p:txBody>
          <a:bodyPr wrap="square" anchor="t" lIns="45720" rIns="45720" tIns="27432" bIns="27432">
            <a:spAutoFit/>
          </a:bodyPr>
          <a:lstStyle/>
          <a:p>
            <a:pPr algn="l">
              <a:lnSpc>
                <a:spcPct val="115000"/>
              </a:lnSpc>
              <a:spcAft>
                <a:spcPts val="500"/>
              </a:spcAft>
            </a:pPr>
            <a:r>
              <a:rPr sz="900" b="1" i="0">
                <a:solidFill>
                  <a:srgbClr val="C9A86A"/>
                </a:solidFill>
                <a:latin typeface="Montserrat"/>
              </a:rPr>
              <a:t>?  </a:t>
            </a:r>
            <a:r>
              <a:rPr sz="1200" b="0" i="0">
                <a:solidFill>
                  <a:srgbClr val="2E2A36"/>
                </a:solidFill>
                <a:latin typeface="Montserrat"/>
              </a:rPr>
              <a:t>¿Su ser querido tenía un vínculo especial con la naturaleza?</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¿Qué significa para ustedes «volver a la tierra»?</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¿Es importante para la familia un lugar con nombre para siempre?</a:t>
            </a:r>
          </a:p>
        </p:txBody>
      </p:sp>
      <p:sp>
        <p:nvSpPr>
          <p:cNvPr id="14" name="Rectangle 13"/>
          <p:cNvSpPr/>
          <p:nvPr/>
        </p:nvSpPr>
        <p:spPr>
          <a:xfrm>
            <a:off x="548640" y="4023360"/>
            <a:ext cx="3566160" cy="224028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4023360"/>
            <a:ext cx="356616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Frase de cierre</a:t>
            </a:r>
          </a:p>
        </p:txBody>
      </p:sp>
      <p:sp>
        <p:nvSpPr>
          <p:cNvPr id="17" name="TextBox 16"/>
          <p:cNvSpPr txBox="1"/>
          <p:nvPr/>
        </p:nvSpPr>
        <p:spPr>
          <a:xfrm>
            <a:off x="73152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«¿Le parece si visitamos el Bosque de las Orquídeas y elegimos juntos el lugar?»</a:t>
            </a:r>
          </a:p>
        </p:txBody>
      </p:sp>
      <p:sp>
        <p:nvSpPr>
          <p:cNvPr id="18" name="Rectangle 17"/>
          <p:cNvSpPr/>
          <p:nvPr/>
        </p:nvSpPr>
        <p:spPr>
          <a:xfrm>
            <a:off x="4297680" y="4023360"/>
            <a:ext cx="3566160" cy="22402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97680" y="4023360"/>
            <a:ext cx="356616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8056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Objeción típica</a:t>
            </a:r>
          </a:p>
        </p:txBody>
      </p:sp>
      <p:sp>
        <p:nvSpPr>
          <p:cNvPr id="21" name="TextBox 20"/>
          <p:cNvSpPr txBox="1"/>
          <p:nvPr/>
        </p:nvSpPr>
        <p:spPr>
          <a:xfrm>
            <a:off x="448056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«¿Y después de 3 años?» → «La urna ya se habrá integrado a la tierra, como era el deseo. El nombre pasa a la placa memorial del monumento, que queda para siempre en el jardín.»</a:t>
            </a:r>
          </a:p>
        </p:txBody>
      </p:sp>
      <p:sp>
        <p:nvSpPr>
          <p:cNvPr id="22" name="Rectangle 21"/>
          <p:cNvSpPr/>
          <p:nvPr/>
        </p:nvSpPr>
        <p:spPr>
          <a:xfrm>
            <a:off x="8046720" y="4023360"/>
            <a:ext cx="3566160" cy="22402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046720" y="4023360"/>
            <a:ext cx="3566160" cy="54864"/>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Tip del asesor</a:t>
            </a:r>
          </a:p>
        </p:txBody>
      </p:sp>
      <p:sp>
        <p:nvSpPr>
          <p:cNvPr id="25" name="TextBox 24"/>
          <p:cNvSpPr txBox="1"/>
          <p:nvPr/>
        </p:nvSpPr>
        <p:spPr>
          <a:xfrm>
            <a:off x="822960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Para familias católicas, enfatice que las cenizas reposan en el cementerio, un lugar dedicado a la memoria.</a:t>
            </a:r>
          </a:p>
        </p:txBody>
      </p:sp>
      <p:sp>
        <p:nvSpPr>
          <p:cNvPr id="26" name="TextBox 2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7" name="TextBox 2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04 · JARDÍN ECOLÓGICO Y DE MASCOTAS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Cómo explicar el ciclo de 3 años</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6_ciclo_ecologico.png"/>
          <p:cNvPicPr>
            <a:picLocks noChangeAspect="1"/>
          </p:cNvPicPr>
          <p:nvPr/>
        </p:nvPicPr>
        <p:blipFill>
          <a:blip r:embed="rId2"/>
          <a:stretch>
            <a:fillRect/>
          </a:stretch>
        </p:blipFill>
        <p:spPr>
          <a:xfrm>
            <a:off x="548640" y="2591345"/>
            <a:ext cx="11094415" cy="2681150"/>
          </a:xfrm>
          <a:prstGeom prst="rect">
            <a:avLst/>
          </a:prstGeom>
        </p:spPr>
      </p:pic>
      <p:sp>
        <p:nvSpPr>
          <p:cNvPr id="7" name="TextBox 6"/>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8" name="TextBox 7"/>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50876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508760"/>
            <a:ext cx="12191695"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77724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MASCOTAS · INHUMACIÓN ECOLÓGICA</a:t>
            </a:r>
          </a:p>
        </p:txBody>
      </p:sp>
      <p:sp>
        <p:nvSpPr>
          <p:cNvPr id="5" name="TextBox 4"/>
          <p:cNvSpPr txBox="1"/>
          <p:nvPr/>
        </p:nvSpPr>
        <p:spPr>
          <a:xfrm>
            <a:off x="548640" y="548640"/>
            <a:ext cx="7772400" cy="82296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FFFFFF"/>
                </a:solidFill>
                <a:latin typeface="Playfair Display"/>
              </a:rPr>
              <a:t>Jardín de Mascotas</a:t>
            </a:r>
          </a:p>
        </p:txBody>
      </p:sp>
      <p:sp>
        <p:nvSpPr>
          <p:cNvPr id="6" name="TextBox 5"/>
          <p:cNvSpPr txBox="1"/>
          <p:nvPr/>
        </p:nvSpPr>
        <p:spPr>
          <a:xfrm>
            <a:off x="8046720" y="256032"/>
            <a:ext cx="3611880" cy="320040"/>
          </a:xfrm>
          <a:prstGeom prst="rect">
            <a:avLst/>
          </a:prstGeom>
          <a:noFill/>
        </p:spPr>
        <p:txBody>
          <a:bodyPr wrap="square" anchor="t" lIns="45720" rIns="45720" tIns="27432" bIns="27432">
            <a:spAutoFit/>
          </a:bodyPr>
          <a:lstStyle/>
          <a:p>
            <a:pPr algn="r">
              <a:lnSpc>
                <a:spcPct val="115000"/>
              </a:lnSpc>
              <a:spcAft>
                <a:spcPts val="400"/>
              </a:spcAft>
            </a:pPr>
            <a:r>
              <a:rPr sz="1100" b="1" i="0">
                <a:solidFill>
                  <a:srgbClr val="C9A86A"/>
                </a:solidFill>
                <a:latin typeface="Montserrat"/>
              </a:rPr>
              <a:t>PRECIO SUGERIDO</a:t>
            </a:r>
          </a:p>
        </p:txBody>
      </p:sp>
      <p:sp>
        <p:nvSpPr>
          <p:cNvPr id="7" name="TextBox 6"/>
          <p:cNvSpPr txBox="1"/>
          <p:nvPr/>
        </p:nvSpPr>
        <p:spPr>
          <a:xfrm>
            <a:off x="8046720" y="548640"/>
            <a:ext cx="3611880" cy="822960"/>
          </a:xfrm>
          <a:prstGeom prst="rect">
            <a:avLst/>
          </a:prstGeom>
          <a:noFill/>
        </p:spPr>
        <p:txBody>
          <a:bodyPr wrap="square" anchor="ctr" lIns="45720" rIns="45720" tIns="27432" bIns="27432">
            <a:spAutoFit/>
          </a:bodyPr>
          <a:lstStyle/>
          <a:p>
            <a:pPr algn="r">
              <a:lnSpc>
                <a:spcPct val="115000"/>
              </a:lnSpc>
              <a:spcAft>
                <a:spcPts val="400"/>
              </a:spcAft>
            </a:pPr>
            <a:r>
              <a:rPr sz="2400" b="1" i="0">
                <a:solidFill>
                  <a:srgbClr val="FFFFFF"/>
                </a:solidFill>
                <a:latin typeface="Montserrat"/>
              </a:rPr>
              <a:t>US$ 400 / US$ 550</a:t>
            </a:r>
          </a:p>
        </p:txBody>
      </p:sp>
      <p:sp>
        <p:nvSpPr>
          <p:cNvPr id="8" name="TextBox 7"/>
          <p:cNvSpPr txBox="1"/>
          <p:nvPr/>
        </p:nvSpPr>
        <p:spPr>
          <a:xfrm>
            <a:off x="548640" y="1691640"/>
            <a:ext cx="11094415" cy="36576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Lanzamiento (−20%): US$ 320 / US$ 440 · US$ 400 solo espacio · US$ 550 con cremación</a:t>
            </a:r>
          </a:p>
        </p:txBody>
      </p:sp>
      <p:sp>
        <p:nvSpPr>
          <p:cNvPr id="9" name="TextBox 8"/>
          <p:cNvSpPr txBox="1"/>
          <p:nvPr/>
        </p:nvSpPr>
        <p:spPr>
          <a:xfrm>
            <a:off x="548640" y="2148840"/>
            <a:ext cx="11094415" cy="1005840"/>
          </a:xfrm>
          <a:prstGeom prst="rect">
            <a:avLst/>
          </a:prstGeom>
          <a:noFill/>
        </p:spPr>
        <p:txBody>
          <a:bodyPr wrap="square" anchor="t" lIns="45720" rIns="45720" tIns="27432" bIns="27432">
            <a:spAutoFit/>
          </a:bodyPr>
          <a:lstStyle/>
          <a:p>
            <a:pPr algn="l">
              <a:lnSpc>
                <a:spcPct val="115000"/>
              </a:lnSpc>
              <a:spcAft>
                <a:spcPts val="600"/>
              </a:spcAft>
            </a:pPr>
            <a:r>
              <a:rPr sz="1400" b="1" i="0">
                <a:solidFill>
                  <a:srgbClr val="5B3F80"/>
                </a:solidFill>
                <a:latin typeface="Montserrat"/>
              </a:rPr>
              <a:t>Qué es.  </a:t>
            </a:r>
            <a:r>
              <a:rPr sz="1400" b="0" i="0">
                <a:solidFill>
                  <a:srgbClr val="2E2A36"/>
                </a:solidFill>
                <a:latin typeface="Montserrat"/>
              </a:rPr>
              <a:t>Inhumación ecológica de las cenizas de la mascota: la urna biodegradable se entierra en el jardín y se identifica con una placa de madera. La opción de US$ 550 incluye también la cremación de la mascota.</a:t>
            </a:r>
          </a:p>
          <a:p>
            <a:pPr algn="l">
              <a:lnSpc>
                <a:spcPct val="115000"/>
              </a:lnSpc>
              <a:spcAft>
                <a:spcPts val="600"/>
              </a:spcAft>
            </a:pPr>
            <a:r>
              <a:rPr sz="1400" b="1" i="0">
                <a:solidFill>
                  <a:srgbClr val="5B3F80"/>
                </a:solidFill>
                <a:latin typeface="Montserrat"/>
              </a:rPr>
              <a:t>Para quién.  </a:t>
            </a:r>
            <a:r>
              <a:rPr sz="1400" b="0" i="0">
                <a:solidFill>
                  <a:srgbClr val="2E2A36"/>
                </a:solidFill>
                <a:latin typeface="Montserrat"/>
              </a:rPr>
              <a:t>Familias que consideran a su mascota parte del hogar y desean un cierre digno.</a:t>
            </a:r>
          </a:p>
        </p:txBody>
      </p:sp>
      <p:sp>
        <p:nvSpPr>
          <p:cNvPr id="10" name="Rectangle 9"/>
          <p:cNvSpPr/>
          <p:nvPr/>
        </p:nvSpPr>
        <p:spPr>
          <a:xfrm>
            <a:off x="54864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337560"/>
            <a:ext cx="544068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INCLUYE</a:t>
            </a:r>
          </a:p>
        </p:txBody>
      </p:sp>
      <p:sp>
        <p:nvSpPr>
          <p:cNvPr id="13" name="TextBox 12"/>
          <p:cNvSpPr txBox="1"/>
          <p:nvPr/>
        </p:nvSpPr>
        <p:spPr>
          <a:xfrm>
            <a:off x="73152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5E9A3C"/>
                </a:solidFill>
                <a:latin typeface="Montserrat"/>
              </a:rPr>
              <a:t>✓  </a:t>
            </a:r>
            <a:r>
              <a:rPr sz="1250" b="0" i="0">
                <a:solidFill>
                  <a:srgbClr val="2E2A36"/>
                </a:solidFill>
                <a:latin typeface="Montserrat"/>
              </a:rPr>
              <a:t>Inhumación ecológica en el jardín de mascotas; cremación y urna biodegradable en la opción de US$ 550</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Placa de madera de 20 cm para identificación</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Permanencia de 3 años</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Placa memorial en el monumento al término del plazo (incluida)</a:t>
            </a:r>
          </a:p>
        </p:txBody>
      </p:sp>
      <p:sp>
        <p:nvSpPr>
          <p:cNvPr id="14" name="Rectangle 13"/>
          <p:cNvSpPr/>
          <p:nvPr/>
        </p:nvSpPr>
        <p:spPr>
          <a:xfrm>
            <a:off x="621792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3337560"/>
            <a:ext cx="544068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REGLAS DEL PRODUCTO</a:t>
            </a:r>
          </a:p>
        </p:txBody>
      </p:sp>
      <p:sp>
        <p:nvSpPr>
          <p:cNvPr id="17" name="TextBox 16"/>
          <p:cNvSpPr txBox="1"/>
          <p:nvPr/>
        </p:nvSpPr>
        <p:spPr>
          <a:xfrm>
            <a:off x="640080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Capacidad: 1 mascota por servicio.</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Permanencia: 3 años. Después, el espacio se reutiliza.</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Placa memorial incluida. Urna biodegradable incluida solo con cremación (US$ 550); con solo espacio (US$ 400) se compra aparte.</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Pago único; puede contratarse como adicional al plan funerario.</a:t>
            </a:r>
          </a:p>
        </p:txBody>
      </p:sp>
      <p:sp>
        <p:nvSpPr>
          <p:cNvPr id="18" name="TextBox 17"/>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9" name="TextBox 18"/>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04 · JARDÍN DE MASCOTAS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Cómo presentarlo</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00200"/>
            <a:ext cx="667512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00200"/>
            <a:ext cx="73152" cy="224028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691640"/>
            <a:ext cx="621792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SPEECH SUGERIDO</a:t>
            </a:r>
          </a:p>
        </p:txBody>
      </p:sp>
      <p:sp>
        <p:nvSpPr>
          <p:cNvPr id="9" name="TextBox 8"/>
          <p:cNvSpPr txBox="1"/>
          <p:nvPr/>
        </p:nvSpPr>
        <p:spPr>
          <a:xfrm>
            <a:off x="822960" y="2011680"/>
            <a:ext cx="6263640" cy="1783080"/>
          </a:xfrm>
          <a:prstGeom prst="rect">
            <a:avLst/>
          </a:prstGeom>
          <a:noFill/>
        </p:spPr>
        <p:txBody>
          <a:bodyPr wrap="square" anchor="t" lIns="45720" rIns="45720" tIns="27432" bIns="27432">
            <a:spAutoFit/>
          </a:bodyPr>
          <a:lstStyle/>
          <a:p>
            <a:pPr algn="l">
              <a:lnSpc>
                <a:spcPct val="115000"/>
              </a:lnSpc>
              <a:spcAft>
                <a:spcPts val="400"/>
              </a:spcAft>
            </a:pPr>
            <a:r>
              <a:rPr sz="1400" b="0" i="1">
                <a:solidFill>
                  <a:srgbClr val="3E2A5C"/>
                </a:solidFill>
                <a:latin typeface="Playfair Display"/>
              </a:rPr>
              <a:t>«Su compañero fue parte de la familia, y merece una despedida a la altura. En nuestro Jardín de Mascotas descansa con su nombre, en un lugar verde donde ustedes pueden volver a recordarlo. Y con la placa memorial, su nombre queda para siempre en el monumento del jardín.»</a:t>
            </a:r>
          </a:p>
        </p:txBody>
      </p:sp>
      <p:sp>
        <p:nvSpPr>
          <p:cNvPr id="10" name="Rectangle 9"/>
          <p:cNvSpPr/>
          <p:nvPr/>
        </p:nvSpPr>
        <p:spPr>
          <a:xfrm>
            <a:off x="7406639" y="1600200"/>
            <a:ext cx="434340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06639" y="1600200"/>
            <a:ext cx="4343400"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79" y="1737360"/>
            <a:ext cx="41148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PREGUNTAS DE DESCUBRIMIENTO</a:t>
            </a:r>
          </a:p>
        </p:txBody>
      </p:sp>
      <p:sp>
        <p:nvSpPr>
          <p:cNvPr id="13" name="TextBox 12"/>
          <p:cNvSpPr txBox="1"/>
          <p:nvPr/>
        </p:nvSpPr>
        <p:spPr>
          <a:xfrm>
            <a:off x="7498079" y="2103120"/>
            <a:ext cx="4114800" cy="1691640"/>
          </a:xfrm>
          <a:prstGeom prst="rect">
            <a:avLst/>
          </a:prstGeom>
          <a:noFill/>
        </p:spPr>
        <p:txBody>
          <a:bodyPr wrap="square" anchor="t" lIns="45720" rIns="45720" tIns="27432" bIns="27432">
            <a:spAutoFit/>
          </a:bodyPr>
          <a:lstStyle/>
          <a:p>
            <a:pPr algn="l">
              <a:lnSpc>
                <a:spcPct val="115000"/>
              </a:lnSpc>
              <a:spcAft>
                <a:spcPts val="500"/>
              </a:spcAft>
            </a:pPr>
            <a:r>
              <a:rPr sz="900" b="1" i="0">
                <a:solidFill>
                  <a:srgbClr val="C9A86A"/>
                </a:solidFill>
                <a:latin typeface="Montserrat"/>
              </a:rPr>
              <a:t>?  </a:t>
            </a:r>
            <a:r>
              <a:rPr sz="1200" b="0" i="0">
                <a:solidFill>
                  <a:srgbClr val="2E2A36"/>
                </a:solidFill>
                <a:latin typeface="Montserrat"/>
              </a:rPr>
              <a:t>¿Cómo se llamaba su compañero?</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¿Ya se realizó la cremación o necesitan también ese servicio?</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¿Les gustaría un lugar para visitarlo con los niños?</a:t>
            </a:r>
          </a:p>
        </p:txBody>
      </p:sp>
      <p:sp>
        <p:nvSpPr>
          <p:cNvPr id="14" name="Rectangle 13"/>
          <p:cNvSpPr/>
          <p:nvPr/>
        </p:nvSpPr>
        <p:spPr>
          <a:xfrm>
            <a:off x="548640" y="4023360"/>
            <a:ext cx="3566160" cy="224028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4023360"/>
            <a:ext cx="356616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Frase de cierre</a:t>
            </a:r>
          </a:p>
        </p:txBody>
      </p:sp>
      <p:sp>
        <p:nvSpPr>
          <p:cNvPr id="17" name="TextBox 16"/>
          <p:cNvSpPr txBox="1"/>
          <p:nvPr/>
        </p:nvSpPr>
        <p:spPr>
          <a:xfrm>
            <a:off x="73152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«¿Prefieren la opción con cremación incluida, para resolver todo en un solo paso?»</a:t>
            </a:r>
          </a:p>
        </p:txBody>
      </p:sp>
      <p:sp>
        <p:nvSpPr>
          <p:cNvPr id="18" name="Rectangle 17"/>
          <p:cNvSpPr/>
          <p:nvPr/>
        </p:nvSpPr>
        <p:spPr>
          <a:xfrm>
            <a:off x="4297680" y="4023360"/>
            <a:ext cx="3566160" cy="22402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97680" y="4023360"/>
            <a:ext cx="356616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8056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Objeción típica</a:t>
            </a:r>
          </a:p>
        </p:txBody>
      </p:sp>
      <p:sp>
        <p:nvSpPr>
          <p:cNvPr id="21" name="TextBox 20"/>
          <p:cNvSpPr txBox="1"/>
          <p:nvPr/>
        </p:nvSpPr>
        <p:spPr>
          <a:xfrm>
            <a:off x="448056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«Es solo una mascota.» → No discuta el vínculo de la familia. Si el cliente minimiza, respete y ofrezca la información por escrito para que decida con calma.</a:t>
            </a:r>
          </a:p>
        </p:txBody>
      </p:sp>
      <p:sp>
        <p:nvSpPr>
          <p:cNvPr id="22" name="Rectangle 21"/>
          <p:cNvSpPr/>
          <p:nvPr/>
        </p:nvSpPr>
        <p:spPr>
          <a:xfrm>
            <a:off x="8046720" y="4023360"/>
            <a:ext cx="3566160" cy="22402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046720" y="4023360"/>
            <a:ext cx="3566160" cy="54864"/>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Tip del asesor</a:t>
            </a:r>
          </a:p>
        </p:txBody>
      </p:sp>
      <p:sp>
        <p:nvSpPr>
          <p:cNvPr id="25" name="TextBox 24"/>
          <p:cNvSpPr txBox="1"/>
          <p:nvPr/>
        </p:nvSpPr>
        <p:spPr>
          <a:xfrm>
            <a:off x="822960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Llame a la mascota por su nombre durante toda la conversación.</a:t>
            </a:r>
          </a:p>
        </p:txBody>
      </p:sp>
      <p:sp>
        <p:nvSpPr>
          <p:cNvPr id="26" name="TextBox 2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7" name="TextBox 2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508760"/>
          </a:xfrm>
          <a:prstGeom prst="rect">
            <a:avLst/>
          </a:prstGeom>
          <a:solidFill>
            <a:srgbClr val="8E87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508760"/>
            <a:ext cx="12191695"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77724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JARDÍN 3 · PRÓXIMO LANZAMIENTO</a:t>
            </a:r>
          </a:p>
        </p:txBody>
      </p:sp>
      <p:sp>
        <p:nvSpPr>
          <p:cNvPr id="5" name="TextBox 4"/>
          <p:cNvSpPr txBox="1"/>
          <p:nvPr/>
        </p:nvSpPr>
        <p:spPr>
          <a:xfrm>
            <a:off x="548640" y="548640"/>
            <a:ext cx="7772400" cy="82296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FFFFFF"/>
                </a:solidFill>
                <a:latin typeface="Playfair Display"/>
              </a:rPr>
              <a:t>Jardín de Cenizas · Ceremonial</a:t>
            </a:r>
          </a:p>
        </p:txBody>
      </p:sp>
      <p:sp>
        <p:nvSpPr>
          <p:cNvPr id="6" name="TextBox 5"/>
          <p:cNvSpPr txBox="1"/>
          <p:nvPr/>
        </p:nvSpPr>
        <p:spPr>
          <a:xfrm>
            <a:off x="8046720" y="256032"/>
            <a:ext cx="3611880" cy="320040"/>
          </a:xfrm>
          <a:prstGeom prst="rect">
            <a:avLst/>
          </a:prstGeom>
          <a:noFill/>
        </p:spPr>
        <p:txBody>
          <a:bodyPr wrap="square" anchor="t" lIns="45720" rIns="45720" tIns="27432" bIns="27432">
            <a:spAutoFit/>
          </a:bodyPr>
          <a:lstStyle/>
          <a:p>
            <a:pPr algn="r">
              <a:lnSpc>
                <a:spcPct val="115000"/>
              </a:lnSpc>
              <a:spcAft>
                <a:spcPts val="400"/>
              </a:spcAft>
            </a:pPr>
            <a:r>
              <a:rPr sz="1100" b="1" i="0">
                <a:solidFill>
                  <a:srgbClr val="C9A86A"/>
                </a:solidFill>
                <a:latin typeface="Montserrat"/>
              </a:rPr>
              <a:t>PRÓXIMO LANZAMIENTO</a:t>
            </a:r>
          </a:p>
        </p:txBody>
      </p:sp>
      <p:sp>
        <p:nvSpPr>
          <p:cNvPr id="7" name="TextBox 6"/>
          <p:cNvSpPr txBox="1"/>
          <p:nvPr/>
        </p:nvSpPr>
        <p:spPr>
          <a:xfrm>
            <a:off x="8046720" y="548640"/>
            <a:ext cx="3611880" cy="822960"/>
          </a:xfrm>
          <a:prstGeom prst="rect">
            <a:avLst/>
          </a:prstGeom>
          <a:noFill/>
        </p:spPr>
        <p:txBody>
          <a:bodyPr wrap="square" anchor="ctr" lIns="45720" rIns="45720" tIns="27432" bIns="27432">
            <a:spAutoFit/>
          </a:bodyPr>
          <a:lstStyle/>
          <a:p>
            <a:pPr algn="r">
              <a:lnSpc>
                <a:spcPct val="115000"/>
              </a:lnSpc>
              <a:spcAft>
                <a:spcPts val="400"/>
              </a:spcAft>
            </a:pPr>
            <a:r>
              <a:rPr sz="3200" b="1" i="0">
                <a:solidFill>
                  <a:srgbClr val="FFFFFF"/>
                </a:solidFill>
                <a:latin typeface="Montserrat"/>
              </a:rPr>
              <a:t>A definir</a:t>
            </a:r>
          </a:p>
        </p:txBody>
      </p:sp>
      <p:sp>
        <p:nvSpPr>
          <p:cNvPr id="8" name="TextBox 7"/>
          <p:cNvSpPr txBox="1"/>
          <p:nvPr/>
        </p:nvSpPr>
        <p:spPr>
          <a:xfrm>
            <a:off x="548640" y="1691640"/>
            <a:ext cx="11094415" cy="36576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A definir</a:t>
            </a:r>
          </a:p>
        </p:txBody>
      </p:sp>
      <p:sp>
        <p:nvSpPr>
          <p:cNvPr id="9" name="TextBox 8"/>
          <p:cNvSpPr txBox="1"/>
          <p:nvPr/>
        </p:nvSpPr>
        <p:spPr>
          <a:xfrm>
            <a:off x="548640" y="2148840"/>
            <a:ext cx="11094415" cy="1005840"/>
          </a:xfrm>
          <a:prstGeom prst="rect">
            <a:avLst/>
          </a:prstGeom>
          <a:noFill/>
        </p:spPr>
        <p:txBody>
          <a:bodyPr wrap="square" anchor="t" lIns="45720" rIns="45720" tIns="27432" bIns="27432">
            <a:spAutoFit/>
          </a:bodyPr>
          <a:lstStyle/>
          <a:p>
            <a:pPr algn="l">
              <a:lnSpc>
                <a:spcPct val="115000"/>
              </a:lnSpc>
              <a:spcAft>
                <a:spcPts val="600"/>
              </a:spcAft>
            </a:pPr>
            <a:r>
              <a:rPr sz="1400" b="1" i="0">
                <a:solidFill>
                  <a:srgbClr val="5B3F80"/>
                </a:solidFill>
                <a:latin typeface="Montserrat"/>
              </a:rPr>
              <a:t>Qué es.  </a:t>
            </a:r>
            <a:r>
              <a:rPr sz="1400" b="0" i="0">
                <a:solidFill>
                  <a:srgbClr val="2E2A36"/>
                </a:solidFill>
                <a:latin typeface="Montserrat"/>
              </a:rPr>
              <a:t>Jardín para inhumación de urnas con ceremonia de agua, con fuentes como elemento central del rito de despedida.</a:t>
            </a:r>
          </a:p>
          <a:p>
            <a:pPr algn="l">
              <a:lnSpc>
                <a:spcPct val="115000"/>
              </a:lnSpc>
              <a:spcAft>
                <a:spcPts val="600"/>
              </a:spcAft>
            </a:pPr>
            <a:r>
              <a:rPr sz="1400" b="1" i="0">
                <a:solidFill>
                  <a:srgbClr val="5B3F80"/>
                </a:solidFill>
                <a:latin typeface="Montserrat"/>
              </a:rPr>
              <a:t>Para quién.  </a:t>
            </a:r>
            <a:r>
              <a:rPr sz="1400" b="0" i="0">
                <a:solidFill>
                  <a:srgbClr val="2E2A36"/>
                </a:solidFill>
                <a:latin typeface="Montserrat"/>
              </a:rPr>
              <a:t>Familias que valoran un rito de despedida simbólico y un entorno contemplativo.</a:t>
            </a:r>
          </a:p>
        </p:txBody>
      </p:sp>
      <p:sp>
        <p:nvSpPr>
          <p:cNvPr id="10" name="Rectangle 9"/>
          <p:cNvSpPr/>
          <p:nvPr/>
        </p:nvSpPr>
        <p:spPr>
          <a:xfrm>
            <a:off x="54864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337560"/>
            <a:ext cx="544068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INCLUYE</a:t>
            </a:r>
          </a:p>
        </p:txBody>
      </p:sp>
      <p:sp>
        <p:nvSpPr>
          <p:cNvPr id="13" name="TextBox 12"/>
          <p:cNvSpPr txBox="1"/>
          <p:nvPr/>
        </p:nvSpPr>
        <p:spPr>
          <a:xfrm>
            <a:off x="73152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5E9A3C"/>
                </a:solidFill>
                <a:latin typeface="Montserrat"/>
              </a:rPr>
              <a:t>✓  </a:t>
            </a:r>
            <a:r>
              <a:rPr sz="1250" b="0" i="0">
                <a:solidFill>
                  <a:srgbClr val="2E2A36"/>
                </a:solidFill>
                <a:latin typeface="Montserrat"/>
              </a:rPr>
              <a:t>Inhumación de urnas de cenizas</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Ceremonia con agua en fuente</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Barrera visual que separa el jardín del crematorio</a:t>
            </a:r>
          </a:p>
        </p:txBody>
      </p:sp>
      <p:sp>
        <p:nvSpPr>
          <p:cNvPr id="14" name="Rectangle 13"/>
          <p:cNvSpPr/>
          <p:nvPr/>
        </p:nvSpPr>
        <p:spPr>
          <a:xfrm>
            <a:off x="621792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3337560"/>
            <a:ext cx="544068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REGLAS DEL PRODUCTO</a:t>
            </a:r>
          </a:p>
        </p:txBody>
      </p:sp>
      <p:sp>
        <p:nvSpPr>
          <p:cNvPr id="17" name="TextBox 16"/>
          <p:cNvSpPr txBox="1"/>
          <p:nvPr/>
        </p:nvSpPr>
        <p:spPr>
          <a:xfrm>
            <a:off x="640080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C9A86A"/>
                </a:solidFill>
                <a:latin typeface="Montserrat"/>
              </a:rPr>
              <a:t>■  </a:t>
            </a:r>
            <a:r>
              <a:rPr sz="1250" b="0" i="0">
                <a:solidFill>
                  <a:srgbClr val="2E2A36"/>
                </a:solidFill>
                <a:latin typeface="Montserrat"/>
              </a:rPr>
              <a:t>PRÓXIMO LANZAMIENTO: no se vende ni se cotiza todavía.</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Si un cliente muestra interés, registre su contacto como «interesado Ceremonial».</a:t>
            </a:r>
          </a:p>
        </p:txBody>
      </p:sp>
      <p:sp>
        <p:nvSpPr>
          <p:cNvPr id="18" name="TextBox 17"/>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9" name="TextBox 18"/>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TextBox 1"/>
          <p:cNvSpPr txBox="1"/>
          <p:nvPr/>
        </p:nvSpPr>
        <p:spPr>
          <a:xfrm>
            <a:off x="914400" y="1417320"/>
            <a:ext cx="3200400" cy="1920240"/>
          </a:xfrm>
          <a:prstGeom prst="rect">
            <a:avLst/>
          </a:prstGeom>
          <a:noFill/>
        </p:spPr>
        <p:txBody>
          <a:bodyPr wrap="square" anchor="t" lIns="45720" rIns="45720" tIns="27432" bIns="27432">
            <a:spAutoFit/>
          </a:bodyPr>
          <a:lstStyle/>
          <a:p>
            <a:pPr algn="l">
              <a:lnSpc>
                <a:spcPct val="115000"/>
              </a:lnSpc>
              <a:spcAft>
                <a:spcPts val="400"/>
              </a:spcAft>
            </a:pPr>
            <a:r>
              <a:rPr sz="11000" b="1" i="0">
                <a:solidFill>
                  <a:srgbClr val="C9A86A"/>
                </a:solidFill>
                <a:latin typeface="Playfair Display"/>
              </a:rPr>
              <a:t>05</a:t>
            </a:r>
          </a:p>
        </p:txBody>
      </p:sp>
      <p:sp>
        <p:nvSpPr>
          <p:cNvPr id="3" name="TextBox 2"/>
          <p:cNvSpPr txBox="1"/>
          <p:nvPr/>
        </p:nvSpPr>
        <p:spPr>
          <a:xfrm>
            <a:off x="914400" y="3429000"/>
            <a:ext cx="10515600" cy="914400"/>
          </a:xfrm>
          <a:prstGeom prst="rect">
            <a:avLst/>
          </a:prstGeom>
          <a:noFill/>
        </p:spPr>
        <p:txBody>
          <a:bodyPr wrap="square" anchor="t" lIns="45720" rIns="45720" tIns="27432" bIns="27432">
            <a:spAutoFit/>
          </a:bodyPr>
          <a:lstStyle/>
          <a:p>
            <a:pPr algn="l">
              <a:lnSpc>
                <a:spcPct val="115000"/>
              </a:lnSpc>
              <a:spcAft>
                <a:spcPts val="400"/>
              </a:spcAft>
            </a:pPr>
            <a:r>
              <a:rPr sz="4000" b="1" i="0">
                <a:solidFill>
                  <a:srgbClr val="FFFFFF"/>
                </a:solidFill>
                <a:latin typeface="Playfair Display"/>
              </a:rPr>
              <a:t>Manejo de objeciones</a:t>
            </a:r>
          </a:p>
        </p:txBody>
      </p:sp>
      <p:sp>
        <p:nvSpPr>
          <p:cNvPr id="4" name="Rectangle 3"/>
          <p:cNvSpPr/>
          <p:nvPr/>
        </p:nvSpPr>
        <p:spPr>
          <a:xfrm>
            <a:off x="960120" y="443484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617720"/>
            <a:ext cx="10058400" cy="73152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D9CFE6"/>
                </a:solidFill>
                <a:latin typeface="Montserrat"/>
              </a:rPr>
              <a:t>Una objeción no es un «no»: es una duda que aún no resolvimos.</a:t>
            </a:r>
          </a:p>
        </p:txBody>
      </p:sp>
      <p:sp>
        <p:nvSpPr>
          <p:cNvPr id="6" name="TextBox 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D9CFE6"/>
                </a:solidFill>
                <a:latin typeface="Montserrat"/>
              </a:rPr>
              <a:t>Playbook Comercial  ·  La Auxiliadora · Hogar de las Memorias · Las Colinas · Vangrupo</a:t>
            </a:r>
          </a:p>
        </p:txBody>
      </p:sp>
      <p:sp>
        <p:nvSpPr>
          <p:cNvPr id="7" name="TextBox 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D9CFE6"/>
                </a:solidFill>
                <a:latin typeface="Montserrat"/>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05 · MANEJO DE OBJECIONES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El método V·R·A</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4_objeciones.png"/>
          <p:cNvPicPr>
            <a:picLocks noChangeAspect="1"/>
          </p:cNvPicPr>
          <p:nvPr/>
        </p:nvPicPr>
        <p:blipFill>
          <a:blip r:embed="rId2"/>
          <a:stretch>
            <a:fillRect/>
          </a:stretch>
        </p:blipFill>
        <p:spPr>
          <a:xfrm>
            <a:off x="548640" y="2230199"/>
            <a:ext cx="11094415" cy="3403442"/>
          </a:xfrm>
          <a:prstGeom prst="rect">
            <a:avLst/>
          </a:prstGeom>
        </p:spPr>
      </p:pic>
      <p:sp>
        <p:nvSpPr>
          <p:cNvPr id="7" name="TextBox 6"/>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8" name="TextBox 7"/>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05 · MANEJO DE OBJECIONES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Objeciones frecuentes (1/4)</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45920"/>
            <a:ext cx="11094415" cy="50292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645920"/>
            <a:ext cx="10728655" cy="502920"/>
          </a:xfrm>
          <a:prstGeom prst="rect">
            <a:avLst/>
          </a:prstGeom>
          <a:noFill/>
        </p:spPr>
        <p:txBody>
          <a:bodyPr wrap="square" anchor="ctr" lIns="45720" rIns="45720" tIns="27432" bIns="27432">
            <a:spAutoFit/>
          </a:bodyPr>
          <a:lstStyle/>
          <a:p>
            <a:pPr algn="l">
              <a:lnSpc>
                <a:spcPct val="115000"/>
              </a:lnSpc>
              <a:spcAft>
                <a:spcPts val="400"/>
              </a:spcAft>
            </a:pPr>
            <a:r>
              <a:rPr sz="1500" b="1" i="0">
                <a:solidFill>
                  <a:srgbClr val="FFFFFF"/>
                </a:solidFill>
                <a:latin typeface="Montserrat"/>
              </a:rPr>
              <a:t>1.  «No quiero pensar en eso, es de mala suerte.»</a:t>
            </a:r>
          </a:p>
        </p:txBody>
      </p:sp>
      <p:sp>
        <p:nvSpPr>
          <p:cNvPr id="8" name="Rectangle 7"/>
          <p:cNvSpPr/>
          <p:nvPr/>
        </p:nvSpPr>
        <p:spPr>
          <a:xfrm>
            <a:off x="548640" y="2212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V  </a:t>
            </a:r>
            <a:r>
              <a:rPr sz="1000" b="1" i="0">
                <a:solidFill>
                  <a:srgbClr val="5B3F80"/>
                </a:solidFill>
                <a:latin typeface="Montserrat"/>
              </a:rPr>
              <a:t>VALIDAR</a:t>
            </a:r>
          </a:p>
          <a:p>
            <a:pPr algn="l">
              <a:lnSpc>
                <a:spcPct val="115000"/>
              </a:lnSpc>
              <a:spcAft>
                <a:spcPts val="300"/>
              </a:spcAft>
            </a:pPr>
            <a:r>
              <a:rPr sz="1100" b="0" i="1">
                <a:solidFill>
                  <a:srgbClr val="2E2A36"/>
                </a:solidFill>
                <a:latin typeface="Montserrat"/>
              </a:rPr>
              <a:t>«Entiendo, a nadie le gusta hablar de este tema.»</a:t>
            </a:r>
          </a:p>
        </p:txBody>
      </p:sp>
      <p:sp>
        <p:nvSpPr>
          <p:cNvPr id="10" name="Rectangle 9"/>
          <p:cNvSpPr/>
          <p:nvPr/>
        </p:nvSpPr>
        <p:spPr>
          <a:xfrm>
            <a:off x="4297680" y="2212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3484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R  </a:t>
            </a:r>
            <a:r>
              <a:rPr sz="1000" b="1" i="0">
                <a:solidFill>
                  <a:srgbClr val="5B3F80"/>
                </a:solidFill>
                <a:latin typeface="Montserrat"/>
              </a:rPr>
              <a:t>REPOSICIONAR</a:t>
            </a:r>
          </a:p>
          <a:p>
            <a:pPr algn="l">
              <a:lnSpc>
                <a:spcPct val="115000"/>
              </a:lnSpc>
              <a:spcAft>
                <a:spcPts val="300"/>
              </a:spcAft>
            </a:pPr>
            <a:r>
              <a:rPr sz="1100" b="0" i="0">
                <a:solidFill>
                  <a:srgbClr val="2E2A36"/>
                </a:solidFill>
                <a:latin typeface="Montserrat"/>
              </a:rPr>
              <a:t>Planificar con calma es justamente lo que evita que su familia tenga que decidir en el peor momento. Es un acto de cuidado, no de pesimismo.</a:t>
            </a:r>
          </a:p>
        </p:txBody>
      </p:sp>
      <p:sp>
        <p:nvSpPr>
          <p:cNvPr id="12" name="Rectangle 11"/>
          <p:cNvSpPr/>
          <p:nvPr/>
        </p:nvSpPr>
        <p:spPr>
          <a:xfrm>
            <a:off x="8046720" y="2212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8388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A  </a:t>
            </a:r>
            <a:r>
              <a:rPr sz="1000" b="1" i="0">
                <a:solidFill>
                  <a:srgbClr val="5B3F80"/>
                </a:solidFill>
                <a:latin typeface="Montserrat"/>
              </a:rPr>
              <a:t>AVANZAR</a:t>
            </a:r>
          </a:p>
          <a:p>
            <a:pPr algn="l">
              <a:lnSpc>
                <a:spcPct val="115000"/>
              </a:lnSpc>
              <a:spcAft>
                <a:spcPts val="300"/>
              </a:spcAft>
            </a:pPr>
            <a:r>
              <a:rPr sz="1100" b="0" i="1">
                <a:solidFill>
                  <a:srgbClr val="2E2A36"/>
                </a:solidFill>
                <a:latin typeface="Montserrat"/>
              </a:rPr>
              <a:t>«¿Le dejo la información para que la conversen en casa?»</a:t>
            </a:r>
          </a:p>
        </p:txBody>
      </p:sp>
      <p:sp>
        <p:nvSpPr>
          <p:cNvPr id="14" name="Rectangle 13"/>
          <p:cNvSpPr/>
          <p:nvPr/>
        </p:nvSpPr>
        <p:spPr>
          <a:xfrm>
            <a:off x="548640" y="3931920"/>
            <a:ext cx="11094415" cy="50292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3931920"/>
            <a:ext cx="10728655" cy="502920"/>
          </a:xfrm>
          <a:prstGeom prst="rect">
            <a:avLst/>
          </a:prstGeom>
          <a:noFill/>
        </p:spPr>
        <p:txBody>
          <a:bodyPr wrap="square" anchor="ctr" lIns="45720" rIns="45720" tIns="27432" bIns="27432">
            <a:spAutoFit/>
          </a:bodyPr>
          <a:lstStyle/>
          <a:p>
            <a:pPr algn="l">
              <a:lnSpc>
                <a:spcPct val="115000"/>
              </a:lnSpc>
              <a:spcAft>
                <a:spcPts val="400"/>
              </a:spcAft>
            </a:pPr>
            <a:r>
              <a:rPr sz="1500" b="1" i="0">
                <a:solidFill>
                  <a:srgbClr val="FFFFFF"/>
                </a:solidFill>
                <a:latin typeface="Montserrat"/>
              </a:rPr>
              <a:t>2.  «Soy católico, la cremación no está permitida.»</a:t>
            </a:r>
          </a:p>
        </p:txBody>
      </p:sp>
      <p:sp>
        <p:nvSpPr>
          <p:cNvPr id="16" name="Rectangle 15"/>
          <p:cNvSpPr/>
          <p:nvPr/>
        </p:nvSpPr>
        <p:spPr>
          <a:xfrm>
            <a:off x="548640" y="4498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V  </a:t>
            </a:r>
            <a:r>
              <a:rPr sz="1000" b="1" i="0">
                <a:solidFill>
                  <a:srgbClr val="5B3F80"/>
                </a:solidFill>
                <a:latin typeface="Montserrat"/>
              </a:rPr>
              <a:t>VALIDAR</a:t>
            </a:r>
          </a:p>
          <a:p>
            <a:pPr algn="l">
              <a:lnSpc>
                <a:spcPct val="115000"/>
              </a:lnSpc>
              <a:spcAft>
                <a:spcPts val="300"/>
              </a:spcAft>
            </a:pPr>
            <a:r>
              <a:rPr sz="1100" b="0" i="1">
                <a:solidFill>
                  <a:srgbClr val="2E2A36"/>
                </a:solidFill>
                <a:latin typeface="Montserrat"/>
              </a:rPr>
              <a:t>«Su fe es muy importante y la respetamos.»</a:t>
            </a:r>
          </a:p>
        </p:txBody>
      </p:sp>
      <p:sp>
        <p:nvSpPr>
          <p:cNvPr id="18" name="Rectangle 17"/>
          <p:cNvSpPr/>
          <p:nvPr/>
        </p:nvSpPr>
        <p:spPr>
          <a:xfrm>
            <a:off x="4297680" y="4498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3484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R  </a:t>
            </a:r>
            <a:r>
              <a:rPr sz="1000" b="1" i="0">
                <a:solidFill>
                  <a:srgbClr val="5B3F80"/>
                </a:solidFill>
                <a:latin typeface="Montserrat"/>
              </a:rPr>
              <a:t>REPOSICIONAR</a:t>
            </a:r>
          </a:p>
          <a:p>
            <a:pPr algn="l">
              <a:lnSpc>
                <a:spcPct val="115000"/>
              </a:lnSpc>
              <a:spcAft>
                <a:spcPts val="300"/>
              </a:spcAft>
            </a:pPr>
            <a:r>
              <a:rPr sz="1100" b="0" i="0">
                <a:solidFill>
                  <a:srgbClr val="2E2A36"/>
                </a:solidFill>
                <a:latin typeface="Montserrat"/>
              </a:rPr>
              <a:t>La Iglesia Católica permite la cremación desde 1963. Lo que pide es que las cenizas reposen en un lugar dedicado, como el cementerio, y no en casa ni dispersas. Nuestros jardines cumplen exactamente con eso.</a:t>
            </a:r>
          </a:p>
        </p:txBody>
      </p:sp>
      <p:sp>
        <p:nvSpPr>
          <p:cNvPr id="20" name="Rectangle 19"/>
          <p:cNvSpPr/>
          <p:nvPr/>
        </p:nvSpPr>
        <p:spPr>
          <a:xfrm>
            <a:off x="8046720" y="4498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8388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A  </a:t>
            </a:r>
            <a:r>
              <a:rPr sz="1000" b="1" i="0">
                <a:solidFill>
                  <a:srgbClr val="5B3F80"/>
                </a:solidFill>
                <a:latin typeface="Montserrat"/>
              </a:rPr>
              <a:t>AVANZAR</a:t>
            </a:r>
          </a:p>
          <a:p>
            <a:pPr algn="l">
              <a:lnSpc>
                <a:spcPct val="115000"/>
              </a:lnSpc>
              <a:spcAft>
                <a:spcPts val="300"/>
              </a:spcAft>
            </a:pPr>
            <a:r>
              <a:rPr sz="1100" b="0" i="1">
                <a:solidFill>
                  <a:srgbClr val="2E2A36"/>
                </a:solidFill>
                <a:latin typeface="Montserrat"/>
              </a:rPr>
              <a:t>«¿Le gustaría conocer el jardín y ver cómo es el lugar?»</a:t>
            </a:r>
          </a:p>
        </p:txBody>
      </p:sp>
      <p:sp>
        <p:nvSpPr>
          <p:cNvPr id="22" name="TextBox 21"/>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3" name="TextBox 22"/>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05 · MANEJO DE OBJECIONES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Objeciones frecuentes (2/4)</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45920"/>
            <a:ext cx="11094415" cy="50292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645920"/>
            <a:ext cx="10728655" cy="502920"/>
          </a:xfrm>
          <a:prstGeom prst="rect">
            <a:avLst/>
          </a:prstGeom>
          <a:noFill/>
        </p:spPr>
        <p:txBody>
          <a:bodyPr wrap="square" anchor="ctr" lIns="45720" rIns="45720" tIns="27432" bIns="27432">
            <a:spAutoFit/>
          </a:bodyPr>
          <a:lstStyle/>
          <a:p>
            <a:pPr algn="l">
              <a:lnSpc>
                <a:spcPct val="115000"/>
              </a:lnSpc>
              <a:spcAft>
                <a:spcPts val="400"/>
              </a:spcAft>
            </a:pPr>
            <a:r>
              <a:rPr sz="1500" b="1" i="0">
                <a:solidFill>
                  <a:srgbClr val="FFFFFF"/>
                </a:solidFill>
                <a:latin typeface="Montserrat"/>
              </a:rPr>
              <a:t>3.  «Prefiero la sepultura tradicional.»</a:t>
            </a:r>
          </a:p>
        </p:txBody>
      </p:sp>
      <p:sp>
        <p:nvSpPr>
          <p:cNvPr id="8" name="Rectangle 7"/>
          <p:cNvSpPr/>
          <p:nvPr/>
        </p:nvSpPr>
        <p:spPr>
          <a:xfrm>
            <a:off x="548640" y="2212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V  </a:t>
            </a:r>
            <a:r>
              <a:rPr sz="1000" b="1" i="0">
                <a:solidFill>
                  <a:srgbClr val="5B3F80"/>
                </a:solidFill>
                <a:latin typeface="Montserrat"/>
              </a:rPr>
              <a:t>VALIDAR</a:t>
            </a:r>
          </a:p>
          <a:p>
            <a:pPr algn="l">
              <a:lnSpc>
                <a:spcPct val="115000"/>
              </a:lnSpc>
              <a:spcAft>
                <a:spcPts val="300"/>
              </a:spcAft>
            </a:pPr>
            <a:r>
              <a:rPr sz="1100" b="0" i="1">
                <a:solidFill>
                  <a:srgbClr val="2E2A36"/>
                </a:solidFill>
                <a:latin typeface="Montserrat"/>
              </a:rPr>
              <a:t>«Es una tradición muy valiosa.»</a:t>
            </a:r>
          </a:p>
        </p:txBody>
      </p:sp>
      <p:sp>
        <p:nvSpPr>
          <p:cNvPr id="10" name="Rectangle 9"/>
          <p:cNvSpPr/>
          <p:nvPr/>
        </p:nvSpPr>
        <p:spPr>
          <a:xfrm>
            <a:off x="4297680" y="2212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3484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R  </a:t>
            </a:r>
            <a:r>
              <a:rPr sz="1000" b="1" i="0">
                <a:solidFill>
                  <a:srgbClr val="5B3F80"/>
                </a:solidFill>
                <a:latin typeface="Montserrat"/>
              </a:rPr>
              <a:t>REPOSICIONAR</a:t>
            </a:r>
          </a:p>
          <a:p>
            <a:pPr algn="l">
              <a:lnSpc>
                <a:spcPct val="115000"/>
              </a:lnSpc>
              <a:spcAft>
                <a:spcPts val="300"/>
              </a:spcAft>
            </a:pPr>
            <a:r>
              <a:rPr sz="1100" b="0" i="0">
                <a:solidFill>
                  <a:srgbClr val="2E2A36"/>
                </a:solidFill>
                <a:latin typeface="Montserrat"/>
              </a:rPr>
              <a:t>El jardín conserva lo esencial de la sepultura: un lugar con nombre para visitar, con un costo mucho menor y en un entorno natural.</a:t>
            </a:r>
          </a:p>
        </p:txBody>
      </p:sp>
      <p:sp>
        <p:nvSpPr>
          <p:cNvPr id="12" name="Rectangle 11"/>
          <p:cNvSpPr/>
          <p:nvPr/>
        </p:nvSpPr>
        <p:spPr>
          <a:xfrm>
            <a:off x="8046720" y="2212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8388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A  </a:t>
            </a:r>
            <a:r>
              <a:rPr sz="1000" b="1" i="0">
                <a:solidFill>
                  <a:srgbClr val="5B3F80"/>
                </a:solidFill>
                <a:latin typeface="Montserrat"/>
              </a:rPr>
              <a:t>AVANZAR</a:t>
            </a:r>
          </a:p>
          <a:p>
            <a:pPr algn="l">
              <a:lnSpc>
                <a:spcPct val="115000"/>
              </a:lnSpc>
              <a:spcAft>
                <a:spcPts val="300"/>
              </a:spcAft>
            </a:pPr>
            <a:r>
              <a:rPr sz="1100" b="0" i="1">
                <a:solidFill>
                  <a:srgbClr val="2E2A36"/>
                </a:solidFill>
                <a:latin typeface="Montserrat"/>
              </a:rPr>
              <a:t>«¿Le muestro la diferencia de inversión entre ambas opciones?»</a:t>
            </a:r>
          </a:p>
        </p:txBody>
      </p:sp>
      <p:sp>
        <p:nvSpPr>
          <p:cNvPr id="14" name="Rectangle 13"/>
          <p:cNvSpPr/>
          <p:nvPr/>
        </p:nvSpPr>
        <p:spPr>
          <a:xfrm>
            <a:off x="548640" y="3931920"/>
            <a:ext cx="11094415" cy="50292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3931920"/>
            <a:ext cx="10728655" cy="502920"/>
          </a:xfrm>
          <a:prstGeom prst="rect">
            <a:avLst/>
          </a:prstGeom>
          <a:noFill/>
        </p:spPr>
        <p:txBody>
          <a:bodyPr wrap="square" anchor="ctr" lIns="45720" rIns="45720" tIns="27432" bIns="27432">
            <a:spAutoFit/>
          </a:bodyPr>
          <a:lstStyle/>
          <a:p>
            <a:pPr algn="l">
              <a:lnSpc>
                <a:spcPct val="115000"/>
              </a:lnSpc>
              <a:spcAft>
                <a:spcPts val="400"/>
              </a:spcAft>
            </a:pPr>
            <a:r>
              <a:rPr sz="1500" b="1" i="0">
                <a:solidFill>
                  <a:srgbClr val="FFFFFF"/>
                </a:solidFill>
                <a:latin typeface="Montserrat"/>
              </a:rPr>
              <a:t>4.  «Está caro.»</a:t>
            </a:r>
          </a:p>
        </p:txBody>
      </p:sp>
      <p:sp>
        <p:nvSpPr>
          <p:cNvPr id="16" name="Rectangle 15"/>
          <p:cNvSpPr/>
          <p:nvPr/>
        </p:nvSpPr>
        <p:spPr>
          <a:xfrm>
            <a:off x="548640" y="4498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V  </a:t>
            </a:r>
            <a:r>
              <a:rPr sz="1000" b="1" i="0">
                <a:solidFill>
                  <a:srgbClr val="5B3F80"/>
                </a:solidFill>
                <a:latin typeface="Montserrat"/>
              </a:rPr>
              <a:t>VALIDAR</a:t>
            </a:r>
          </a:p>
          <a:p>
            <a:pPr algn="l">
              <a:lnSpc>
                <a:spcPct val="115000"/>
              </a:lnSpc>
              <a:spcAft>
                <a:spcPts val="300"/>
              </a:spcAft>
            </a:pPr>
            <a:r>
              <a:rPr sz="1100" b="0" i="1">
                <a:solidFill>
                  <a:srgbClr val="2E2A36"/>
                </a:solidFill>
                <a:latin typeface="Montserrat"/>
              </a:rPr>
              <a:t>«Comprendo, es una inversión.»</a:t>
            </a:r>
          </a:p>
        </p:txBody>
      </p:sp>
      <p:sp>
        <p:nvSpPr>
          <p:cNvPr id="18" name="Rectangle 17"/>
          <p:cNvSpPr/>
          <p:nvPr/>
        </p:nvSpPr>
        <p:spPr>
          <a:xfrm>
            <a:off x="4297680" y="4498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3484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R  </a:t>
            </a:r>
            <a:r>
              <a:rPr sz="1000" b="1" i="0">
                <a:solidFill>
                  <a:srgbClr val="5B3F80"/>
                </a:solidFill>
                <a:latin typeface="Montserrat"/>
              </a:rPr>
              <a:t>REPOSICIONAR</a:t>
            </a:r>
          </a:p>
          <a:p>
            <a:pPr algn="l">
              <a:lnSpc>
                <a:spcPct val="115000"/>
              </a:lnSpc>
              <a:spcAft>
                <a:spcPts val="300"/>
              </a:spcAft>
            </a:pPr>
            <a:r>
              <a:rPr sz="1100" b="0" i="0">
                <a:solidFill>
                  <a:srgbClr val="2E2A36"/>
                </a:solidFill>
                <a:latin typeface="Montserrat"/>
              </a:rPr>
              <a:t>En la urgencia los costos son mayores y se pagan de golpe. Hoy fija el precio y lo paga en cuotas: la Solución Modular se paga en hasta 120 meses.</a:t>
            </a:r>
          </a:p>
        </p:txBody>
      </p:sp>
      <p:sp>
        <p:nvSpPr>
          <p:cNvPr id="20" name="Rectangle 19"/>
          <p:cNvSpPr/>
          <p:nvPr/>
        </p:nvSpPr>
        <p:spPr>
          <a:xfrm>
            <a:off x="8046720" y="4498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8388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A  </a:t>
            </a:r>
            <a:r>
              <a:rPr sz="1000" b="1" i="0">
                <a:solidFill>
                  <a:srgbClr val="5B3F80"/>
                </a:solidFill>
                <a:latin typeface="Montserrat"/>
              </a:rPr>
              <a:t>AVANZAR</a:t>
            </a:r>
          </a:p>
          <a:p>
            <a:pPr algn="l">
              <a:lnSpc>
                <a:spcPct val="115000"/>
              </a:lnSpc>
              <a:spcAft>
                <a:spcPts val="300"/>
              </a:spcAft>
            </a:pPr>
            <a:r>
              <a:rPr sz="1100" b="0" i="1">
                <a:solidFill>
                  <a:srgbClr val="2E2A36"/>
                </a:solidFill>
                <a:latin typeface="Montserrat"/>
              </a:rPr>
              <a:t>«¿Le resulta más cómodo pagarlo en cuotas mensuales?»</a:t>
            </a:r>
          </a:p>
        </p:txBody>
      </p:sp>
      <p:sp>
        <p:nvSpPr>
          <p:cNvPr id="22" name="TextBox 21"/>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3" name="TextBox 22"/>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05 · MANEJO DE OBJECIONES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Objeciones frecuentes (3/4)</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45920"/>
            <a:ext cx="11094415" cy="50292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645920"/>
            <a:ext cx="10728655" cy="502920"/>
          </a:xfrm>
          <a:prstGeom prst="rect">
            <a:avLst/>
          </a:prstGeom>
          <a:noFill/>
        </p:spPr>
        <p:txBody>
          <a:bodyPr wrap="square" anchor="ctr" lIns="45720" rIns="45720" tIns="27432" bIns="27432">
            <a:spAutoFit/>
          </a:bodyPr>
          <a:lstStyle/>
          <a:p>
            <a:pPr algn="l">
              <a:lnSpc>
                <a:spcPct val="115000"/>
              </a:lnSpc>
              <a:spcAft>
                <a:spcPts val="400"/>
              </a:spcAft>
            </a:pPr>
            <a:r>
              <a:rPr sz="1500" b="1" i="0">
                <a:solidFill>
                  <a:srgbClr val="FFFFFF"/>
                </a:solidFill>
                <a:latin typeface="Montserrat"/>
              </a:rPr>
              <a:t>5.  «Tengo que hablarlo con mi familia.»</a:t>
            </a:r>
          </a:p>
        </p:txBody>
      </p:sp>
      <p:sp>
        <p:nvSpPr>
          <p:cNvPr id="8" name="Rectangle 7"/>
          <p:cNvSpPr/>
          <p:nvPr/>
        </p:nvSpPr>
        <p:spPr>
          <a:xfrm>
            <a:off x="548640" y="2212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V  </a:t>
            </a:r>
            <a:r>
              <a:rPr sz="1000" b="1" i="0">
                <a:solidFill>
                  <a:srgbClr val="5B3F80"/>
                </a:solidFill>
                <a:latin typeface="Montserrat"/>
              </a:rPr>
              <a:t>VALIDAR</a:t>
            </a:r>
          </a:p>
          <a:p>
            <a:pPr algn="l">
              <a:lnSpc>
                <a:spcPct val="115000"/>
              </a:lnSpc>
              <a:spcAft>
                <a:spcPts val="300"/>
              </a:spcAft>
            </a:pPr>
            <a:r>
              <a:rPr sz="1100" b="0" i="1">
                <a:solidFill>
                  <a:srgbClr val="2E2A36"/>
                </a:solidFill>
                <a:latin typeface="Montserrat"/>
              </a:rPr>
              <a:t>«Claro, es una decisión de familia.»</a:t>
            </a:r>
          </a:p>
        </p:txBody>
      </p:sp>
      <p:sp>
        <p:nvSpPr>
          <p:cNvPr id="10" name="Rectangle 9"/>
          <p:cNvSpPr/>
          <p:nvPr/>
        </p:nvSpPr>
        <p:spPr>
          <a:xfrm>
            <a:off x="4297680" y="2212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3484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R  </a:t>
            </a:r>
            <a:r>
              <a:rPr sz="1000" b="1" i="0">
                <a:solidFill>
                  <a:srgbClr val="5B3F80"/>
                </a:solidFill>
                <a:latin typeface="Montserrat"/>
              </a:rPr>
              <a:t>REPOSICIONAR</a:t>
            </a:r>
          </a:p>
          <a:p>
            <a:pPr algn="l">
              <a:lnSpc>
                <a:spcPct val="115000"/>
              </a:lnSpc>
              <a:spcAft>
                <a:spcPts val="300"/>
              </a:spcAft>
            </a:pPr>
            <a:r>
              <a:rPr sz="1100" b="0" i="0">
                <a:solidFill>
                  <a:srgbClr val="2E2A36"/>
                </a:solidFill>
                <a:latin typeface="Montserrat"/>
              </a:rPr>
              <a:t>Facilite esa conversación: ofrezca un resumen simple y quedar disponible para resolver dudas de todos juntos.</a:t>
            </a:r>
          </a:p>
        </p:txBody>
      </p:sp>
      <p:sp>
        <p:nvSpPr>
          <p:cNvPr id="12" name="Rectangle 11"/>
          <p:cNvSpPr/>
          <p:nvPr/>
        </p:nvSpPr>
        <p:spPr>
          <a:xfrm>
            <a:off x="8046720" y="2212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8388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A  </a:t>
            </a:r>
            <a:r>
              <a:rPr sz="1000" b="1" i="0">
                <a:solidFill>
                  <a:srgbClr val="5B3F80"/>
                </a:solidFill>
                <a:latin typeface="Montserrat"/>
              </a:rPr>
              <a:t>AVANZAR</a:t>
            </a:r>
          </a:p>
          <a:p>
            <a:pPr algn="l">
              <a:lnSpc>
                <a:spcPct val="115000"/>
              </a:lnSpc>
              <a:spcAft>
                <a:spcPts val="300"/>
              </a:spcAft>
            </a:pPr>
            <a:r>
              <a:rPr sz="1100" b="0" i="1">
                <a:solidFill>
                  <a:srgbClr val="2E2A36"/>
                </a:solidFill>
                <a:latin typeface="Montserrat"/>
              </a:rPr>
              <a:t>«¿Puedo llamarle el [día] para ver si quedó alguna pregunta?»</a:t>
            </a:r>
          </a:p>
        </p:txBody>
      </p:sp>
      <p:sp>
        <p:nvSpPr>
          <p:cNvPr id="14" name="Rectangle 13"/>
          <p:cNvSpPr/>
          <p:nvPr/>
        </p:nvSpPr>
        <p:spPr>
          <a:xfrm>
            <a:off x="548640" y="3931920"/>
            <a:ext cx="11094415" cy="50292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3931920"/>
            <a:ext cx="10728655" cy="502920"/>
          </a:xfrm>
          <a:prstGeom prst="rect">
            <a:avLst/>
          </a:prstGeom>
          <a:noFill/>
        </p:spPr>
        <p:txBody>
          <a:bodyPr wrap="square" anchor="ctr" lIns="45720" rIns="45720" tIns="27432" bIns="27432">
            <a:spAutoFit/>
          </a:bodyPr>
          <a:lstStyle/>
          <a:p>
            <a:pPr algn="l">
              <a:lnSpc>
                <a:spcPct val="115000"/>
              </a:lnSpc>
              <a:spcAft>
                <a:spcPts val="400"/>
              </a:spcAft>
            </a:pPr>
            <a:r>
              <a:rPr sz="1500" b="1" i="0">
                <a:solidFill>
                  <a:srgbClr val="FFFFFF"/>
                </a:solidFill>
                <a:latin typeface="Montserrat"/>
              </a:rPr>
              <a:t>6.  «Prefiero tener las cenizas en casa.»</a:t>
            </a:r>
          </a:p>
        </p:txBody>
      </p:sp>
      <p:sp>
        <p:nvSpPr>
          <p:cNvPr id="16" name="Rectangle 15"/>
          <p:cNvSpPr/>
          <p:nvPr/>
        </p:nvSpPr>
        <p:spPr>
          <a:xfrm>
            <a:off x="548640" y="4498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V  </a:t>
            </a:r>
            <a:r>
              <a:rPr sz="1000" b="1" i="0">
                <a:solidFill>
                  <a:srgbClr val="5B3F80"/>
                </a:solidFill>
                <a:latin typeface="Montserrat"/>
              </a:rPr>
              <a:t>VALIDAR</a:t>
            </a:r>
          </a:p>
          <a:p>
            <a:pPr algn="l">
              <a:lnSpc>
                <a:spcPct val="115000"/>
              </a:lnSpc>
              <a:spcAft>
                <a:spcPts val="300"/>
              </a:spcAft>
            </a:pPr>
            <a:r>
              <a:rPr sz="1100" b="0" i="1">
                <a:solidFill>
                  <a:srgbClr val="2E2A36"/>
                </a:solidFill>
                <a:latin typeface="Montserrat"/>
              </a:rPr>
              <a:t>«Es natural querer tenerlas cerca.»</a:t>
            </a:r>
          </a:p>
        </p:txBody>
      </p:sp>
      <p:sp>
        <p:nvSpPr>
          <p:cNvPr id="18" name="Rectangle 17"/>
          <p:cNvSpPr/>
          <p:nvPr/>
        </p:nvSpPr>
        <p:spPr>
          <a:xfrm>
            <a:off x="4297680" y="4498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3484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R  </a:t>
            </a:r>
            <a:r>
              <a:rPr sz="1000" b="1" i="0">
                <a:solidFill>
                  <a:srgbClr val="5B3F80"/>
                </a:solidFill>
                <a:latin typeface="Montserrat"/>
              </a:rPr>
              <a:t>REPOSICIONAR</a:t>
            </a:r>
          </a:p>
          <a:p>
            <a:pPr algn="l">
              <a:lnSpc>
                <a:spcPct val="115000"/>
              </a:lnSpc>
              <a:spcAft>
                <a:spcPts val="300"/>
              </a:spcAft>
            </a:pPr>
            <a:r>
              <a:rPr sz="1100" b="0" i="0">
                <a:solidFill>
                  <a:srgbClr val="2E2A36"/>
                </a:solidFill>
                <a:latin typeface="Montserrat"/>
              </a:rPr>
              <a:t>En el jardín toda la familia puede visitarlas, quedan protegidas ante mudanzas o cambios, y tienen un lugar con su nombre.</a:t>
            </a:r>
          </a:p>
        </p:txBody>
      </p:sp>
      <p:sp>
        <p:nvSpPr>
          <p:cNvPr id="20" name="Rectangle 19"/>
          <p:cNvSpPr/>
          <p:nvPr/>
        </p:nvSpPr>
        <p:spPr>
          <a:xfrm>
            <a:off x="8046720" y="4498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8388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A  </a:t>
            </a:r>
            <a:r>
              <a:rPr sz="1000" b="1" i="0">
                <a:solidFill>
                  <a:srgbClr val="5B3F80"/>
                </a:solidFill>
                <a:latin typeface="Montserrat"/>
              </a:rPr>
              <a:t>AVANZAR</a:t>
            </a:r>
          </a:p>
          <a:p>
            <a:pPr algn="l">
              <a:lnSpc>
                <a:spcPct val="115000"/>
              </a:lnSpc>
              <a:spcAft>
                <a:spcPts val="300"/>
              </a:spcAft>
            </a:pPr>
            <a:r>
              <a:rPr sz="1100" b="0" i="1">
                <a:solidFill>
                  <a:srgbClr val="2E2A36"/>
                </a:solidFill>
                <a:latin typeface="Montserrat"/>
              </a:rPr>
              <a:t>«¿Le gustaría visitar el jardín antes de decidir?»</a:t>
            </a:r>
          </a:p>
        </p:txBody>
      </p:sp>
      <p:sp>
        <p:nvSpPr>
          <p:cNvPr id="22" name="TextBox 21"/>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3" name="TextBox 22"/>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05 · MANEJO DE OBJECIONES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Objeciones frecuentes (4/4)</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45920"/>
            <a:ext cx="11094415" cy="50292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645920"/>
            <a:ext cx="10728655" cy="502920"/>
          </a:xfrm>
          <a:prstGeom prst="rect">
            <a:avLst/>
          </a:prstGeom>
          <a:noFill/>
        </p:spPr>
        <p:txBody>
          <a:bodyPr wrap="square" anchor="ctr" lIns="45720" rIns="45720" tIns="27432" bIns="27432">
            <a:spAutoFit/>
          </a:bodyPr>
          <a:lstStyle/>
          <a:p>
            <a:pPr algn="l">
              <a:lnSpc>
                <a:spcPct val="115000"/>
              </a:lnSpc>
              <a:spcAft>
                <a:spcPts val="400"/>
              </a:spcAft>
            </a:pPr>
            <a:r>
              <a:rPr sz="1500" b="1" i="0">
                <a:solidFill>
                  <a:srgbClr val="FFFFFF"/>
                </a:solidFill>
                <a:latin typeface="Montserrat"/>
              </a:rPr>
              <a:t>7.  «¿Por qué pagar mantenimiento cada año?»</a:t>
            </a:r>
          </a:p>
        </p:txBody>
      </p:sp>
      <p:sp>
        <p:nvSpPr>
          <p:cNvPr id="8" name="Rectangle 7"/>
          <p:cNvSpPr/>
          <p:nvPr/>
        </p:nvSpPr>
        <p:spPr>
          <a:xfrm>
            <a:off x="548640" y="2212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V  </a:t>
            </a:r>
            <a:r>
              <a:rPr sz="1000" b="1" i="0">
                <a:solidFill>
                  <a:srgbClr val="5B3F80"/>
                </a:solidFill>
                <a:latin typeface="Montserrat"/>
              </a:rPr>
              <a:t>VALIDAR</a:t>
            </a:r>
          </a:p>
          <a:p>
            <a:pPr algn="l">
              <a:lnSpc>
                <a:spcPct val="115000"/>
              </a:lnSpc>
              <a:spcAft>
                <a:spcPts val="300"/>
              </a:spcAft>
            </a:pPr>
            <a:r>
              <a:rPr sz="1100" b="0" i="1">
                <a:solidFill>
                  <a:srgbClr val="2E2A36"/>
                </a:solidFill>
                <a:latin typeface="Montserrat"/>
              </a:rPr>
              <a:t>«Es una pregunta muy válida.»</a:t>
            </a:r>
          </a:p>
        </p:txBody>
      </p:sp>
      <p:sp>
        <p:nvSpPr>
          <p:cNvPr id="10" name="Rectangle 9"/>
          <p:cNvSpPr/>
          <p:nvPr/>
        </p:nvSpPr>
        <p:spPr>
          <a:xfrm>
            <a:off x="4297680" y="2212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3484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R  </a:t>
            </a:r>
            <a:r>
              <a:rPr sz="1000" b="1" i="0">
                <a:solidFill>
                  <a:srgbClr val="5B3F80"/>
                </a:solidFill>
                <a:latin typeface="Montserrat"/>
              </a:rPr>
              <a:t>REPOSICIONAR</a:t>
            </a:r>
          </a:p>
          <a:p>
            <a:pPr algn="l">
              <a:lnSpc>
                <a:spcPct val="115000"/>
              </a:lnSpc>
              <a:spcAft>
                <a:spcPts val="300"/>
              </a:spcAft>
            </a:pPr>
            <a:r>
              <a:rPr sz="1100" b="0" i="0">
                <a:solidFill>
                  <a:srgbClr val="2E2A36"/>
                </a:solidFill>
                <a:latin typeface="Montserrat"/>
              </a:rPr>
              <a:t>La cuota (US$ 15 o US$ 24 al año) mantiene el jardín siempre cuidado: poda, riego y limpieza. Es lo que garantiza que el lugar luzca digno en cada visita.</a:t>
            </a:r>
          </a:p>
        </p:txBody>
      </p:sp>
      <p:sp>
        <p:nvSpPr>
          <p:cNvPr id="12" name="Rectangle 11"/>
          <p:cNvSpPr/>
          <p:nvPr/>
        </p:nvSpPr>
        <p:spPr>
          <a:xfrm>
            <a:off x="8046720" y="2212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8388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A  </a:t>
            </a:r>
            <a:r>
              <a:rPr sz="1000" b="1" i="0">
                <a:solidFill>
                  <a:srgbClr val="5B3F80"/>
                </a:solidFill>
                <a:latin typeface="Montserrat"/>
              </a:rPr>
              <a:t>AVANZAR</a:t>
            </a:r>
          </a:p>
          <a:p>
            <a:pPr algn="l">
              <a:lnSpc>
                <a:spcPct val="115000"/>
              </a:lnSpc>
              <a:spcAft>
                <a:spcPts val="300"/>
              </a:spcAft>
            </a:pPr>
            <a:r>
              <a:rPr sz="1100" b="0" i="1">
                <a:solidFill>
                  <a:srgbClr val="2E2A36"/>
                </a:solidFill>
                <a:latin typeface="Montserrat"/>
              </a:rPr>
              <a:t>«¿Le explico qué incluye el cuidado del jardín?»</a:t>
            </a:r>
          </a:p>
        </p:txBody>
      </p:sp>
      <p:sp>
        <p:nvSpPr>
          <p:cNvPr id="14" name="Rectangle 13"/>
          <p:cNvSpPr/>
          <p:nvPr/>
        </p:nvSpPr>
        <p:spPr>
          <a:xfrm>
            <a:off x="548640" y="3931920"/>
            <a:ext cx="11094415" cy="50292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3931920"/>
            <a:ext cx="10728655" cy="502920"/>
          </a:xfrm>
          <a:prstGeom prst="rect">
            <a:avLst/>
          </a:prstGeom>
          <a:noFill/>
        </p:spPr>
        <p:txBody>
          <a:bodyPr wrap="square" anchor="ctr" lIns="45720" rIns="45720" tIns="27432" bIns="27432">
            <a:spAutoFit/>
          </a:bodyPr>
          <a:lstStyle/>
          <a:p>
            <a:pPr algn="l">
              <a:lnSpc>
                <a:spcPct val="115000"/>
              </a:lnSpc>
              <a:spcAft>
                <a:spcPts val="400"/>
              </a:spcAft>
            </a:pPr>
            <a:r>
              <a:rPr sz="1500" b="1" i="0">
                <a:solidFill>
                  <a:srgbClr val="FFFFFF"/>
                </a:solidFill>
                <a:latin typeface="Montserrat"/>
              </a:rPr>
              <a:t>8.  «No confío en estos planes.»</a:t>
            </a:r>
          </a:p>
        </p:txBody>
      </p:sp>
      <p:sp>
        <p:nvSpPr>
          <p:cNvPr id="16" name="Rectangle 15"/>
          <p:cNvSpPr/>
          <p:nvPr/>
        </p:nvSpPr>
        <p:spPr>
          <a:xfrm>
            <a:off x="548640" y="4498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V  </a:t>
            </a:r>
            <a:r>
              <a:rPr sz="1000" b="1" i="0">
                <a:solidFill>
                  <a:srgbClr val="5B3F80"/>
                </a:solidFill>
                <a:latin typeface="Montserrat"/>
              </a:rPr>
              <a:t>VALIDAR</a:t>
            </a:r>
          </a:p>
          <a:p>
            <a:pPr algn="l">
              <a:lnSpc>
                <a:spcPct val="115000"/>
              </a:lnSpc>
              <a:spcAft>
                <a:spcPts val="300"/>
              </a:spcAft>
            </a:pPr>
            <a:r>
              <a:rPr sz="1100" b="0" i="1">
                <a:solidFill>
                  <a:srgbClr val="2E2A36"/>
                </a:solidFill>
                <a:latin typeface="Montserrat"/>
              </a:rPr>
              <a:t>«Es una preocupación válida.»</a:t>
            </a:r>
          </a:p>
        </p:txBody>
      </p:sp>
      <p:sp>
        <p:nvSpPr>
          <p:cNvPr id="18" name="Rectangle 17"/>
          <p:cNvSpPr/>
          <p:nvPr/>
        </p:nvSpPr>
        <p:spPr>
          <a:xfrm>
            <a:off x="4297680" y="4498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3484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R  </a:t>
            </a:r>
            <a:r>
              <a:rPr sz="1000" b="1" i="0">
                <a:solidFill>
                  <a:srgbClr val="5B3F80"/>
                </a:solidFill>
                <a:latin typeface="Montserrat"/>
              </a:rPr>
              <a:t>REPOSICIONAR</a:t>
            </a:r>
          </a:p>
          <a:p>
            <a:pPr algn="l">
              <a:lnSpc>
                <a:spcPct val="115000"/>
              </a:lnSpc>
              <a:spcAft>
                <a:spcPts val="300"/>
              </a:spcAft>
            </a:pPr>
            <a:r>
              <a:rPr sz="1100" b="0" i="0">
                <a:solidFill>
                  <a:srgbClr val="2E2A36"/>
                </a:solidFill>
                <a:latin typeface="Montserrat"/>
              </a:rPr>
              <a:t>Somos La Auxiliadora, Hogar de las Memorias y Las Colinas, empresas de Vangrupo con trayectoria en El Salvador. El contrato es transparente y puede visitar el jardín cuando quiera.</a:t>
            </a:r>
          </a:p>
        </p:txBody>
      </p:sp>
      <p:sp>
        <p:nvSpPr>
          <p:cNvPr id="20" name="Rectangle 19"/>
          <p:cNvSpPr/>
          <p:nvPr/>
        </p:nvSpPr>
        <p:spPr>
          <a:xfrm>
            <a:off x="8046720" y="4498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8388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A  </a:t>
            </a:r>
            <a:r>
              <a:rPr sz="1000" b="1" i="0">
                <a:solidFill>
                  <a:srgbClr val="5B3F80"/>
                </a:solidFill>
                <a:latin typeface="Montserrat"/>
              </a:rPr>
              <a:t>AVANZAR</a:t>
            </a:r>
          </a:p>
          <a:p>
            <a:pPr algn="l">
              <a:lnSpc>
                <a:spcPct val="115000"/>
              </a:lnSpc>
              <a:spcAft>
                <a:spcPts val="300"/>
              </a:spcAft>
            </a:pPr>
            <a:r>
              <a:rPr sz="1100" b="0" i="1">
                <a:solidFill>
                  <a:srgbClr val="2E2A36"/>
                </a:solidFill>
                <a:latin typeface="Montserrat"/>
              </a:rPr>
              <a:t>«¿Agendamos una visita sin compromiso?»</a:t>
            </a:r>
          </a:p>
        </p:txBody>
      </p:sp>
      <p:sp>
        <p:nvSpPr>
          <p:cNvPr id="22" name="TextBox 21"/>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3" name="TextBox 22"/>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TextBox 1"/>
          <p:cNvSpPr txBox="1"/>
          <p:nvPr/>
        </p:nvSpPr>
        <p:spPr>
          <a:xfrm>
            <a:off x="914400" y="1417320"/>
            <a:ext cx="3200400" cy="1920240"/>
          </a:xfrm>
          <a:prstGeom prst="rect">
            <a:avLst/>
          </a:prstGeom>
          <a:noFill/>
        </p:spPr>
        <p:txBody>
          <a:bodyPr wrap="square" anchor="t" lIns="45720" rIns="45720" tIns="27432" bIns="27432">
            <a:spAutoFit/>
          </a:bodyPr>
          <a:lstStyle/>
          <a:p>
            <a:pPr algn="l">
              <a:lnSpc>
                <a:spcPct val="115000"/>
              </a:lnSpc>
              <a:spcAft>
                <a:spcPts val="400"/>
              </a:spcAft>
            </a:pPr>
            <a:r>
              <a:rPr sz="11000" b="1" i="0">
                <a:solidFill>
                  <a:srgbClr val="C9A86A"/>
                </a:solidFill>
                <a:latin typeface="Playfair Display"/>
              </a:rPr>
              <a:t>06</a:t>
            </a:r>
          </a:p>
        </p:txBody>
      </p:sp>
      <p:sp>
        <p:nvSpPr>
          <p:cNvPr id="3" name="TextBox 2"/>
          <p:cNvSpPr txBox="1"/>
          <p:nvPr/>
        </p:nvSpPr>
        <p:spPr>
          <a:xfrm>
            <a:off x="914400" y="3429000"/>
            <a:ext cx="10515600" cy="914400"/>
          </a:xfrm>
          <a:prstGeom prst="rect">
            <a:avLst/>
          </a:prstGeom>
          <a:noFill/>
        </p:spPr>
        <p:txBody>
          <a:bodyPr wrap="square" anchor="t" lIns="45720" rIns="45720" tIns="27432" bIns="27432">
            <a:spAutoFit/>
          </a:bodyPr>
          <a:lstStyle/>
          <a:p>
            <a:pPr algn="l">
              <a:lnSpc>
                <a:spcPct val="115000"/>
              </a:lnSpc>
              <a:spcAft>
                <a:spcPts val="400"/>
              </a:spcAft>
            </a:pPr>
            <a:r>
              <a:rPr sz="4000" b="1" i="0">
                <a:solidFill>
                  <a:srgbClr val="FFFFFF"/>
                </a:solidFill>
                <a:latin typeface="Playfair Display"/>
              </a:rPr>
              <a:t>Precios, reglas y condiciones</a:t>
            </a:r>
          </a:p>
        </p:txBody>
      </p:sp>
      <p:sp>
        <p:nvSpPr>
          <p:cNvPr id="4" name="Rectangle 3"/>
          <p:cNvSpPr/>
          <p:nvPr/>
        </p:nvSpPr>
        <p:spPr>
          <a:xfrm>
            <a:off x="960120" y="443484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617720"/>
            <a:ext cx="10058400" cy="73152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D9CFE6"/>
                </a:solidFill>
                <a:latin typeface="Montserrat"/>
              </a:rPr>
              <a:t>Transparencia desde la primera conversación.</a:t>
            </a:r>
          </a:p>
        </p:txBody>
      </p:sp>
      <p:sp>
        <p:nvSpPr>
          <p:cNvPr id="6" name="TextBox 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D9CFE6"/>
                </a:solidFill>
                <a:latin typeface="Montserrat"/>
              </a:rPr>
              <a:t>Playbook Comercial  ·  La Auxiliadora · Hogar de las Memorias · Las Colinas · Vangrupo</a:t>
            </a:r>
          </a:p>
        </p:txBody>
      </p:sp>
      <p:sp>
        <p:nvSpPr>
          <p:cNvPr id="7" name="TextBox 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D9CFE6"/>
                </a:solidFill>
                <a:latin typeface="Montserrat"/>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06 · PRECIOS, REGLAS Y CONDICIONES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Tabla de precios</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444752"/>
            <a:ext cx="11094415" cy="41148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Fuente oficial: Ficha Técnica vigente. Precios sugeridos en US$, IVA incluido.</a:t>
            </a:r>
          </a:p>
        </p:txBody>
      </p:sp>
      <p:graphicFrame>
        <p:nvGraphicFramePr>
          <p:cNvPr id="7" name="Table 6"/>
          <p:cNvGraphicFramePr>
            <a:graphicFrameLocks noGrp="1"/>
          </p:cNvGraphicFramePr>
          <p:nvPr/>
        </p:nvGraphicFramePr>
        <p:xfrm>
          <a:off x="548640" y="2011680"/>
          <a:ext cx="11094413" cy="3520440"/>
        </p:xfrm>
        <a:graphic>
          <a:graphicData uri="http://schemas.openxmlformats.org/drawingml/2006/table">
            <a:tbl>
              <a:tblPr firstRow="1" bandRow="1">
                <a:tableStyleId>{5C22544A-7EE6-4342-B048-85BDC9FD1C3A}</a:tableStyleId>
              </a:tblPr>
              <a:tblGrid>
                <a:gridCol w="2200545"/>
                <a:gridCol w="1467030"/>
                <a:gridCol w="2750681"/>
                <a:gridCol w="1558719"/>
                <a:gridCol w="3117438"/>
              </a:tblGrid>
              <a:tr h="502920">
                <a:tc>
                  <a:txBody>
                    <a:bodyPr wrap="square"/>
                    <a:lstStyle/>
                    <a:p>
                      <a:r>
                        <a:rPr sz="1250" b="1">
                          <a:solidFill>
                            <a:srgbClr val="FFFFFF"/>
                          </a:solidFill>
                          <a:latin typeface="Montserrat"/>
                        </a:rPr>
                        <a:t>Producto</a:t>
                      </a:r>
                    </a:p>
                  </a:txBody>
                  <a:tcPr marL="73152" marR="73152" marT="36576" marB="36576" anchor="ctr">
                    <a:solidFill>
                      <a:srgbClr val="5B3F80"/>
                    </a:solidFill>
                  </a:tcPr>
                </a:tc>
                <a:tc>
                  <a:txBody>
                    <a:bodyPr wrap="square"/>
                    <a:lstStyle/>
                    <a:p>
                      <a:r>
                        <a:rPr sz="1250" b="1">
                          <a:solidFill>
                            <a:srgbClr val="FFFFFF"/>
                          </a:solidFill>
                          <a:latin typeface="Montserrat"/>
                        </a:rPr>
                        <a:t>Precio</a:t>
                      </a:r>
                    </a:p>
                  </a:txBody>
                  <a:tcPr marL="73152" marR="73152" marT="36576" marB="36576" anchor="ctr">
                    <a:solidFill>
                      <a:srgbClr val="5B3F80"/>
                    </a:solidFill>
                  </a:tcPr>
                </a:tc>
                <a:tc>
                  <a:txBody>
                    <a:bodyPr wrap="square"/>
                    <a:lstStyle/>
                    <a:p>
                      <a:r>
                        <a:rPr sz="1250" b="1">
                          <a:solidFill>
                            <a:srgbClr val="FFFFFF"/>
                          </a:solidFill>
                          <a:latin typeface="Montserrat"/>
                        </a:rPr>
                        <a:t>Forma de pago</a:t>
                      </a:r>
                    </a:p>
                  </a:txBody>
                  <a:tcPr marL="73152" marR="73152" marT="36576" marB="36576" anchor="ctr">
                    <a:solidFill>
                      <a:srgbClr val="5B3F80"/>
                    </a:solidFill>
                  </a:tcPr>
                </a:tc>
                <a:tc>
                  <a:txBody>
                    <a:bodyPr wrap="square"/>
                    <a:lstStyle/>
                    <a:p>
                      <a:r>
                        <a:rPr sz="1250" b="1">
                          <a:solidFill>
                            <a:srgbClr val="FFFFFF"/>
                          </a:solidFill>
                          <a:latin typeface="Montserrat"/>
                        </a:rPr>
                        <a:t>Mantenimiento</a:t>
                      </a:r>
                    </a:p>
                  </a:txBody>
                  <a:tcPr marL="73152" marR="73152" marT="36576" marB="36576" anchor="ctr">
                    <a:solidFill>
                      <a:srgbClr val="5B3F80"/>
                    </a:solidFill>
                  </a:tcPr>
                </a:tc>
                <a:tc>
                  <a:txBody>
                    <a:bodyPr wrap="square"/>
                    <a:lstStyle/>
                    <a:p>
                      <a:r>
                        <a:rPr sz="1250" b="1">
                          <a:solidFill>
                            <a:srgbClr val="FFFFFF"/>
                          </a:solidFill>
                          <a:latin typeface="Montserrat"/>
                        </a:rPr>
                        <a:t>Plazo / condición</a:t>
                      </a:r>
                    </a:p>
                  </a:txBody>
                  <a:tcPr marL="73152" marR="73152" marT="36576" marB="36576" anchor="ctr">
                    <a:solidFill>
                      <a:srgbClr val="5B3F80"/>
                    </a:solidFill>
                  </a:tcPr>
                </a:tc>
              </a:tr>
              <a:tr h="502920">
                <a:tc>
                  <a:txBody>
                    <a:bodyPr wrap="square"/>
                    <a:lstStyle/>
                    <a:p>
                      <a:r>
                        <a:rPr sz="1250" b="1">
                          <a:solidFill>
                            <a:srgbClr val="5B3F80"/>
                          </a:solidFill>
                          <a:latin typeface="Montserrat"/>
                        </a:rPr>
                        <a:t>Solución Modular</a:t>
                      </a:r>
                    </a:p>
                  </a:txBody>
                  <a:tcPr marL="73152" marR="73152" marT="36576" marB="36576" anchor="ctr">
                    <a:solidFill>
                      <a:srgbClr val="FFFFFF"/>
                    </a:solidFill>
                  </a:tcPr>
                </a:tc>
                <a:tc>
                  <a:txBody>
                    <a:bodyPr wrap="square"/>
                    <a:lstStyle/>
                    <a:p>
                      <a:r>
                        <a:rPr sz="1250" b="0">
                          <a:solidFill>
                            <a:srgbClr val="2E2A36"/>
                          </a:solidFill>
                          <a:latin typeface="Montserrat"/>
                        </a:rPr>
                        <a:t>US$ 1.000 · lanz. US$ 800</a:t>
                      </a:r>
                    </a:p>
                  </a:txBody>
                  <a:tcPr marL="73152" marR="73152" marT="36576" marB="36576" anchor="ctr">
                    <a:solidFill>
                      <a:srgbClr val="FFFFFF"/>
                    </a:solidFill>
                  </a:tcPr>
                </a:tc>
                <a:tc>
                  <a:txBody>
                    <a:bodyPr wrap="square"/>
                    <a:lstStyle/>
                    <a:p>
                      <a:r>
                        <a:rPr sz="1250" b="0">
                          <a:solidFill>
                            <a:srgbClr val="2E2A36"/>
                          </a:solidFill>
                          <a:latin typeface="Montserrat"/>
                        </a:rPr>
                        <a:t>Hasta 120 meses, con intereses</a:t>
                      </a:r>
                    </a:p>
                  </a:txBody>
                  <a:tcPr marL="73152" marR="73152" marT="36576" marB="36576" anchor="ctr">
                    <a:solidFill>
                      <a:srgbClr val="FFFFFF"/>
                    </a:solidFill>
                  </a:tcPr>
                </a:tc>
                <a:tc>
                  <a:txBody>
                    <a:bodyPr wrap="square"/>
                    <a:lstStyle/>
                    <a:p>
                      <a:r>
                        <a:rPr sz="1250" b="0">
                          <a:solidFill>
                            <a:srgbClr val="2E2A36"/>
                          </a:solidFill>
                          <a:latin typeface="Montserrat"/>
                        </a:rPr>
                        <a:t>—</a:t>
                      </a:r>
                    </a:p>
                  </a:txBody>
                  <a:tcPr marL="73152" marR="73152" marT="36576" marB="36576" anchor="ctr">
                    <a:solidFill>
                      <a:srgbClr val="FFFFFF"/>
                    </a:solidFill>
                  </a:tcPr>
                </a:tc>
                <a:tc>
                  <a:txBody>
                    <a:bodyPr wrap="square"/>
                    <a:lstStyle/>
                    <a:p>
                      <a:r>
                        <a:rPr sz="1250" b="0">
                          <a:solidFill>
                            <a:srgbClr val="2E2A36"/>
                          </a:solidFill>
                          <a:latin typeface="Montserrat"/>
                        </a:rPr>
                        <a:t>Columbario 1 año incluido</a:t>
                      </a:r>
                    </a:p>
                  </a:txBody>
                  <a:tcPr marL="73152" marR="73152" marT="36576" marB="36576" anchor="ctr">
                    <a:solidFill>
                      <a:srgbClr val="FFFFFF"/>
                    </a:solidFill>
                  </a:tcPr>
                </a:tc>
              </a:tr>
              <a:tr h="502920">
                <a:tc>
                  <a:txBody>
                    <a:bodyPr wrap="square"/>
                    <a:lstStyle/>
                    <a:p>
                      <a:r>
                        <a:rPr sz="1250" b="1">
                          <a:solidFill>
                            <a:srgbClr val="5B3F80"/>
                          </a:solidFill>
                          <a:latin typeface="Montserrat"/>
                        </a:rPr>
                        <a:t>Jardín Individual</a:t>
                      </a:r>
                    </a:p>
                  </a:txBody>
                  <a:tcPr marL="73152" marR="73152" marT="36576" marB="36576" anchor="ctr">
                    <a:solidFill>
                      <a:srgbClr val="F5F2F8"/>
                    </a:solidFill>
                  </a:tcPr>
                </a:tc>
                <a:tc>
                  <a:txBody>
                    <a:bodyPr wrap="square"/>
                    <a:lstStyle/>
                    <a:p>
                      <a:r>
                        <a:rPr sz="1250" b="0">
                          <a:solidFill>
                            <a:srgbClr val="2E2A36"/>
                          </a:solidFill>
                          <a:latin typeface="Montserrat"/>
                        </a:rPr>
                        <a:t>US$ 600 · lanz. US$ 480</a:t>
                      </a:r>
                    </a:p>
                  </a:txBody>
                  <a:tcPr marL="73152" marR="73152" marT="36576" marB="36576" anchor="ctr">
                    <a:solidFill>
                      <a:srgbClr val="F5F2F8"/>
                    </a:solidFill>
                  </a:tcPr>
                </a:tc>
                <a:tc>
                  <a:txBody>
                    <a:bodyPr wrap="square"/>
                    <a:lstStyle/>
                    <a:p>
                      <a:r>
                        <a:rPr sz="1250" b="0">
                          <a:solidFill>
                            <a:srgbClr val="2E2A36"/>
                          </a:solidFill>
                          <a:latin typeface="Montserrat"/>
                        </a:rPr>
                        <a:t>Único o financiado</a:t>
                      </a:r>
                    </a:p>
                  </a:txBody>
                  <a:tcPr marL="73152" marR="73152" marT="36576" marB="36576" anchor="ctr">
                    <a:solidFill>
                      <a:srgbClr val="F5F2F8"/>
                    </a:solidFill>
                  </a:tcPr>
                </a:tc>
                <a:tc>
                  <a:txBody>
                    <a:bodyPr wrap="square"/>
                    <a:lstStyle/>
                    <a:p>
                      <a:r>
                        <a:rPr sz="1250" b="0">
                          <a:solidFill>
                            <a:srgbClr val="2E2A36"/>
                          </a:solidFill>
                          <a:latin typeface="Montserrat"/>
                        </a:rPr>
                        <a:t>US$ 15/año</a:t>
                      </a:r>
                    </a:p>
                  </a:txBody>
                  <a:tcPr marL="73152" marR="73152" marT="36576" marB="36576" anchor="ctr">
                    <a:solidFill>
                      <a:srgbClr val="F5F2F8"/>
                    </a:solidFill>
                  </a:tcPr>
                </a:tc>
                <a:tc>
                  <a:txBody>
                    <a:bodyPr wrap="square"/>
                    <a:lstStyle/>
                    <a:p>
                      <a:r>
                        <a:rPr sz="1250" b="0">
                          <a:solidFill>
                            <a:srgbClr val="2E2A36"/>
                          </a:solidFill>
                          <a:latin typeface="Montserrat"/>
                        </a:rPr>
                        <a:t>30 años, renovable</a:t>
                      </a:r>
                    </a:p>
                  </a:txBody>
                  <a:tcPr marL="73152" marR="73152" marT="36576" marB="36576" anchor="ctr">
                    <a:solidFill>
                      <a:srgbClr val="F5F2F8"/>
                    </a:solidFill>
                  </a:tcPr>
                </a:tc>
              </a:tr>
              <a:tr h="502920">
                <a:tc>
                  <a:txBody>
                    <a:bodyPr wrap="square"/>
                    <a:lstStyle/>
                    <a:p>
                      <a:r>
                        <a:rPr sz="1250" b="1">
                          <a:solidFill>
                            <a:srgbClr val="5B3F80"/>
                          </a:solidFill>
                          <a:latin typeface="Montserrat"/>
                        </a:rPr>
                        <a:t>Jardín Familiar</a:t>
                      </a:r>
                    </a:p>
                  </a:txBody>
                  <a:tcPr marL="73152" marR="73152" marT="36576" marB="36576" anchor="ctr">
                    <a:solidFill>
                      <a:srgbClr val="FFFFFF"/>
                    </a:solidFill>
                  </a:tcPr>
                </a:tc>
                <a:tc>
                  <a:txBody>
                    <a:bodyPr wrap="square"/>
                    <a:lstStyle/>
                    <a:p>
                      <a:r>
                        <a:rPr sz="1250" b="0">
                          <a:solidFill>
                            <a:srgbClr val="2E2A36"/>
                          </a:solidFill>
                          <a:latin typeface="Montserrat"/>
                        </a:rPr>
                        <a:t>US$ 2.000 · lanz. US$ 1.600</a:t>
                      </a:r>
                    </a:p>
                  </a:txBody>
                  <a:tcPr marL="73152" marR="73152" marT="36576" marB="36576" anchor="ctr">
                    <a:solidFill>
                      <a:srgbClr val="FFFFFF"/>
                    </a:solidFill>
                  </a:tcPr>
                </a:tc>
                <a:tc>
                  <a:txBody>
                    <a:bodyPr wrap="square"/>
                    <a:lstStyle/>
                    <a:p>
                      <a:r>
                        <a:rPr sz="1250" b="0">
                          <a:solidFill>
                            <a:srgbClr val="2E2A36"/>
                          </a:solidFill>
                          <a:latin typeface="Montserrat"/>
                        </a:rPr>
                        <a:t>Único o financiado</a:t>
                      </a:r>
                    </a:p>
                  </a:txBody>
                  <a:tcPr marL="73152" marR="73152" marT="36576" marB="36576" anchor="ctr">
                    <a:solidFill>
                      <a:srgbClr val="FFFFFF"/>
                    </a:solidFill>
                  </a:tcPr>
                </a:tc>
                <a:tc>
                  <a:txBody>
                    <a:bodyPr wrap="square"/>
                    <a:lstStyle/>
                    <a:p>
                      <a:r>
                        <a:rPr sz="1250" b="0">
                          <a:solidFill>
                            <a:srgbClr val="2E2A36"/>
                          </a:solidFill>
                          <a:latin typeface="Montserrat"/>
                        </a:rPr>
                        <a:t>US$ 24/año</a:t>
                      </a:r>
                    </a:p>
                  </a:txBody>
                  <a:tcPr marL="73152" marR="73152" marT="36576" marB="36576" anchor="ctr">
                    <a:solidFill>
                      <a:srgbClr val="FFFFFF"/>
                    </a:solidFill>
                  </a:tcPr>
                </a:tc>
                <a:tc>
                  <a:txBody>
                    <a:bodyPr wrap="square"/>
                    <a:lstStyle/>
                    <a:p>
                      <a:r>
                        <a:rPr sz="1250" b="0">
                          <a:solidFill>
                            <a:srgbClr val="2E2A36"/>
                          </a:solidFill>
                          <a:latin typeface="Montserrat"/>
                        </a:rPr>
                        <a:t>Hasta 4 espacios · 30 años, renovable</a:t>
                      </a:r>
                    </a:p>
                  </a:txBody>
                  <a:tcPr marL="73152" marR="73152" marT="36576" marB="36576" anchor="ctr">
                    <a:solidFill>
                      <a:srgbClr val="FFFFFF"/>
                    </a:solidFill>
                  </a:tcPr>
                </a:tc>
              </a:tr>
              <a:tr h="502920">
                <a:tc>
                  <a:txBody>
                    <a:bodyPr wrap="square"/>
                    <a:lstStyle/>
                    <a:p>
                      <a:r>
                        <a:rPr sz="1250" b="1">
                          <a:solidFill>
                            <a:srgbClr val="5B3F80"/>
                          </a:solidFill>
                          <a:latin typeface="Montserrat"/>
                        </a:rPr>
                        <a:t>Jardín Ecológico</a:t>
                      </a:r>
                    </a:p>
                  </a:txBody>
                  <a:tcPr marL="73152" marR="73152" marT="36576" marB="36576" anchor="ctr">
                    <a:solidFill>
                      <a:srgbClr val="F5F2F8"/>
                    </a:solidFill>
                  </a:tcPr>
                </a:tc>
                <a:tc>
                  <a:txBody>
                    <a:bodyPr wrap="square"/>
                    <a:lstStyle/>
                    <a:p>
                      <a:r>
                        <a:rPr sz="1250" b="0">
                          <a:solidFill>
                            <a:srgbClr val="2E2A36"/>
                          </a:solidFill>
                          <a:latin typeface="Montserrat"/>
                        </a:rPr>
                        <a:t>US$ 750 · lanz. US$ 600</a:t>
                      </a:r>
                    </a:p>
                  </a:txBody>
                  <a:tcPr marL="73152" marR="73152" marT="36576" marB="36576" anchor="ctr">
                    <a:solidFill>
                      <a:srgbClr val="F5F2F8"/>
                    </a:solidFill>
                  </a:tcPr>
                </a:tc>
                <a:tc>
                  <a:txBody>
                    <a:bodyPr wrap="square"/>
                    <a:lstStyle/>
                    <a:p>
                      <a:r>
                        <a:rPr sz="1250" b="0">
                          <a:solidFill>
                            <a:srgbClr val="2E2A36"/>
                          </a:solidFill>
                          <a:latin typeface="Montserrat"/>
                        </a:rPr>
                        <a:t>Único o financiado</a:t>
                      </a:r>
                    </a:p>
                  </a:txBody>
                  <a:tcPr marL="73152" marR="73152" marT="36576" marB="36576" anchor="ctr">
                    <a:solidFill>
                      <a:srgbClr val="F5F2F8"/>
                    </a:solidFill>
                  </a:tcPr>
                </a:tc>
                <a:tc>
                  <a:txBody>
                    <a:bodyPr wrap="square"/>
                    <a:lstStyle/>
                    <a:p>
                      <a:r>
                        <a:rPr sz="1250" b="0">
                          <a:solidFill>
                            <a:srgbClr val="2E2A36"/>
                          </a:solidFill>
                          <a:latin typeface="Montserrat"/>
                        </a:rPr>
                        <a:t>—</a:t>
                      </a:r>
                    </a:p>
                  </a:txBody>
                  <a:tcPr marL="73152" marR="73152" marT="36576" marB="36576" anchor="ctr">
                    <a:solidFill>
                      <a:srgbClr val="F5F2F8"/>
                    </a:solidFill>
                  </a:tcPr>
                </a:tc>
                <a:tc>
                  <a:txBody>
                    <a:bodyPr wrap="square"/>
                    <a:lstStyle/>
                    <a:p>
                      <a:r>
                        <a:rPr sz="1250" b="0">
                          <a:solidFill>
                            <a:srgbClr val="2E2A36"/>
                          </a:solidFill>
                          <a:latin typeface="Montserrat"/>
                        </a:rPr>
                        <a:t>3 años · placa memorial incluida</a:t>
                      </a:r>
                    </a:p>
                  </a:txBody>
                  <a:tcPr marL="73152" marR="73152" marT="36576" marB="36576" anchor="ctr">
                    <a:solidFill>
                      <a:srgbClr val="F5F2F8"/>
                    </a:solidFill>
                  </a:tcPr>
                </a:tc>
              </a:tr>
              <a:tr h="502920">
                <a:tc>
                  <a:txBody>
                    <a:bodyPr wrap="square"/>
                    <a:lstStyle/>
                    <a:p>
                      <a:r>
                        <a:rPr sz="1250" b="1">
                          <a:solidFill>
                            <a:srgbClr val="5B3F80"/>
                          </a:solidFill>
                          <a:latin typeface="Montserrat"/>
                        </a:rPr>
                        <a:t>Jardín de Mascotas</a:t>
                      </a:r>
                    </a:p>
                  </a:txBody>
                  <a:tcPr marL="73152" marR="73152" marT="36576" marB="36576" anchor="ctr">
                    <a:solidFill>
                      <a:srgbClr val="FFFFFF"/>
                    </a:solidFill>
                  </a:tcPr>
                </a:tc>
                <a:tc>
                  <a:txBody>
                    <a:bodyPr wrap="square"/>
                    <a:lstStyle/>
                    <a:p>
                      <a:r>
                        <a:rPr sz="1250" b="0">
                          <a:solidFill>
                            <a:srgbClr val="2E2A36"/>
                          </a:solidFill>
                          <a:latin typeface="Montserrat"/>
                        </a:rPr>
                        <a:t>US$ 400 / 550 · lanz. US$ 320 / 440</a:t>
                      </a:r>
                    </a:p>
                  </a:txBody>
                  <a:tcPr marL="73152" marR="73152" marT="36576" marB="36576" anchor="ctr">
                    <a:solidFill>
                      <a:srgbClr val="FFFFFF"/>
                    </a:solidFill>
                  </a:tcPr>
                </a:tc>
                <a:tc>
                  <a:txBody>
                    <a:bodyPr wrap="square"/>
                    <a:lstStyle/>
                    <a:p>
                      <a:r>
                        <a:rPr sz="1250" b="0">
                          <a:solidFill>
                            <a:srgbClr val="2E2A36"/>
                          </a:solidFill>
                          <a:latin typeface="Montserrat"/>
                        </a:rPr>
                        <a:t>Pago único</a:t>
                      </a:r>
                    </a:p>
                  </a:txBody>
                  <a:tcPr marL="73152" marR="73152" marT="36576" marB="36576" anchor="ctr">
                    <a:solidFill>
                      <a:srgbClr val="FFFFFF"/>
                    </a:solidFill>
                  </a:tcPr>
                </a:tc>
                <a:tc>
                  <a:txBody>
                    <a:bodyPr wrap="square"/>
                    <a:lstStyle/>
                    <a:p>
                      <a:r>
                        <a:rPr sz="1250" b="0">
                          <a:solidFill>
                            <a:srgbClr val="2E2A36"/>
                          </a:solidFill>
                          <a:latin typeface="Montserrat"/>
                        </a:rPr>
                        <a:t>—</a:t>
                      </a:r>
                    </a:p>
                  </a:txBody>
                  <a:tcPr marL="73152" marR="73152" marT="36576" marB="36576" anchor="ctr">
                    <a:solidFill>
                      <a:srgbClr val="FFFFFF"/>
                    </a:solidFill>
                  </a:tcPr>
                </a:tc>
                <a:tc>
                  <a:txBody>
                    <a:bodyPr wrap="square"/>
                    <a:lstStyle/>
                    <a:p>
                      <a:r>
                        <a:rPr sz="1250" b="0">
                          <a:solidFill>
                            <a:srgbClr val="2E2A36"/>
                          </a:solidFill>
                          <a:latin typeface="Montserrat"/>
                        </a:rPr>
                        <a:t>3 años · placa incluida · cremación y urna en la opción de US$ 550</a:t>
                      </a:r>
                    </a:p>
                  </a:txBody>
                  <a:tcPr marL="73152" marR="73152" marT="36576" marB="36576" anchor="ctr">
                    <a:solidFill>
                      <a:srgbClr val="FFFFFF"/>
                    </a:solidFill>
                  </a:tcPr>
                </a:tc>
              </a:tr>
              <a:tr h="502920">
                <a:tc>
                  <a:txBody>
                    <a:bodyPr wrap="square"/>
                    <a:lstStyle/>
                    <a:p>
                      <a:r>
                        <a:rPr sz="1250" b="1">
                          <a:solidFill>
                            <a:srgbClr val="5B3F80"/>
                          </a:solidFill>
                          <a:latin typeface="Montserrat"/>
                        </a:rPr>
                        <a:t>Jardín Ceremonial</a:t>
                      </a:r>
                    </a:p>
                  </a:txBody>
                  <a:tcPr marL="73152" marR="73152" marT="36576" marB="36576" anchor="ctr">
                    <a:solidFill>
                      <a:srgbClr val="FBF6EC"/>
                    </a:solidFill>
                  </a:tcPr>
                </a:tc>
                <a:tc>
                  <a:txBody>
                    <a:bodyPr wrap="square"/>
                    <a:lstStyle/>
                    <a:p>
                      <a:r>
                        <a:rPr sz="1250" b="0">
                          <a:solidFill>
                            <a:srgbClr val="2E2A36"/>
                          </a:solidFill>
                          <a:latin typeface="Montserrat"/>
                        </a:rPr>
                        <a:t>A definir</a:t>
                      </a:r>
                    </a:p>
                  </a:txBody>
                  <a:tcPr marL="73152" marR="73152" marT="36576" marB="36576" anchor="ctr">
                    <a:solidFill>
                      <a:srgbClr val="FBF6EC"/>
                    </a:solidFill>
                  </a:tcPr>
                </a:tc>
                <a:tc>
                  <a:txBody>
                    <a:bodyPr wrap="square"/>
                    <a:lstStyle/>
                    <a:p>
                      <a:r>
                        <a:rPr sz="1250" b="0">
                          <a:solidFill>
                            <a:srgbClr val="2E2A36"/>
                          </a:solidFill>
                          <a:latin typeface="Montserrat"/>
                        </a:rPr>
                        <a:t>A definir</a:t>
                      </a:r>
                    </a:p>
                  </a:txBody>
                  <a:tcPr marL="73152" marR="73152" marT="36576" marB="36576" anchor="ctr">
                    <a:solidFill>
                      <a:srgbClr val="FBF6EC"/>
                    </a:solidFill>
                  </a:tcPr>
                </a:tc>
                <a:tc>
                  <a:txBody>
                    <a:bodyPr wrap="square"/>
                    <a:lstStyle/>
                    <a:p>
                      <a:r>
                        <a:rPr sz="1250" b="0">
                          <a:solidFill>
                            <a:srgbClr val="2E2A36"/>
                          </a:solidFill>
                          <a:latin typeface="Montserrat"/>
                        </a:rPr>
                        <a:t>A definir</a:t>
                      </a:r>
                    </a:p>
                  </a:txBody>
                  <a:tcPr marL="73152" marR="73152" marT="36576" marB="36576" anchor="ctr">
                    <a:solidFill>
                      <a:srgbClr val="FBF6EC"/>
                    </a:solidFill>
                  </a:tcPr>
                </a:tc>
                <a:tc>
                  <a:txBody>
                    <a:bodyPr wrap="square"/>
                    <a:lstStyle/>
                    <a:p>
                      <a:r>
                        <a:rPr sz="1250" b="0">
                          <a:solidFill>
                            <a:srgbClr val="2E2A36"/>
                          </a:solidFill>
                          <a:latin typeface="Montserrat"/>
                        </a:rPr>
                        <a:t>Próximo lanzamiento</a:t>
                      </a:r>
                    </a:p>
                  </a:txBody>
                  <a:tcPr marL="73152" marR="73152" marT="36576" marB="36576" anchor="ctr">
                    <a:solidFill>
                      <a:srgbClr val="FBF6EC"/>
                    </a:solidFill>
                  </a:tcPr>
                </a:tc>
              </a:tr>
            </a:tbl>
          </a:graphicData>
        </a:graphic>
      </p:graphicFrame>
      <p:sp>
        <p:nvSpPr>
          <p:cNvPr id="8" name="Rectangle 7"/>
          <p:cNvSpPr/>
          <p:nvPr/>
        </p:nvSpPr>
        <p:spPr>
          <a:xfrm>
            <a:off x="548640" y="5669280"/>
            <a:ext cx="11094415" cy="54864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5669280"/>
            <a:ext cx="10637215" cy="548640"/>
          </a:xfrm>
          <a:prstGeom prst="rect">
            <a:avLst/>
          </a:prstGeom>
          <a:noFill/>
        </p:spPr>
        <p:txBody>
          <a:bodyPr wrap="square" anchor="ctr" lIns="45720" rIns="45720" tIns="27432" bIns="27432">
            <a:spAutoFit/>
          </a:bodyPr>
          <a:lstStyle/>
          <a:p>
            <a:pPr algn="l">
              <a:lnSpc>
                <a:spcPct val="115000"/>
              </a:lnSpc>
              <a:spcAft>
                <a:spcPts val="400"/>
              </a:spcAft>
            </a:pPr>
            <a:r>
              <a:rPr sz="1050" b="1" i="0">
                <a:solidFill>
                  <a:srgbClr val="5B3F80"/>
                </a:solidFill>
                <a:latin typeface="Montserrat"/>
              </a:rPr>
              <a:t>EL DESCUENTO NO ES LA SALIDA   </a:t>
            </a:r>
            <a:r>
              <a:rPr sz="1100" b="0" i="0">
                <a:solidFill>
                  <a:srgbClr val="2E2A36"/>
                </a:solidFill>
                <a:latin typeface="Montserrat"/>
              </a:rPr>
              <a:t>Competimos por valor, no por precio. Antes de ofrecer un descuento, refuerce lo que está incluido y la calidad del jardín. Un descuento fácil enseña al cliente a dudar del valor.</a:t>
            </a:r>
          </a:p>
        </p:txBody>
      </p:sp>
      <p:sp>
        <p:nvSpPr>
          <p:cNvPr id="10" name="TextBox 9"/>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1" name="TextBox 10"/>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06 · PRECIOS, REGLAS Y CONDICIONES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Reglas comerciales</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548640" y="1645920"/>
          <a:ext cx="11094414" cy="4389120"/>
        </p:xfrm>
        <a:graphic>
          <a:graphicData uri="http://schemas.openxmlformats.org/drawingml/2006/table">
            <a:tbl>
              <a:tblPr firstRow="1" bandRow="1">
                <a:tableStyleId>{5C22544A-7EE6-4342-B048-85BDC9FD1C3A}</a:tableStyleId>
              </a:tblPr>
              <a:tblGrid>
                <a:gridCol w="2108855"/>
                <a:gridCol w="8985559"/>
              </a:tblGrid>
              <a:tr h="548640">
                <a:tc>
                  <a:txBody>
                    <a:bodyPr wrap="square"/>
                    <a:lstStyle/>
                    <a:p>
                      <a:r>
                        <a:rPr sz="1300" b="1">
                          <a:solidFill>
                            <a:srgbClr val="FFFFFF"/>
                          </a:solidFill>
                          <a:latin typeface="Montserrat"/>
                        </a:rPr>
                        <a:t>Tema</a:t>
                      </a:r>
                    </a:p>
                  </a:txBody>
                  <a:tcPr marL="73152" marR="73152" marT="36576" marB="36576" anchor="ctr">
                    <a:solidFill>
                      <a:srgbClr val="5B3F80"/>
                    </a:solidFill>
                  </a:tcPr>
                </a:tc>
                <a:tc>
                  <a:txBody>
                    <a:bodyPr wrap="square"/>
                    <a:lstStyle/>
                    <a:p>
                      <a:r>
                        <a:rPr sz="1300" b="1">
                          <a:solidFill>
                            <a:srgbClr val="FFFFFF"/>
                          </a:solidFill>
                          <a:latin typeface="Montserrat"/>
                        </a:rPr>
                        <a:t>Regla</a:t>
                      </a:r>
                    </a:p>
                  </a:txBody>
                  <a:tcPr marL="73152" marR="73152" marT="36576" marB="36576" anchor="ctr">
                    <a:solidFill>
                      <a:srgbClr val="5B3F80"/>
                    </a:solidFill>
                  </a:tcPr>
                </a:tc>
              </a:tr>
              <a:tr h="548640">
                <a:tc>
                  <a:txBody>
                    <a:bodyPr wrap="square"/>
                    <a:lstStyle/>
                    <a:p>
                      <a:r>
                        <a:rPr sz="1300" b="1">
                          <a:solidFill>
                            <a:srgbClr val="5B3F80"/>
                          </a:solidFill>
                          <a:latin typeface="Montserrat"/>
                        </a:rPr>
                        <a:t>Precios</a:t>
                      </a:r>
                    </a:p>
                  </a:txBody>
                  <a:tcPr marL="73152" marR="73152" marT="36576" marB="36576" anchor="ctr">
                    <a:solidFill>
                      <a:srgbClr val="FFFFFF"/>
                    </a:solidFill>
                  </a:tcPr>
                </a:tc>
                <a:tc>
                  <a:txBody>
                    <a:bodyPr wrap="square"/>
                    <a:lstStyle/>
                    <a:p>
                      <a:r>
                        <a:rPr sz="1300" b="0">
                          <a:solidFill>
                            <a:srgbClr val="2E2A36"/>
                          </a:solidFill>
                          <a:latin typeface="Montserrat"/>
                        </a:rPr>
                        <a:t>Precios sugeridos en US$ con IVA incluido. Consulte siempre la Ficha Técnica vigente.</a:t>
                      </a:r>
                    </a:p>
                  </a:txBody>
                  <a:tcPr marL="73152" marR="73152" marT="36576" marB="36576" anchor="ctr">
                    <a:solidFill>
                      <a:srgbClr val="FFFFFF"/>
                    </a:solidFill>
                  </a:tcPr>
                </a:tc>
              </a:tr>
              <a:tr h="548640">
                <a:tc>
                  <a:txBody>
                    <a:bodyPr wrap="square"/>
                    <a:lstStyle/>
                    <a:p>
                      <a:r>
                        <a:rPr sz="1300" b="1">
                          <a:solidFill>
                            <a:srgbClr val="5B3F80"/>
                          </a:solidFill>
                          <a:latin typeface="Montserrat"/>
                        </a:rPr>
                        <a:t>Descuentos</a:t>
                      </a:r>
                    </a:p>
                  </a:txBody>
                  <a:tcPr marL="73152" marR="73152" marT="36576" marB="36576" anchor="ctr">
                    <a:solidFill>
                      <a:srgbClr val="F5F2F8"/>
                    </a:solidFill>
                  </a:tcPr>
                </a:tc>
                <a:tc>
                  <a:txBody>
                    <a:bodyPr wrap="square"/>
                    <a:lstStyle/>
                    <a:p>
                      <a:r>
                        <a:rPr sz="1300" b="0">
                          <a:solidFill>
                            <a:srgbClr val="2E2A36"/>
                          </a:solidFill>
                          <a:latin typeface="Montserrat"/>
                        </a:rPr>
                        <a:t>Precio de lanzamiento: 20% de descuento especial en todos los productos (ver Ficha Técnica). Cualquier otro descuento, solo con autorización del supervisor (emergencia: máximo 5%).</a:t>
                      </a:r>
                    </a:p>
                  </a:txBody>
                  <a:tcPr marL="73152" marR="73152" marT="36576" marB="36576" anchor="ctr">
                    <a:solidFill>
                      <a:srgbClr val="F5F2F8"/>
                    </a:solidFill>
                  </a:tcPr>
                </a:tc>
              </a:tr>
              <a:tr h="548640">
                <a:tc>
                  <a:txBody>
                    <a:bodyPr wrap="square"/>
                    <a:lstStyle/>
                    <a:p>
                      <a:r>
                        <a:rPr sz="1300" b="1">
                          <a:solidFill>
                            <a:srgbClr val="5B3F80"/>
                          </a:solidFill>
                          <a:latin typeface="Montserrat"/>
                        </a:rPr>
                        <a:t>Mantenimiento</a:t>
                      </a:r>
                    </a:p>
                  </a:txBody>
                  <a:tcPr marL="73152" marR="73152" marT="36576" marB="36576" anchor="ctr">
                    <a:solidFill>
                      <a:srgbClr val="FFFFFF"/>
                    </a:solidFill>
                  </a:tcPr>
                </a:tc>
                <a:tc>
                  <a:txBody>
                    <a:bodyPr wrap="square"/>
                    <a:lstStyle/>
                    <a:p>
                      <a:r>
                        <a:rPr sz="1300" b="0">
                          <a:solidFill>
                            <a:srgbClr val="2E2A36"/>
                          </a:solidFill>
                          <a:latin typeface="Montserrat"/>
                        </a:rPr>
                        <a:t>Individual US$ 15/año y Familiar US$ 24/año. No es opcional: se explica antes de firmar.</a:t>
                      </a:r>
                    </a:p>
                  </a:txBody>
                  <a:tcPr marL="73152" marR="73152" marT="36576" marB="36576" anchor="ctr">
                    <a:solidFill>
                      <a:srgbClr val="FFFFFF"/>
                    </a:solidFill>
                  </a:tcPr>
                </a:tc>
              </a:tr>
              <a:tr h="548640">
                <a:tc>
                  <a:txBody>
                    <a:bodyPr wrap="square"/>
                    <a:lstStyle/>
                    <a:p>
                      <a:r>
                        <a:rPr sz="1300" b="1">
                          <a:solidFill>
                            <a:srgbClr val="5B3F80"/>
                          </a:solidFill>
                          <a:latin typeface="Montserrat"/>
                        </a:rPr>
                        <a:t>Plazos</a:t>
                      </a:r>
                    </a:p>
                  </a:txBody>
                  <a:tcPr marL="73152" marR="73152" marT="36576" marB="36576" anchor="ctr">
                    <a:solidFill>
                      <a:srgbClr val="F5F2F8"/>
                    </a:solidFill>
                  </a:tcPr>
                </a:tc>
                <a:tc>
                  <a:txBody>
                    <a:bodyPr wrap="square"/>
                    <a:lstStyle/>
                    <a:p>
                      <a:r>
                        <a:rPr sz="1300" b="0">
                          <a:solidFill>
                            <a:srgbClr val="2E2A36"/>
                          </a:solidFill>
                          <a:latin typeface="Montserrat"/>
                        </a:rPr>
                        <a:t>Individual y Familiar: 30 años desde la primera inhumación, renovables. Ecológico y Mascotas: 3 años. Se explica con total transparencia en la primera conversación.</a:t>
                      </a:r>
                    </a:p>
                  </a:txBody>
                  <a:tcPr marL="73152" marR="73152" marT="36576" marB="36576" anchor="ctr">
                    <a:solidFill>
                      <a:srgbClr val="F5F2F8"/>
                    </a:solidFill>
                  </a:tcPr>
                </a:tc>
              </a:tr>
              <a:tr h="548640">
                <a:tc>
                  <a:txBody>
                    <a:bodyPr wrap="square"/>
                    <a:lstStyle/>
                    <a:p>
                      <a:r>
                        <a:rPr sz="1300" b="1">
                          <a:solidFill>
                            <a:srgbClr val="5B3F80"/>
                          </a:solidFill>
                          <a:latin typeface="Montserrat"/>
                        </a:rPr>
                        <a:t>Placas memoriales</a:t>
                      </a:r>
                    </a:p>
                  </a:txBody>
                  <a:tcPr marL="73152" marR="73152" marT="36576" marB="36576" anchor="ctr">
                    <a:solidFill>
                      <a:srgbClr val="FFFFFF"/>
                    </a:solidFill>
                  </a:tcPr>
                </a:tc>
                <a:tc>
                  <a:txBody>
                    <a:bodyPr wrap="square"/>
                    <a:lstStyle/>
                    <a:p>
                      <a:r>
                        <a:rPr sz="1300" b="0">
                          <a:solidFill>
                            <a:srgbClr val="2E2A36"/>
                          </a:solidFill>
                          <a:latin typeface="Montserrat"/>
                        </a:rPr>
                        <a:t>Incluida en el Jardín Ecológico y en el Jardín de Mascotas.</a:t>
                      </a:r>
                    </a:p>
                  </a:txBody>
                  <a:tcPr marL="73152" marR="73152" marT="36576" marB="36576" anchor="ctr">
                    <a:solidFill>
                      <a:srgbClr val="FFFFFF"/>
                    </a:solidFill>
                  </a:tcPr>
                </a:tc>
              </a:tr>
              <a:tr h="548640">
                <a:tc>
                  <a:txBody>
                    <a:bodyPr wrap="square"/>
                    <a:lstStyle/>
                    <a:p>
                      <a:r>
                        <a:rPr sz="1300" b="1">
                          <a:solidFill>
                            <a:srgbClr val="5B3F80"/>
                          </a:solidFill>
                          <a:latin typeface="Montserrat"/>
                        </a:rPr>
                        <a:t>Dueño del contacto</a:t>
                      </a:r>
                    </a:p>
                  </a:txBody>
                  <a:tcPr marL="73152" marR="73152" marT="36576" marB="36576" anchor="ctr">
                    <a:solidFill>
                      <a:srgbClr val="F5F2F8"/>
                    </a:solidFill>
                  </a:tcPr>
                </a:tc>
                <a:tc>
                  <a:txBody>
                    <a:bodyPr wrap="square"/>
                    <a:lstStyle/>
                    <a:p>
                      <a:r>
                        <a:rPr sz="1300" b="0">
                          <a:solidFill>
                            <a:srgbClr val="2E2A36"/>
                          </a:solidFill>
                          <a:latin typeface="Montserrat"/>
                        </a:rPr>
                        <a:t>Quien registra primero. Sin interacción en 15 días, el contacto puede reasignarse.</a:t>
                      </a:r>
                    </a:p>
                  </a:txBody>
                  <a:tcPr marL="73152" marR="73152" marT="36576" marB="36576" anchor="ctr">
                    <a:solidFill>
                      <a:srgbClr val="F5F2F8"/>
                    </a:solidFill>
                  </a:tcPr>
                </a:tc>
              </a:tr>
              <a:tr h="548640">
                <a:tc>
                  <a:txBody>
                    <a:bodyPr wrap="square"/>
                    <a:lstStyle/>
                    <a:p>
                      <a:r>
                        <a:rPr sz="1300" b="1">
                          <a:solidFill>
                            <a:srgbClr val="5B3F80"/>
                          </a:solidFill>
                          <a:latin typeface="Montserrat"/>
                        </a:rPr>
                        <a:t>Lo que NO se promete</a:t>
                      </a:r>
                    </a:p>
                  </a:txBody>
                  <a:tcPr marL="73152" marR="73152" marT="36576" marB="36576" anchor="ctr">
                    <a:solidFill>
                      <a:srgbClr val="FFFFFF"/>
                    </a:solidFill>
                  </a:tcPr>
                </a:tc>
                <a:tc>
                  <a:txBody>
                    <a:bodyPr wrap="square"/>
                    <a:lstStyle/>
                    <a:p>
                      <a:r>
                        <a:rPr sz="1300" b="0">
                          <a:solidFill>
                            <a:srgbClr val="2E2A36"/>
                          </a:solidFill>
                          <a:latin typeface="Montserrat"/>
                        </a:rPr>
                        <a:t>Fechas o precios del Jardín Ceremonial; descuentos fuera de política; ubicaciones específicas sin confirmar disponibilidad.</a:t>
                      </a:r>
                    </a:p>
                  </a:txBody>
                  <a:tcPr marL="73152" marR="73152" marT="36576" marB="36576" anchor="ctr">
                    <a:solidFill>
                      <a:srgbClr val="FFFFFF"/>
                    </a:solidFill>
                  </a:tcPr>
                </a:tc>
              </a:tr>
            </a:tbl>
          </a:graphicData>
        </a:graphic>
      </p:graphicFrame>
      <p:sp>
        <p:nvSpPr>
          <p:cNvPr id="7" name="TextBox 6"/>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8" name="TextBox 7"/>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TextBox 1"/>
          <p:cNvSpPr txBox="1"/>
          <p:nvPr/>
        </p:nvSpPr>
        <p:spPr>
          <a:xfrm>
            <a:off x="914400" y="1417320"/>
            <a:ext cx="3200400" cy="1920240"/>
          </a:xfrm>
          <a:prstGeom prst="rect">
            <a:avLst/>
          </a:prstGeom>
          <a:noFill/>
        </p:spPr>
        <p:txBody>
          <a:bodyPr wrap="square" anchor="t" lIns="45720" rIns="45720" tIns="27432" bIns="27432">
            <a:spAutoFit/>
          </a:bodyPr>
          <a:lstStyle/>
          <a:p>
            <a:pPr algn="l">
              <a:lnSpc>
                <a:spcPct val="115000"/>
              </a:lnSpc>
              <a:spcAft>
                <a:spcPts val="400"/>
              </a:spcAft>
            </a:pPr>
            <a:r>
              <a:rPr sz="11000" b="1" i="0">
                <a:solidFill>
                  <a:srgbClr val="C9A86A"/>
                </a:solidFill>
                <a:latin typeface="Playfair Display"/>
              </a:rPr>
              <a:t>07</a:t>
            </a:r>
          </a:p>
        </p:txBody>
      </p:sp>
      <p:sp>
        <p:nvSpPr>
          <p:cNvPr id="3" name="TextBox 2"/>
          <p:cNvSpPr txBox="1"/>
          <p:nvPr/>
        </p:nvSpPr>
        <p:spPr>
          <a:xfrm>
            <a:off x="914400" y="3429000"/>
            <a:ext cx="10515600" cy="914400"/>
          </a:xfrm>
          <a:prstGeom prst="rect">
            <a:avLst/>
          </a:prstGeom>
          <a:noFill/>
        </p:spPr>
        <p:txBody>
          <a:bodyPr wrap="square" anchor="t" lIns="45720" rIns="45720" tIns="27432" bIns="27432">
            <a:spAutoFit/>
          </a:bodyPr>
          <a:lstStyle/>
          <a:p>
            <a:pPr algn="l">
              <a:lnSpc>
                <a:spcPct val="115000"/>
              </a:lnSpc>
              <a:spcAft>
                <a:spcPts val="400"/>
              </a:spcAft>
            </a:pPr>
            <a:r>
              <a:rPr sz="4000" b="1" i="0">
                <a:solidFill>
                  <a:srgbClr val="FFFFFF"/>
                </a:solidFill>
                <a:latin typeface="Playfair Display"/>
              </a:rPr>
              <a:t>Política de comisiones</a:t>
            </a:r>
          </a:p>
        </p:txBody>
      </p:sp>
      <p:sp>
        <p:nvSpPr>
          <p:cNvPr id="4" name="Rectangle 3"/>
          <p:cNvSpPr/>
          <p:nvPr/>
        </p:nvSpPr>
        <p:spPr>
          <a:xfrm>
            <a:off x="960120" y="443484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617720"/>
            <a:ext cx="10058400" cy="73152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D9CFE6"/>
                </a:solidFill>
                <a:latin typeface="Montserrat"/>
              </a:rPr>
              <a:t>La comisión premia la venta buena, no solo la venta.</a:t>
            </a:r>
          </a:p>
        </p:txBody>
      </p:sp>
      <p:sp>
        <p:nvSpPr>
          <p:cNvPr id="6" name="TextBox 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D9CFE6"/>
                </a:solidFill>
                <a:latin typeface="Montserrat"/>
              </a:rPr>
              <a:t>Playbook Comercial  ·  La Auxiliadora · Hogar de las Memorias · Las Colinas · Vangrupo</a:t>
            </a:r>
          </a:p>
        </p:txBody>
      </p:sp>
      <p:sp>
        <p:nvSpPr>
          <p:cNvPr id="7" name="TextBox 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D9CFE6"/>
                </a:solidFill>
                <a:latin typeface="Montserrat"/>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07 · POLÍTICA DE COMISIONES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Comisión única de 8%</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444752"/>
            <a:ext cx="11094415" cy="41148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Sobre el precio sin IVA. Confirmar con la Gerencia Comercial antes de aplicar.</a:t>
            </a:r>
          </a:p>
        </p:txBody>
      </p:sp>
      <p:pic>
        <p:nvPicPr>
          <p:cNvPr id="7" name="Picture 6" descr="05_comisiones.png"/>
          <p:cNvPicPr>
            <a:picLocks noChangeAspect="1"/>
          </p:cNvPicPr>
          <p:nvPr/>
        </p:nvPicPr>
        <p:blipFill>
          <a:blip r:embed="rId2"/>
          <a:stretch>
            <a:fillRect/>
          </a:stretch>
        </p:blipFill>
        <p:spPr>
          <a:xfrm>
            <a:off x="548640" y="2951226"/>
            <a:ext cx="6035040" cy="1961388"/>
          </a:xfrm>
          <a:prstGeom prst="rect">
            <a:avLst/>
          </a:prstGeom>
        </p:spPr>
      </p:pic>
      <p:sp>
        <p:nvSpPr>
          <p:cNvPr id="8" name="TextBox 7"/>
          <p:cNvSpPr txBox="1"/>
          <p:nvPr/>
        </p:nvSpPr>
        <p:spPr>
          <a:xfrm>
            <a:off x="6812280" y="1965960"/>
            <a:ext cx="4846320" cy="365760"/>
          </a:xfrm>
          <a:prstGeom prst="rect">
            <a:avLst/>
          </a:prstGeom>
          <a:noFill/>
        </p:spPr>
        <p:txBody>
          <a:bodyPr wrap="square" anchor="t" lIns="45720" rIns="45720" tIns="27432" bIns="27432">
            <a:spAutoFit/>
          </a:bodyPr>
          <a:lstStyle/>
          <a:p>
            <a:pPr algn="l">
              <a:lnSpc>
                <a:spcPct val="115000"/>
              </a:lnSpc>
              <a:spcAft>
                <a:spcPts val="400"/>
              </a:spcAft>
            </a:pPr>
            <a:r>
              <a:rPr sz="1800" b="1" i="0">
                <a:solidFill>
                  <a:srgbClr val="5B3F80"/>
                </a:solidFill>
                <a:latin typeface="Playfair Display"/>
              </a:rPr>
              <a:t>Reglas de comisión</a:t>
            </a:r>
          </a:p>
        </p:txBody>
      </p:sp>
      <p:sp>
        <p:nvSpPr>
          <p:cNvPr id="9" name="TextBox 8"/>
          <p:cNvSpPr txBox="1"/>
          <p:nvPr/>
        </p:nvSpPr>
        <p:spPr>
          <a:xfrm>
            <a:off x="6812280" y="2423160"/>
            <a:ext cx="4846320" cy="2743200"/>
          </a:xfrm>
          <a:prstGeom prst="rect">
            <a:avLst/>
          </a:prstGeom>
          <a:noFill/>
        </p:spPr>
        <p:txBody>
          <a:bodyPr wrap="square" anchor="t" lIns="45720" rIns="45720" tIns="27432" bIns="27432">
            <a:spAutoFit/>
          </a:bodyPr>
          <a:lstStyle/>
          <a:p>
            <a:pPr algn="l">
              <a:lnSpc>
                <a:spcPct val="115000"/>
              </a:lnSpc>
              <a:spcAft>
                <a:spcPts val="500"/>
              </a:spcAft>
            </a:pPr>
            <a:r>
              <a:rPr sz="900" b="1" i="0">
                <a:solidFill>
                  <a:srgbClr val="C9A86A"/>
                </a:solidFill>
                <a:latin typeface="Montserrat"/>
              </a:rPr>
              <a:t>■  </a:t>
            </a:r>
            <a:r>
              <a:rPr sz="1200" b="0" i="0">
                <a:solidFill>
                  <a:srgbClr val="2E2A36"/>
                </a:solidFill>
                <a:latin typeface="Montserrat"/>
              </a:rPr>
              <a:t>Base de cálculo: valor efectivamente cobrado al cliente, sin IVA (13%).</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Comisión única de 8% para todos los productos.</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No generan comisión: cuotas de mantenimiento anual (US$ 15 / US$ 24).</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Bono de venta combinada: US$ 15 al vender la Solución Modular junto con cualquier jardín.</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Acelerador Día de los Muertos (opcional): +2 pp en Individual y Ecológico hasta el 30/11/2026.</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Estorno: la comisión se descuenta de los pagos siguientes al asesor.</a:t>
            </a:r>
          </a:p>
        </p:txBody>
      </p:sp>
      <p:sp>
        <p:nvSpPr>
          <p:cNvPr id="10" name="Rectangle 9"/>
          <p:cNvSpPr/>
          <p:nvPr/>
        </p:nvSpPr>
        <p:spPr>
          <a:xfrm>
            <a:off x="6812280" y="5166360"/>
            <a:ext cx="4846320" cy="100584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949440" y="5166360"/>
            <a:ext cx="4572000" cy="1005840"/>
          </a:xfrm>
          <a:prstGeom prst="rect">
            <a:avLst/>
          </a:prstGeom>
          <a:noFill/>
        </p:spPr>
        <p:txBody>
          <a:bodyPr wrap="square" anchor="ctr" lIns="45720" rIns="45720" tIns="27432" bIns="27432">
            <a:spAutoFit/>
          </a:bodyPr>
          <a:lstStyle/>
          <a:p>
            <a:pPr algn="l">
              <a:lnSpc>
                <a:spcPct val="115000"/>
              </a:lnSpc>
              <a:spcAft>
                <a:spcPts val="400"/>
              </a:spcAft>
            </a:pPr>
            <a:r>
              <a:rPr sz="1150" b="0" i="1">
                <a:solidFill>
                  <a:srgbClr val="2E2A36"/>
                </a:solidFill>
                <a:latin typeface="Montserrat"/>
              </a:rPr>
              <a:t>La comisión premia la venta buena, no solo la venta: una familia que paga a tiempo vale más que un contrato que se cancela. Por eso el pago está ligado al cobro.</a:t>
            </a:r>
          </a:p>
        </p:txBody>
      </p:sp>
      <p:sp>
        <p:nvSpPr>
          <p:cNvPr id="12" name="TextBox 11"/>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3" name="TextBox 12"/>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07 · POLÍTICA DE COMISIONES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Cuándo se paga y cuándo se descuenta</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548640" y="1645920"/>
          <a:ext cx="11094413" cy="4389120"/>
        </p:xfrm>
        <a:graphic>
          <a:graphicData uri="http://schemas.openxmlformats.org/drawingml/2006/table">
            <a:tbl>
              <a:tblPr firstRow="1" bandRow="1">
                <a:tableStyleId>{5C22544A-7EE6-4342-B048-85BDC9FD1C3A}</a:tableStyleId>
              </a:tblPr>
              <a:tblGrid>
                <a:gridCol w="2326248"/>
                <a:gridCol w="715768"/>
                <a:gridCol w="1610479"/>
                <a:gridCol w="4115670"/>
                <a:gridCol w="2326248"/>
              </a:tblGrid>
              <a:tr h="548640">
                <a:tc>
                  <a:txBody>
                    <a:bodyPr wrap="square"/>
                    <a:lstStyle/>
                    <a:p>
                      <a:r>
                        <a:rPr sz="1200" b="1">
                          <a:solidFill>
                            <a:srgbClr val="FFFFFF"/>
                          </a:solidFill>
                          <a:latin typeface="Montserrat"/>
                        </a:rPr>
                        <a:t>Producto</a:t>
                      </a:r>
                    </a:p>
                  </a:txBody>
                  <a:tcPr marL="73152" marR="73152" marT="36576" marB="36576" anchor="ctr">
                    <a:solidFill>
                      <a:srgbClr val="5B3F80"/>
                    </a:solidFill>
                  </a:tcPr>
                </a:tc>
                <a:tc>
                  <a:txBody>
                    <a:bodyPr wrap="square"/>
                    <a:lstStyle/>
                    <a:p>
                      <a:r>
                        <a:rPr sz="1200" b="1">
                          <a:solidFill>
                            <a:srgbClr val="FFFFFF"/>
                          </a:solidFill>
                          <a:latin typeface="Montserrat"/>
                        </a:rPr>
                        <a:t>%</a:t>
                      </a:r>
                    </a:p>
                  </a:txBody>
                  <a:tcPr marL="73152" marR="73152" marT="36576" marB="36576" anchor="ctr">
                    <a:solidFill>
                      <a:srgbClr val="5B3F80"/>
                    </a:solidFill>
                  </a:tcPr>
                </a:tc>
                <a:tc>
                  <a:txBody>
                    <a:bodyPr wrap="square"/>
                    <a:lstStyle/>
                    <a:p>
                      <a:r>
                        <a:rPr sz="1200" b="1">
                          <a:solidFill>
                            <a:srgbClr val="FFFFFF"/>
                          </a:solidFill>
                          <a:latin typeface="Montserrat"/>
                        </a:rPr>
                        <a:t>Comisión (sin IVA)</a:t>
                      </a:r>
                    </a:p>
                  </a:txBody>
                  <a:tcPr marL="73152" marR="73152" marT="36576" marB="36576" anchor="ctr">
                    <a:solidFill>
                      <a:srgbClr val="5B3F80"/>
                    </a:solidFill>
                  </a:tcPr>
                </a:tc>
                <a:tc>
                  <a:txBody>
                    <a:bodyPr wrap="square"/>
                    <a:lstStyle/>
                    <a:p>
                      <a:r>
                        <a:rPr sz="1200" b="1">
                          <a:solidFill>
                            <a:srgbClr val="FFFFFF"/>
                          </a:solidFill>
                          <a:latin typeface="Montserrat"/>
                        </a:rPr>
                        <a:t>Cuándo se paga</a:t>
                      </a:r>
                    </a:p>
                  </a:txBody>
                  <a:tcPr marL="73152" marR="73152" marT="36576" marB="36576" anchor="ctr">
                    <a:solidFill>
                      <a:srgbClr val="5B3F80"/>
                    </a:solidFill>
                  </a:tcPr>
                </a:tc>
                <a:tc>
                  <a:txBody>
                    <a:bodyPr wrap="square"/>
                    <a:lstStyle/>
                    <a:p>
                      <a:r>
                        <a:rPr sz="1200" b="1">
                          <a:solidFill>
                            <a:srgbClr val="FFFFFF"/>
                          </a:solidFill>
                          <a:latin typeface="Montserrat"/>
                        </a:rPr>
                        <a:t>Estorno</a:t>
                      </a:r>
                    </a:p>
                  </a:txBody>
                  <a:tcPr marL="73152" marR="73152" marT="36576" marB="36576" anchor="ctr">
                    <a:solidFill>
                      <a:srgbClr val="5B3F80"/>
                    </a:solidFill>
                  </a:tcPr>
                </a:tc>
              </a:tr>
              <a:tr h="548640">
                <a:tc>
                  <a:txBody>
                    <a:bodyPr wrap="square"/>
                    <a:lstStyle/>
                    <a:p>
                      <a:r>
                        <a:rPr sz="1200" b="1">
                          <a:solidFill>
                            <a:srgbClr val="5B3F80"/>
                          </a:solidFill>
                          <a:latin typeface="Montserrat"/>
                        </a:rPr>
                        <a:t>Solución Modular</a:t>
                      </a:r>
                    </a:p>
                  </a:txBody>
                  <a:tcPr marL="73152" marR="73152" marT="36576" marB="36576" anchor="ctr">
                    <a:solidFill>
                      <a:srgbClr val="FFFFFF"/>
                    </a:solidFill>
                  </a:tcPr>
                </a:tc>
                <a:tc>
                  <a:txBody>
                    <a:bodyPr wrap="square"/>
                    <a:lstStyle/>
                    <a:p>
                      <a:r>
                        <a:rPr sz="1200" b="0">
                          <a:solidFill>
                            <a:srgbClr val="2E2A36"/>
                          </a:solidFill>
                          <a:latin typeface="Montserrat"/>
                        </a:rPr>
                        <a:t>8%</a:t>
                      </a:r>
                    </a:p>
                  </a:txBody>
                  <a:tcPr marL="73152" marR="73152" marT="36576" marB="36576" anchor="ctr">
                    <a:solidFill>
                      <a:srgbClr val="FFFFFF"/>
                    </a:solidFill>
                  </a:tcPr>
                </a:tc>
                <a:tc>
                  <a:txBody>
                    <a:bodyPr wrap="square"/>
                    <a:lstStyle/>
                    <a:p>
                      <a:r>
                        <a:rPr sz="1200" b="0">
                          <a:solidFill>
                            <a:srgbClr val="2E2A36"/>
                          </a:solidFill>
                          <a:latin typeface="Montserrat"/>
                        </a:rPr>
                        <a:t>US$ 70,80</a:t>
                      </a:r>
                    </a:p>
                  </a:txBody>
                  <a:tcPr marL="73152" marR="73152" marT="36576" marB="36576" anchor="ctr">
                    <a:solidFill>
                      <a:srgbClr val="FFFFFF"/>
                    </a:solidFill>
                  </a:tcPr>
                </a:tc>
                <a:tc>
                  <a:txBody>
                    <a:bodyPr wrap="square"/>
                    <a:lstStyle/>
                    <a:p>
                      <a:r>
                        <a:rPr sz="1200" b="0">
                          <a:solidFill>
                            <a:srgbClr val="2E2A36"/>
                          </a:solidFill>
                          <a:latin typeface="Montserrat"/>
                        </a:rPr>
                        <a:t>Pago único al pagar el cliente la 3ª cuota</a:t>
                      </a:r>
                    </a:p>
                  </a:txBody>
                  <a:tcPr marL="73152" marR="73152" marT="36576" marB="36576" anchor="ctr">
                    <a:solidFill>
                      <a:srgbClr val="FFFFFF"/>
                    </a:solidFill>
                  </a:tcPr>
                </a:tc>
                <a:tc>
                  <a:txBody>
                    <a:bodyPr wrap="square"/>
                    <a:lstStyle/>
                    <a:p>
                      <a:r>
                        <a:rPr sz="1200" b="0">
                          <a:solidFill>
                            <a:srgbClr val="2E2A36"/>
                          </a:solidFill>
                          <a:latin typeface="Montserrat"/>
                        </a:rPr>
                        <a:t>Si cancela antes de la 12ª cuota</a:t>
                      </a:r>
                    </a:p>
                  </a:txBody>
                  <a:tcPr marL="73152" marR="73152" marT="36576" marB="36576" anchor="ctr">
                    <a:solidFill>
                      <a:srgbClr val="FFFFFF"/>
                    </a:solidFill>
                  </a:tcPr>
                </a:tc>
              </a:tr>
              <a:tr h="548640">
                <a:tc>
                  <a:txBody>
                    <a:bodyPr wrap="square"/>
                    <a:lstStyle/>
                    <a:p>
                      <a:r>
                        <a:rPr sz="1200" b="1">
                          <a:solidFill>
                            <a:srgbClr val="5B3F80"/>
                          </a:solidFill>
                          <a:latin typeface="Montserrat"/>
                        </a:rPr>
                        <a:t>Jardín Individual</a:t>
                      </a:r>
                    </a:p>
                  </a:txBody>
                  <a:tcPr marL="73152" marR="73152" marT="36576" marB="36576" anchor="ctr">
                    <a:solidFill>
                      <a:srgbClr val="F5F2F8"/>
                    </a:solidFill>
                  </a:tcPr>
                </a:tc>
                <a:tc>
                  <a:txBody>
                    <a:bodyPr wrap="square"/>
                    <a:lstStyle/>
                    <a:p>
                      <a:r>
                        <a:rPr sz="1200" b="0">
                          <a:solidFill>
                            <a:srgbClr val="2E2A36"/>
                          </a:solidFill>
                          <a:latin typeface="Montserrat"/>
                        </a:rPr>
                        <a:t>8%</a:t>
                      </a:r>
                    </a:p>
                  </a:txBody>
                  <a:tcPr marL="73152" marR="73152" marT="36576" marB="36576" anchor="ctr">
                    <a:solidFill>
                      <a:srgbClr val="F5F2F8"/>
                    </a:solidFill>
                  </a:tcPr>
                </a:tc>
                <a:tc>
                  <a:txBody>
                    <a:bodyPr wrap="square"/>
                    <a:lstStyle/>
                    <a:p>
                      <a:r>
                        <a:rPr sz="1200" b="0">
                          <a:solidFill>
                            <a:srgbClr val="2E2A36"/>
                          </a:solidFill>
                          <a:latin typeface="Montserrat"/>
                        </a:rPr>
                        <a:t>US$ 42,48</a:t>
                      </a:r>
                    </a:p>
                  </a:txBody>
                  <a:tcPr marL="73152" marR="73152" marT="36576" marB="36576" anchor="ctr">
                    <a:solidFill>
                      <a:srgbClr val="F5F2F8"/>
                    </a:solidFill>
                  </a:tcPr>
                </a:tc>
                <a:tc>
                  <a:txBody>
                    <a:bodyPr wrap="square"/>
                    <a:lstStyle/>
                    <a:p>
                      <a:r>
                        <a:rPr sz="1200" b="0">
                          <a:solidFill>
                            <a:srgbClr val="2E2A36"/>
                          </a:solidFill>
                          <a:latin typeface="Montserrat"/>
                        </a:rPr>
                        <a:t>Contado: mes siguiente · Financiado: proporcional a lo cobrado</a:t>
                      </a:r>
                    </a:p>
                  </a:txBody>
                  <a:tcPr marL="73152" marR="73152" marT="36576" marB="36576" anchor="ctr">
                    <a:solidFill>
                      <a:srgbClr val="F5F2F8"/>
                    </a:solidFill>
                  </a:tcPr>
                </a:tc>
                <a:tc>
                  <a:txBody>
                    <a:bodyPr wrap="square"/>
                    <a:lstStyle/>
                    <a:p>
                      <a:r>
                        <a:rPr sz="1200" b="0">
                          <a:solidFill>
                            <a:srgbClr val="2E2A36"/>
                          </a:solidFill>
                          <a:latin typeface="Montserrat"/>
                        </a:rPr>
                        <a:t>Cancelación en 90 días</a:t>
                      </a:r>
                    </a:p>
                  </a:txBody>
                  <a:tcPr marL="73152" marR="73152" marT="36576" marB="36576" anchor="ctr">
                    <a:solidFill>
                      <a:srgbClr val="F5F2F8"/>
                    </a:solidFill>
                  </a:tcPr>
                </a:tc>
              </a:tr>
              <a:tr h="548640">
                <a:tc>
                  <a:txBody>
                    <a:bodyPr wrap="square"/>
                    <a:lstStyle/>
                    <a:p>
                      <a:r>
                        <a:rPr sz="1200" b="1">
                          <a:solidFill>
                            <a:srgbClr val="5B3F80"/>
                          </a:solidFill>
                          <a:latin typeface="Montserrat"/>
                        </a:rPr>
                        <a:t>Jardín Familiar</a:t>
                      </a:r>
                    </a:p>
                  </a:txBody>
                  <a:tcPr marL="73152" marR="73152" marT="36576" marB="36576" anchor="ctr">
                    <a:solidFill>
                      <a:srgbClr val="FFFFFF"/>
                    </a:solidFill>
                  </a:tcPr>
                </a:tc>
                <a:tc>
                  <a:txBody>
                    <a:bodyPr wrap="square"/>
                    <a:lstStyle/>
                    <a:p>
                      <a:r>
                        <a:rPr sz="1200" b="0">
                          <a:solidFill>
                            <a:srgbClr val="2E2A36"/>
                          </a:solidFill>
                          <a:latin typeface="Montserrat"/>
                        </a:rPr>
                        <a:t>8%</a:t>
                      </a:r>
                    </a:p>
                  </a:txBody>
                  <a:tcPr marL="73152" marR="73152" marT="36576" marB="36576" anchor="ctr">
                    <a:solidFill>
                      <a:srgbClr val="FFFFFF"/>
                    </a:solidFill>
                  </a:tcPr>
                </a:tc>
                <a:tc>
                  <a:txBody>
                    <a:bodyPr wrap="square"/>
                    <a:lstStyle/>
                    <a:p>
                      <a:r>
                        <a:rPr sz="1200" b="0">
                          <a:solidFill>
                            <a:srgbClr val="2E2A36"/>
                          </a:solidFill>
                          <a:latin typeface="Montserrat"/>
                        </a:rPr>
                        <a:t>US$ 141,59</a:t>
                      </a:r>
                    </a:p>
                  </a:txBody>
                  <a:tcPr marL="73152" marR="73152" marT="36576" marB="36576" anchor="ctr">
                    <a:solidFill>
                      <a:srgbClr val="FFFFFF"/>
                    </a:solidFill>
                  </a:tcPr>
                </a:tc>
                <a:tc>
                  <a:txBody>
                    <a:bodyPr wrap="square"/>
                    <a:lstStyle/>
                    <a:p>
                      <a:r>
                        <a:rPr sz="1200" b="0">
                          <a:solidFill>
                            <a:srgbClr val="2E2A36"/>
                          </a:solidFill>
                          <a:latin typeface="Montserrat"/>
                        </a:rPr>
                        <a:t>Contado: mes siguiente · Financiado: proporcional a lo cobrado</a:t>
                      </a:r>
                    </a:p>
                  </a:txBody>
                  <a:tcPr marL="73152" marR="73152" marT="36576" marB="36576" anchor="ctr">
                    <a:solidFill>
                      <a:srgbClr val="FFFFFF"/>
                    </a:solidFill>
                  </a:tcPr>
                </a:tc>
                <a:tc>
                  <a:txBody>
                    <a:bodyPr wrap="square"/>
                    <a:lstStyle/>
                    <a:p>
                      <a:r>
                        <a:rPr sz="1200" b="0">
                          <a:solidFill>
                            <a:srgbClr val="2E2A36"/>
                          </a:solidFill>
                          <a:latin typeface="Montserrat"/>
                        </a:rPr>
                        <a:t>Cancelación en 90 días</a:t>
                      </a:r>
                    </a:p>
                  </a:txBody>
                  <a:tcPr marL="73152" marR="73152" marT="36576" marB="36576" anchor="ctr">
                    <a:solidFill>
                      <a:srgbClr val="FFFFFF"/>
                    </a:solidFill>
                  </a:tcPr>
                </a:tc>
              </a:tr>
              <a:tr h="548640">
                <a:tc>
                  <a:txBody>
                    <a:bodyPr wrap="square"/>
                    <a:lstStyle/>
                    <a:p>
                      <a:r>
                        <a:rPr sz="1200" b="1">
                          <a:solidFill>
                            <a:srgbClr val="5B3F80"/>
                          </a:solidFill>
                          <a:latin typeface="Montserrat"/>
                        </a:rPr>
                        <a:t>Jardín Ecológico</a:t>
                      </a:r>
                    </a:p>
                  </a:txBody>
                  <a:tcPr marL="73152" marR="73152" marT="36576" marB="36576" anchor="ctr">
                    <a:solidFill>
                      <a:srgbClr val="F5F2F8"/>
                    </a:solidFill>
                  </a:tcPr>
                </a:tc>
                <a:tc>
                  <a:txBody>
                    <a:bodyPr wrap="square"/>
                    <a:lstStyle/>
                    <a:p>
                      <a:r>
                        <a:rPr sz="1200" b="0">
                          <a:solidFill>
                            <a:srgbClr val="2E2A36"/>
                          </a:solidFill>
                          <a:latin typeface="Montserrat"/>
                        </a:rPr>
                        <a:t>8%</a:t>
                      </a:r>
                    </a:p>
                  </a:txBody>
                  <a:tcPr marL="73152" marR="73152" marT="36576" marB="36576" anchor="ctr">
                    <a:solidFill>
                      <a:srgbClr val="F5F2F8"/>
                    </a:solidFill>
                  </a:tcPr>
                </a:tc>
                <a:tc>
                  <a:txBody>
                    <a:bodyPr wrap="square"/>
                    <a:lstStyle/>
                    <a:p>
                      <a:r>
                        <a:rPr sz="1200" b="0">
                          <a:solidFill>
                            <a:srgbClr val="2E2A36"/>
                          </a:solidFill>
                          <a:latin typeface="Montserrat"/>
                        </a:rPr>
                        <a:t>US$ 53,10</a:t>
                      </a:r>
                    </a:p>
                  </a:txBody>
                  <a:tcPr marL="73152" marR="73152" marT="36576" marB="36576" anchor="ctr">
                    <a:solidFill>
                      <a:srgbClr val="F5F2F8"/>
                    </a:solidFill>
                  </a:tcPr>
                </a:tc>
                <a:tc>
                  <a:txBody>
                    <a:bodyPr wrap="square"/>
                    <a:lstStyle/>
                    <a:p>
                      <a:r>
                        <a:rPr sz="1200" b="0">
                          <a:solidFill>
                            <a:srgbClr val="2E2A36"/>
                          </a:solidFill>
                          <a:latin typeface="Montserrat"/>
                        </a:rPr>
                        <a:t>Contado: mes siguiente · Financiado: proporcional a lo cobrado</a:t>
                      </a:r>
                    </a:p>
                  </a:txBody>
                  <a:tcPr marL="73152" marR="73152" marT="36576" marB="36576" anchor="ctr">
                    <a:solidFill>
                      <a:srgbClr val="F5F2F8"/>
                    </a:solidFill>
                  </a:tcPr>
                </a:tc>
                <a:tc>
                  <a:txBody>
                    <a:bodyPr wrap="square"/>
                    <a:lstStyle/>
                    <a:p>
                      <a:r>
                        <a:rPr sz="1200" b="0">
                          <a:solidFill>
                            <a:srgbClr val="2E2A36"/>
                          </a:solidFill>
                          <a:latin typeface="Montserrat"/>
                        </a:rPr>
                        <a:t>Cancelación en 90 días</a:t>
                      </a:r>
                    </a:p>
                  </a:txBody>
                  <a:tcPr marL="73152" marR="73152" marT="36576" marB="36576" anchor="ctr">
                    <a:solidFill>
                      <a:srgbClr val="F5F2F8"/>
                    </a:solidFill>
                  </a:tcPr>
                </a:tc>
              </a:tr>
              <a:tr h="548640">
                <a:tc>
                  <a:txBody>
                    <a:bodyPr wrap="square"/>
                    <a:lstStyle/>
                    <a:p>
                      <a:r>
                        <a:rPr sz="1200" b="1">
                          <a:solidFill>
                            <a:srgbClr val="5B3F80"/>
                          </a:solidFill>
                          <a:latin typeface="Montserrat"/>
                        </a:rPr>
                        <a:t>Mascotas · solo espacio</a:t>
                      </a:r>
                    </a:p>
                  </a:txBody>
                  <a:tcPr marL="73152" marR="73152" marT="36576" marB="36576" anchor="ctr">
                    <a:solidFill>
                      <a:srgbClr val="FFFFFF"/>
                    </a:solidFill>
                  </a:tcPr>
                </a:tc>
                <a:tc>
                  <a:txBody>
                    <a:bodyPr wrap="square"/>
                    <a:lstStyle/>
                    <a:p>
                      <a:r>
                        <a:rPr sz="1200" b="0">
                          <a:solidFill>
                            <a:srgbClr val="2E2A36"/>
                          </a:solidFill>
                          <a:latin typeface="Montserrat"/>
                        </a:rPr>
                        <a:t>8%</a:t>
                      </a:r>
                    </a:p>
                  </a:txBody>
                  <a:tcPr marL="73152" marR="73152" marT="36576" marB="36576" anchor="ctr">
                    <a:solidFill>
                      <a:srgbClr val="FFFFFF"/>
                    </a:solidFill>
                  </a:tcPr>
                </a:tc>
                <a:tc>
                  <a:txBody>
                    <a:bodyPr wrap="square"/>
                    <a:lstStyle/>
                    <a:p>
                      <a:r>
                        <a:rPr sz="1200" b="0">
                          <a:solidFill>
                            <a:srgbClr val="2E2A36"/>
                          </a:solidFill>
                          <a:latin typeface="Montserrat"/>
                        </a:rPr>
                        <a:t>US$ 28,32</a:t>
                      </a:r>
                    </a:p>
                  </a:txBody>
                  <a:tcPr marL="73152" marR="73152" marT="36576" marB="36576" anchor="ctr">
                    <a:solidFill>
                      <a:srgbClr val="FFFFFF"/>
                    </a:solidFill>
                  </a:tcPr>
                </a:tc>
                <a:tc>
                  <a:txBody>
                    <a:bodyPr wrap="square"/>
                    <a:lstStyle/>
                    <a:p>
                      <a:r>
                        <a:rPr sz="1200" b="0">
                          <a:solidFill>
                            <a:srgbClr val="2E2A36"/>
                          </a:solidFill>
                          <a:latin typeface="Montserrat"/>
                        </a:rPr>
                        <a:t>Mes siguiente al pago</a:t>
                      </a:r>
                    </a:p>
                  </a:txBody>
                  <a:tcPr marL="73152" marR="73152" marT="36576" marB="36576" anchor="ctr">
                    <a:solidFill>
                      <a:srgbClr val="FFFFFF"/>
                    </a:solidFill>
                  </a:tcPr>
                </a:tc>
                <a:tc>
                  <a:txBody>
                    <a:bodyPr wrap="square"/>
                    <a:lstStyle/>
                    <a:p>
                      <a:r>
                        <a:rPr sz="1200" b="0">
                          <a:solidFill>
                            <a:srgbClr val="2E2A36"/>
                          </a:solidFill>
                          <a:latin typeface="Montserrat"/>
                        </a:rPr>
                        <a:t>Cancelación en 90 días</a:t>
                      </a:r>
                    </a:p>
                  </a:txBody>
                  <a:tcPr marL="73152" marR="73152" marT="36576" marB="36576" anchor="ctr">
                    <a:solidFill>
                      <a:srgbClr val="FFFFFF"/>
                    </a:solidFill>
                  </a:tcPr>
                </a:tc>
              </a:tr>
              <a:tr h="548640">
                <a:tc>
                  <a:txBody>
                    <a:bodyPr wrap="square"/>
                    <a:lstStyle/>
                    <a:p>
                      <a:r>
                        <a:rPr sz="1200" b="1">
                          <a:solidFill>
                            <a:srgbClr val="5B3F80"/>
                          </a:solidFill>
                          <a:latin typeface="Montserrat"/>
                        </a:rPr>
                        <a:t>Mascotas · jardín + cremación</a:t>
                      </a:r>
                    </a:p>
                  </a:txBody>
                  <a:tcPr marL="73152" marR="73152" marT="36576" marB="36576" anchor="ctr">
                    <a:solidFill>
                      <a:srgbClr val="F5F2F8"/>
                    </a:solidFill>
                  </a:tcPr>
                </a:tc>
                <a:tc>
                  <a:txBody>
                    <a:bodyPr wrap="square"/>
                    <a:lstStyle/>
                    <a:p>
                      <a:r>
                        <a:rPr sz="1200" b="0">
                          <a:solidFill>
                            <a:srgbClr val="2E2A36"/>
                          </a:solidFill>
                          <a:latin typeface="Montserrat"/>
                        </a:rPr>
                        <a:t>8%</a:t>
                      </a:r>
                    </a:p>
                  </a:txBody>
                  <a:tcPr marL="73152" marR="73152" marT="36576" marB="36576" anchor="ctr">
                    <a:solidFill>
                      <a:srgbClr val="F5F2F8"/>
                    </a:solidFill>
                  </a:tcPr>
                </a:tc>
                <a:tc>
                  <a:txBody>
                    <a:bodyPr wrap="square"/>
                    <a:lstStyle/>
                    <a:p>
                      <a:r>
                        <a:rPr sz="1200" b="0">
                          <a:solidFill>
                            <a:srgbClr val="2E2A36"/>
                          </a:solidFill>
                          <a:latin typeface="Montserrat"/>
                        </a:rPr>
                        <a:t>US$ 38,94</a:t>
                      </a:r>
                    </a:p>
                  </a:txBody>
                  <a:tcPr marL="73152" marR="73152" marT="36576" marB="36576" anchor="ctr">
                    <a:solidFill>
                      <a:srgbClr val="F5F2F8"/>
                    </a:solidFill>
                  </a:tcPr>
                </a:tc>
                <a:tc>
                  <a:txBody>
                    <a:bodyPr wrap="square"/>
                    <a:lstStyle/>
                    <a:p>
                      <a:r>
                        <a:rPr sz="1200" b="0">
                          <a:solidFill>
                            <a:srgbClr val="2E2A36"/>
                          </a:solidFill>
                          <a:latin typeface="Montserrat"/>
                        </a:rPr>
                        <a:t>Mes siguiente al pago</a:t>
                      </a:r>
                    </a:p>
                  </a:txBody>
                  <a:tcPr marL="73152" marR="73152" marT="36576" marB="36576" anchor="ctr">
                    <a:solidFill>
                      <a:srgbClr val="F5F2F8"/>
                    </a:solidFill>
                  </a:tcPr>
                </a:tc>
                <a:tc>
                  <a:txBody>
                    <a:bodyPr wrap="square"/>
                    <a:lstStyle/>
                    <a:p>
                      <a:r>
                        <a:rPr sz="1200" b="0">
                          <a:solidFill>
                            <a:srgbClr val="2E2A36"/>
                          </a:solidFill>
                          <a:latin typeface="Montserrat"/>
                        </a:rPr>
                        <a:t>Cancelación en 90 días</a:t>
                      </a:r>
                    </a:p>
                  </a:txBody>
                  <a:tcPr marL="73152" marR="73152" marT="36576" marB="36576" anchor="ctr">
                    <a:solidFill>
                      <a:srgbClr val="F5F2F8"/>
                    </a:solidFill>
                  </a:tcPr>
                </a:tc>
              </a:tr>
              <a:tr h="548640">
                <a:tc>
                  <a:txBody>
                    <a:bodyPr wrap="square"/>
                    <a:lstStyle/>
                    <a:p>
                      <a:r>
                        <a:rPr sz="1200" b="1">
                          <a:solidFill>
                            <a:srgbClr val="5B3F80"/>
                          </a:solidFill>
                          <a:latin typeface="Montserrat"/>
                        </a:rPr>
                        <a:t>Jardín Ceremonial</a:t>
                      </a:r>
                    </a:p>
                  </a:txBody>
                  <a:tcPr marL="73152" marR="73152" marT="36576" marB="36576" anchor="ctr">
                    <a:solidFill>
                      <a:srgbClr val="FBF6EC"/>
                    </a:solidFill>
                  </a:tcPr>
                </a:tc>
                <a:tc>
                  <a:txBody>
                    <a:bodyPr wrap="square"/>
                    <a:lstStyle/>
                    <a:p>
                      <a:r>
                        <a:rPr sz="1200" b="0">
                          <a:solidFill>
                            <a:srgbClr val="2E2A36"/>
                          </a:solidFill>
                          <a:latin typeface="Montserrat"/>
                        </a:rPr>
                        <a:t>A definir</a:t>
                      </a:r>
                    </a:p>
                  </a:txBody>
                  <a:tcPr marL="73152" marR="73152" marT="36576" marB="36576" anchor="ctr">
                    <a:solidFill>
                      <a:srgbClr val="FBF6EC"/>
                    </a:solidFill>
                  </a:tcPr>
                </a:tc>
                <a:tc>
                  <a:txBody>
                    <a:bodyPr wrap="square"/>
                    <a:lstStyle/>
                    <a:p>
                      <a:r>
                        <a:rPr sz="1200" b="0">
                          <a:solidFill>
                            <a:srgbClr val="2E2A36"/>
                          </a:solidFill>
                          <a:latin typeface="Montserrat"/>
                        </a:rPr>
                        <a:t>—</a:t>
                      </a:r>
                    </a:p>
                  </a:txBody>
                  <a:tcPr marL="73152" marR="73152" marT="36576" marB="36576" anchor="ctr">
                    <a:solidFill>
                      <a:srgbClr val="FBF6EC"/>
                    </a:solidFill>
                  </a:tcPr>
                </a:tc>
                <a:tc>
                  <a:txBody>
                    <a:bodyPr wrap="square"/>
                    <a:lstStyle/>
                    <a:p>
                      <a:r>
                        <a:rPr sz="1200" b="0">
                          <a:solidFill>
                            <a:srgbClr val="2E2A36"/>
                          </a:solidFill>
                          <a:latin typeface="Montserrat"/>
                        </a:rPr>
                        <a:t>—</a:t>
                      </a:r>
                    </a:p>
                  </a:txBody>
                  <a:tcPr marL="73152" marR="73152" marT="36576" marB="36576" anchor="ctr">
                    <a:solidFill>
                      <a:srgbClr val="FBF6EC"/>
                    </a:solidFill>
                  </a:tcPr>
                </a:tc>
                <a:tc>
                  <a:txBody>
                    <a:bodyPr wrap="square"/>
                    <a:lstStyle/>
                    <a:p>
                      <a:r>
                        <a:rPr sz="1200" b="0">
                          <a:solidFill>
                            <a:srgbClr val="2E2A36"/>
                          </a:solidFill>
                          <a:latin typeface="Montserrat"/>
                        </a:rPr>
                        <a:t>—</a:t>
                      </a:r>
                    </a:p>
                  </a:txBody>
                  <a:tcPr marL="73152" marR="73152" marT="36576" marB="36576" anchor="ctr">
                    <a:solidFill>
                      <a:srgbClr val="FBF6EC"/>
                    </a:solidFill>
                  </a:tcPr>
                </a:tc>
              </a:tr>
            </a:tbl>
          </a:graphicData>
        </a:graphic>
      </p:graphicFrame>
      <p:sp>
        <p:nvSpPr>
          <p:cNvPr id="7" name="TextBox 6"/>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8" name="TextBox 7"/>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TextBox 1"/>
          <p:cNvSpPr txBox="1"/>
          <p:nvPr/>
        </p:nvSpPr>
        <p:spPr>
          <a:xfrm>
            <a:off x="914400" y="1417320"/>
            <a:ext cx="3200400" cy="1920240"/>
          </a:xfrm>
          <a:prstGeom prst="rect">
            <a:avLst/>
          </a:prstGeom>
          <a:noFill/>
        </p:spPr>
        <p:txBody>
          <a:bodyPr wrap="square" anchor="t" lIns="45720" rIns="45720" tIns="27432" bIns="27432">
            <a:spAutoFit/>
          </a:bodyPr>
          <a:lstStyle/>
          <a:p>
            <a:pPr algn="l">
              <a:lnSpc>
                <a:spcPct val="115000"/>
              </a:lnSpc>
              <a:spcAft>
                <a:spcPts val="400"/>
              </a:spcAft>
            </a:pPr>
            <a:r>
              <a:rPr sz="11000" b="1" i="0">
                <a:solidFill>
                  <a:srgbClr val="C9A86A"/>
                </a:solidFill>
                <a:latin typeface="Playfair Display"/>
              </a:rPr>
              <a:t>08</a:t>
            </a:r>
          </a:p>
        </p:txBody>
      </p:sp>
      <p:sp>
        <p:nvSpPr>
          <p:cNvPr id="3" name="TextBox 2"/>
          <p:cNvSpPr txBox="1"/>
          <p:nvPr/>
        </p:nvSpPr>
        <p:spPr>
          <a:xfrm>
            <a:off x="914400" y="3429000"/>
            <a:ext cx="10515600" cy="914400"/>
          </a:xfrm>
          <a:prstGeom prst="rect">
            <a:avLst/>
          </a:prstGeom>
          <a:noFill/>
        </p:spPr>
        <p:txBody>
          <a:bodyPr wrap="square" anchor="t" lIns="45720" rIns="45720" tIns="27432" bIns="27432">
            <a:spAutoFit/>
          </a:bodyPr>
          <a:lstStyle/>
          <a:p>
            <a:pPr algn="l">
              <a:lnSpc>
                <a:spcPct val="115000"/>
              </a:lnSpc>
              <a:spcAft>
                <a:spcPts val="400"/>
              </a:spcAft>
            </a:pPr>
            <a:r>
              <a:rPr sz="4000" b="1" i="0">
                <a:solidFill>
                  <a:srgbClr val="FFFFFF"/>
                </a:solidFill>
                <a:latin typeface="Playfair Display"/>
              </a:rPr>
              <a:t>Herramientas de apoyo</a:t>
            </a:r>
          </a:p>
        </p:txBody>
      </p:sp>
      <p:sp>
        <p:nvSpPr>
          <p:cNvPr id="4" name="Rectangle 3"/>
          <p:cNvSpPr/>
          <p:nvPr/>
        </p:nvSpPr>
        <p:spPr>
          <a:xfrm>
            <a:off x="960120" y="443484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617720"/>
            <a:ext cx="10058400" cy="73152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D9CFE6"/>
                </a:solidFill>
                <a:latin typeface="Montserrat"/>
              </a:rPr>
              <a:t>Todo lo que necesita para vender con confianza.</a:t>
            </a:r>
          </a:p>
        </p:txBody>
      </p:sp>
      <p:sp>
        <p:nvSpPr>
          <p:cNvPr id="6" name="TextBox 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D9CFE6"/>
                </a:solidFill>
                <a:latin typeface="Montserrat"/>
              </a:rPr>
              <a:t>Playbook Comercial  ·  La Auxiliadora · Hogar de las Memorias · Las Colinas · Vangrupo</a:t>
            </a:r>
          </a:p>
        </p:txBody>
      </p:sp>
      <p:sp>
        <p:nvSpPr>
          <p:cNvPr id="7" name="TextBox 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D9CFE6"/>
                </a:solidFill>
                <a:latin typeface="Montserrat"/>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08 · HERRAMIENTAS DE APOYO</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Lo que usted tiene a mano</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45920"/>
            <a:ext cx="5669280" cy="7772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45920"/>
            <a:ext cx="64008" cy="77724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691640"/>
            <a:ext cx="5394960" cy="731520"/>
          </a:xfrm>
          <a:prstGeom prst="rect">
            <a:avLst/>
          </a:prstGeom>
          <a:noFill/>
        </p:spPr>
        <p:txBody>
          <a:bodyPr wrap="square" anchor="t" lIns="45720" rIns="45720" tIns="27432" bIns="27432">
            <a:spAutoFit/>
          </a:bodyPr>
          <a:lstStyle/>
          <a:p>
            <a:pPr algn="l">
              <a:lnSpc>
                <a:spcPct val="115000"/>
              </a:lnSpc>
              <a:spcAft>
                <a:spcPts val="100"/>
              </a:spcAft>
            </a:pPr>
            <a:r>
              <a:rPr sz="1300" b="1" i="0">
                <a:solidFill>
                  <a:srgbClr val="5B3F80"/>
                </a:solidFill>
                <a:latin typeface="Montserrat"/>
              </a:rPr>
              <a:t>Ficha Técnica de Cremación</a:t>
            </a:r>
          </a:p>
          <a:p>
            <a:pPr algn="l">
              <a:lnSpc>
                <a:spcPct val="115000"/>
              </a:lnSpc>
              <a:spcAft>
                <a:spcPts val="100"/>
              </a:spcAft>
            </a:pPr>
            <a:r>
              <a:rPr sz="1100" b="0" i="0">
                <a:solidFill>
                  <a:srgbClr val="2E2A36"/>
                </a:solidFill>
                <a:latin typeface="Montserrat"/>
              </a:rPr>
              <a:t>Precios, especificaciones y condiciones vigentes de cada producto.</a:t>
            </a:r>
          </a:p>
        </p:txBody>
      </p:sp>
      <p:sp>
        <p:nvSpPr>
          <p:cNvPr id="9" name="Rectangle 8"/>
          <p:cNvSpPr/>
          <p:nvPr/>
        </p:nvSpPr>
        <p:spPr>
          <a:xfrm>
            <a:off x="548640" y="2542032"/>
            <a:ext cx="5669280" cy="7772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542032"/>
            <a:ext cx="64008" cy="77724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587752"/>
            <a:ext cx="5394960" cy="731520"/>
          </a:xfrm>
          <a:prstGeom prst="rect">
            <a:avLst/>
          </a:prstGeom>
          <a:noFill/>
        </p:spPr>
        <p:txBody>
          <a:bodyPr wrap="square" anchor="t" lIns="45720" rIns="45720" tIns="27432" bIns="27432">
            <a:spAutoFit/>
          </a:bodyPr>
          <a:lstStyle/>
          <a:p>
            <a:pPr algn="l">
              <a:lnSpc>
                <a:spcPct val="115000"/>
              </a:lnSpc>
              <a:spcAft>
                <a:spcPts val="100"/>
              </a:spcAft>
            </a:pPr>
            <a:r>
              <a:rPr sz="1300" b="1" i="0">
                <a:solidFill>
                  <a:srgbClr val="5B3F80"/>
                </a:solidFill>
                <a:latin typeface="Montserrat"/>
              </a:rPr>
              <a:t>Visita al jardín</a:t>
            </a:r>
          </a:p>
          <a:p>
            <a:pPr algn="l">
              <a:lnSpc>
                <a:spcPct val="115000"/>
              </a:lnSpc>
              <a:spcAft>
                <a:spcPts val="100"/>
              </a:spcAft>
            </a:pPr>
            <a:r>
              <a:rPr sz="1100" b="0" i="0">
                <a:solidFill>
                  <a:srgbClr val="2E2A36"/>
                </a:solidFill>
                <a:latin typeface="Montserrat"/>
              </a:rPr>
              <a:t>La herramienta de venta más poderosa. Agende siempre que sea posible.</a:t>
            </a:r>
          </a:p>
        </p:txBody>
      </p:sp>
      <p:sp>
        <p:nvSpPr>
          <p:cNvPr id="12" name="Rectangle 11"/>
          <p:cNvSpPr/>
          <p:nvPr/>
        </p:nvSpPr>
        <p:spPr>
          <a:xfrm>
            <a:off x="548640" y="3438144"/>
            <a:ext cx="5669280" cy="7772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3438144"/>
            <a:ext cx="64008" cy="77724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3483864"/>
            <a:ext cx="5394960" cy="731520"/>
          </a:xfrm>
          <a:prstGeom prst="rect">
            <a:avLst/>
          </a:prstGeom>
          <a:noFill/>
        </p:spPr>
        <p:txBody>
          <a:bodyPr wrap="square" anchor="t" lIns="45720" rIns="45720" tIns="27432" bIns="27432">
            <a:spAutoFit/>
          </a:bodyPr>
          <a:lstStyle/>
          <a:p>
            <a:pPr algn="l">
              <a:lnSpc>
                <a:spcPct val="115000"/>
              </a:lnSpc>
              <a:spcAft>
                <a:spcPts val="100"/>
              </a:spcAft>
            </a:pPr>
            <a:r>
              <a:rPr sz="1300" b="1" i="0">
                <a:solidFill>
                  <a:srgbClr val="5B3F80"/>
                </a:solidFill>
                <a:latin typeface="Montserrat"/>
              </a:rPr>
              <a:t>Presentación «Jardines de Cenizas»</a:t>
            </a:r>
          </a:p>
          <a:p>
            <a:pPr algn="l">
              <a:lnSpc>
                <a:spcPct val="115000"/>
              </a:lnSpc>
              <a:spcAft>
                <a:spcPts val="100"/>
              </a:spcAft>
            </a:pPr>
            <a:r>
              <a:rPr sz="1100" b="0" i="0">
                <a:solidFill>
                  <a:srgbClr val="2E2A36"/>
                </a:solidFill>
                <a:latin typeface="Montserrat"/>
              </a:rPr>
              <a:t>Fotos y medidas de cada jardín para mostrar en la visita o en la casa.</a:t>
            </a:r>
          </a:p>
        </p:txBody>
      </p:sp>
      <p:sp>
        <p:nvSpPr>
          <p:cNvPr id="15" name="Rectangle 14"/>
          <p:cNvSpPr/>
          <p:nvPr/>
        </p:nvSpPr>
        <p:spPr>
          <a:xfrm>
            <a:off x="548640" y="4334256"/>
            <a:ext cx="5669280" cy="7772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 y="4334256"/>
            <a:ext cx="64008" cy="77724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4379976"/>
            <a:ext cx="5394960" cy="731520"/>
          </a:xfrm>
          <a:prstGeom prst="rect">
            <a:avLst/>
          </a:prstGeom>
          <a:noFill/>
        </p:spPr>
        <p:txBody>
          <a:bodyPr wrap="square" anchor="t" lIns="45720" rIns="45720" tIns="27432" bIns="27432">
            <a:spAutoFit/>
          </a:bodyPr>
          <a:lstStyle/>
          <a:p>
            <a:pPr algn="l">
              <a:lnSpc>
                <a:spcPct val="115000"/>
              </a:lnSpc>
              <a:spcAft>
                <a:spcPts val="100"/>
              </a:spcAft>
            </a:pPr>
            <a:r>
              <a:rPr sz="1300" b="1" i="0">
                <a:solidFill>
                  <a:srgbClr val="5B3F80"/>
                </a:solidFill>
                <a:latin typeface="Montserrat"/>
              </a:rPr>
              <a:t>Plazo de pago</a:t>
            </a:r>
          </a:p>
          <a:p>
            <a:pPr algn="l">
              <a:lnSpc>
                <a:spcPct val="115000"/>
              </a:lnSpc>
              <a:spcAft>
                <a:spcPts val="100"/>
              </a:spcAft>
            </a:pPr>
            <a:r>
              <a:rPr sz="1100" b="0" i="0">
                <a:solidFill>
                  <a:srgbClr val="2E2A36"/>
                </a:solidFill>
                <a:latin typeface="Montserrat"/>
              </a:rPr>
              <a:t>Comunique que se paga en hasta 120 meses con intereses; no prometa un valor de cuota.</a:t>
            </a:r>
          </a:p>
        </p:txBody>
      </p:sp>
      <p:sp>
        <p:nvSpPr>
          <p:cNvPr id="18" name="Rectangle 17"/>
          <p:cNvSpPr/>
          <p:nvPr/>
        </p:nvSpPr>
        <p:spPr>
          <a:xfrm>
            <a:off x="548640" y="5230368"/>
            <a:ext cx="5669280" cy="7772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8640" y="5230368"/>
            <a:ext cx="64008" cy="77724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276088"/>
            <a:ext cx="5394960" cy="731520"/>
          </a:xfrm>
          <a:prstGeom prst="rect">
            <a:avLst/>
          </a:prstGeom>
          <a:noFill/>
        </p:spPr>
        <p:txBody>
          <a:bodyPr wrap="square" anchor="t" lIns="45720" rIns="45720" tIns="27432" bIns="27432">
            <a:spAutoFit/>
          </a:bodyPr>
          <a:lstStyle/>
          <a:p>
            <a:pPr algn="l">
              <a:lnSpc>
                <a:spcPct val="115000"/>
              </a:lnSpc>
              <a:spcAft>
                <a:spcPts val="100"/>
              </a:spcAft>
            </a:pPr>
            <a:r>
              <a:rPr sz="1300" b="1" i="0">
                <a:solidFill>
                  <a:srgbClr val="5B3F80"/>
                </a:solidFill>
                <a:latin typeface="Montserrat"/>
              </a:rPr>
              <a:t>Registro de contactos</a:t>
            </a:r>
          </a:p>
          <a:p>
            <a:pPr algn="l">
              <a:lnSpc>
                <a:spcPct val="115000"/>
              </a:lnSpc>
              <a:spcAft>
                <a:spcPts val="100"/>
              </a:spcAft>
            </a:pPr>
            <a:r>
              <a:rPr sz="1100" b="0" i="0">
                <a:solidFill>
                  <a:srgbClr val="2E2A36"/>
                </a:solidFill>
                <a:latin typeface="Montserrat"/>
              </a:rPr>
              <a:t>Un contacto no registrado no existe: sin datos no hay gestión ni comisión.</a:t>
            </a:r>
          </a:p>
        </p:txBody>
      </p:sp>
      <p:sp>
        <p:nvSpPr>
          <p:cNvPr id="21" name="Rectangle 20"/>
          <p:cNvSpPr/>
          <p:nvPr/>
        </p:nvSpPr>
        <p:spPr>
          <a:xfrm>
            <a:off x="6720840" y="1645920"/>
            <a:ext cx="4937760" cy="443484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95160" y="1783080"/>
            <a:ext cx="4389120" cy="457200"/>
          </a:xfrm>
          <a:prstGeom prst="rect">
            <a:avLst/>
          </a:prstGeom>
          <a:noFill/>
        </p:spPr>
        <p:txBody>
          <a:bodyPr wrap="square" anchor="t" lIns="45720" rIns="45720" tIns="27432" bIns="27432">
            <a:spAutoFit/>
          </a:bodyPr>
          <a:lstStyle/>
          <a:p>
            <a:pPr algn="l">
              <a:lnSpc>
                <a:spcPct val="115000"/>
              </a:lnSpc>
              <a:spcAft>
                <a:spcPts val="400"/>
              </a:spcAft>
            </a:pPr>
            <a:r>
              <a:rPr sz="1800" b="1" i="0">
                <a:solidFill>
                  <a:srgbClr val="C9A86A"/>
                </a:solidFill>
                <a:latin typeface="Playfair Display"/>
              </a:rPr>
              <a:t>Checklist antes de cerrar</a:t>
            </a:r>
          </a:p>
        </p:txBody>
      </p:sp>
      <p:sp>
        <p:nvSpPr>
          <p:cNvPr id="23" name="TextBox 22"/>
          <p:cNvSpPr txBox="1"/>
          <p:nvPr/>
        </p:nvSpPr>
        <p:spPr>
          <a:xfrm>
            <a:off x="6995160" y="2331720"/>
            <a:ext cx="4434840" cy="3657600"/>
          </a:xfrm>
          <a:prstGeom prst="rect">
            <a:avLst/>
          </a:prstGeom>
          <a:noFill/>
        </p:spPr>
        <p:txBody>
          <a:bodyPr wrap="square" anchor="t" lIns="45720" rIns="45720" tIns="27432" bIns="27432">
            <a:spAutoFit/>
          </a:bodyPr>
          <a:lstStyle/>
          <a:p>
            <a:pPr algn="l">
              <a:lnSpc>
                <a:spcPct val="115000"/>
              </a:lnSpc>
              <a:spcAft>
                <a:spcPts val="900"/>
              </a:spcAft>
            </a:pPr>
            <a:r>
              <a:rPr sz="1400" b="0" i="0">
                <a:solidFill>
                  <a:srgbClr val="C9A86A"/>
                </a:solidFill>
                <a:latin typeface="Montserrat"/>
              </a:rPr>
              <a:t>☐  </a:t>
            </a:r>
            <a:r>
              <a:rPr sz="1300" b="0" i="0">
                <a:solidFill>
                  <a:srgbClr val="FFFFFF"/>
                </a:solidFill>
                <a:latin typeface="Montserrat"/>
              </a:rPr>
              <a:t>Expliqué qué incluye el producto y qué no incluye.</a:t>
            </a:r>
          </a:p>
          <a:p>
            <a:pPr algn="l">
              <a:lnSpc>
                <a:spcPct val="115000"/>
              </a:lnSpc>
              <a:spcAft>
                <a:spcPts val="900"/>
              </a:spcAft>
            </a:pPr>
            <a:r>
              <a:rPr sz="1400" b="0" i="0">
                <a:solidFill>
                  <a:srgbClr val="C9A86A"/>
                </a:solidFill>
                <a:latin typeface="Montserrat"/>
              </a:rPr>
              <a:t>☐  </a:t>
            </a:r>
            <a:r>
              <a:rPr sz="1300" b="0" i="0">
                <a:solidFill>
                  <a:srgbClr val="FFFFFF"/>
                </a:solidFill>
                <a:latin typeface="Montserrat"/>
              </a:rPr>
              <a:t>Expliqué la cuota de mantenimiento y el plazo (30 años renovables o 3 años), según el caso.</a:t>
            </a:r>
          </a:p>
          <a:p>
            <a:pPr algn="l">
              <a:lnSpc>
                <a:spcPct val="115000"/>
              </a:lnSpc>
              <a:spcAft>
                <a:spcPts val="900"/>
              </a:spcAft>
            </a:pPr>
            <a:r>
              <a:rPr sz="1400" b="0" i="0">
                <a:solidFill>
                  <a:srgbClr val="C9A86A"/>
                </a:solidFill>
                <a:latin typeface="Montserrat"/>
              </a:rPr>
              <a:t>☐  </a:t>
            </a:r>
            <a:r>
              <a:rPr sz="1300" b="0" i="0">
                <a:solidFill>
                  <a:srgbClr val="FFFFFF"/>
                </a:solidFill>
                <a:latin typeface="Montserrat"/>
              </a:rPr>
              <a:t>Confirmé el precio y la forma de pago con la Ficha Técnica vigente.</a:t>
            </a:r>
          </a:p>
          <a:p>
            <a:pPr algn="l">
              <a:lnSpc>
                <a:spcPct val="115000"/>
              </a:lnSpc>
              <a:spcAft>
                <a:spcPts val="900"/>
              </a:spcAft>
            </a:pPr>
            <a:r>
              <a:rPr sz="1400" b="0" i="0">
                <a:solidFill>
                  <a:srgbClr val="C9A86A"/>
                </a:solidFill>
                <a:latin typeface="Montserrat"/>
              </a:rPr>
              <a:t>☐  </a:t>
            </a:r>
            <a:r>
              <a:rPr sz="1300" b="0" i="0">
                <a:solidFill>
                  <a:srgbClr val="FFFFFF"/>
                </a:solidFill>
                <a:latin typeface="Montserrat"/>
              </a:rPr>
              <a:t>El descuento, si lo hubo, está dentro de la política y autorizado.</a:t>
            </a:r>
          </a:p>
          <a:p>
            <a:pPr algn="l">
              <a:lnSpc>
                <a:spcPct val="115000"/>
              </a:lnSpc>
              <a:spcAft>
                <a:spcPts val="900"/>
              </a:spcAft>
            </a:pPr>
            <a:r>
              <a:rPr sz="1400" b="0" i="0">
                <a:solidFill>
                  <a:srgbClr val="C9A86A"/>
                </a:solidFill>
                <a:latin typeface="Montserrat"/>
              </a:rPr>
              <a:t>☐  </a:t>
            </a:r>
            <a:r>
              <a:rPr sz="1300" b="0" i="0">
                <a:solidFill>
                  <a:srgbClr val="FFFFFF"/>
                </a:solidFill>
                <a:latin typeface="Montserrat"/>
              </a:rPr>
              <a:t>El cliente recibió copia del contrato y el contacto de su asesor.</a:t>
            </a:r>
          </a:p>
          <a:p>
            <a:pPr algn="l">
              <a:lnSpc>
                <a:spcPct val="115000"/>
              </a:lnSpc>
              <a:spcAft>
                <a:spcPts val="900"/>
              </a:spcAft>
            </a:pPr>
            <a:r>
              <a:rPr sz="1400" b="0" i="0">
                <a:solidFill>
                  <a:srgbClr val="C9A86A"/>
                </a:solidFill>
                <a:latin typeface="Montserrat"/>
              </a:rPr>
              <a:t>☐  </a:t>
            </a:r>
            <a:r>
              <a:rPr sz="1300" b="0" i="0">
                <a:solidFill>
                  <a:srgbClr val="FFFFFF"/>
                </a:solidFill>
                <a:latin typeface="Montserrat"/>
              </a:rPr>
              <a:t>Registré la venta completa el mismo día.</a:t>
            </a:r>
          </a:p>
        </p:txBody>
      </p:sp>
      <p:sp>
        <p:nvSpPr>
          <p:cNvPr id="24" name="TextBox 23"/>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5" name="TextBox 24"/>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Rectangle 1"/>
          <p:cNvSpPr/>
          <p:nvPr/>
        </p:nvSpPr>
        <p:spPr>
          <a:xfrm>
            <a:off x="0" y="6629400"/>
            <a:ext cx="12191695" cy="22860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1554480"/>
            <a:ext cx="9448495" cy="2560320"/>
          </a:xfrm>
          <a:prstGeom prst="rect">
            <a:avLst/>
          </a:prstGeom>
          <a:noFill/>
        </p:spPr>
        <p:txBody>
          <a:bodyPr wrap="square" anchor="ctr" lIns="45720" rIns="45720" tIns="27432" bIns="27432">
            <a:spAutoFit/>
          </a:bodyPr>
          <a:lstStyle/>
          <a:p>
            <a:pPr algn="ctr">
              <a:lnSpc>
                <a:spcPct val="115000"/>
              </a:lnSpc>
              <a:spcAft>
                <a:spcPts val="400"/>
              </a:spcAft>
            </a:pPr>
            <a:r>
              <a:rPr sz="3000" b="0" i="1">
                <a:solidFill>
                  <a:srgbClr val="FFFFFF"/>
                </a:solidFill>
                <a:latin typeface="Playfair Display"/>
              </a:rPr>
              <a:t>«Cada familia que atendemos recordará cómo la tratamos en uno de los momentos más sensibles de su vida. Ese es nuestro verdadero producto.»</a:t>
            </a:r>
          </a:p>
        </p:txBody>
      </p:sp>
      <p:sp>
        <p:nvSpPr>
          <p:cNvPr id="4" name="Rectangle 3"/>
          <p:cNvSpPr/>
          <p:nvPr/>
        </p:nvSpPr>
        <p:spPr>
          <a:xfrm>
            <a:off x="5455767" y="429768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371600" y="4572000"/>
            <a:ext cx="9448495" cy="457200"/>
          </a:xfrm>
          <a:prstGeom prst="rect">
            <a:avLst/>
          </a:prstGeom>
          <a:noFill/>
        </p:spPr>
        <p:txBody>
          <a:bodyPr wrap="square" anchor="t" lIns="45720" rIns="45720" tIns="27432" bIns="27432">
            <a:spAutoFit/>
          </a:bodyPr>
          <a:lstStyle/>
          <a:p>
            <a:pPr algn="ctr">
              <a:lnSpc>
                <a:spcPct val="115000"/>
              </a:lnSpc>
              <a:spcAft>
                <a:spcPts val="400"/>
              </a:spcAft>
            </a:pPr>
            <a:r>
              <a:rPr sz="1500" b="1" i="0">
                <a:solidFill>
                  <a:srgbClr val="C9A86A"/>
                </a:solidFill>
                <a:latin typeface="Montserrat"/>
              </a:rPr>
              <a:t>La Auxiliadora · Hogar de las Memorias · Las Colinas · Vangrupo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