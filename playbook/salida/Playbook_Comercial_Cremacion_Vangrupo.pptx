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8229600"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9A86A"/>
                </a:solidFill>
                <a:latin typeface="Montserrat"/>
              </a:rPr>
              <a:t>CAMPAÑA DÍA DE LOS MUERTOS 2026</a:t>
            </a:r>
          </a:p>
        </p:txBody>
      </p:sp>
      <p:sp>
        <p:nvSpPr>
          <p:cNvPr id="4" name="TextBox 3"/>
          <p:cNvSpPr txBox="1"/>
          <p:nvPr/>
        </p:nvSpPr>
        <p:spPr>
          <a:xfrm>
            <a:off x="731520" y="1371600"/>
            <a:ext cx="10058400" cy="1188720"/>
          </a:xfrm>
          <a:prstGeom prst="rect">
            <a:avLst/>
          </a:prstGeom>
          <a:noFill/>
        </p:spPr>
        <p:txBody>
          <a:bodyPr wrap="square" anchor="t" lIns="45720" rIns="45720" tIns="27432" bIns="27432">
            <a:spAutoFit/>
          </a:bodyPr>
          <a:lstStyle/>
          <a:p>
            <a:pPr algn="l">
              <a:lnSpc>
                <a:spcPct val="115000"/>
              </a:lnSpc>
              <a:spcAft>
                <a:spcPts val="400"/>
              </a:spcAft>
            </a:pPr>
            <a:r>
              <a:rPr sz="6000" b="1" i="0">
                <a:solidFill>
                  <a:srgbClr val="FFFFFF"/>
                </a:solidFill>
                <a:latin typeface="Playfair Display"/>
              </a:rPr>
              <a:t>Playbook Comercial</a:t>
            </a:r>
          </a:p>
        </p:txBody>
      </p:sp>
      <p:sp>
        <p:nvSpPr>
          <p:cNvPr id="5" name="TextBox 4"/>
          <p:cNvSpPr txBox="1"/>
          <p:nvPr/>
        </p:nvSpPr>
        <p:spPr>
          <a:xfrm>
            <a:off x="731520" y="2560320"/>
            <a:ext cx="10058400" cy="640080"/>
          </a:xfrm>
          <a:prstGeom prst="rect">
            <a:avLst/>
          </a:prstGeom>
          <a:noFill/>
        </p:spPr>
        <p:txBody>
          <a:bodyPr wrap="square" anchor="t" lIns="45720" rIns="45720" tIns="27432" bIns="27432">
            <a:spAutoFit/>
          </a:bodyPr>
          <a:lstStyle/>
          <a:p>
            <a:pPr algn="l">
              <a:lnSpc>
                <a:spcPct val="115000"/>
              </a:lnSpc>
              <a:spcAft>
                <a:spcPts val="400"/>
              </a:spcAft>
            </a:pPr>
            <a:r>
              <a:rPr sz="2600" b="0" i="0">
                <a:solidFill>
                  <a:srgbClr val="F1ECF7"/>
                </a:solidFill>
                <a:latin typeface="Playfair Display"/>
              </a:rPr>
              <a:t>Portafolio de Cremación y Jardines de Cenizas</a:t>
            </a:r>
          </a:p>
        </p:txBody>
      </p:sp>
      <p:sp>
        <p:nvSpPr>
          <p:cNvPr id="6" name="Rectangle 5"/>
          <p:cNvSpPr/>
          <p:nvPr/>
        </p:nvSpPr>
        <p:spPr>
          <a:xfrm>
            <a:off x="777240" y="333756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566160"/>
            <a:ext cx="10058400" cy="45720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8" name="LOGO La Auxiliadora"/>
          <p:cNvSpPr/>
          <p:nvPr/>
        </p:nvSpPr>
        <p:spPr>
          <a:xfrm>
            <a:off x="73152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La Auxiliadora</a:t>
            </a:r>
          </a:p>
        </p:txBody>
      </p:sp>
      <p:sp>
        <p:nvSpPr>
          <p:cNvPr id="10" name="LOGO Hogar de las Memorias"/>
          <p:cNvSpPr/>
          <p:nvPr/>
        </p:nvSpPr>
        <p:spPr>
          <a:xfrm>
            <a:off x="406908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Hogar de las Memorias</a:t>
            </a:r>
          </a:p>
        </p:txBody>
      </p:sp>
      <p:sp>
        <p:nvSpPr>
          <p:cNvPr id="12" name="LOGO Vangrupo"/>
          <p:cNvSpPr/>
          <p:nvPr/>
        </p:nvSpPr>
        <p:spPr>
          <a:xfrm>
            <a:off x="740664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Vangrupo</a:t>
            </a:r>
          </a:p>
        </p:txBody>
      </p:sp>
      <p:sp>
        <p:nvSpPr>
          <p:cNvPr id="14" name="TextBox 13"/>
          <p:cNvSpPr txBox="1"/>
          <p:nvPr/>
        </p:nvSpPr>
        <p:spPr>
          <a:xfrm>
            <a:off x="731520" y="5989320"/>
            <a:ext cx="10058400" cy="32004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D9CFE6"/>
                </a:solidFill>
                <a:latin typeface="Montserrat"/>
              </a:rPr>
              <a:t>Versión 1.1 · Octubre 2026 · Uso interno del equipo comercial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ANTES DE EMPEZAR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usar este playbook</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5669280" cy="1828800"/>
          </a:xfrm>
          <a:prstGeom prst="rect">
            <a:avLst/>
          </a:prstGeom>
          <a:noFill/>
        </p:spPr>
        <p:txBody>
          <a:bodyPr wrap="square" anchor="t" lIns="45720" rIns="45720" tIns="27432" bIns="27432">
            <a:spAutoFit/>
          </a:bodyPr>
          <a:lstStyle/>
          <a:p>
            <a:pPr algn="l">
              <a:lnSpc>
                <a:spcPct val="115000"/>
              </a:lnSpc>
              <a:spcAft>
                <a:spcPts val="400"/>
              </a:spcAft>
            </a:pPr>
            <a:r>
              <a:rPr sz="1400" b="0" i="0">
                <a:solidFill>
                  <a:srgbClr val="2E2A36"/>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48640" y="3429000"/>
            <a:ext cx="5669280" cy="26517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429000"/>
            <a:ext cx="73152" cy="26517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566160"/>
            <a:ext cx="521208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PENDIENTES DE VALIDACIÓN</a:t>
            </a:r>
          </a:p>
        </p:txBody>
      </p:sp>
      <p:sp>
        <p:nvSpPr>
          <p:cNvPr id="10" name="TextBox 9"/>
          <p:cNvSpPr txBox="1"/>
          <p:nvPr/>
        </p:nvSpPr>
        <p:spPr>
          <a:xfrm>
            <a:off x="822960" y="3931920"/>
            <a:ext cx="5212080" cy="2103120"/>
          </a:xfrm>
          <a:prstGeom prst="rect">
            <a:avLst/>
          </a:prstGeom>
          <a:noFill/>
        </p:spPr>
        <p:txBody>
          <a:bodyPr wrap="square" anchor="t" lIns="45720" rIns="45720" tIns="27432" bIns="27432">
            <a:spAutoFit/>
          </a:bodyPr>
          <a:lstStyle/>
          <a:p>
            <a:pPr algn="l">
              <a:lnSpc>
                <a:spcPct val="115000"/>
              </a:lnSpc>
              <a:spcAft>
                <a:spcPts val="400"/>
              </a:spcAft>
            </a:pPr>
            <a:r>
              <a:rPr sz="900" b="1" i="0">
                <a:solidFill>
                  <a:srgbClr val="C9A86A"/>
                </a:solidFill>
                <a:latin typeface="Montserrat"/>
              </a:rPr>
              <a:t>■  </a:t>
            </a:r>
            <a:r>
              <a:rPr sz="1200" b="0" i="0">
                <a:solidFill>
                  <a:srgbClr val="2E2A36"/>
                </a:solidFill>
                <a:latin typeface="Montserrat"/>
              </a:rPr>
              <a:t>Política de comisiones de los productos de cremación: 1 venta en el mes = 8%, 2 ventas = 10%, 3 o más = 12% sobre la facturación.</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Placas de madera: confirmar el tratamiento de la madera para contacto con el suelo.</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Jardín Ceremonial: producto en definición. No se vende ni se cotiza todavía.</a:t>
            </a:r>
          </a:p>
        </p:txBody>
      </p:sp>
      <p:sp>
        <p:nvSpPr>
          <p:cNvPr id="11" name="TextBox 10"/>
          <p:cNvSpPr txBox="1"/>
          <p:nvPr/>
        </p:nvSpPr>
        <p:spPr>
          <a:xfrm>
            <a:off x="6720840" y="1600200"/>
            <a:ext cx="4846320"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5B3F80"/>
                </a:solidFill>
                <a:latin typeface="Playfair Display"/>
              </a:rPr>
              <a:t>Contenido</a:t>
            </a:r>
          </a:p>
        </p:txBody>
      </p:sp>
      <p:sp>
        <p:nvSpPr>
          <p:cNvPr id="12" name="TextBox 11"/>
          <p:cNvSpPr txBox="1"/>
          <p:nvPr/>
        </p:nvSpPr>
        <p:spPr>
          <a:xfrm>
            <a:off x="6720840" y="214884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01</a:t>
            </a:r>
          </a:p>
        </p:txBody>
      </p:sp>
      <p:sp>
        <p:nvSpPr>
          <p:cNvPr id="13" name="TextBox 12"/>
          <p:cNvSpPr txBox="1"/>
          <p:nvPr/>
        </p:nvSpPr>
        <p:spPr>
          <a:xfrm>
            <a:off x="7452360" y="222199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Quiénes somos y lo que vendemos</a:t>
            </a:r>
          </a:p>
        </p:txBody>
      </p:sp>
      <p:sp>
        <p:nvSpPr>
          <p:cNvPr id="14" name="Rectangle 13"/>
          <p:cNvSpPr/>
          <p:nvPr/>
        </p:nvSpPr>
        <p:spPr>
          <a:xfrm>
            <a:off x="6720840" y="2606040"/>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0840" y="263347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02</a:t>
            </a:r>
          </a:p>
        </p:txBody>
      </p:sp>
      <p:sp>
        <p:nvSpPr>
          <p:cNvPr id="16" name="TextBox 15"/>
          <p:cNvSpPr txBox="1"/>
          <p:nvPr/>
        </p:nvSpPr>
        <p:spPr>
          <a:xfrm>
            <a:off x="7452360" y="270662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A quién le vendemos</a:t>
            </a:r>
          </a:p>
        </p:txBody>
      </p:sp>
      <p:sp>
        <p:nvSpPr>
          <p:cNvPr id="17" name="Rectangle 16"/>
          <p:cNvSpPr/>
          <p:nvPr/>
        </p:nvSpPr>
        <p:spPr>
          <a:xfrm>
            <a:off x="6720840" y="3090672"/>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311810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03</a:t>
            </a:r>
          </a:p>
        </p:txBody>
      </p:sp>
      <p:sp>
        <p:nvSpPr>
          <p:cNvPr id="19" name="TextBox 18"/>
          <p:cNvSpPr txBox="1"/>
          <p:nvPr/>
        </p:nvSpPr>
        <p:spPr>
          <a:xfrm>
            <a:off x="7452360" y="319125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El proceso de venta</a:t>
            </a:r>
          </a:p>
        </p:txBody>
      </p:sp>
      <p:sp>
        <p:nvSpPr>
          <p:cNvPr id="20" name="Rectangle 19"/>
          <p:cNvSpPr/>
          <p:nvPr/>
        </p:nvSpPr>
        <p:spPr>
          <a:xfrm>
            <a:off x="6720840" y="3575304"/>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3602736"/>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04</a:t>
            </a:r>
          </a:p>
        </p:txBody>
      </p:sp>
      <p:sp>
        <p:nvSpPr>
          <p:cNvPr id="22" name="TextBox 21"/>
          <p:cNvSpPr txBox="1"/>
          <p:nvPr/>
        </p:nvSpPr>
        <p:spPr>
          <a:xfrm>
            <a:off x="7452360" y="3675888"/>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Producto por producto: speech y reglas</a:t>
            </a:r>
          </a:p>
        </p:txBody>
      </p:sp>
      <p:sp>
        <p:nvSpPr>
          <p:cNvPr id="23" name="Rectangle 22"/>
          <p:cNvSpPr/>
          <p:nvPr/>
        </p:nvSpPr>
        <p:spPr>
          <a:xfrm>
            <a:off x="6720840" y="4059936"/>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4087368"/>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05</a:t>
            </a:r>
          </a:p>
        </p:txBody>
      </p:sp>
      <p:sp>
        <p:nvSpPr>
          <p:cNvPr id="25" name="TextBox 24"/>
          <p:cNvSpPr txBox="1"/>
          <p:nvPr/>
        </p:nvSpPr>
        <p:spPr>
          <a:xfrm>
            <a:off x="7452360" y="4160520"/>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Manejo de objeciones</a:t>
            </a:r>
          </a:p>
        </p:txBody>
      </p:sp>
      <p:sp>
        <p:nvSpPr>
          <p:cNvPr id="26" name="Rectangle 25"/>
          <p:cNvSpPr/>
          <p:nvPr/>
        </p:nvSpPr>
        <p:spPr>
          <a:xfrm>
            <a:off x="6720840" y="4544568"/>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457200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06</a:t>
            </a:r>
          </a:p>
        </p:txBody>
      </p:sp>
      <p:sp>
        <p:nvSpPr>
          <p:cNvPr id="28" name="TextBox 27"/>
          <p:cNvSpPr txBox="1"/>
          <p:nvPr/>
        </p:nvSpPr>
        <p:spPr>
          <a:xfrm>
            <a:off x="7452360" y="464515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Precios, reglas y condiciones</a:t>
            </a:r>
          </a:p>
        </p:txBody>
      </p:sp>
      <p:sp>
        <p:nvSpPr>
          <p:cNvPr id="29" name="Rectangle 28"/>
          <p:cNvSpPr/>
          <p:nvPr/>
        </p:nvSpPr>
        <p:spPr>
          <a:xfrm>
            <a:off x="6720840" y="5029200"/>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505663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07</a:t>
            </a:r>
          </a:p>
        </p:txBody>
      </p:sp>
      <p:sp>
        <p:nvSpPr>
          <p:cNvPr id="31" name="TextBox 30"/>
          <p:cNvSpPr txBox="1"/>
          <p:nvPr/>
        </p:nvSpPr>
        <p:spPr>
          <a:xfrm>
            <a:off x="7452360" y="512978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Política de comisiones de los productos de cremación</a:t>
            </a:r>
          </a:p>
        </p:txBody>
      </p:sp>
      <p:sp>
        <p:nvSpPr>
          <p:cNvPr id="32" name="Rectangle 31"/>
          <p:cNvSpPr/>
          <p:nvPr/>
        </p:nvSpPr>
        <p:spPr>
          <a:xfrm>
            <a:off x="6720840" y="5513832"/>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20840" y="554126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08</a:t>
            </a:r>
          </a:p>
        </p:txBody>
      </p:sp>
      <p:sp>
        <p:nvSpPr>
          <p:cNvPr id="34" name="TextBox 33"/>
          <p:cNvSpPr txBox="1"/>
          <p:nvPr/>
        </p:nvSpPr>
        <p:spPr>
          <a:xfrm>
            <a:off x="7452360" y="561441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Herramientas de apoyo</a:t>
            </a:r>
          </a:p>
        </p:txBody>
      </p:sp>
      <p:sp>
        <p:nvSpPr>
          <p:cNvPr id="35" name="Rectangle 34"/>
          <p:cNvSpPr/>
          <p:nvPr/>
        </p:nvSpPr>
        <p:spPr>
          <a:xfrm>
            <a:off x="6720840" y="5998464"/>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7" name="TextBox 3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01</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Quiénes somos y lo que vendemos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Acompañar, no vender: la familia primero, siempre.</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QUIÉNES SOMOS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No vendemos parcelas: acompañamos familias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10972800" cy="1280160"/>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sp>
        <p:nvSpPr>
          <p:cNvPr id="7" name="Rectangle 6"/>
          <p:cNvSpPr/>
          <p:nvPr/>
        </p:nvSpPr>
        <p:spPr>
          <a:xfrm>
            <a:off x="548640"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Un lugar para volver</a:t>
            </a:r>
          </a:p>
        </p:txBody>
      </p:sp>
      <p:sp>
        <p:nvSpPr>
          <p:cNvPr id="10" name="TextBox 9"/>
          <p:cNvSpPr txBox="1"/>
          <p:nvPr/>
        </p:nvSpPr>
        <p:spPr>
          <a:xfrm>
            <a:off x="731520"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La familia tiene un sitio físico, digno y verde para visitar y recordar.</a:t>
            </a:r>
          </a:p>
        </p:txBody>
      </p:sp>
      <p:sp>
        <p:nvSpPr>
          <p:cNvPr id="11" name="Rectangle 10"/>
          <p:cNvSpPr/>
          <p:nvPr/>
        </p:nvSpPr>
        <p:spPr>
          <a:xfrm>
            <a:off x="3364992"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64992"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Precio accesible</a:t>
            </a:r>
          </a:p>
        </p:txBody>
      </p:sp>
      <p:sp>
        <p:nvSpPr>
          <p:cNvPr id="14" name="TextBox 13"/>
          <p:cNvSpPr txBox="1"/>
          <p:nvPr/>
        </p:nvSpPr>
        <p:spPr>
          <a:xfrm>
            <a:off x="3547872"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Desde US$ 320 en lanzamiento y con financiamiento: un destino final al alcance de más familias.</a:t>
            </a:r>
          </a:p>
        </p:txBody>
      </p:sp>
      <p:sp>
        <p:nvSpPr>
          <p:cNvPr id="15" name="Rectangle 14"/>
          <p:cNvSpPr/>
          <p:nvPr/>
        </p:nvSpPr>
        <p:spPr>
          <a:xfrm>
            <a:off x="6181344"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4224"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Naturaleza y legado</a:t>
            </a:r>
          </a:p>
        </p:txBody>
      </p:sp>
      <p:sp>
        <p:nvSpPr>
          <p:cNvPr id="18" name="TextBox 17"/>
          <p:cNvSpPr txBox="1"/>
          <p:nvPr/>
        </p:nvSpPr>
        <p:spPr>
          <a:xfrm>
            <a:off x="6364224"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Jardines de plantas de sombra, agua corriente y bosque: un homenaje que vive.</a:t>
            </a:r>
          </a:p>
        </p:txBody>
      </p:sp>
      <p:sp>
        <p:nvSpPr>
          <p:cNvPr id="19" name="Rectangle 18"/>
          <p:cNvSpPr/>
          <p:nvPr/>
        </p:nvSpPr>
        <p:spPr>
          <a:xfrm>
            <a:off x="8997696"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97696"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576"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Sin decisiones bajo presión</a:t>
            </a:r>
          </a:p>
        </p:txBody>
      </p:sp>
      <p:sp>
        <p:nvSpPr>
          <p:cNvPr id="22" name="TextBox 21"/>
          <p:cNvSpPr txBox="1"/>
          <p:nvPr/>
        </p:nvSpPr>
        <p:spPr>
          <a:xfrm>
            <a:off x="9180576"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Planificar hoy evita que la familia decida en el peor momento.</a:t>
            </a:r>
          </a:p>
        </p:txBody>
      </p:sp>
      <p:sp>
        <p:nvSpPr>
          <p:cNvPr id="23" name="Rectangle 22"/>
          <p:cNvSpPr/>
          <p:nvPr/>
        </p:nvSpPr>
        <p:spPr>
          <a:xfrm>
            <a:off x="548640" y="5166360"/>
            <a:ext cx="11094415" cy="9601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166360"/>
            <a:ext cx="10545775" cy="96012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C9A86A"/>
                </a:solidFill>
                <a:latin typeface="Montserrat"/>
              </a:rPr>
              <a:t>REGLA DE ORO   </a:t>
            </a:r>
            <a:r>
              <a:rPr sz="1400" b="0" i="1">
                <a:solidFill>
                  <a:srgbClr val="FFFFFF"/>
                </a:solidFill>
                <a:latin typeface="Montserrat"/>
              </a:rPr>
              <a:t>Nuestra diferencia no es el precio: es la atención. Antes de cada propuesta, pregúntese: "¿esto acoge a la familia o solo cierra un negocio?".</a:t>
            </a:r>
          </a:p>
        </p:txBody>
      </p:sp>
      <p:sp>
        <p:nvSpPr>
          <p:cNvPr id="25" name="TextBox 24"/>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6" name="TextBox 25"/>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portafolio en un vistazo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1_portafolio.png"/>
          <p:cNvPicPr>
            <a:picLocks noChangeAspect="1"/>
          </p:cNvPicPr>
          <p:nvPr/>
        </p:nvPicPr>
        <p:blipFill>
          <a:blip r:embed="rId2"/>
          <a:stretch>
            <a:fillRect/>
          </a:stretch>
        </p:blipFill>
        <p:spPr>
          <a:xfrm>
            <a:off x="836994" y="1508760"/>
            <a:ext cx="10517706" cy="475488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Dos momentos de venta, dos actitudes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37360"/>
            <a:ext cx="5440680" cy="21945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37360"/>
            <a:ext cx="5440680" cy="54864"/>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5B3F80"/>
                </a:solidFill>
                <a:latin typeface="Montserrat"/>
              </a:rPr>
              <a:t>Prenecesidad (preventiva)</a:t>
            </a:r>
          </a:p>
        </p:txBody>
      </p:sp>
      <p:sp>
        <p:nvSpPr>
          <p:cNvPr id="9" name="TextBox 8"/>
          <p:cNvSpPr txBox="1"/>
          <p:nvPr/>
        </p:nvSpPr>
        <p:spPr>
          <a:xfrm>
            <a:off x="73152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Venta planificada, de ciclo largo. La familia contrata hoy para protegerse y pagar en cuotas. Es la venta que conducimos activamente.</a:t>
            </a:r>
          </a:p>
        </p:txBody>
      </p:sp>
      <p:sp>
        <p:nvSpPr>
          <p:cNvPr id="10" name="Rectangle 9"/>
          <p:cNvSpPr/>
          <p:nvPr/>
        </p:nvSpPr>
        <p:spPr>
          <a:xfrm>
            <a:off x="6217920" y="1737360"/>
            <a:ext cx="5440680" cy="21945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7373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5B3F80"/>
                </a:solidFill>
                <a:latin typeface="Montserrat"/>
              </a:rPr>
              <a:t>Necesidad inmediata (emergencia)</a:t>
            </a:r>
          </a:p>
        </p:txBody>
      </p:sp>
      <p:sp>
        <p:nvSpPr>
          <p:cNvPr id="13" name="TextBox 12"/>
          <p:cNvSpPr txBox="1"/>
          <p:nvPr/>
        </p:nvSpPr>
        <p:spPr>
          <a:xfrm>
            <a:off x="640080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En el momento de la pérdida. Aquí no se "vende": se acoge, se informa con calma y se resuelve con agilidad y respeto.</a:t>
            </a:r>
          </a:p>
        </p:txBody>
      </p:sp>
      <p:sp>
        <p:nvSpPr>
          <p:cNvPr id="14" name="TextBox 13"/>
          <p:cNvSpPr txBox="1"/>
          <p:nvPr/>
        </p:nvSpPr>
        <p:spPr>
          <a:xfrm>
            <a:off x="548640" y="4297680"/>
            <a:ext cx="11094415"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Qué producto lleva cada equipo</a:t>
            </a:r>
          </a:p>
        </p:txBody>
      </p:sp>
      <p:sp>
        <p:nvSpPr>
          <p:cNvPr id="15" name="Rectangle 14"/>
          <p:cNvSpPr/>
          <p:nvPr/>
        </p:nvSpPr>
        <p:spPr>
          <a:xfrm>
            <a:off x="54864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UAF · Unidad de Apoyo Familiar</a:t>
            </a:r>
          </a:p>
          <a:p>
            <a:pPr algn="l">
              <a:lnSpc>
                <a:spcPct val="115000"/>
              </a:lnSpc>
              <a:spcAft>
                <a:spcPts val="300"/>
              </a:spcAft>
            </a:pPr>
            <a:r>
              <a:rPr sz="1100" b="0" i="0">
                <a:solidFill>
                  <a:srgbClr val="2E2A36"/>
                </a:solidFill>
                <a:latin typeface="Montserrat"/>
              </a:rPr>
              <a:t>Jardín Individual y Ecológico como destino de las cenizas; Solución Modular para el resto de la familia (venta de prenecesidad posterior).</a:t>
            </a:r>
          </a:p>
        </p:txBody>
      </p:sp>
      <p:sp>
        <p:nvSpPr>
          <p:cNvPr id="17" name="Rectangle 16"/>
          <p:cNvSpPr/>
          <p:nvPr/>
        </p:nvSpPr>
        <p:spPr>
          <a:xfrm>
            <a:off x="429768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Pilares Alternativos</a:t>
            </a:r>
          </a:p>
          <a:p>
            <a:pPr algn="l">
              <a:lnSpc>
                <a:spcPct val="115000"/>
              </a:lnSpc>
              <a:spcAft>
                <a:spcPts val="300"/>
              </a:spcAft>
            </a:pPr>
            <a:r>
              <a:rPr sz="1100" b="0" i="0">
                <a:solidFill>
                  <a:srgbClr val="2E2A36"/>
                </a:solidFill>
                <a:latin typeface="Montserrat"/>
              </a:rPr>
              <a:t>Solución Modular (cuota baja, fácil de explicar) y Jardín de Mascotas.</a:t>
            </a:r>
          </a:p>
        </p:txBody>
      </p:sp>
      <p:sp>
        <p:nvSpPr>
          <p:cNvPr id="19" name="Rectangle 18"/>
          <p:cNvSpPr/>
          <p:nvPr/>
        </p:nvSpPr>
        <p:spPr>
          <a:xfrm>
            <a:off x="804672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8388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AML · Puerta a puerta</a:t>
            </a:r>
          </a:p>
          <a:p>
            <a:pPr algn="l">
              <a:lnSpc>
                <a:spcPct val="115000"/>
              </a:lnSpc>
              <a:spcAft>
                <a:spcPts val="300"/>
              </a:spcAft>
            </a:pPr>
            <a:r>
              <a:rPr sz="1100" b="0" i="0">
                <a:solidFill>
                  <a:srgbClr val="2E2A36"/>
                </a:solidFill>
                <a:latin typeface="Montserrat"/>
              </a:rPr>
              <a:t>Solución Modular + Jardín Individual: la combinación más completa para el hogar.</a:t>
            </a:r>
          </a:p>
        </p:txBody>
      </p:sp>
      <p:sp>
        <p:nvSpPr>
          <p:cNvPr id="21" name="TextBox 20"/>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2" name="TextBox 21"/>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02</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A quién le vendemos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Conocer al cliente es la mitad de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02 · A QUIÉN LE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Cinco perfiles de cliente</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Identifique el perfil en los primeros minutos y adapte el tono.</a:t>
            </a:r>
          </a:p>
        </p:txBody>
      </p:sp>
      <p:sp>
        <p:nvSpPr>
          <p:cNvPr id="7" name="Rectangle 6"/>
          <p:cNvSpPr/>
          <p:nvPr/>
        </p:nvSpPr>
        <p:spPr>
          <a:xfrm>
            <a:off x="548640"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Planificador</a:t>
            </a:r>
          </a:p>
        </p:txBody>
      </p:sp>
      <p:sp>
        <p:nvSpPr>
          <p:cNvPr id="10" name="TextBox 9"/>
          <p:cNvSpPr txBox="1"/>
          <p:nvPr/>
        </p:nvSpPr>
        <p:spPr>
          <a:xfrm>
            <a:off x="658368"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45–65 años, compra para sí mismo.</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Tranquilidad y legado. No quiere dejar cargas a su familia.</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Calma, sin prisa, datos claros.</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Solución Modular · Jardín Individual · Jardín Familiar</a:t>
            </a:r>
          </a:p>
        </p:txBody>
      </p:sp>
      <p:sp>
        <p:nvSpPr>
          <p:cNvPr id="11" name="Rectangle 10"/>
          <p:cNvSpPr/>
          <p:nvPr/>
        </p:nvSpPr>
        <p:spPr>
          <a:xfrm>
            <a:off x="2788919"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88919"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98647"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Hijo Cuidador</a:t>
            </a:r>
          </a:p>
        </p:txBody>
      </p:sp>
      <p:sp>
        <p:nvSpPr>
          <p:cNvPr id="14" name="TextBox 13"/>
          <p:cNvSpPr txBox="1"/>
          <p:nvPr/>
        </p:nvSpPr>
        <p:spPr>
          <a:xfrm>
            <a:off x="2898647"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25–45 años, compra para sus padres.</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Practicidad, control del presupuesto, evitar improvisar.</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Claro, práctico, comparativo.</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Solución Modular · Jardín Familiar</a:t>
            </a:r>
          </a:p>
        </p:txBody>
      </p:sp>
      <p:sp>
        <p:nvSpPr>
          <p:cNvPr id="15" name="Rectangle 14"/>
          <p:cNvSpPr/>
          <p:nvPr/>
        </p:nvSpPr>
        <p:spPr>
          <a:xfrm>
            <a:off x="5029198"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198"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38926"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La Familia en Urgencia</a:t>
            </a:r>
          </a:p>
        </p:txBody>
      </p:sp>
      <p:sp>
        <p:nvSpPr>
          <p:cNvPr id="18" name="TextBox 17"/>
          <p:cNvSpPr txBox="1"/>
          <p:nvPr/>
        </p:nvSpPr>
        <p:spPr>
          <a:xfrm>
            <a:off x="5138926"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En el momento de la pérdida.</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Quitar peso, dignidad, agilidad.</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Acogida total, nunca comercial.</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Individual · Jardín Ecológico</a:t>
            </a:r>
          </a:p>
        </p:txBody>
      </p:sp>
      <p:sp>
        <p:nvSpPr>
          <p:cNvPr id="19" name="Rectangle 18"/>
          <p:cNvSpPr/>
          <p:nvPr/>
        </p:nvSpPr>
        <p:spPr>
          <a:xfrm>
            <a:off x="7269477"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69477"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79205"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Consciente Ecológico</a:t>
            </a:r>
          </a:p>
        </p:txBody>
      </p:sp>
      <p:sp>
        <p:nvSpPr>
          <p:cNvPr id="22" name="TextBox 21"/>
          <p:cNvSpPr txBox="1"/>
          <p:nvPr/>
        </p:nvSpPr>
        <p:spPr>
          <a:xfrm>
            <a:off x="7379205"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30–55 años, valora la naturaleza.</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Volver a la tierra, sencillez, sostenibilidad.</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Inspirador, natural, sin solemnidad excesiva.</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Ecológico</a:t>
            </a:r>
          </a:p>
        </p:txBody>
      </p:sp>
      <p:sp>
        <p:nvSpPr>
          <p:cNvPr id="23" name="Rectangle 22"/>
          <p:cNvSpPr/>
          <p:nvPr/>
        </p:nvSpPr>
        <p:spPr>
          <a:xfrm>
            <a:off x="9509756"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509756"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19484"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Tutor de Mascota</a:t>
            </a:r>
          </a:p>
        </p:txBody>
      </p:sp>
      <p:sp>
        <p:nvSpPr>
          <p:cNvPr id="26" name="TextBox 25"/>
          <p:cNvSpPr txBox="1"/>
          <p:nvPr/>
        </p:nvSpPr>
        <p:spPr>
          <a:xfrm>
            <a:off x="9619484"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20–60 años, despide a su compañero.</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Respeto al vínculo, un lugar para recordar.</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Emocional, cálido y ligero.</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de Mascotas</a:t>
            </a:r>
          </a:p>
        </p:txBody>
      </p:sp>
      <p:sp>
        <p:nvSpPr>
          <p:cNvPr id="27" name="Rectangle 26"/>
          <p:cNvSpPr/>
          <p:nvPr/>
        </p:nvSpPr>
        <p:spPr>
          <a:xfrm>
            <a:off x="548640" y="5440680"/>
            <a:ext cx="11094415" cy="7315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440680"/>
            <a:ext cx="10637215" cy="731520"/>
          </a:xfrm>
          <a:prstGeom prst="rect">
            <a:avLst/>
          </a:prstGeom>
          <a:noFill/>
        </p:spPr>
        <p:txBody>
          <a:bodyPr wrap="square" anchor="ctr" lIns="45720" rIns="45720" tIns="27432" bIns="27432">
            <a:spAutoFit/>
          </a:bodyPr>
          <a:lstStyle/>
          <a:p>
            <a:pPr algn="l">
              <a:lnSpc>
                <a:spcPct val="115000"/>
              </a:lnSpc>
              <a:spcAft>
                <a:spcPts val="400"/>
              </a:spcAft>
            </a:pPr>
            <a:r>
              <a:rPr sz="1100" b="1" i="0">
                <a:solidFill>
                  <a:srgbClr val="5B3F80"/>
                </a:solidFill>
                <a:latin typeface="Montserrat"/>
              </a:rPr>
              <a:t>FILTRO N·O·A   </a:t>
            </a:r>
            <a:r>
              <a:rPr sz="1150" b="0" i="0">
                <a:solidFill>
                  <a:srgbClr val="2E2A36"/>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0" name="TextBox 29"/>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03</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El proceso de venta</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Un camino claro, del primer contacto a la posventa.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embudo de prenecesidad</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996870" y="1600200"/>
            <a:ext cx="10197955" cy="466344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Las cinco etapas de una conversación</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3_conversacion.png"/>
          <p:cNvPicPr>
            <a:picLocks noChangeAspect="1"/>
          </p:cNvPicPr>
          <p:nvPr/>
        </p:nvPicPr>
        <p:blipFill>
          <a:blip r:embed="rId2"/>
          <a:stretch>
            <a:fillRect/>
          </a:stretch>
        </p:blipFill>
        <p:spPr>
          <a:xfrm>
            <a:off x="548640" y="1645920"/>
            <a:ext cx="11094415" cy="2328671"/>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11</a:t>
            </a:r>
          </a:p>
        </p:txBody>
      </p:sp>
      <p:sp>
        <p:nvSpPr>
          <p:cNvPr id="9" name="TextBox 8"/>
          <p:cNvSpPr txBox="1"/>
          <p:nvPr/>
        </p:nvSpPr>
        <p:spPr>
          <a:xfrm>
            <a:off x="548640" y="4343400"/>
            <a:ext cx="5486400"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Rituales del equipo</a:t>
            </a:r>
          </a:p>
        </p:txBody>
      </p:sp>
      <p:sp>
        <p:nvSpPr>
          <p:cNvPr id="10" name="Rectangle 9"/>
          <p:cNvSpPr/>
          <p:nvPr/>
        </p:nvSpPr>
        <p:spPr>
          <a:xfrm>
            <a:off x="54864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Diario</a:t>
            </a:r>
          </a:p>
        </p:txBody>
      </p:sp>
      <p:sp>
        <p:nvSpPr>
          <p:cNvPr id="13" name="TextBox 12"/>
          <p:cNvSpPr txBox="1"/>
          <p:nvPr/>
        </p:nvSpPr>
        <p:spPr>
          <a:xfrm>
            <a:off x="73152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Alineación rápida de 10 minutos: pendientes y bloqueos.</a:t>
            </a:r>
          </a:p>
        </p:txBody>
      </p:sp>
      <p:sp>
        <p:nvSpPr>
          <p:cNvPr id="14" name="Rectangle 13"/>
          <p:cNvSpPr/>
          <p:nvPr/>
        </p:nvSpPr>
        <p:spPr>
          <a:xfrm>
            <a:off x="429768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Semanal</a:t>
            </a:r>
          </a:p>
        </p:txBody>
      </p:sp>
      <p:sp>
        <p:nvSpPr>
          <p:cNvPr id="17" name="TextBox 16"/>
          <p:cNvSpPr txBox="1"/>
          <p:nvPr/>
        </p:nvSpPr>
        <p:spPr>
          <a:xfrm>
            <a:off x="448056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Revisión del embudo: dónde se están quedando los contactos.</a:t>
            </a:r>
          </a:p>
        </p:txBody>
      </p:sp>
      <p:sp>
        <p:nvSpPr>
          <p:cNvPr id="18" name="Rectangle 17"/>
          <p:cNvSpPr/>
          <p:nvPr/>
        </p:nvSpPr>
        <p:spPr>
          <a:xfrm>
            <a:off x="804672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2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Mensual</a:t>
            </a:r>
          </a:p>
        </p:txBody>
      </p:sp>
      <p:sp>
        <p:nvSpPr>
          <p:cNvPr id="21" name="TextBox 20"/>
          <p:cNvSpPr txBox="1"/>
          <p:nvPr/>
        </p:nvSpPr>
        <p:spPr>
          <a:xfrm>
            <a:off x="822960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Resultado vs. meta, ajuste de ruta y reconocimiento.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04</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Producto por producto</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Qué es, qué incluye, sus reglas y cómo presentarlo.</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CREMACIÓN · ADD-ON</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Solución Modular de Cremación</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US$ 1.000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US$ 800 · Pago en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Módulo de cremación que se integra a cualquier plan funerario vigente o nuevo de Vangrupo, sin cambiar de plan.</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Afiliados actuales y nuevos que quieren sumar la cremación con una cuota mínima.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Proceso completo de cremación individual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 cineraria de línea modular</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Trámites legales básicos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Alquiler temporal de columbario por 1 año en Hogar de las Memorias</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Se vende como adicional a un plan funerario (actual o nuevo).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Cobertura individual: un módulo por titular o beneficiario.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Debe estar pagado en su totalidad para usar la cremación y el columbario.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 columbario temporal es por 12 meses; al término, la familia elige destino final (oportunidad para ofrecer un Jardín de Cenizas o un columbario).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SOLUCIÓN MODULAR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"Usted ya protegió a su familia con su plan. Pagando en hasta 120 meses, puede sumar la cremación completa, con urna, trámites y un año de columbario incluido. Así nadie tendrá que decidir ni pagar de golpe en un momento difícil."</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¿Su plan actual incluye la cremación o solo el servicio funerario?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¿Ha conversado en familia qué preferencia tiene usted?</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le preocupa más: el costo o tener que decidir de urgencia?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parece si lo sumamos a su plan desde este mes, con la primera cuota de hoy?"</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"Mi plan ya es suficiente." → "Su plan cubre el servicio funerario; la cremación y la urna se pagarían aparte y de una sola vez. Con el módulo queda todo cubierto en cuotas pequeñas."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Ofrézcalo siempre junto a un jardín: la familia resuelve cremación y destino final en una sola decisión.</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1 · INHUMACIÓN INDIVIDUAL</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Individual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US$ 600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US$ 480 · Pago único o financiado · Mantenimiento US$ 15/año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Inhumación de la urna en un contenedor enterrado con tapa de granito grabada, en un jardín de plantas de sombra: un lugar para visitar por 30 años desde la primera inhumación, renovable.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quieren un lugar propio para visitar, con una inversión moderada.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la urna en contenedor individual (Ø 32 × 40 cm)</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de granito con los datos del ser querido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en el Jardín 1, con paisajismo de plantas de sombra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Camino en gravilla y espacio de contemplación con banco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urna.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Cuota de mantenimiento anual: US$ 15. Permanencia: 30 años desde la primera inhumación, renovable.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 contenedor queda con 20 cm a la vista; la tapa de granito es la identificación.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INDIVIDUAL</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¿Dónde le gustaría poder visitar a su ser querido?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¿Tienen hoy las cenizas en casa o en un columbario temporal?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¿Quién más de la familia participaría en las visitas?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gustaría conocer el jardín esta semana para elegir el lugar con calma?"</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El jardín vende solo: priorice siempre la visita.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1 · PARCELA FAMILIAR</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Familiar</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US$ 2.000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US$ 1.600 · Pago único o financiado · Mantenimiento US$ 24/año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Parcela familiar en el Jardín 1 con cuatro contenedores agrupados, cada uno con tapa de granito grabada. Permanencia de 30 años desde la primera inhumación, renovable.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un espacio propio para varias generaciones.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hasta 4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de granito grabada para cada espacio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en el Jardín 1, con paisajismo de plantas de sombra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Lugar de homenaje familiar por 30 años, renovable por igual período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4 espacios.</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30 años desde la primera inhumación, renovable por igual período.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Cuota de mantenimiento anual: US$ 24 por parcela.</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FAMILIAR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"Así como una familia comparte una casa, también puede compartir un lugar de memoria. La parcela familiar reúne hasta cuatro seres queridos en un mismo espacio, por 30 años renovables, y cuesta US$ 500 por espacio (US$ 400 con el precio de lanzamiento), menos que comprarlos por separado."</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que la familia esté reunida en un mismo lugar?</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¿Cuántas personas de la familia considerarían este destino?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pagarlo de una vez o en cuotas?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"¿Reservamos hoy la parcela para su familia y la pagan en cuotas cómodas?"</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mucho dinero." → "Son US$ 500 por cada espacio, con financiamiento. Y es una decisión que se toma una sola vez para toda la familia."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Use el argumento por espacio (US$ 500) y no el total.</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2 · BOSQUE DE LAS ORQUÍDEAS</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Ecológico</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US$ 750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US$ 600 · Pago único o financiado · Placa memorial incluida</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Personas con conciencia ambiental que desean que sus cenizas vuelvan a la tierra.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ecológica con urna biodegradable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de identificación (madera en el Jardín 2 · mármol en el Bosque)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Entorno natural con agua corriente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Permanencia de 3 años; luego, nombre en la placa memorial del monumento (incluida)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urna. Espacio de 30 × 30 cm, 40 cm de profundidad.</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 años. Después, el espacio se reutiliza.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Placa memorial en el monumento: incluida en el precio de US$ 750.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Explique el plazo de 3 años con total transparencia desde la primera conversación.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¿Su ser querido tenía un vínculo especial con la naturaleza?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significa para ustedes "volver a la tierra"?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¿Es importante para la familia un lugar con nombre para siempre?</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parece si visitamos el Bosque de las Orquídeas y elegimos juntos el lugar?"</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"¿Y después de 3 años?" → "La urna ya se habrá integrado a la tierra, como era el deseo. El nombre pasa a la placa memorial del monumento, que queda para siempre en el jardín."</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Para familias católicas, enfatice que las cenizas reposan en el cementerio, un lugar dedicado a la memoria.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 Y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explicar el ciclo de 3 años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48640" y="2591345"/>
            <a:ext cx="11094415" cy="268115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MASCOTAS · INHUMACIÓN ECOLÓGICA</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Mascotas</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US$ 400 / US$ 550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US$ 320 / US$ 440 · US$ 400 solo espacio · US$ 550 con cremación</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Inhumación ecológica de las cenizas de la mascota: la urna biodegradable se entierra en el jardín y se identifica con una placa de madera. La opción de US$ 550 incluye también la cremación de la mascota.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consideran a su mascota parte del hogar y desean un cierre digno.</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ecológica en el jardín de mascotas; cremación y urna biodegradable en la opción de US$ 550</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de madera de 20 cm para identificación</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Permanencia de 3 años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memorial en el monumento al término del plazo (incluida)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mascota por servicio.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 años. Después, el espacio se reutiliza.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Placa memorial incluida. Urna biodegradable incluida solo con cremación (US$ 550); con solo espacio (US$ 400) se compra aparte.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Pago único; puede contratarse como adicional al plan funerario.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¿Cómo se llamaba su compañero?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¿Ya se realizó la cremación o necesitan también ese servicio?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un lugar para visitarlo con los niños?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"¿Prefieren la opción con cremación incluida, para resolver todo en un solo paso?"</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solo una mascota." → No discuta el vínculo de la familia. Si el cliente minimiza, respete y ofrezca la información por escrito para que decida con calma.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Llame a la mascota por su nombre durante toda la conversación.</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8E8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3 · PRÓXIMO LANZAMIENTO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Ceremonial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PRÓXIMO LANZAMIENTO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A definir</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A definir</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Jardín para inhumación de urnas con ceremonia de agua, con fuentes como elemento central del rito de despedida.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valoran un rito de despedida simbólico y un entorno contemplativo.</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urnas de cenizas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Ceremonia con agua en fuente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Barrera visual que separa el jardín del crematorio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PRÓXIMO LANZAMIENTO: no se vende ni se cotiza todavía.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Si un cliente muestra interés, registre su contacto como "interesado Ceremonial".</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04</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Portafolio existente: columbarios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Además de los lanzamientos, el portafolio de cremación incluye los columbarios que ya vendemos en El Hogar de las Memorias y en el mausoleo vertical Bella Vista. En Finados y durante noviembre tienen 15% de descuento. Se pagan al contado o financiados en hasta 120 meses, con intereses.</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SERVICIO COMPLETO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Supremo Plus</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UBICACIÓN</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US$ 2.700 – 3.900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desde US$ 2.295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Integra en un solo contrato el servicio funerario, dos cremaciones y un columbario permanente de cristal o mármol para hasta dos urnas, en El Hogar de las Memorias.</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quieren resolver en una sola compra el funeral, la cremación y un lugar permanente para dos seres queridos.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columbario estándar permanente de cristal o mármol, para hasta 2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Traslados, preparación y resguardo hasta 5 días; Programa Vive de acompañamiento en el duelo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Urnas cinerarias básicas (2) y 2 cremaciones con certificado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Capilla de velación 24 h, ataúd ceremonial y carroza tradicional</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2 urnas; incluye 2 cremaciones.</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ubicación definida: US$ 3.400 – 3.900; a futuro: US$ 2.700 – 3.200 (según fila y nivel).</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Elija velación en La Auxiliadora (Maquilishuat o Básica) o en Capillas Memoriales (Las Camelias o Básica).</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SUPREMO PLUS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"Con el Supremo Plus su familia no tendrá que coordinar nada: el servicio funerario, la cremación y el lugar donde descansarán las cenizas quedan resueltos en un solo contrato, para dos personas y para siempre."</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¿Han pensado dónde quedarían las cenizas después de la cremación?</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¿Lo considera para usted y su pareja, o para sus padres?</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 elegir hoy el nicho o dejar la ubicación para más adelante?</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"¿Aprovechamos el precio de noviembre y elegimos hoy la ubicación?"</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una inversión alta." → "Incluye todo para dos personas: funeral, dos cremaciones y el columbario permanente. Y puede pagarse en hasta 120 meses."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Si el presupuesto no alcanza para la ubicación definida, ofrezca la ubicación a futuro: el mismo producto, a menor precio.</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COLUMBARIO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Mármol o Cristal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UBICACIÓN</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US$ 1.200 – 2.600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desde US$ 1.020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Ideal para las cenizas de la familia: columbario permanente de mármol o cristal en El Hogar de las Memorias, elegante, sereno y de diseño atemporal.</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ya tienen la cremación resuelta y buscan un lugar permanente y elegante para las cenizas.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espacio permanente en columbario de mármol o cristal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Tamaño estándar: hasta 2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definida o a futuro, según la opción contratada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Cremación no incluida: se contrata aparte (por ejemplo, con la Solución Modular).</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ubicación definida: US$ 2.600; a futuro: US$ 1.200 – 1.900 (según fila y nivel).</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MÁRMOL O CRISTAL</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"Las cenizas de su ser querido merecen un lugar propio y permanente. En El Hogar de las Memorias, el columbario de mármol o cristal guarda hasta dos urnas en un espacio sereno, donde la familia siempre podrá volver."</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¿Las cenizas están hoy en casa o en un columbario temporal?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el mármol o el cristal?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¿Pensarían en un espacio para dos personas de la familia?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"¿Visitamos El Hogar de las Memorias para que elija la fila y el nivel?"</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"Ya tengo las cenizas en casa." → "Es natural tenerlas cerca. En el columbario quedan protegidas para siempre y toda la familia puede visitarlas."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el destino natural al terminar los 12 meses de columbario temporal de la Solución Modular.</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COLUMBARIO PREMIUM</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Ónix</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MODALIDAD</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US$ 3.100 / 5.000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US$ 2.635 / 4.250 ·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Inspirado en la belleza del ónix natural, de tonos cálidos y apariencia luminosa: un columbario exclusivo para un homenaje perdurable.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exclusividad y una piedra natural de alta gama para el homenaje.</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espacio permanente en columbario de ónix natural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Tamaño estándar: hasta 2 urnas, con ubicación definida (US$ 3.100)</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Una opción familiar: hasta 4 urnas, con ubicación a futuro (US$ 5.000)</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Cremación no incluida: se contrata aparte.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la modalidad estándar la ubicación es definida; con la familiar, a futuro.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COLUMBARIO ÓNIX</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"El ónix es una piedra natural única: su luz y sus tonos cálidos hacen de cada espacio un lugar de paz. Es un homenaje distinto, a la altura de quien usted ama."</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tipo de homenaje imagina para su familia?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¿Sería para dos personas o para la familia completa?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muestro el columbario de ónix para que vea la piedra en persona?"</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"Hay opciones más baratas." → "Sí, y con gusto se las muestro. El ónix es para quien busca algo único: una piedra natural que no se repite."</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Muestre la piedra en persona: la luz del ónix se aprecia mejor que en cualquier foto.</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COLUMBARIO FAMILIAR</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Obra de Arte</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US$ 12.500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US$ 10.625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Imagen religiosa sobre tapa de ónix: un columbario familiar que es una expresión única de fe, memoria y belleza.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de fe que desean un legado único y de máxima exclusividad.</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columbario familiar permanente para hasta 4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exclusiva de ónix con obra de arte religiosa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definida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4 urnas (familiar).</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Cremación no incluida: se contrata aparte.</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OBRA DE ARTE</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"Este columbario es una obra de arte de fe: la tapa de ónix con imagen religiosa convierte el lugar de descanso de su familia en un espacio de oración y contemplación, para generaciones."</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lugar tiene la fe en la forma en que su familia recuerda?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¿Cuántos miembros de la familia lo considerarían?</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"¿Reservamos hoy el espacio familiar con el precio de noviembre?"</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muy caro." → "Es un legado para cuatro personas, para siempre, y puede pagarse en hasta 120 meses. Es la opción más exclusiva del portafolio."</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Preséntelo con calma y en persona; no lo ofrezca a quien busca la opción más económica.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MAUSOLEO BELLA VISTA · CREMACIÓN + COLUMBARIO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Cristal · Bella Vista</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UBICACIÓN</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US$ 1.300 – 2.900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desde US$ 1.105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Incluye el proceso completo de cremación y un columbario de cristal en el mausoleo vertical Bella Vista, dentro del cementerio.</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la opción más accesible de cremación con columbario permanente, para 2 o 4 personas.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columbario de cristal permanente (30 × 30 × 30 cm)</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Traslados, preparación y resguardo hasta 5 días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Urnas y cremaciones: 2 en la modalidad estándar, 4 en la familiar</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Certificado de cremación y ceremonia privada de colocación</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modalidad estándar: definida US$ 1.800 · a futuro US$ 1.300.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modalidad familiar: definida US$ 2.900 · a futuro US$ 2.300.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En este producto la cremación está incluida: no hace falta contratarla aparte.</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BELLA VISTA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"Bella Vista resuelve en un solo paso la cremación y el lugar de descanso: un columbario de cristal en nuestro mausoleo vertical, para dos o cuatro personas, con todo el proceso incluido."</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¿Lo considera para dos personas o para la familia?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elegir ya la ubicación o dejarla a futuro?</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"¿Aprovechamos el precio de noviembre y lo dejamos resuelto hoy?"</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"Prefiero un jardín." → "Perfecto, también tenemos los Jardines de Cenizas. Bella Vista es para quien prefiere un columbario, con la cremación ya incluida."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la puerta de entrada a los columbarios: cremación y destino final desde US$ 1.105 en noviembre.</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05</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Manejo de objeciones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Una objeción no es un "no": es una duda que aún no resolvimos.</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método V·R·A</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48640" y="2230199"/>
            <a:ext cx="11094415" cy="3403442"/>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(1/4)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1.  "No quiero pensar en eso, es de mala suerte."</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"Entiendo, a nadie le gusta hablar de este tema."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Planificar con calma es justamente lo que evita que su familia tenga que decidir en el peor momento. Es un acto de cuidado, no de pesimismo.</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dejo la información para que la conversen en casa?"</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2.  "Soy católico, la cremación no está permitida."</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"Su fe es muy importante y la respetamos."</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gustaría conocer el jardín y ver cómo es el lugar?"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(2/4)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3.  "Prefiero la sepultura tradicional."</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tradición muy valiosa."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El jardín conserva lo esencial de la sepultura: un lugar con nombre para visitar, con un costo mucho menor y en un entorno natural.</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muestro la diferencia de inversión entre ambas opciones?"</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4.  "Está caro."</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"Comprendo, es una inversión."</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En la urgencia los costos son mayores y se pagan de golpe. Hoy fija el precio y lo paga en cuotas: la Solución Modular se paga en hasta 120 meses.</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resulta más cómodo pagarlo en cuotas mensuales?"</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(3/4)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5.  "Tengo que hablarlo con mi familia."</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"Claro, es una decisión de familia."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Facilite esa conversación: ofrezca un resumen simple y quedar disponible para resolver dudas de todos juntos.</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"¿Puedo llamarle el [día] para ver si quedó alguna pregunta?"</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6.  "Prefiero tener las cenizas en casa."</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natural querer tenerlas cerca."</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En el jardín toda la familia puede visitarlas, quedan protegidas ante mudanzas o cambios, y tienen un lugar con su nombre.</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gustaría visitar el jardín antes de decidir?"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(4/4)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7.  "¿Por qué pagar mantenimiento cada año?"</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pregunta muy válida."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La cuota (US$ 15 o US$ 24 al año) mantiene el jardín siempre cuidado: poda, riego y limpieza. Es lo que garantiza que el lugar luzca digno en cada visita.</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explico qué incluye el cuidado del jardín?"</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8.  "No confío en estos planes."</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preocupación válida."</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Somos La Auxiliadora, Hogar de las Memorias y Las Colinas, empresas de Vangrupo con trayectoria en El Salvador. El contrato es transparente y puede visitar el jardín cuando quiera.</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"¿Agendamos una visita sin compromiso?"</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06</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Precios, reglas y condiciones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Transparencia desde la primera conversación.</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Tabla de precios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48640" y="2011680"/>
          <a:ext cx="11094413" cy="3520440"/>
        </p:xfrm>
        <a:graphic>
          <a:graphicData uri="http://schemas.openxmlformats.org/drawingml/2006/table">
            <a:tbl>
              <a:tblPr firstRow="1" bandRow="1">
                <a:tableStyleId>{5C22544A-7EE6-4342-B048-85BDC9FD1C3A}</a:tableStyleId>
              </a:tblPr>
              <a:tblGrid>
                <a:gridCol w="2200545"/>
                <a:gridCol w="1467030"/>
                <a:gridCol w="2750681"/>
                <a:gridCol w="1558719"/>
                <a:gridCol w="3117438"/>
              </a:tblGrid>
              <a:tr h="502920">
                <a:tc>
                  <a:txBody>
                    <a:bodyPr wrap="square"/>
                    <a:lstStyle/>
                    <a:p>
                      <a:r>
                        <a:rPr sz="1250" b="1">
                          <a:solidFill>
                            <a:srgbClr val="FFFFFF"/>
                          </a:solidFill>
                          <a:latin typeface="Montserrat"/>
                        </a:rPr>
                        <a:t>Producto</a:t>
                      </a:r>
                    </a:p>
                  </a:txBody>
                  <a:tcPr marL="73152" marR="73152" marT="36576" marB="36576" anchor="ctr">
                    <a:solidFill>
                      <a:srgbClr val="5B3F80"/>
                    </a:solidFill>
                  </a:tcPr>
                </a:tc>
                <a:tc>
                  <a:txBody>
                    <a:bodyPr wrap="square"/>
                    <a:lstStyle/>
                    <a:p>
                      <a:r>
                        <a:rPr sz="1250" b="1">
                          <a:solidFill>
                            <a:srgbClr val="FFFFFF"/>
                          </a:solidFill>
                          <a:latin typeface="Montserrat"/>
                        </a:rPr>
                        <a:t>Precio</a:t>
                      </a:r>
                    </a:p>
                  </a:txBody>
                  <a:tcPr marL="73152" marR="73152" marT="36576" marB="36576" anchor="ctr">
                    <a:solidFill>
                      <a:srgbClr val="5B3F80"/>
                    </a:solidFill>
                  </a:tcPr>
                </a:tc>
                <a:tc>
                  <a:txBody>
                    <a:bodyPr wrap="square"/>
                    <a:lstStyle/>
                    <a:p>
                      <a:r>
                        <a:rPr sz="1250" b="1">
                          <a:solidFill>
                            <a:srgbClr val="FFFFFF"/>
                          </a:solidFill>
                          <a:latin typeface="Montserrat"/>
                        </a:rPr>
                        <a:t>Forma de pago</a:t>
                      </a:r>
                    </a:p>
                  </a:txBody>
                  <a:tcPr marL="73152" marR="73152" marT="36576" marB="36576" anchor="ctr">
                    <a:solidFill>
                      <a:srgbClr val="5B3F80"/>
                    </a:solidFill>
                  </a:tcPr>
                </a:tc>
                <a:tc>
                  <a:txBody>
                    <a:bodyPr wrap="square"/>
                    <a:lstStyle/>
                    <a:p>
                      <a:r>
                        <a:rPr sz="1250" b="1">
                          <a:solidFill>
                            <a:srgbClr val="FFFFFF"/>
                          </a:solidFill>
                          <a:latin typeface="Montserrat"/>
                        </a:rPr>
                        <a:t>Mantenimiento</a:t>
                      </a:r>
                    </a:p>
                  </a:txBody>
                  <a:tcPr marL="73152" marR="73152" marT="36576" marB="36576" anchor="ctr">
                    <a:solidFill>
                      <a:srgbClr val="5B3F80"/>
                    </a:solidFill>
                  </a:tcPr>
                </a:tc>
                <a:tc>
                  <a:txBody>
                    <a:bodyPr wrap="square"/>
                    <a:lstStyle/>
                    <a:p>
                      <a:r>
                        <a:rPr sz="1250" b="1">
                          <a:solidFill>
                            <a:srgbClr val="FFFFFF"/>
                          </a:solidFill>
                          <a:latin typeface="Montserrat"/>
                        </a:rPr>
                        <a:t>Plazo / condición</a:t>
                      </a:r>
                    </a:p>
                  </a:txBody>
                  <a:tcPr marL="73152" marR="73152" marT="36576" marB="36576" anchor="ctr">
                    <a:solidFill>
                      <a:srgbClr val="5B3F80"/>
                    </a:solidFill>
                  </a:tcPr>
                </a:tc>
              </a:tr>
              <a:tr h="502920">
                <a:tc>
                  <a:txBody>
                    <a:bodyPr wrap="square"/>
                    <a:lstStyle/>
                    <a:p>
                      <a:r>
                        <a:rPr sz="1250" b="1">
                          <a:solidFill>
                            <a:srgbClr val="5B3F80"/>
                          </a:solidFill>
                          <a:latin typeface="Montserrat"/>
                        </a:rPr>
                        <a:t>Solución Modular</a:t>
                      </a:r>
                    </a:p>
                  </a:txBody>
                  <a:tcPr marL="73152" marR="73152" marT="36576" marB="36576" anchor="ctr">
                    <a:solidFill>
                      <a:srgbClr val="FFFFFF"/>
                    </a:solidFill>
                  </a:tcPr>
                </a:tc>
                <a:tc>
                  <a:txBody>
                    <a:bodyPr wrap="square"/>
                    <a:lstStyle/>
                    <a:p>
                      <a:r>
                        <a:rPr sz="1250" b="0">
                          <a:solidFill>
                            <a:srgbClr val="2E2A36"/>
                          </a:solidFill>
                          <a:latin typeface="Montserrat"/>
                        </a:rPr>
                        <a:t>US$ 1.000 · lanz. US$ 800</a:t>
                      </a:r>
                    </a:p>
                  </a:txBody>
                  <a:tcPr marL="73152" marR="73152" marT="36576" marB="36576" anchor="ctr">
                    <a:solidFill>
                      <a:srgbClr val="FFFFFF"/>
                    </a:solidFill>
                  </a:tcPr>
                </a:tc>
                <a:tc>
                  <a:txBody>
                    <a:bodyPr wrap="square"/>
                    <a:lstStyle/>
                    <a:p>
                      <a:r>
                        <a:rPr sz="1250" b="0">
                          <a:solidFill>
                            <a:srgbClr val="2E2A36"/>
                          </a:solidFill>
                          <a:latin typeface="Montserrat"/>
                        </a:rPr>
                        <a:t>Hasta 120 meses, con intereses</a:t>
                      </a:r>
                    </a:p>
                  </a:txBody>
                  <a:tcPr marL="73152" marR="73152" marT="36576" marB="36576" anchor="ctr">
                    <a:solidFill>
                      <a:srgbClr val="FFFFFF"/>
                    </a:solidFill>
                  </a:tcPr>
                </a:tc>
                <a:tc>
                  <a:txBody>
                    <a:bodyPr wrap="square"/>
                    <a:lstStyle/>
                    <a:p>
                      <a:r>
                        <a:rPr sz="1250" b="0">
                          <a:solidFill>
                            <a:srgbClr val="2E2A36"/>
                          </a:solidFill>
                          <a:latin typeface="Montserrat"/>
                        </a:rPr>
                        <a:t>—</a:t>
                      </a:r>
                    </a:p>
                  </a:txBody>
                  <a:tcPr marL="73152" marR="73152" marT="36576" marB="36576" anchor="ctr">
                    <a:solidFill>
                      <a:srgbClr val="FFFFFF"/>
                    </a:solidFill>
                  </a:tcPr>
                </a:tc>
                <a:tc>
                  <a:txBody>
                    <a:bodyPr wrap="square"/>
                    <a:lstStyle/>
                    <a:p>
                      <a:r>
                        <a:rPr sz="1250" b="0">
                          <a:solidFill>
                            <a:srgbClr val="2E2A36"/>
                          </a:solidFill>
                          <a:latin typeface="Montserrat"/>
                        </a:rPr>
                        <a:t>Columbario 1 año incluido</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Individual</a:t>
                      </a:r>
                    </a:p>
                  </a:txBody>
                  <a:tcPr marL="73152" marR="73152" marT="36576" marB="36576" anchor="ctr">
                    <a:solidFill>
                      <a:srgbClr val="F5F2F8"/>
                    </a:solidFill>
                  </a:tcPr>
                </a:tc>
                <a:tc>
                  <a:txBody>
                    <a:bodyPr wrap="square"/>
                    <a:lstStyle/>
                    <a:p>
                      <a:r>
                        <a:rPr sz="1250" b="0">
                          <a:solidFill>
                            <a:srgbClr val="2E2A36"/>
                          </a:solidFill>
                          <a:latin typeface="Montserrat"/>
                        </a:rPr>
                        <a:t>US$ 600 · lanz. US$ 480</a:t>
                      </a:r>
                    </a:p>
                  </a:txBody>
                  <a:tcPr marL="73152" marR="73152" marT="36576" marB="36576" anchor="ctr">
                    <a:solidFill>
                      <a:srgbClr val="F5F2F8"/>
                    </a:solidFill>
                  </a:tcPr>
                </a:tc>
                <a:tc>
                  <a:txBody>
                    <a:bodyPr wrap="square"/>
                    <a:lstStyle/>
                    <a:p>
                      <a:r>
                        <a:rPr sz="1250" b="0">
                          <a:solidFill>
                            <a:srgbClr val="2E2A36"/>
                          </a:solidFill>
                          <a:latin typeface="Montserrat"/>
                        </a:rPr>
                        <a:t>Único o financiado</a:t>
                      </a:r>
                    </a:p>
                  </a:txBody>
                  <a:tcPr marL="73152" marR="73152" marT="36576" marB="36576" anchor="ctr">
                    <a:solidFill>
                      <a:srgbClr val="F5F2F8"/>
                    </a:solidFill>
                  </a:tcPr>
                </a:tc>
                <a:tc>
                  <a:txBody>
                    <a:bodyPr wrap="square"/>
                    <a:lstStyle/>
                    <a:p>
                      <a:r>
                        <a:rPr sz="1250" b="0">
                          <a:solidFill>
                            <a:srgbClr val="2E2A36"/>
                          </a:solidFill>
                          <a:latin typeface="Montserrat"/>
                        </a:rPr>
                        <a:t>US$ 15/año</a:t>
                      </a:r>
                    </a:p>
                  </a:txBody>
                  <a:tcPr marL="73152" marR="73152" marT="36576" marB="36576" anchor="ctr">
                    <a:solidFill>
                      <a:srgbClr val="F5F2F8"/>
                    </a:solidFill>
                  </a:tcPr>
                </a:tc>
                <a:tc>
                  <a:txBody>
                    <a:bodyPr wrap="square"/>
                    <a:lstStyle/>
                    <a:p>
                      <a:r>
                        <a:rPr sz="1250" b="0">
                          <a:solidFill>
                            <a:srgbClr val="2E2A36"/>
                          </a:solidFill>
                          <a:latin typeface="Montserrat"/>
                        </a:rPr>
                        <a:t>30 años, renovable</a:t>
                      </a:r>
                    </a:p>
                  </a:txBody>
                  <a:tcPr marL="73152" marR="73152" marT="36576" marB="36576" anchor="ctr">
                    <a:solidFill>
                      <a:srgbClr val="F5F2F8"/>
                    </a:solidFill>
                  </a:tcPr>
                </a:tc>
              </a:tr>
              <a:tr h="502920">
                <a:tc>
                  <a:txBody>
                    <a:bodyPr wrap="square"/>
                    <a:lstStyle/>
                    <a:p>
                      <a:r>
                        <a:rPr sz="1250" b="1">
                          <a:solidFill>
                            <a:srgbClr val="5B3F80"/>
                          </a:solidFill>
                          <a:latin typeface="Montserrat"/>
                        </a:rPr>
                        <a:t>Jardín Familiar</a:t>
                      </a:r>
                    </a:p>
                  </a:txBody>
                  <a:tcPr marL="73152" marR="73152" marT="36576" marB="36576" anchor="ctr">
                    <a:solidFill>
                      <a:srgbClr val="FFFFFF"/>
                    </a:solidFill>
                  </a:tcPr>
                </a:tc>
                <a:tc>
                  <a:txBody>
                    <a:bodyPr wrap="square"/>
                    <a:lstStyle/>
                    <a:p>
                      <a:r>
                        <a:rPr sz="1250" b="0">
                          <a:solidFill>
                            <a:srgbClr val="2E2A36"/>
                          </a:solidFill>
                          <a:latin typeface="Montserrat"/>
                        </a:rPr>
                        <a:t>US$ 2.000 · lanz. US$ 1.600</a:t>
                      </a:r>
                    </a:p>
                  </a:txBody>
                  <a:tcPr marL="73152" marR="73152" marT="36576" marB="36576" anchor="ctr">
                    <a:solidFill>
                      <a:srgbClr val="FFFFFF"/>
                    </a:solidFill>
                  </a:tcPr>
                </a:tc>
                <a:tc>
                  <a:txBody>
                    <a:bodyPr wrap="square"/>
                    <a:lstStyle/>
                    <a:p>
                      <a:r>
                        <a:rPr sz="1250" b="0">
                          <a:solidFill>
                            <a:srgbClr val="2E2A36"/>
                          </a:solidFill>
                          <a:latin typeface="Montserrat"/>
                        </a:rPr>
                        <a:t>Único o financiado</a:t>
                      </a:r>
                    </a:p>
                  </a:txBody>
                  <a:tcPr marL="73152" marR="73152" marT="36576" marB="36576" anchor="ctr">
                    <a:solidFill>
                      <a:srgbClr val="FFFFFF"/>
                    </a:solidFill>
                  </a:tcPr>
                </a:tc>
                <a:tc>
                  <a:txBody>
                    <a:bodyPr wrap="square"/>
                    <a:lstStyle/>
                    <a:p>
                      <a:r>
                        <a:rPr sz="1250" b="0">
                          <a:solidFill>
                            <a:srgbClr val="2E2A36"/>
                          </a:solidFill>
                          <a:latin typeface="Montserrat"/>
                        </a:rPr>
                        <a:t>US$ 24/año</a:t>
                      </a:r>
                    </a:p>
                  </a:txBody>
                  <a:tcPr marL="73152" marR="73152" marT="36576" marB="36576" anchor="ctr">
                    <a:solidFill>
                      <a:srgbClr val="FFFFFF"/>
                    </a:solidFill>
                  </a:tcPr>
                </a:tc>
                <a:tc>
                  <a:txBody>
                    <a:bodyPr wrap="square"/>
                    <a:lstStyle/>
                    <a:p>
                      <a:r>
                        <a:rPr sz="1250" b="0">
                          <a:solidFill>
                            <a:srgbClr val="2E2A36"/>
                          </a:solidFill>
                          <a:latin typeface="Montserrat"/>
                        </a:rPr>
                        <a:t>Hasta 4 espacios · 30 años, renovable</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Ecológico</a:t>
                      </a:r>
                    </a:p>
                  </a:txBody>
                  <a:tcPr marL="73152" marR="73152" marT="36576" marB="36576" anchor="ctr">
                    <a:solidFill>
                      <a:srgbClr val="F5F2F8"/>
                    </a:solidFill>
                  </a:tcPr>
                </a:tc>
                <a:tc>
                  <a:txBody>
                    <a:bodyPr wrap="square"/>
                    <a:lstStyle/>
                    <a:p>
                      <a:r>
                        <a:rPr sz="1250" b="0">
                          <a:solidFill>
                            <a:srgbClr val="2E2A36"/>
                          </a:solidFill>
                          <a:latin typeface="Montserrat"/>
                        </a:rPr>
                        <a:t>US$ 750 · lanz. US$ 600</a:t>
                      </a:r>
                    </a:p>
                  </a:txBody>
                  <a:tcPr marL="73152" marR="73152" marT="36576" marB="36576" anchor="ctr">
                    <a:solidFill>
                      <a:srgbClr val="F5F2F8"/>
                    </a:solidFill>
                  </a:tcPr>
                </a:tc>
                <a:tc>
                  <a:txBody>
                    <a:bodyPr wrap="square"/>
                    <a:lstStyle/>
                    <a:p>
                      <a:r>
                        <a:rPr sz="1250" b="0">
                          <a:solidFill>
                            <a:srgbClr val="2E2A36"/>
                          </a:solidFill>
                          <a:latin typeface="Montserrat"/>
                        </a:rPr>
                        <a:t>Único o financiado</a:t>
                      </a:r>
                    </a:p>
                  </a:txBody>
                  <a:tcPr marL="73152" marR="73152" marT="36576" marB="36576" anchor="ctr">
                    <a:solidFill>
                      <a:srgbClr val="F5F2F8"/>
                    </a:solidFill>
                  </a:tcPr>
                </a:tc>
                <a:tc>
                  <a:txBody>
                    <a:bodyPr wrap="square"/>
                    <a:lstStyle/>
                    <a:p>
                      <a:r>
                        <a:rPr sz="1250" b="0">
                          <a:solidFill>
                            <a:srgbClr val="2E2A36"/>
                          </a:solidFill>
                          <a:latin typeface="Montserrat"/>
                        </a:rPr>
                        <a:t>—</a:t>
                      </a:r>
                    </a:p>
                  </a:txBody>
                  <a:tcPr marL="73152" marR="73152" marT="36576" marB="36576" anchor="ctr">
                    <a:solidFill>
                      <a:srgbClr val="F5F2F8"/>
                    </a:solidFill>
                  </a:tcPr>
                </a:tc>
                <a:tc>
                  <a:txBody>
                    <a:bodyPr wrap="square"/>
                    <a:lstStyle/>
                    <a:p>
                      <a:r>
                        <a:rPr sz="1250" b="0">
                          <a:solidFill>
                            <a:srgbClr val="2E2A36"/>
                          </a:solidFill>
                          <a:latin typeface="Montserrat"/>
                        </a:rPr>
                        <a:t>3 años · placa memorial incluida</a:t>
                      </a:r>
                    </a:p>
                  </a:txBody>
                  <a:tcPr marL="73152" marR="73152" marT="36576" marB="36576" anchor="ctr">
                    <a:solidFill>
                      <a:srgbClr val="F5F2F8"/>
                    </a:solidFill>
                  </a:tcPr>
                </a:tc>
              </a:tr>
              <a:tr h="502920">
                <a:tc>
                  <a:txBody>
                    <a:bodyPr wrap="square"/>
                    <a:lstStyle/>
                    <a:p>
                      <a:r>
                        <a:rPr sz="1250" b="1">
                          <a:solidFill>
                            <a:srgbClr val="5B3F80"/>
                          </a:solidFill>
                          <a:latin typeface="Montserrat"/>
                        </a:rPr>
                        <a:t>Jardín de Mascotas</a:t>
                      </a:r>
                    </a:p>
                  </a:txBody>
                  <a:tcPr marL="73152" marR="73152" marT="36576" marB="36576" anchor="ctr">
                    <a:solidFill>
                      <a:srgbClr val="FFFFFF"/>
                    </a:solidFill>
                  </a:tcPr>
                </a:tc>
                <a:tc>
                  <a:txBody>
                    <a:bodyPr wrap="square"/>
                    <a:lstStyle/>
                    <a:p>
                      <a:r>
                        <a:rPr sz="1250" b="0">
                          <a:solidFill>
                            <a:srgbClr val="2E2A36"/>
                          </a:solidFill>
                          <a:latin typeface="Montserrat"/>
                        </a:rPr>
                        <a:t>US$ 400 / 550 · lanz. US$ 320 / 440</a:t>
                      </a:r>
                    </a:p>
                  </a:txBody>
                  <a:tcPr marL="73152" marR="73152" marT="36576" marB="36576" anchor="ctr">
                    <a:solidFill>
                      <a:srgbClr val="FFFFFF"/>
                    </a:solidFill>
                  </a:tcPr>
                </a:tc>
                <a:tc>
                  <a:txBody>
                    <a:bodyPr wrap="square"/>
                    <a:lstStyle/>
                    <a:p>
                      <a:r>
                        <a:rPr sz="1250" b="0">
                          <a:solidFill>
                            <a:srgbClr val="2E2A36"/>
                          </a:solidFill>
                          <a:latin typeface="Montserrat"/>
                        </a:rPr>
                        <a:t>Pago único</a:t>
                      </a:r>
                    </a:p>
                  </a:txBody>
                  <a:tcPr marL="73152" marR="73152" marT="36576" marB="36576" anchor="ctr">
                    <a:solidFill>
                      <a:srgbClr val="FFFFFF"/>
                    </a:solidFill>
                  </a:tcPr>
                </a:tc>
                <a:tc>
                  <a:txBody>
                    <a:bodyPr wrap="square"/>
                    <a:lstStyle/>
                    <a:p>
                      <a:r>
                        <a:rPr sz="1250" b="0">
                          <a:solidFill>
                            <a:srgbClr val="2E2A36"/>
                          </a:solidFill>
                          <a:latin typeface="Montserrat"/>
                        </a:rPr>
                        <a:t>—</a:t>
                      </a:r>
                    </a:p>
                  </a:txBody>
                  <a:tcPr marL="73152" marR="73152" marT="36576" marB="36576" anchor="ctr">
                    <a:solidFill>
                      <a:srgbClr val="FFFFFF"/>
                    </a:solidFill>
                  </a:tcPr>
                </a:tc>
                <a:tc>
                  <a:txBody>
                    <a:bodyPr wrap="square"/>
                    <a:lstStyle/>
                    <a:p>
                      <a:r>
                        <a:rPr sz="1250" b="0">
                          <a:solidFill>
                            <a:srgbClr val="2E2A36"/>
                          </a:solidFill>
                          <a:latin typeface="Montserrat"/>
                        </a:rPr>
                        <a:t>3 años · placa incluida · cremación y urna en la opción de US$ 550</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Ceremonial</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Próximo lanzamiento</a:t>
                      </a:r>
                    </a:p>
                  </a:txBody>
                  <a:tcPr marL="73152" marR="73152" marT="36576" marB="36576" anchor="ctr">
                    <a:solidFill>
                      <a:srgbClr val="FBF6EC"/>
                    </a:solidFill>
                  </a:tcPr>
                </a:tc>
              </a:tr>
            </a:tbl>
          </a:graphicData>
        </a:graphic>
      </p:graphicFrame>
      <p:sp>
        <p:nvSpPr>
          <p:cNvPr id="8" name="Rectangle 7"/>
          <p:cNvSpPr/>
          <p:nvPr/>
        </p:nvSpPr>
        <p:spPr>
          <a:xfrm>
            <a:off x="548640" y="5669280"/>
            <a:ext cx="11094415" cy="5486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37215" cy="54864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5B3F80"/>
                </a:solidFill>
                <a:latin typeface="Montserrat"/>
              </a:rPr>
              <a:t>EL DESCUENTO NO ES LA SALIDA   </a:t>
            </a:r>
            <a:r>
              <a:rPr sz="1100" b="0" i="0">
                <a:solidFill>
                  <a:srgbClr val="2E2A36"/>
                </a:solidFill>
                <a:latin typeface="Montserrat"/>
              </a:rPr>
              <a:t>Competimos por valor, no por precio. Antes de ofrecer un descuento, refuerce lo que está incluido y la calidad del jardín. Un descuento fácil enseña al cliente a dudar del valor.</a:t>
            </a:r>
          </a:p>
        </p:txBody>
      </p:sp>
      <p:sp>
        <p:nvSpPr>
          <p:cNvPr id="10" name="TextBox 9"/>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Portafolio existente: columbarios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Descuento de 15% válido en Finados y durante noviembre. Pago único o hasta 120 meses, con intereses.</a:t>
            </a:r>
          </a:p>
        </p:txBody>
      </p:sp>
      <p:graphicFrame>
        <p:nvGraphicFramePr>
          <p:cNvPr id="7" name="Table 6"/>
          <p:cNvGraphicFramePr>
            <a:graphicFrameLocks noGrp="1"/>
          </p:cNvGraphicFramePr>
          <p:nvPr/>
        </p:nvGraphicFramePr>
        <p:xfrm>
          <a:off x="548640" y="2011680"/>
          <a:ext cx="11094413" cy="3401568"/>
        </p:xfrm>
        <a:graphic>
          <a:graphicData uri="http://schemas.openxmlformats.org/drawingml/2006/table">
            <a:tbl>
              <a:tblPr firstRow="1" bandRow="1">
                <a:tableStyleId>{5C22544A-7EE6-4342-B048-85BDC9FD1C3A}</a:tableStyleId>
              </a:tblPr>
              <a:tblGrid>
                <a:gridCol w="1733502"/>
                <a:gridCol w="3120304"/>
                <a:gridCol w="2600253"/>
                <a:gridCol w="1213451"/>
                <a:gridCol w="2426903"/>
              </a:tblGrid>
              <a:tr h="566928">
                <a:tc>
                  <a:txBody>
                    <a:bodyPr wrap="square"/>
                    <a:lstStyle/>
                    <a:p>
                      <a:r>
                        <a:rPr sz="1200" b="1">
                          <a:solidFill>
                            <a:srgbClr val="FFFFFF"/>
                          </a:solidFill>
                          <a:latin typeface="Montserrat"/>
                        </a:rPr>
                        <a:t>Producto</a:t>
                      </a:r>
                    </a:p>
                  </a:txBody>
                  <a:tcPr marL="73152" marR="73152" marT="36576" marB="36576" anchor="ctr">
                    <a:solidFill>
                      <a:srgbClr val="5B3F80"/>
                    </a:solidFill>
                  </a:tcPr>
                </a:tc>
                <a:tc>
                  <a:txBody>
                    <a:bodyPr wrap="square"/>
                    <a:lstStyle/>
                    <a:p>
                      <a:r>
                        <a:rPr sz="1200" b="1">
                          <a:solidFill>
                            <a:srgbClr val="FFFFFF"/>
                          </a:solidFill>
                          <a:latin typeface="Montserrat"/>
                        </a:rPr>
                        <a:t>Precio</a:t>
                      </a:r>
                    </a:p>
                  </a:txBody>
                  <a:tcPr marL="73152" marR="73152" marT="36576" marB="36576" anchor="ctr">
                    <a:solidFill>
                      <a:srgbClr val="5B3F80"/>
                    </a:solidFill>
                  </a:tcPr>
                </a:tc>
                <a:tc>
                  <a:txBody>
                    <a:bodyPr wrap="square"/>
                    <a:lstStyle/>
                    <a:p>
                      <a:r>
                        <a:rPr sz="1200" b="1">
                          <a:solidFill>
                            <a:srgbClr val="FFFFFF"/>
                          </a:solidFill>
                          <a:latin typeface="Montserrat"/>
                        </a:rPr>
                        <a:t>Finados y noviembre (−15%)</a:t>
                      </a:r>
                    </a:p>
                  </a:txBody>
                  <a:tcPr marL="73152" marR="73152" marT="36576" marB="36576" anchor="ctr">
                    <a:solidFill>
                      <a:srgbClr val="5B3F80"/>
                    </a:solidFill>
                  </a:tcPr>
                </a:tc>
                <a:tc>
                  <a:txBody>
                    <a:bodyPr wrap="square"/>
                    <a:lstStyle/>
                    <a:p>
                      <a:r>
                        <a:rPr sz="1200" b="1">
                          <a:solidFill>
                            <a:srgbClr val="FFFFFF"/>
                          </a:solidFill>
                          <a:latin typeface="Montserrat"/>
                        </a:rPr>
                        <a:t>Capacidad</a:t>
                      </a:r>
                    </a:p>
                  </a:txBody>
                  <a:tcPr marL="73152" marR="73152" marT="36576" marB="36576" anchor="ctr">
                    <a:solidFill>
                      <a:srgbClr val="5B3F80"/>
                    </a:solidFill>
                  </a:tcPr>
                </a:tc>
                <a:tc>
                  <a:txBody>
                    <a:bodyPr wrap="square"/>
                    <a:lstStyle/>
                    <a:p>
                      <a:r>
                        <a:rPr sz="1200" b="1">
                          <a:solidFill>
                            <a:srgbClr val="FFFFFF"/>
                          </a:solidFill>
                          <a:latin typeface="Montserrat"/>
                        </a:rPr>
                        <a:t>Incluye</a:t>
                      </a:r>
                    </a:p>
                  </a:txBody>
                  <a:tcPr marL="73152" marR="73152" marT="36576" marB="36576" anchor="ctr">
                    <a:solidFill>
                      <a:srgbClr val="5B3F80"/>
                    </a:solidFill>
                  </a:tcPr>
                </a:tc>
              </a:tr>
              <a:tr h="566928">
                <a:tc>
                  <a:txBody>
                    <a:bodyPr wrap="square"/>
                    <a:lstStyle/>
                    <a:p>
                      <a:r>
                        <a:rPr sz="1200" b="1">
                          <a:solidFill>
                            <a:srgbClr val="5B3F80"/>
                          </a:solidFill>
                          <a:latin typeface="Montserrat"/>
                        </a:rPr>
                        <a:t>Supremo Plus</a:t>
                      </a:r>
                    </a:p>
                  </a:txBody>
                  <a:tcPr marL="73152" marR="73152" marT="36576" marB="36576" anchor="ctr">
                    <a:solidFill>
                      <a:srgbClr val="FFFFFF"/>
                    </a:solidFill>
                  </a:tcPr>
                </a:tc>
                <a:tc>
                  <a:txBody>
                    <a:bodyPr wrap="square"/>
                    <a:lstStyle/>
                    <a:p>
                      <a:r>
                        <a:rPr sz="1200" b="0">
                          <a:solidFill>
                            <a:srgbClr val="2E2A36"/>
                          </a:solidFill>
                          <a:latin typeface="Montserrat"/>
                        </a:rPr>
                        <a:t>Definida US$ 3.400–3.900 · Futuro US$ 2.700–3.200</a:t>
                      </a:r>
                    </a:p>
                  </a:txBody>
                  <a:tcPr marL="73152" marR="73152" marT="36576" marB="36576" anchor="ctr">
                    <a:solidFill>
                      <a:srgbClr val="FFFFFF"/>
                    </a:solidFill>
                  </a:tcPr>
                </a:tc>
                <a:tc>
                  <a:txBody>
                    <a:bodyPr wrap="square"/>
                    <a:lstStyle/>
                    <a:p>
                      <a:r>
                        <a:rPr sz="1200" b="0">
                          <a:solidFill>
                            <a:srgbClr val="2E2A36"/>
                          </a:solidFill>
                          <a:latin typeface="Montserrat"/>
                        </a:rPr>
                        <a:t>US$ 2.890–3.315 · US$ 2.295–2.720</a:t>
                      </a:r>
                    </a:p>
                  </a:txBody>
                  <a:tcPr marL="73152" marR="73152" marT="36576" marB="36576" anchor="ctr">
                    <a:solidFill>
                      <a:srgbClr val="FFFFFF"/>
                    </a:solidFill>
                  </a:tcPr>
                </a:tc>
                <a:tc>
                  <a:txBody>
                    <a:bodyPr wrap="square"/>
                    <a:lstStyle/>
                    <a:p>
                      <a:r>
                        <a:rPr sz="1200" b="0">
                          <a:solidFill>
                            <a:srgbClr val="2E2A36"/>
                          </a:solidFill>
                          <a:latin typeface="Montserrat"/>
                        </a:rPr>
                        <a:t>2 urnas</a:t>
                      </a:r>
                    </a:p>
                  </a:txBody>
                  <a:tcPr marL="73152" marR="73152" marT="36576" marB="36576" anchor="ctr">
                    <a:solidFill>
                      <a:srgbClr val="FFFFFF"/>
                    </a:solidFill>
                  </a:tcPr>
                </a:tc>
                <a:tc>
                  <a:txBody>
                    <a:bodyPr wrap="square"/>
                    <a:lstStyle/>
                    <a:p>
                      <a:r>
                        <a:rPr sz="1200" b="0">
                          <a:solidFill>
                            <a:srgbClr val="2E2A36"/>
                          </a:solidFill>
                          <a:latin typeface="Montserrat"/>
                        </a:rPr>
                        <a:t>Funeral + 2 cremaciones + columbario</a:t>
                      </a:r>
                    </a:p>
                  </a:txBody>
                  <a:tcPr marL="73152" marR="73152" marT="36576" marB="36576" anchor="ctr">
                    <a:solidFill>
                      <a:srgbClr val="FFFFFF"/>
                    </a:solidFill>
                  </a:tcPr>
                </a:tc>
              </a:tr>
              <a:tr h="566928">
                <a:tc>
                  <a:txBody>
                    <a:bodyPr wrap="square"/>
                    <a:lstStyle/>
                    <a:p>
                      <a:r>
                        <a:rPr sz="1200" b="1">
                          <a:solidFill>
                            <a:srgbClr val="5B3F80"/>
                          </a:solidFill>
                          <a:latin typeface="Montserrat"/>
                        </a:rPr>
                        <a:t>Mármol o Cristal</a:t>
                      </a:r>
                    </a:p>
                  </a:txBody>
                  <a:tcPr marL="73152" marR="73152" marT="36576" marB="36576" anchor="ctr">
                    <a:solidFill>
                      <a:srgbClr val="F5F2F8"/>
                    </a:solidFill>
                  </a:tcPr>
                </a:tc>
                <a:tc>
                  <a:txBody>
                    <a:bodyPr wrap="square"/>
                    <a:lstStyle/>
                    <a:p>
                      <a:r>
                        <a:rPr sz="1200" b="0">
                          <a:solidFill>
                            <a:srgbClr val="2E2A36"/>
                          </a:solidFill>
                          <a:latin typeface="Montserrat"/>
                        </a:rPr>
                        <a:t>Definida US$ 2.600 · Futuro US$ 1.200–1.900</a:t>
                      </a:r>
                    </a:p>
                  </a:txBody>
                  <a:tcPr marL="73152" marR="73152" marT="36576" marB="36576" anchor="ctr">
                    <a:solidFill>
                      <a:srgbClr val="F5F2F8"/>
                    </a:solidFill>
                  </a:tcPr>
                </a:tc>
                <a:tc>
                  <a:txBody>
                    <a:bodyPr wrap="square"/>
                    <a:lstStyle/>
                    <a:p>
                      <a:r>
                        <a:rPr sz="1200" b="0">
                          <a:solidFill>
                            <a:srgbClr val="2E2A36"/>
                          </a:solidFill>
                          <a:latin typeface="Montserrat"/>
                        </a:rPr>
                        <a:t>US$ 2.210 · US$ 1.020–1.615</a:t>
                      </a:r>
                    </a:p>
                  </a:txBody>
                  <a:tcPr marL="73152" marR="73152" marT="36576" marB="36576" anchor="ctr">
                    <a:solidFill>
                      <a:srgbClr val="F5F2F8"/>
                    </a:solidFill>
                  </a:tcPr>
                </a:tc>
                <a:tc>
                  <a:txBody>
                    <a:bodyPr wrap="square"/>
                    <a:lstStyle/>
                    <a:p>
                      <a:r>
                        <a:rPr sz="1200" b="0">
                          <a:solidFill>
                            <a:srgbClr val="2E2A36"/>
                          </a:solidFill>
                          <a:latin typeface="Montserrat"/>
                        </a:rPr>
                        <a:t>2 urnas</a:t>
                      </a:r>
                    </a:p>
                  </a:txBody>
                  <a:tcPr marL="73152" marR="73152" marT="36576" marB="36576" anchor="ctr">
                    <a:solidFill>
                      <a:srgbClr val="F5F2F8"/>
                    </a:solidFill>
                  </a:tcPr>
                </a:tc>
                <a:tc>
                  <a:txBody>
                    <a:bodyPr wrap="square"/>
                    <a:lstStyle/>
                    <a:p>
                      <a:r>
                        <a:rPr sz="1200" b="0">
                          <a:solidFill>
                            <a:srgbClr val="2E2A36"/>
                          </a:solidFill>
                          <a:latin typeface="Montserrat"/>
                        </a:rPr>
                        <a:t>Solo columbario</a:t>
                      </a:r>
                    </a:p>
                  </a:txBody>
                  <a:tcPr marL="73152" marR="73152" marT="36576" marB="36576" anchor="ctr">
                    <a:solidFill>
                      <a:srgbClr val="F5F2F8"/>
                    </a:solidFill>
                  </a:tcPr>
                </a:tc>
              </a:tr>
              <a:tr h="566928">
                <a:tc>
                  <a:txBody>
                    <a:bodyPr wrap="square"/>
                    <a:lstStyle/>
                    <a:p>
                      <a:r>
                        <a:rPr sz="1200" b="1">
                          <a:solidFill>
                            <a:srgbClr val="5B3F80"/>
                          </a:solidFill>
                          <a:latin typeface="Montserrat"/>
                        </a:rPr>
                        <a:t>Columbario Ónix</a:t>
                      </a:r>
                    </a:p>
                  </a:txBody>
                  <a:tcPr marL="73152" marR="73152" marT="36576" marB="36576" anchor="ctr">
                    <a:solidFill>
                      <a:srgbClr val="FFFFFF"/>
                    </a:solidFill>
                  </a:tcPr>
                </a:tc>
                <a:tc>
                  <a:txBody>
                    <a:bodyPr wrap="square"/>
                    <a:lstStyle/>
                    <a:p>
                      <a:r>
                        <a:rPr sz="1200" b="0">
                          <a:solidFill>
                            <a:srgbClr val="2E2A36"/>
                          </a:solidFill>
                          <a:latin typeface="Montserrat"/>
                        </a:rPr>
                        <a:t>Estándar US$ 3.100 · Familiar US$ 5.000</a:t>
                      </a:r>
                    </a:p>
                  </a:txBody>
                  <a:tcPr marL="73152" marR="73152" marT="36576" marB="36576" anchor="ctr">
                    <a:solidFill>
                      <a:srgbClr val="FFFFFF"/>
                    </a:solidFill>
                  </a:tcPr>
                </a:tc>
                <a:tc>
                  <a:txBody>
                    <a:bodyPr wrap="square"/>
                    <a:lstStyle/>
                    <a:p>
                      <a:r>
                        <a:rPr sz="1200" b="0">
                          <a:solidFill>
                            <a:srgbClr val="2E2A36"/>
                          </a:solidFill>
                          <a:latin typeface="Montserrat"/>
                        </a:rPr>
                        <a:t>US$ 2.635 · US$ 4.250</a:t>
                      </a:r>
                    </a:p>
                  </a:txBody>
                  <a:tcPr marL="73152" marR="73152" marT="36576" marB="36576" anchor="ctr">
                    <a:solidFill>
                      <a:srgbClr val="FFFFFF"/>
                    </a:solidFill>
                  </a:tcPr>
                </a:tc>
                <a:tc>
                  <a:txBody>
                    <a:bodyPr wrap="square"/>
                    <a:lstStyle/>
                    <a:p>
                      <a:r>
                        <a:rPr sz="1200" b="0">
                          <a:solidFill>
                            <a:srgbClr val="2E2A36"/>
                          </a:solidFill>
                          <a:latin typeface="Montserrat"/>
                        </a:rPr>
                        <a:t>2 o 4 urnas</a:t>
                      </a:r>
                    </a:p>
                  </a:txBody>
                  <a:tcPr marL="73152" marR="73152" marT="36576" marB="36576" anchor="ctr">
                    <a:solidFill>
                      <a:srgbClr val="FFFFFF"/>
                    </a:solidFill>
                  </a:tcPr>
                </a:tc>
                <a:tc>
                  <a:txBody>
                    <a:bodyPr wrap="square"/>
                    <a:lstStyle/>
                    <a:p>
                      <a:r>
                        <a:rPr sz="1200" b="0">
                          <a:solidFill>
                            <a:srgbClr val="2E2A36"/>
                          </a:solidFill>
                          <a:latin typeface="Montserrat"/>
                        </a:rPr>
                        <a:t>Solo columbario</a:t>
                      </a:r>
                    </a:p>
                  </a:txBody>
                  <a:tcPr marL="73152" marR="73152" marT="36576" marB="36576" anchor="ctr">
                    <a:solidFill>
                      <a:srgbClr val="FFFFFF"/>
                    </a:solidFill>
                  </a:tcPr>
                </a:tc>
              </a:tr>
              <a:tr h="566928">
                <a:tc>
                  <a:txBody>
                    <a:bodyPr wrap="square"/>
                    <a:lstStyle/>
                    <a:p>
                      <a:r>
                        <a:rPr sz="1200" b="1">
                          <a:solidFill>
                            <a:srgbClr val="5B3F80"/>
                          </a:solidFill>
                          <a:latin typeface="Montserrat"/>
                        </a:rPr>
                        <a:t>Obra de Arte</a:t>
                      </a:r>
                    </a:p>
                  </a:txBody>
                  <a:tcPr marL="73152" marR="73152" marT="36576" marB="36576" anchor="ctr">
                    <a:solidFill>
                      <a:srgbClr val="F5F2F8"/>
                    </a:solidFill>
                  </a:tcPr>
                </a:tc>
                <a:tc>
                  <a:txBody>
                    <a:bodyPr wrap="square"/>
                    <a:lstStyle/>
                    <a:p>
                      <a:r>
                        <a:rPr sz="1200" b="0">
                          <a:solidFill>
                            <a:srgbClr val="2E2A36"/>
                          </a:solidFill>
                          <a:latin typeface="Montserrat"/>
                        </a:rPr>
                        <a:t>Familiar US$ 12.500</a:t>
                      </a:r>
                    </a:p>
                  </a:txBody>
                  <a:tcPr marL="73152" marR="73152" marT="36576" marB="36576" anchor="ctr">
                    <a:solidFill>
                      <a:srgbClr val="F5F2F8"/>
                    </a:solidFill>
                  </a:tcPr>
                </a:tc>
                <a:tc>
                  <a:txBody>
                    <a:bodyPr wrap="square"/>
                    <a:lstStyle/>
                    <a:p>
                      <a:r>
                        <a:rPr sz="1200" b="0">
                          <a:solidFill>
                            <a:srgbClr val="2E2A36"/>
                          </a:solidFill>
                          <a:latin typeface="Montserrat"/>
                        </a:rPr>
                        <a:t>US$ 10.625</a:t>
                      </a:r>
                    </a:p>
                  </a:txBody>
                  <a:tcPr marL="73152" marR="73152" marT="36576" marB="36576" anchor="ctr">
                    <a:solidFill>
                      <a:srgbClr val="F5F2F8"/>
                    </a:solidFill>
                  </a:tcPr>
                </a:tc>
                <a:tc>
                  <a:txBody>
                    <a:bodyPr wrap="square"/>
                    <a:lstStyle/>
                    <a:p>
                      <a:r>
                        <a:rPr sz="1200" b="0">
                          <a:solidFill>
                            <a:srgbClr val="2E2A36"/>
                          </a:solidFill>
                          <a:latin typeface="Montserrat"/>
                        </a:rPr>
                        <a:t>4 urnas</a:t>
                      </a:r>
                    </a:p>
                  </a:txBody>
                  <a:tcPr marL="73152" marR="73152" marT="36576" marB="36576" anchor="ctr">
                    <a:solidFill>
                      <a:srgbClr val="F5F2F8"/>
                    </a:solidFill>
                  </a:tcPr>
                </a:tc>
                <a:tc>
                  <a:txBody>
                    <a:bodyPr wrap="square"/>
                    <a:lstStyle/>
                    <a:p>
                      <a:r>
                        <a:rPr sz="1200" b="0">
                          <a:solidFill>
                            <a:srgbClr val="2E2A36"/>
                          </a:solidFill>
                          <a:latin typeface="Montserrat"/>
                        </a:rPr>
                        <a:t>Solo columbario</a:t>
                      </a:r>
                    </a:p>
                  </a:txBody>
                  <a:tcPr marL="73152" marR="73152" marT="36576" marB="36576" anchor="ctr">
                    <a:solidFill>
                      <a:srgbClr val="F5F2F8"/>
                    </a:solidFill>
                  </a:tcPr>
                </a:tc>
              </a:tr>
              <a:tr h="566928">
                <a:tc>
                  <a:txBody>
                    <a:bodyPr wrap="square"/>
                    <a:lstStyle/>
                    <a:p>
                      <a:r>
                        <a:rPr sz="1200" b="1">
                          <a:solidFill>
                            <a:srgbClr val="5B3F80"/>
                          </a:solidFill>
                          <a:latin typeface="Montserrat"/>
                        </a:rPr>
                        <a:t>Bella Vista</a:t>
                      </a:r>
                    </a:p>
                  </a:txBody>
                  <a:tcPr marL="73152" marR="73152" marT="36576" marB="36576" anchor="ctr">
                    <a:solidFill>
                      <a:srgbClr val="FFFFFF"/>
                    </a:solidFill>
                  </a:tcPr>
                </a:tc>
                <a:tc>
                  <a:txBody>
                    <a:bodyPr wrap="square"/>
                    <a:lstStyle/>
                    <a:p>
                      <a:r>
                        <a:rPr sz="1200" b="0">
                          <a:solidFill>
                            <a:srgbClr val="2E2A36"/>
                          </a:solidFill>
                          <a:latin typeface="Montserrat"/>
                        </a:rPr>
                        <a:t>Estándar US$ 1.800 / 1.300 · Familiar US$ 2.900 / 2.300</a:t>
                      </a:r>
                    </a:p>
                  </a:txBody>
                  <a:tcPr marL="73152" marR="73152" marT="36576" marB="36576" anchor="ctr">
                    <a:solidFill>
                      <a:srgbClr val="FFFFFF"/>
                    </a:solidFill>
                  </a:tcPr>
                </a:tc>
                <a:tc>
                  <a:txBody>
                    <a:bodyPr wrap="square"/>
                    <a:lstStyle/>
                    <a:p>
                      <a:r>
                        <a:rPr sz="1200" b="0">
                          <a:solidFill>
                            <a:srgbClr val="2E2A36"/>
                          </a:solidFill>
                          <a:latin typeface="Montserrat"/>
                        </a:rPr>
                        <a:t>US$ 1.530 / 1.105 · US$ 2.465 / 1.955</a:t>
                      </a:r>
                    </a:p>
                  </a:txBody>
                  <a:tcPr marL="73152" marR="73152" marT="36576" marB="36576" anchor="ctr">
                    <a:solidFill>
                      <a:srgbClr val="FFFFFF"/>
                    </a:solidFill>
                  </a:tcPr>
                </a:tc>
                <a:tc>
                  <a:txBody>
                    <a:bodyPr wrap="square"/>
                    <a:lstStyle/>
                    <a:p>
                      <a:r>
                        <a:rPr sz="1200" b="0">
                          <a:solidFill>
                            <a:srgbClr val="2E2A36"/>
                          </a:solidFill>
                          <a:latin typeface="Montserrat"/>
                        </a:rPr>
                        <a:t>2 o 4 urnas</a:t>
                      </a:r>
                    </a:p>
                  </a:txBody>
                  <a:tcPr marL="73152" marR="73152" marT="36576" marB="36576" anchor="ctr">
                    <a:solidFill>
                      <a:srgbClr val="FFFFFF"/>
                    </a:solidFill>
                  </a:tcPr>
                </a:tc>
                <a:tc>
                  <a:txBody>
                    <a:bodyPr wrap="square"/>
                    <a:lstStyle/>
                    <a:p>
                      <a:r>
                        <a:rPr sz="1200" b="0">
                          <a:solidFill>
                            <a:srgbClr val="2E2A36"/>
                          </a:solidFill>
                          <a:latin typeface="Montserrat"/>
                        </a:rPr>
                        <a:t>Cremación + columbario</a:t>
                      </a:r>
                    </a:p>
                  </a:txBody>
                  <a:tcPr marL="73152" marR="73152" marT="36576" marB="36576" anchor="ctr">
                    <a:solidFill>
                      <a:srgbClr val="FFFFFF"/>
                    </a:solidFill>
                  </a:tcPr>
                </a:tc>
              </a:tr>
            </a:tbl>
          </a:graphicData>
        </a:graphic>
      </p:graphicFrame>
      <p:sp>
        <p:nvSpPr>
          <p:cNvPr id="8" name="Rectangle 7"/>
          <p:cNvSpPr/>
          <p:nvPr/>
        </p:nvSpPr>
        <p:spPr>
          <a:xfrm>
            <a:off x="548640" y="5669280"/>
            <a:ext cx="11094415" cy="5486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37215" cy="54864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5B3F80"/>
                </a:solidFill>
                <a:latin typeface="Montserrat"/>
              </a:rPr>
              <a:t>UBICACIÓN DEFINIDA O A FUTURO   </a:t>
            </a:r>
            <a:r>
              <a:rPr sz="1100" b="0" i="0">
                <a:solidFill>
                  <a:srgbClr val="2E2A36"/>
                </a:solidFill>
                <a:latin typeface="Montserrat"/>
              </a:rPr>
              <a:t>Ubicación definida: el nicho se elige al contratar. Ubicación a futuro: se compra hoy y el nicho se asigna más adelante. El precio varía según la fila y el nivel.</a:t>
            </a:r>
          </a:p>
        </p:txBody>
      </p:sp>
      <p:sp>
        <p:nvSpPr>
          <p:cNvPr id="10" name="TextBox 9"/>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comerciales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4" cy="4389120"/>
        </p:xfrm>
        <a:graphic>
          <a:graphicData uri="http://schemas.openxmlformats.org/drawingml/2006/table">
            <a:tbl>
              <a:tblPr firstRow="1" bandRow="1">
                <a:tableStyleId>{5C22544A-7EE6-4342-B048-85BDC9FD1C3A}</a:tableStyleId>
              </a:tblPr>
              <a:tblGrid>
                <a:gridCol w="2108855"/>
                <a:gridCol w="8985559"/>
              </a:tblGrid>
              <a:tr h="548640">
                <a:tc>
                  <a:txBody>
                    <a:bodyPr wrap="square"/>
                    <a:lstStyle/>
                    <a:p>
                      <a:r>
                        <a:rPr sz="1300" b="1">
                          <a:solidFill>
                            <a:srgbClr val="FFFFFF"/>
                          </a:solidFill>
                          <a:latin typeface="Montserrat"/>
                        </a:rPr>
                        <a:t>Tema</a:t>
                      </a:r>
                    </a:p>
                  </a:txBody>
                  <a:tcPr marL="73152" marR="73152" marT="36576" marB="36576" anchor="ctr">
                    <a:solidFill>
                      <a:srgbClr val="5B3F80"/>
                    </a:solidFill>
                  </a:tcPr>
                </a:tc>
                <a:tc>
                  <a:txBody>
                    <a:bodyPr wrap="square"/>
                    <a:lstStyle/>
                    <a:p>
                      <a:r>
                        <a:rPr sz="1300" b="1">
                          <a:solidFill>
                            <a:srgbClr val="FFFFFF"/>
                          </a:solidFill>
                          <a:latin typeface="Montserrat"/>
                        </a:rPr>
                        <a:t>Regla</a:t>
                      </a:r>
                    </a:p>
                  </a:txBody>
                  <a:tcPr marL="73152" marR="73152" marT="36576" marB="36576" anchor="ctr">
                    <a:solidFill>
                      <a:srgbClr val="5B3F80"/>
                    </a:solidFill>
                  </a:tcPr>
                </a:tc>
              </a:tr>
              <a:tr h="548640">
                <a:tc>
                  <a:txBody>
                    <a:bodyPr wrap="square"/>
                    <a:lstStyle/>
                    <a:p>
                      <a:r>
                        <a:rPr sz="1300" b="1">
                          <a:solidFill>
                            <a:srgbClr val="5B3F80"/>
                          </a:solidFill>
                          <a:latin typeface="Montserrat"/>
                        </a:rPr>
                        <a:t>Precios</a:t>
                      </a:r>
                    </a:p>
                  </a:txBody>
                  <a:tcPr marL="73152" marR="73152" marT="36576" marB="36576" anchor="ctr">
                    <a:solidFill>
                      <a:srgbClr val="FFFFFF"/>
                    </a:solidFill>
                  </a:tcPr>
                </a:tc>
                <a:tc>
                  <a:txBody>
                    <a:bodyPr wrap="square"/>
                    <a:lstStyle/>
                    <a:p>
                      <a:r>
                        <a:rPr sz="1300" b="0">
                          <a:solidFill>
                            <a:srgbClr val="2E2A36"/>
                          </a:solidFill>
                          <a:latin typeface="Montserrat"/>
                        </a:rPr>
                        <a:t>Precios sugeridos en US$ con IVA incluido. Consulte siempre la Ficha Técnica vigente.</a:t>
                      </a:r>
                    </a:p>
                  </a:txBody>
                  <a:tcPr marL="73152" marR="73152" marT="36576" marB="36576" anchor="ctr">
                    <a:solidFill>
                      <a:srgbClr val="FFFFFF"/>
                    </a:solidFill>
                  </a:tcPr>
                </a:tc>
              </a:tr>
              <a:tr h="548640">
                <a:tc>
                  <a:txBody>
                    <a:bodyPr wrap="square"/>
                    <a:lstStyle/>
                    <a:p>
                      <a:r>
                        <a:rPr sz="1300" b="1">
                          <a:solidFill>
                            <a:srgbClr val="5B3F80"/>
                          </a:solidFill>
                          <a:latin typeface="Montserrat"/>
                        </a:rPr>
                        <a:t>Descuentos</a:t>
                      </a:r>
                    </a:p>
                  </a:txBody>
                  <a:tcPr marL="73152" marR="73152" marT="36576" marB="36576" anchor="ctr">
                    <a:solidFill>
                      <a:srgbClr val="F5F2F8"/>
                    </a:solidFill>
                  </a:tcPr>
                </a:tc>
                <a:tc>
                  <a:txBody>
                    <a:bodyPr wrap="square"/>
                    <a:lstStyle/>
                    <a:p>
                      <a:r>
                        <a:rPr sz="1300" b="0">
                          <a:solidFill>
                            <a:srgbClr val="2E2A36"/>
                          </a:solidFill>
                          <a:latin typeface="Montserrat"/>
                        </a:rPr>
                        <a:t>Productos de lanzamiento (ver Ficha Técnica): 20%. Portafolio existente de columbarios: 15%. Ambos descuentos valen solo en Finados y durante noviembre. Cualquier otro descuento, solo con autorización del supervisor (emergencia: máximo 5%).</a:t>
                      </a:r>
                    </a:p>
                  </a:txBody>
                  <a:tcPr marL="73152" marR="73152" marT="36576" marB="36576" anchor="ctr">
                    <a:solidFill>
                      <a:srgbClr val="F5F2F8"/>
                    </a:solidFill>
                  </a:tcPr>
                </a:tc>
              </a:tr>
              <a:tr h="548640">
                <a:tc>
                  <a:txBody>
                    <a:bodyPr wrap="square"/>
                    <a:lstStyle/>
                    <a:p>
                      <a:r>
                        <a:rPr sz="1300" b="1">
                          <a:solidFill>
                            <a:srgbClr val="5B3F80"/>
                          </a:solidFill>
                          <a:latin typeface="Montserrat"/>
                        </a:rPr>
                        <a:t>Mantenimiento</a:t>
                      </a:r>
                    </a:p>
                  </a:txBody>
                  <a:tcPr marL="73152" marR="73152" marT="36576" marB="36576" anchor="ctr">
                    <a:solidFill>
                      <a:srgbClr val="FFFFFF"/>
                    </a:solidFill>
                  </a:tcPr>
                </a:tc>
                <a:tc>
                  <a:txBody>
                    <a:bodyPr wrap="square"/>
                    <a:lstStyle/>
                    <a:p>
                      <a:r>
                        <a:rPr sz="1300" b="0">
                          <a:solidFill>
                            <a:srgbClr val="2E2A36"/>
                          </a:solidFill>
                          <a:latin typeface="Montserrat"/>
                        </a:rPr>
                        <a:t>Individual US$ 15/año y Familiar US$ 24/año. No es opcional: se explica antes de firmar.</a:t>
                      </a:r>
                    </a:p>
                  </a:txBody>
                  <a:tcPr marL="73152" marR="73152" marT="36576" marB="36576" anchor="ctr">
                    <a:solidFill>
                      <a:srgbClr val="FFFFFF"/>
                    </a:solidFill>
                  </a:tcPr>
                </a:tc>
              </a:tr>
              <a:tr h="548640">
                <a:tc>
                  <a:txBody>
                    <a:bodyPr wrap="square"/>
                    <a:lstStyle/>
                    <a:p>
                      <a:r>
                        <a:rPr sz="1300" b="1">
                          <a:solidFill>
                            <a:srgbClr val="5B3F80"/>
                          </a:solidFill>
                          <a:latin typeface="Montserrat"/>
                        </a:rPr>
                        <a:t>Plazos</a:t>
                      </a:r>
                    </a:p>
                  </a:txBody>
                  <a:tcPr marL="73152" marR="73152" marT="36576" marB="36576" anchor="ctr">
                    <a:solidFill>
                      <a:srgbClr val="F5F2F8"/>
                    </a:solidFill>
                  </a:tcPr>
                </a:tc>
                <a:tc>
                  <a:txBody>
                    <a:bodyPr wrap="square"/>
                    <a:lstStyle/>
                    <a:p>
                      <a:r>
                        <a:rPr sz="1300" b="0">
                          <a:solidFill>
                            <a:srgbClr val="2E2A36"/>
                          </a:solidFill>
                          <a:latin typeface="Montserrat"/>
                        </a:rPr>
                        <a:t>Individual y Familiar: 30 años desde la primera inhumación, renovables. Ecológico y Mascotas: 3 años. Se explica con total transparencia en la primera conversación.</a:t>
                      </a:r>
                    </a:p>
                  </a:txBody>
                  <a:tcPr marL="73152" marR="73152" marT="36576" marB="36576" anchor="ctr">
                    <a:solidFill>
                      <a:srgbClr val="F5F2F8"/>
                    </a:solidFill>
                  </a:tcPr>
                </a:tc>
              </a:tr>
              <a:tr h="548640">
                <a:tc>
                  <a:txBody>
                    <a:bodyPr wrap="square"/>
                    <a:lstStyle/>
                    <a:p>
                      <a:r>
                        <a:rPr sz="1300" b="1">
                          <a:solidFill>
                            <a:srgbClr val="5B3F80"/>
                          </a:solidFill>
                          <a:latin typeface="Montserrat"/>
                        </a:rPr>
                        <a:t>Placas memoriales</a:t>
                      </a:r>
                    </a:p>
                  </a:txBody>
                  <a:tcPr marL="73152" marR="73152" marT="36576" marB="36576" anchor="ctr">
                    <a:solidFill>
                      <a:srgbClr val="FFFFFF"/>
                    </a:solidFill>
                  </a:tcPr>
                </a:tc>
                <a:tc>
                  <a:txBody>
                    <a:bodyPr wrap="square"/>
                    <a:lstStyle/>
                    <a:p>
                      <a:r>
                        <a:rPr sz="1300" b="0">
                          <a:solidFill>
                            <a:srgbClr val="2E2A36"/>
                          </a:solidFill>
                          <a:latin typeface="Montserrat"/>
                        </a:rPr>
                        <a:t>Incluida en el Jardín Ecológico y en el Jardín de Mascotas.</a:t>
                      </a:r>
                    </a:p>
                  </a:txBody>
                  <a:tcPr marL="73152" marR="73152" marT="36576" marB="36576" anchor="ctr">
                    <a:solidFill>
                      <a:srgbClr val="FFFFFF"/>
                    </a:solidFill>
                  </a:tcPr>
                </a:tc>
              </a:tr>
              <a:tr h="548640">
                <a:tc>
                  <a:txBody>
                    <a:bodyPr wrap="square"/>
                    <a:lstStyle/>
                    <a:p>
                      <a:r>
                        <a:rPr sz="1300" b="1">
                          <a:solidFill>
                            <a:srgbClr val="5B3F80"/>
                          </a:solidFill>
                          <a:latin typeface="Montserrat"/>
                        </a:rPr>
                        <a:t>Dueño del contacto</a:t>
                      </a:r>
                    </a:p>
                  </a:txBody>
                  <a:tcPr marL="73152" marR="73152" marT="36576" marB="36576" anchor="ctr">
                    <a:solidFill>
                      <a:srgbClr val="F5F2F8"/>
                    </a:solidFill>
                  </a:tcPr>
                </a:tc>
                <a:tc>
                  <a:txBody>
                    <a:bodyPr wrap="square"/>
                    <a:lstStyle/>
                    <a:p>
                      <a:r>
                        <a:rPr sz="1300" b="0">
                          <a:solidFill>
                            <a:srgbClr val="2E2A36"/>
                          </a:solidFill>
                          <a:latin typeface="Montserrat"/>
                        </a:rPr>
                        <a:t>Quien registra primero. Sin interacción en 15 días, el contacto puede reasignarse.</a:t>
                      </a:r>
                    </a:p>
                  </a:txBody>
                  <a:tcPr marL="73152" marR="73152" marT="36576" marB="36576" anchor="ctr">
                    <a:solidFill>
                      <a:srgbClr val="F5F2F8"/>
                    </a:solidFill>
                  </a:tcPr>
                </a:tc>
              </a:tr>
              <a:tr h="548640">
                <a:tc>
                  <a:txBody>
                    <a:bodyPr wrap="square"/>
                    <a:lstStyle/>
                    <a:p>
                      <a:r>
                        <a:rPr sz="1300" b="1">
                          <a:solidFill>
                            <a:srgbClr val="5B3F80"/>
                          </a:solidFill>
                          <a:latin typeface="Montserrat"/>
                        </a:rPr>
                        <a:t>Lo que NO se promete</a:t>
                      </a:r>
                    </a:p>
                  </a:txBody>
                  <a:tcPr marL="73152" marR="73152" marT="36576" marB="36576" anchor="ctr">
                    <a:solidFill>
                      <a:srgbClr val="FFFFFF"/>
                    </a:solidFill>
                  </a:tcPr>
                </a:tc>
                <a:tc>
                  <a:txBody>
                    <a:bodyPr wrap="square"/>
                    <a:lstStyle/>
                    <a:p>
                      <a:r>
                        <a:rPr sz="1300" b="0">
                          <a:solidFill>
                            <a:srgbClr val="2E2A36"/>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07</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Política de comisiones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La comisión premia la venta buena, no solo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COMISIONES · PRODUCTOS DE CREMACIÓN</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Comisión por cantidad de ventas: 8% · 10% · 12%</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Según la cantidad de ventas del mes, sobre toda la facturación sin IVA.</a:t>
            </a:r>
          </a:p>
        </p:txBody>
      </p:sp>
      <p:pic>
        <p:nvPicPr>
          <p:cNvPr id="7" name="Picture 6" descr="05_comisiones.png"/>
          <p:cNvPicPr>
            <a:picLocks noChangeAspect="1"/>
          </p:cNvPicPr>
          <p:nvPr/>
        </p:nvPicPr>
        <p:blipFill>
          <a:blip r:embed="rId2"/>
          <a:stretch>
            <a:fillRect/>
          </a:stretch>
        </p:blipFill>
        <p:spPr>
          <a:xfrm>
            <a:off x="548640" y="3290697"/>
            <a:ext cx="6035040" cy="1282446"/>
          </a:xfrm>
          <a:prstGeom prst="rect">
            <a:avLst/>
          </a:prstGeom>
        </p:spPr>
      </p:pic>
      <p:sp>
        <p:nvSpPr>
          <p:cNvPr id="8" name="TextBox 7"/>
          <p:cNvSpPr txBox="1"/>
          <p:nvPr/>
        </p:nvSpPr>
        <p:spPr>
          <a:xfrm>
            <a:off x="6812280" y="1965960"/>
            <a:ext cx="4846320" cy="36576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Reglas de comisión</a:t>
            </a:r>
          </a:p>
        </p:txBody>
      </p:sp>
      <p:sp>
        <p:nvSpPr>
          <p:cNvPr id="9" name="TextBox 8"/>
          <p:cNvSpPr txBox="1"/>
          <p:nvPr/>
        </p:nvSpPr>
        <p:spPr>
          <a:xfrm>
            <a:off x="6812280" y="2423160"/>
            <a:ext cx="4846320" cy="274320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1 venta en el mes = 8%; 2 ventas = 10%; 3 o más = 12%, sobre toda la facturación del mes.</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Cuenta cualquier producto de cremación (nuevos y columbarios): cada contrato es 1 venta.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Base de cálculo: facturación sin IVA (13%), neta de descuentos; se paga sobre lo cobrado.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Mismo criterio para call center, contratados y freelancers. Sin bonos adicionales.</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Venta compartida (call center agenda, otro cierra): 1 venta para ambos; comisión 30% / 70%.</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No cuentan ni comisionan: cuotas de mantenimiento anual (US$ 15 / US$ 24).</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Estorno: la comisión se descuenta de los pagos siguientes al asesor; ventas anuladas no cuentan.</a:t>
            </a:r>
          </a:p>
        </p:txBody>
      </p:sp>
      <p:sp>
        <p:nvSpPr>
          <p:cNvPr id="10" name="Rectangle 9"/>
          <p:cNvSpPr/>
          <p:nvPr/>
        </p:nvSpPr>
        <p:spPr>
          <a:xfrm>
            <a:off x="6812280" y="5166360"/>
            <a:ext cx="4846320" cy="10058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5166360"/>
            <a:ext cx="4572000" cy="1005840"/>
          </a:xfrm>
          <a:prstGeom prst="rect">
            <a:avLst/>
          </a:prstGeom>
          <a:noFill/>
        </p:spPr>
        <p:txBody>
          <a:bodyPr wrap="square" anchor="ctr" lIns="45720" rIns="45720" tIns="27432" bIns="27432">
            <a:spAutoFit/>
          </a:bodyPr>
          <a:lstStyle/>
          <a:p>
            <a:pPr algn="l">
              <a:lnSpc>
                <a:spcPct val="115000"/>
              </a:lnSpc>
              <a:spcAft>
                <a:spcPts val="400"/>
              </a:spcAft>
            </a:pPr>
            <a:r>
              <a:rPr sz="1150" b="0" i="1">
                <a:solidFill>
                  <a:srgbClr val="2E2A36"/>
                </a:solidFill>
                <a:latin typeface="Montserrat"/>
              </a:rPr>
              <a:t>La comisión premia la venta buena, no solo la venta: una familia que paga a tiempo vale más que un contrato que se cancela. Por eso el pago está ligado al cobro.</a:t>
            </a:r>
          </a:p>
        </p:txBody>
      </p:sp>
      <p:sp>
        <p:nvSpPr>
          <p:cNvPr id="12" name="TextBox 1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3" name="TextBox 1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COMISIONES · PRODUCTOS DE CREMACIÓN</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Escala, pago y estorno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3" cy="1828800"/>
        </p:xfrm>
        <a:graphic>
          <a:graphicData uri="http://schemas.openxmlformats.org/drawingml/2006/table">
            <a:tbl>
              <a:tblPr firstRow="1" bandRow="1">
                <a:tableStyleId>{5C22544A-7EE6-4342-B048-85BDC9FD1C3A}</a:tableStyleId>
              </a:tblPr>
              <a:tblGrid>
                <a:gridCol w="2600253"/>
                <a:gridCol w="1906852"/>
                <a:gridCol w="3813705"/>
                <a:gridCol w="2773603"/>
              </a:tblGrid>
              <a:tr h="457200">
                <a:tc>
                  <a:txBody>
                    <a:bodyPr wrap="square"/>
                    <a:lstStyle/>
                    <a:p>
                      <a:r>
                        <a:rPr sz="1200" b="1">
                          <a:solidFill>
                            <a:srgbClr val="FFFFFF"/>
                          </a:solidFill>
                          <a:latin typeface="Montserrat"/>
                        </a:rPr>
                        <a:t>Ventas en el mes</a:t>
                      </a:r>
                    </a:p>
                  </a:txBody>
                  <a:tcPr marL="73152" marR="73152" marT="36576" marB="36576" anchor="ctr">
                    <a:solidFill>
                      <a:srgbClr val="5B3F80"/>
                    </a:solidFill>
                  </a:tcPr>
                </a:tc>
                <a:tc>
                  <a:txBody>
                    <a:bodyPr wrap="square"/>
                    <a:lstStyle/>
                    <a:p>
                      <a:r>
                        <a:rPr sz="1200" b="1">
                          <a:solidFill>
                            <a:srgbClr val="FFFFFF"/>
                          </a:solidFill>
                          <a:latin typeface="Montserrat"/>
                        </a:rPr>
                        <a:t>% comisión</a:t>
                      </a:r>
                    </a:p>
                  </a:txBody>
                  <a:tcPr marL="73152" marR="73152" marT="36576" marB="36576" anchor="ctr">
                    <a:solidFill>
                      <a:srgbClr val="5B3F80"/>
                    </a:solidFill>
                  </a:tcPr>
                </a:tc>
                <a:tc>
                  <a:txBody>
                    <a:bodyPr wrap="square"/>
                    <a:lstStyle/>
                    <a:p>
                      <a:r>
                        <a:rPr sz="1200" b="1">
                          <a:solidFill>
                            <a:srgbClr val="FFFFFF"/>
                          </a:solidFill>
                          <a:latin typeface="Montserrat"/>
                        </a:rPr>
                        <a:t>Ejemplo: facturación (Solución Modular)</a:t>
                      </a:r>
                    </a:p>
                  </a:txBody>
                  <a:tcPr marL="73152" marR="73152" marT="36576" marB="36576" anchor="ctr">
                    <a:solidFill>
                      <a:srgbClr val="5B3F80"/>
                    </a:solidFill>
                  </a:tcPr>
                </a:tc>
                <a:tc>
                  <a:txBody>
                    <a:bodyPr wrap="square"/>
                    <a:lstStyle/>
                    <a:p>
                      <a:r>
                        <a:rPr sz="1200" b="1">
                          <a:solidFill>
                            <a:srgbClr val="FFFFFF"/>
                          </a:solidFill>
                          <a:latin typeface="Montserrat"/>
                        </a:rPr>
                        <a:t>Comisión del ejemplo</a:t>
                      </a:r>
                    </a:p>
                  </a:txBody>
                  <a:tcPr marL="73152" marR="73152" marT="36576" marB="36576" anchor="ctr">
                    <a:solidFill>
                      <a:srgbClr val="5B3F80"/>
                    </a:solidFill>
                  </a:tcPr>
                </a:tc>
              </a:tr>
              <a:tr h="457200">
                <a:tc>
                  <a:txBody>
                    <a:bodyPr wrap="square"/>
                    <a:lstStyle/>
                    <a:p>
                      <a:r>
                        <a:rPr sz="1200" b="1">
                          <a:solidFill>
                            <a:srgbClr val="5B3F80"/>
                          </a:solidFill>
                          <a:latin typeface="Montserrat"/>
                        </a:rPr>
                        <a:t>1 venta</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US$ 885</a:t>
                      </a:r>
                    </a:p>
                  </a:txBody>
                  <a:tcPr marL="73152" marR="73152" marT="36576" marB="36576" anchor="ctr">
                    <a:solidFill>
                      <a:srgbClr val="FFFFFF"/>
                    </a:solidFill>
                  </a:tcPr>
                </a:tc>
                <a:tc>
                  <a:txBody>
                    <a:bodyPr wrap="square"/>
                    <a:lstStyle/>
                    <a:p>
                      <a:r>
                        <a:rPr sz="1200" b="0">
                          <a:solidFill>
                            <a:srgbClr val="2E2A36"/>
                          </a:solidFill>
                          <a:latin typeface="Montserrat"/>
                        </a:rPr>
                        <a:t>US$ 70,80</a:t>
                      </a:r>
                    </a:p>
                  </a:txBody>
                  <a:tcPr marL="73152" marR="73152" marT="36576" marB="36576" anchor="ctr">
                    <a:solidFill>
                      <a:srgbClr val="FFFFFF"/>
                    </a:solidFill>
                  </a:tcPr>
                </a:tc>
              </a:tr>
              <a:tr h="457200">
                <a:tc>
                  <a:txBody>
                    <a:bodyPr wrap="square"/>
                    <a:lstStyle/>
                    <a:p>
                      <a:r>
                        <a:rPr sz="1200" b="1">
                          <a:solidFill>
                            <a:srgbClr val="5B3F80"/>
                          </a:solidFill>
                          <a:latin typeface="Montserrat"/>
                        </a:rPr>
                        <a:t>2 ventas</a:t>
                      </a:r>
                    </a:p>
                  </a:txBody>
                  <a:tcPr marL="73152" marR="73152" marT="36576" marB="36576" anchor="ctr">
                    <a:solidFill>
                      <a:srgbClr val="F5F2F8"/>
                    </a:solidFill>
                  </a:tcPr>
                </a:tc>
                <a:tc>
                  <a:txBody>
                    <a:bodyPr wrap="square"/>
                    <a:lstStyle/>
                    <a:p>
                      <a:r>
                        <a:rPr sz="1200" b="0">
                          <a:solidFill>
                            <a:srgbClr val="2E2A36"/>
                          </a:solidFill>
                          <a:latin typeface="Montserrat"/>
                        </a:rPr>
                        <a:t>10%</a:t>
                      </a:r>
                    </a:p>
                  </a:txBody>
                  <a:tcPr marL="73152" marR="73152" marT="36576" marB="36576" anchor="ctr">
                    <a:solidFill>
                      <a:srgbClr val="F5F2F8"/>
                    </a:solidFill>
                  </a:tcPr>
                </a:tc>
                <a:tc>
                  <a:txBody>
                    <a:bodyPr wrap="square"/>
                    <a:lstStyle/>
                    <a:p>
                      <a:r>
                        <a:rPr sz="1200" b="0">
                          <a:solidFill>
                            <a:srgbClr val="2E2A36"/>
                          </a:solidFill>
                          <a:latin typeface="Montserrat"/>
                        </a:rPr>
                        <a:t>US$ 1.770</a:t>
                      </a:r>
                    </a:p>
                  </a:txBody>
                  <a:tcPr marL="73152" marR="73152" marT="36576" marB="36576" anchor="ctr">
                    <a:solidFill>
                      <a:srgbClr val="F5F2F8"/>
                    </a:solidFill>
                  </a:tcPr>
                </a:tc>
                <a:tc>
                  <a:txBody>
                    <a:bodyPr wrap="square"/>
                    <a:lstStyle/>
                    <a:p>
                      <a:r>
                        <a:rPr sz="1200" b="0">
                          <a:solidFill>
                            <a:srgbClr val="2E2A36"/>
                          </a:solidFill>
                          <a:latin typeface="Montserrat"/>
                        </a:rPr>
                        <a:t>US$ 177,00</a:t>
                      </a:r>
                    </a:p>
                  </a:txBody>
                  <a:tcPr marL="73152" marR="73152" marT="36576" marB="36576" anchor="ctr">
                    <a:solidFill>
                      <a:srgbClr val="F5F2F8"/>
                    </a:solidFill>
                  </a:tcPr>
                </a:tc>
              </a:tr>
              <a:tr h="457200">
                <a:tc>
                  <a:txBody>
                    <a:bodyPr wrap="square"/>
                    <a:lstStyle/>
                    <a:p>
                      <a:r>
                        <a:rPr sz="1200" b="1">
                          <a:solidFill>
                            <a:srgbClr val="5B3F80"/>
                          </a:solidFill>
                          <a:latin typeface="Montserrat"/>
                        </a:rPr>
                        <a:t>3 ventas o más</a:t>
                      </a:r>
                    </a:p>
                  </a:txBody>
                  <a:tcPr marL="73152" marR="73152" marT="36576" marB="36576" anchor="ctr">
                    <a:solidFill>
                      <a:srgbClr val="FFFFFF"/>
                    </a:solidFill>
                  </a:tcPr>
                </a:tc>
                <a:tc>
                  <a:txBody>
                    <a:bodyPr wrap="square"/>
                    <a:lstStyle/>
                    <a:p>
                      <a:r>
                        <a:rPr sz="1200" b="0">
                          <a:solidFill>
                            <a:srgbClr val="2E2A36"/>
                          </a:solidFill>
                          <a:latin typeface="Montserrat"/>
                        </a:rPr>
                        <a:t>12%</a:t>
                      </a:r>
                    </a:p>
                  </a:txBody>
                  <a:tcPr marL="73152" marR="73152" marT="36576" marB="36576" anchor="ctr">
                    <a:solidFill>
                      <a:srgbClr val="FFFFFF"/>
                    </a:solidFill>
                  </a:tcPr>
                </a:tc>
                <a:tc>
                  <a:txBody>
                    <a:bodyPr wrap="square"/>
                    <a:lstStyle/>
                    <a:p>
                      <a:r>
                        <a:rPr sz="1200" b="0">
                          <a:solidFill>
                            <a:srgbClr val="2E2A36"/>
                          </a:solidFill>
                          <a:latin typeface="Montserrat"/>
                        </a:rPr>
                        <a:t>US$ 2.655</a:t>
                      </a:r>
                    </a:p>
                  </a:txBody>
                  <a:tcPr marL="73152" marR="73152" marT="36576" marB="36576" anchor="ctr">
                    <a:solidFill>
                      <a:srgbClr val="FFFFFF"/>
                    </a:solidFill>
                  </a:tcPr>
                </a:tc>
                <a:tc>
                  <a:txBody>
                    <a:bodyPr wrap="square"/>
                    <a:lstStyle/>
                    <a:p>
                      <a:r>
                        <a:rPr sz="1200" b="0">
                          <a:solidFill>
                            <a:srgbClr val="2E2A36"/>
                          </a:solidFill>
                          <a:latin typeface="Montserrat"/>
                        </a:rPr>
                        <a:t>US$ 318,60</a:t>
                      </a:r>
                    </a:p>
                  </a:txBody>
                  <a:tcPr marL="73152" marR="73152" marT="36576" marB="36576" anchor="ctr">
                    <a:solidFill>
                      <a:srgbClr val="FFFFFF"/>
                    </a:solidFill>
                  </a:tcPr>
                </a:tc>
              </a:tr>
            </a:tbl>
          </a:graphicData>
        </a:graphic>
      </p:graphicFrame>
      <p:graphicFrame>
        <p:nvGraphicFramePr>
          <p:cNvPr id="7" name="Table 6"/>
          <p:cNvGraphicFramePr>
            <a:graphicFrameLocks noGrp="1"/>
          </p:cNvGraphicFramePr>
          <p:nvPr/>
        </p:nvGraphicFramePr>
        <p:xfrm>
          <a:off x="548640" y="3794760"/>
          <a:ext cx="11094413" cy="2286000"/>
        </p:xfrm>
        <a:graphic>
          <a:graphicData uri="http://schemas.openxmlformats.org/drawingml/2006/table">
            <a:tbl>
              <a:tblPr firstRow="1" bandRow="1">
                <a:tableStyleId>{5C22544A-7EE6-4342-B048-85BDC9FD1C3A}</a:tableStyleId>
              </a:tblPr>
              <a:tblGrid>
                <a:gridCol w="3120304"/>
                <a:gridCol w="5027156"/>
                <a:gridCol w="2946953"/>
              </a:tblGrid>
              <a:tr h="457200">
                <a:tc>
                  <a:txBody>
                    <a:bodyPr wrap="square"/>
                    <a:lstStyle/>
                    <a:p>
                      <a:r>
                        <a:rPr sz="1200" b="1">
                          <a:solidFill>
                            <a:srgbClr val="FFFFFF"/>
                          </a:solidFill>
                          <a:latin typeface="Montserrat"/>
                        </a:rPr>
                        <a:t>Producto</a:t>
                      </a:r>
                    </a:p>
                  </a:txBody>
                  <a:tcPr marL="73152" marR="73152" marT="36576" marB="36576" anchor="ctr">
                    <a:solidFill>
                      <a:srgbClr val="5B3F80"/>
                    </a:solidFill>
                  </a:tcPr>
                </a:tc>
                <a:tc>
                  <a:txBody>
                    <a:bodyPr wrap="square"/>
                    <a:lstStyle/>
                    <a:p>
                      <a:r>
                        <a:rPr sz="1200" b="1">
                          <a:solidFill>
                            <a:srgbClr val="FFFFFF"/>
                          </a:solidFill>
                          <a:latin typeface="Montserrat"/>
                        </a:rPr>
                        <a:t>Cuándo se paga</a:t>
                      </a:r>
                    </a:p>
                  </a:txBody>
                  <a:tcPr marL="73152" marR="73152" marT="36576" marB="36576" anchor="ctr">
                    <a:solidFill>
                      <a:srgbClr val="5B3F80"/>
                    </a:solidFill>
                  </a:tcPr>
                </a:tc>
                <a:tc>
                  <a:txBody>
                    <a:bodyPr wrap="square"/>
                    <a:lstStyle/>
                    <a:p>
                      <a:r>
                        <a:rPr sz="1200" b="1">
                          <a:solidFill>
                            <a:srgbClr val="FFFFFF"/>
                          </a:solidFill>
                          <a:latin typeface="Montserrat"/>
                        </a:rPr>
                        <a:t>Estorno</a:t>
                      </a:r>
                    </a:p>
                  </a:txBody>
                  <a:tcPr marL="73152" marR="73152" marT="36576" marB="36576" anchor="ctr">
                    <a:solidFill>
                      <a:srgbClr val="5B3F80"/>
                    </a:solidFill>
                  </a:tcPr>
                </a:tc>
              </a:tr>
              <a:tr h="457200">
                <a:tc>
                  <a:txBody>
                    <a:bodyPr wrap="square"/>
                    <a:lstStyle/>
                    <a:p>
                      <a:r>
                        <a:rPr sz="1200" b="1">
                          <a:solidFill>
                            <a:srgbClr val="5B3F80"/>
                          </a:solidFill>
                          <a:latin typeface="Montserrat"/>
                        </a:rPr>
                        <a:t>Solución Modular</a:t>
                      </a:r>
                    </a:p>
                  </a:txBody>
                  <a:tcPr marL="73152" marR="73152" marT="36576" marB="36576" anchor="ctr">
                    <a:solidFill>
                      <a:srgbClr val="FFFFFF"/>
                    </a:solidFill>
                  </a:tcPr>
                </a:tc>
                <a:tc>
                  <a:txBody>
                    <a:bodyPr wrap="square"/>
                    <a:lstStyle/>
                    <a:p>
                      <a:r>
                        <a:rPr sz="1200" b="0">
                          <a:solidFill>
                            <a:srgbClr val="2E2A36"/>
                          </a:solidFill>
                          <a:latin typeface="Montserrat"/>
                        </a:rPr>
                        <a:t>Pago único al pagar el cliente la 3ª cuota</a:t>
                      </a:r>
                    </a:p>
                  </a:txBody>
                  <a:tcPr marL="73152" marR="73152" marT="36576" marB="36576" anchor="ctr">
                    <a:solidFill>
                      <a:srgbClr val="FFFFFF"/>
                    </a:solidFill>
                  </a:tcPr>
                </a:tc>
                <a:tc>
                  <a:txBody>
                    <a:bodyPr wrap="square"/>
                    <a:lstStyle/>
                    <a:p>
                      <a:r>
                        <a:rPr sz="1200" b="0">
                          <a:solidFill>
                            <a:srgbClr val="2E2A36"/>
                          </a:solidFill>
                          <a:latin typeface="Montserrat"/>
                        </a:rPr>
                        <a:t>Si cancela antes de la 12ª cuota</a:t>
                      </a:r>
                    </a:p>
                  </a:txBody>
                  <a:tcPr marL="73152" marR="73152" marT="36576" marB="36576" anchor="ctr">
                    <a:solidFill>
                      <a:srgbClr val="FFFFFF"/>
                    </a:solidFill>
                  </a:tcPr>
                </a:tc>
              </a:tr>
              <a:tr h="457200">
                <a:tc>
                  <a:txBody>
                    <a:bodyPr wrap="square"/>
                    <a:lstStyle/>
                    <a:p>
                      <a:r>
                        <a:rPr sz="1200" b="1">
                          <a:solidFill>
                            <a:srgbClr val="5B3F80"/>
                          </a:solidFill>
                          <a:latin typeface="Montserrat"/>
                        </a:rPr>
                        <a:t>Jardines de Cenizas</a:t>
                      </a:r>
                    </a:p>
                  </a:txBody>
                  <a:tcPr marL="73152" marR="73152" marT="36576" marB="36576" anchor="ctr">
                    <a:solidFill>
                      <a:srgbClr val="F5F2F8"/>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457200">
                <a:tc>
                  <a:txBody>
                    <a:bodyPr wrap="square"/>
                    <a:lstStyle/>
                    <a:p>
                      <a:r>
                        <a:rPr sz="1200" b="1">
                          <a:solidFill>
                            <a:srgbClr val="5B3F80"/>
                          </a:solidFill>
                          <a:latin typeface="Montserrat"/>
                        </a:rPr>
                        <a:t>Jardín de Mascotas</a:t>
                      </a:r>
                    </a:p>
                  </a:txBody>
                  <a:tcPr marL="73152" marR="73152" marT="36576" marB="36576" anchor="ctr">
                    <a:solidFill>
                      <a:srgbClr val="FFFFFF"/>
                    </a:solidFill>
                  </a:tcPr>
                </a:tc>
                <a:tc>
                  <a:txBody>
                    <a:bodyPr wrap="square"/>
                    <a:lstStyle/>
                    <a:p>
                      <a:r>
                        <a:rPr sz="1200" b="0">
                          <a:solidFill>
                            <a:srgbClr val="2E2A36"/>
                          </a:solidFill>
                          <a:latin typeface="Montserrat"/>
                        </a:rPr>
                        <a:t>Mes siguiente al pago</a:t>
                      </a:r>
                    </a:p>
                  </a:txBody>
                  <a:tcPr marL="73152" marR="73152" marT="36576" marB="36576" anchor="ctr">
                    <a:solidFill>
                      <a:srgbClr val="FFFFFF"/>
                    </a:solidFill>
                  </a:tcPr>
                </a:tc>
                <a:tc>
                  <a:txBody>
                    <a:bodyPr wrap="square"/>
                    <a:lstStyle/>
                    <a:p>
                      <a:r>
                        <a:rPr sz="1200" b="0">
                          <a:solidFill>
                            <a:srgbClr val="2E2A36"/>
                          </a:solidFill>
                          <a:latin typeface="Montserrat"/>
                        </a:rPr>
                        <a:t>Cancelación en 90 días</a:t>
                      </a:r>
                    </a:p>
                  </a:txBody>
                  <a:tcPr marL="73152" marR="73152" marT="36576" marB="36576" anchor="ctr">
                    <a:solidFill>
                      <a:srgbClr val="FFFFFF"/>
                    </a:solidFill>
                  </a:tcPr>
                </a:tc>
              </a:tr>
              <a:tr h="457200">
                <a:tc>
                  <a:txBody>
                    <a:bodyPr wrap="square"/>
                    <a:lstStyle/>
                    <a:p>
                      <a:r>
                        <a:rPr sz="1200" b="1">
                          <a:solidFill>
                            <a:srgbClr val="5B3F80"/>
                          </a:solidFill>
                          <a:latin typeface="Montserrat"/>
                        </a:rPr>
                        <a:t>Columbarios (portafolio existente)</a:t>
                      </a:r>
                    </a:p>
                  </a:txBody>
                  <a:tcPr marL="73152" marR="73152" marT="36576" marB="36576" anchor="ctr">
                    <a:solidFill>
                      <a:srgbClr val="F5F2F8"/>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bl>
          </a:graphicData>
        </a:graphic>
      </p:graphicFrame>
      <p:sp>
        <p:nvSpPr>
          <p:cNvPr id="8" name="TextBox 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9" name="TextBox 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08</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Herramientas de apoyo</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Todo lo que necesita para vender con confianza.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08 · HERRAMIENTAS DE APOYO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Lo que usted tiene a mano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45920"/>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91640"/>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Ficha Técnica de Cremación</a:t>
            </a:r>
          </a:p>
          <a:p>
            <a:pPr algn="l">
              <a:lnSpc>
                <a:spcPct val="115000"/>
              </a:lnSpc>
              <a:spcAft>
                <a:spcPts val="100"/>
              </a:spcAft>
            </a:pPr>
            <a:r>
              <a:rPr sz="1100" b="0" i="0">
                <a:solidFill>
                  <a:srgbClr val="2E2A36"/>
                </a:solidFill>
                <a:latin typeface="Montserrat"/>
              </a:rPr>
              <a:t>Precios, especificaciones y condiciones vigentes de cada producto.</a:t>
            </a:r>
          </a:p>
        </p:txBody>
      </p:sp>
      <p:sp>
        <p:nvSpPr>
          <p:cNvPr id="9" name="Rectangle 8"/>
          <p:cNvSpPr/>
          <p:nvPr/>
        </p:nvSpPr>
        <p:spPr>
          <a:xfrm>
            <a:off x="548640" y="2542032"/>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542032"/>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87752"/>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Visita al jardín</a:t>
            </a:r>
          </a:p>
          <a:p>
            <a:pPr algn="l">
              <a:lnSpc>
                <a:spcPct val="115000"/>
              </a:lnSpc>
              <a:spcAft>
                <a:spcPts val="100"/>
              </a:spcAft>
            </a:pPr>
            <a:r>
              <a:rPr sz="1100" b="0" i="0">
                <a:solidFill>
                  <a:srgbClr val="2E2A36"/>
                </a:solidFill>
                <a:latin typeface="Montserrat"/>
              </a:rPr>
              <a:t>La herramienta de venta más poderosa. Agende siempre que sea posible.</a:t>
            </a:r>
          </a:p>
        </p:txBody>
      </p:sp>
      <p:sp>
        <p:nvSpPr>
          <p:cNvPr id="12" name="Rectangle 11"/>
          <p:cNvSpPr/>
          <p:nvPr/>
        </p:nvSpPr>
        <p:spPr>
          <a:xfrm>
            <a:off x="548640" y="3438144"/>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438144"/>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483864"/>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Presentación "Jardines de Cenizas"</a:t>
            </a:r>
          </a:p>
          <a:p>
            <a:pPr algn="l">
              <a:lnSpc>
                <a:spcPct val="115000"/>
              </a:lnSpc>
              <a:spcAft>
                <a:spcPts val="100"/>
              </a:spcAft>
            </a:pPr>
            <a:r>
              <a:rPr sz="1100" b="0" i="0">
                <a:solidFill>
                  <a:srgbClr val="2E2A36"/>
                </a:solidFill>
                <a:latin typeface="Montserrat"/>
              </a:rPr>
              <a:t>Fotos y medidas de cada jardín para mostrar en la visita o en la casa.</a:t>
            </a:r>
          </a:p>
        </p:txBody>
      </p:sp>
      <p:sp>
        <p:nvSpPr>
          <p:cNvPr id="15" name="Rectangle 14"/>
          <p:cNvSpPr/>
          <p:nvPr/>
        </p:nvSpPr>
        <p:spPr>
          <a:xfrm>
            <a:off x="548640" y="4334256"/>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334256"/>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379976"/>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Plazo de pago</a:t>
            </a:r>
          </a:p>
          <a:p>
            <a:pPr algn="l">
              <a:lnSpc>
                <a:spcPct val="115000"/>
              </a:lnSpc>
              <a:spcAft>
                <a:spcPts val="100"/>
              </a:spcAft>
            </a:pPr>
            <a:r>
              <a:rPr sz="1100" b="0" i="0">
                <a:solidFill>
                  <a:srgbClr val="2E2A36"/>
                </a:solidFill>
                <a:latin typeface="Montserrat"/>
              </a:rPr>
              <a:t>Comunique que se paga en hasta 120 meses con intereses; no prometa un valor de cuota.</a:t>
            </a:r>
          </a:p>
        </p:txBody>
      </p:sp>
      <p:sp>
        <p:nvSpPr>
          <p:cNvPr id="18" name="Rectangle 17"/>
          <p:cNvSpPr/>
          <p:nvPr/>
        </p:nvSpPr>
        <p:spPr>
          <a:xfrm>
            <a:off x="548640" y="5230368"/>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5230368"/>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276088"/>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Registro de contactos</a:t>
            </a:r>
          </a:p>
          <a:p>
            <a:pPr algn="l">
              <a:lnSpc>
                <a:spcPct val="115000"/>
              </a:lnSpc>
              <a:spcAft>
                <a:spcPts val="100"/>
              </a:spcAft>
            </a:pPr>
            <a:r>
              <a:rPr sz="1100" b="0" i="0">
                <a:solidFill>
                  <a:srgbClr val="2E2A36"/>
                </a:solidFill>
                <a:latin typeface="Montserrat"/>
              </a:rPr>
              <a:t>Un contacto no registrado no existe: sin datos no hay gestión ni comisión.</a:t>
            </a:r>
          </a:p>
        </p:txBody>
      </p:sp>
      <p:sp>
        <p:nvSpPr>
          <p:cNvPr id="21" name="Rectangle 20"/>
          <p:cNvSpPr/>
          <p:nvPr/>
        </p:nvSpPr>
        <p:spPr>
          <a:xfrm>
            <a:off x="6720840" y="1645920"/>
            <a:ext cx="4937760" cy="44348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5160" y="1783080"/>
            <a:ext cx="4389120"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C9A86A"/>
                </a:solidFill>
                <a:latin typeface="Playfair Display"/>
              </a:rPr>
              <a:t>Checklist antes de cerrar</a:t>
            </a:r>
          </a:p>
        </p:txBody>
      </p:sp>
      <p:sp>
        <p:nvSpPr>
          <p:cNvPr id="23" name="TextBox 22"/>
          <p:cNvSpPr txBox="1"/>
          <p:nvPr/>
        </p:nvSpPr>
        <p:spPr>
          <a:xfrm>
            <a:off x="6995160" y="2331720"/>
            <a:ext cx="4434840" cy="365760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Expliqué qué incluye el producto y qué no incluye.</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Expliqué la cuota de mantenimiento y el plazo (30 años renovables o 3 años), según el caso.</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Registré la venta completa el mismo día.</a:t>
            </a:r>
          </a:p>
        </p:txBody>
      </p:sp>
      <p:sp>
        <p:nvSpPr>
          <p:cNvPr id="24" name="TextBox 23"/>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554480"/>
            <a:ext cx="9448495" cy="2560320"/>
          </a:xfrm>
          <a:prstGeom prst="rect">
            <a:avLst/>
          </a:prstGeom>
          <a:noFill/>
        </p:spPr>
        <p:txBody>
          <a:bodyPr wrap="square" anchor="ctr" lIns="45720" rIns="45720" tIns="27432" bIns="27432">
            <a:spAutoFit/>
          </a:bodyPr>
          <a:lstStyle/>
          <a:p>
            <a:pPr algn="ctr">
              <a:lnSpc>
                <a:spcPct val="115000"/>
              </a:lnSpc>
              <a:spcAft>
                <a:spcPts val="400"/>
              </a:spcAft>
            </a:pPr>
            <a:r>
              <a:rPr sz="3000" b="0" i="1">
                <a:solidFill>
                  <a:srgbClr val="FFFFFF"/>
                </a:solidFill>
                <a:latin typeface="Playfair Display"/>
              </a:rPr>
              <a:t>"Cada familia que atendemos recordará cómo la tratamos en uno de los momentos más sensibles de su vida. Ese es nuestro verdadero producto."</a:t>
            </a:r>
          </a:p>
        </p:txBody>
      </p:sp>
      <p:sp>
        <p:nvSpPr>
          <p:cNvPr id="4" name="Rectangle 3"/>
          <p:cNvSpPr/>
          <p:nvPr/>
        </p:nvSpPr>
        <p:spPr>
          <a:xfrm>
            <a:off x="5455767" y="429768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4572000"/>
            <a:ext cx="9448495" cy="457200"/>
          </a:xfrm>
          <a:prstGeom prst="rect">
            <a:avLst/>
          </a:prstGeom>
          <a:noFill/>
        </p:spPr>
        <p:txBody>
          <a:bodyPr wrap="square" anchor="t" lIns="45720" rIns="45720" tIns="27432" bIns="27432">
            <a:spAutoFit/>
          </a:bodyPr>
          <a:lstStyle/>
          <a:p>
            <a:pPr algn="ctr">
              <a:lnSpc>
                <a:spcPct val="115000"/>
              </a:lnSpc>
              <a:spcAft>
                <a:spcPts val="400"/>
              </a:spcAft>
            </a:pPr>
            <a:r>
              <a:rPr sz="1500" b="1" i="0">
                <a:solidFill>
                  <a:srgbClr val="C9A86A"/>
                </a:solidFill>
                <a:latin typeface="Montserrat"/>
              </a:rPr>
              <a:t>La Auxiliadora · Hogar de las Memorias · Las Colinas · Vangrupo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