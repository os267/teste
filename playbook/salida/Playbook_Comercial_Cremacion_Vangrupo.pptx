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731520" y="914400"/>
            <a:ext cx="8229600" cy="365760"/>
          </a:xfrm>
          <a:prstGeom prst="rect">
            <a:avLst/>
          </a:prstGeom>
          <a:noFill/>
        </p:spPr>
        <p:txBody>
          <a:bodyPr wrap="square" anchor="t" lIns="45720" rIns="45720" tIns="27432" bIns="27432">
            <a:spAutoFit/>
          </a:bodyPr>
          <a:lstStyle/>
          <a:p>
            <a:pPr algn="l">
              <a:lnSpc>
                <a:spcPct val="115000"/>
              </a:lnSpc>
              <a:spcAft>
                <a:spcPts val="400"/>
              </a:spcAft>
            </a:pPr>
            <a:r>
              <a:rPr sz="1300" b="1" i="0">
                <a:solidFill>
                  <a:srgbClr val="C9A86A"/>
                </a:solidFill>
                <a:latin typeface="Montserrat"/>
              </a:rPr>
              <a:t>CAMPAÑA DÍA DE LOS MUERTOS 2026</a:t>
            </a:r>
          </a:p>
        </p:txBody>
      </p:sp>
      <p:sp>
        <p:nvSpPr>
          <p:cNvPr id="4" name="TextBox 3"/>
          <p:cNvSpPr txBox="1"/>
          <p:nvPr/>
        </p:nvSpPr>
        <p:spPr>
          <a:xfrm>
            <a:off x="731520" y="1371600"/>
            <a:ext cx="10058400" cy="1188720"/>
          </a:xfrm>
          <a:prstGeom prst="rect">
            <a:avLst/>
          </a:prstGeom>
          <a:noFill/>
        </p:spPr>
        <p:txBody>
          <a:bodyPr wrap="square" anchor="t" lIns="45720" rIns="45720" tIns="27432" bIns="27432">
            <a:spAutoFit/>
          </a:bodyPr>
          <a:lstStyle/>
          <a:p>
            <a:pPr algn="l">
              <a:lnSpc>
                <a:spcPct val="115000"/>
              </a:lnSpc>
              <a:spcAft>
                <a:spcPts val="400"/>
              </a:spcAft>
            </a:pPr>
            <a:r>
              <a:rPr sz="6000" b="1" i="0">
                <a:solidFill>
                  <a:srgbClr val="FFFFFF"/>
                </a:solidFill>
                <a:latin typeface="Playfair Display"/>
              </a:rPr>
              <a:t>Playbook Comercial</a:t>
            </a:r>
          </a:p>
        </p:txBody>
      </p:sp>
      <p:sp>
        <p:nvSpPr>
          <p:cNvPr id="5" name="TextBox 4"/>
          <p:cNvSpPr txBox="1"/>
          <p:nvPr/>
        </p:nvSpPr>
        <p:spPr>
          <a:xfrm>
            <a:off x="731520" y="2560320"/>
            <a:ext cx="10058400" cy="640080"/>
          </a:xfrm>
          <a:prstGeom prst="rect">
            <a:avLst/>
          </a:prstGeom>
          <a:noFill/>
        </p:spPr>
        <p:txBody>
          <a:bodyPr wrap="square" anchor="t" lIns="45720" rIns="45720" tIns="27432" bIns="27432">
            <a:spAutoFit/>
          </a:bodyPr>
          <a:lstStyle/>
          <a:p>
            <a:pPr algn="l">
              <a:lnSpc>
                <a:spcPct val="115000"/>
              </a:lnSpc>
              <a:spcAft>
                <a:spcPts val="400"/>
              </a:spcAft>
            </a:pPr>
            <a:r>
              <a:rPr sz="2600" b="0" i="0">
                <a:solidFill>
                  <a:srgbClr val="F1ECF7"/>
                </a:solidFill>
                <a:latin typeface="Playfair Display"/>
              </a:rPr>
              <a:t>Portafolio de Cremación y Jardines de Cenizas</a:t>
            </a:r>
          </a:p>
        </p:txBody>
      </p:sp>
      <p:sp>
        <p:nvSpPr>
          <p:cNvPr id="6" name="Rectangle 5"/>
          <p:cNvSpPr/>
          <p:nvPr/>
        </p:nvSpPr>
        <p:spPr>
          <a:xfrm>
            <a:off x="777240" y="333756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3566160"/>
            <a:ext cx="10058400" cy="45720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FFFFFF"/>
                </a:solidFill>
                <a:latin typeface="Playfair Display"/>
              </a:rPr>
              <a:t>«Acompañar, no vender: la familia primero, siempre.»</a:t>
            </a:r>
          </a:p>
        </p:txBody>
      </p:sp>
      <p:sp>
        <p:nvSpPr>
          <p:cNvPr id="8" name="LOGO La Auxiliadora"/>
          <p:cNvSpPr/>
          <p:nvPr/>
        </p:nvSpPr>
        <p:spPr>
          <a:xfrm>
            <a:off x="73152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La Auxiliadora</a:t>
            </a:r>
          </a:p>
        </p:txBody>
      </p:sp>
      <p:sp>
        <p:nvSpPr>
          <p:cNvPr id="10" name="LOGO Hogar de las Memorias"/>
          <p:cNvSpPr/>
          <p:nvPr/>
        </p:nvSpPr>
        <p:spPr>
          <a:xfrm>
            <a:off x="406908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06908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Hogar de las Memorias</a:t>
            </a:r>
          </a:p>
        </p:txBody>
      </p:sp>
      <p:sp>
        <p:nvSpPr>
          <p:cNvPr id="12" name="LOGO Vangrupo"/>
          <p:cNvSpPr/>
          <p:nvPr/>
        </p:nvSpPr>
        <p:spPr>
          <a:xfrm>
            <a:off x="7406640" y="4663440"/>
            <a:ext cx="3017520" cy="1051560"/>
          </a:xfrm>
          <a:prstGeom prst="roundRect">
            <a:avLst>
              <a:gd name="adj" fmla="val 8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06640" y="4663440"/>
            <a:ext cx="3017520" cy="1051560"/>
          </a:xfrm>
          <a:prstGeom prst="rect">
            <a:avLst/>
          </a:prstGeom>
          <a:noFill/>
        </p:spPr>
        <p:txBody>
          <a:bodyPr wrap="square" anchor="ctr" lIns="45720" rIns="45720" tIns="27432" bIns="27432">
            <a:spAutoFit/>
          </a:bodyPr>
          <a:lstStyle/>
          <a:p>
            <a:pPr algn="ctr">
              <a:lnSpc>
                <a:spcPct val="115000"/>
              </a:lnSpc>
              <a:spcAft>
                <a:spcPts val="0"/>
              </a:spcAft>
            </a:pPr>
            <a:r>
              <a:rPr sz="900" b="1" i="0">
                <a:solidFill>
                  <a:srgbClr val="7D7887"/>
                </a:solidFill>
                <a:latin typeface="Montserrat"/>
              </a:rPr>
              <a:t>LOGO</a:t>
            </a:r>
          </a:p>
          <a:p>
            <a:pPr algn="ctr">
              <a:lnSpc>
                <a:spcPct val="115000"/>
              </a:lnSpc>
              <a:spcAft>
                <a:spcPts val="0"/>
              </a:spcAft>
            </a:pPr>
            <a:r>
              <a:rPr sz="1500" b="1" i="0">
                <a:solidFill>
                  <a:srgbClr val="5B3F80"/>
                </a:solidFill>
                <a:latin typeface="Montserrat"/>
              </a:rPr>
              <a:t>Vangrupo</a:t>
            </a:r>
          </a:p>
        </p:txBody>
      </p:sp>
      <p:sp>
        <p:nvSpPr>
          <p:cNvPr id="14" name="TextBox 13"/>
          <p:cNvSpPr txBox="1"/>
          <p:nvPr/>
        </p:nvSpPr>
        <p:spPr>
          <a:xfrm>
            <a:off x="731520" y="5989320"/>
            <a:ext cx="10058400" cy="320040"/>
          </a:xfrm>
          <a:prstGeom prst="rect">
            <a:avLst/>
          </a:prstGeom>
          <a:noFill/>
        </p:spPr>
        <p:txBody>
          <a:bodyPr wrap="square" anchor="t" lIns="45720" rIns="45720" tIns="27432" bIns="27432">
            <a:spAutoFit/>
          </a:bodyPr>
          <a:lstStyle/>
          <a:p>
            <a:pPr algn="l">
              <a:lnSpc>
                <a:spcPct val="115000"/>
              </a:lnSpc>
              <a:spcAft>
                <a:spcPts val="400"/>
              </a:spcAft>
            </a:pPr>
            <a:r>
              <a:rPr sz="1000" b="0" i="0">
                <a:solidFill>
                  <a:srgbClr val="D9CFE6"/>
                </a:solidFill>
                <a:latin typeface="Montserrat"/>
              </a:rPr>
              <a:t>Versión 1.0 · Octubre 2026 · Uso interno del equipo comercial</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ANTES DE EMPEZAR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usar este playbook</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5669280" cy="1828800"/>
          </a:xfrm>
          <a:prstGeom prst="rect">
            <a:avLst/>
          </a:prstGeom>
          <a:noFill/>
        </p:spPr>
        <p:txBody>
          <a:bodyPr wrap="square" anchor="t" lIns="45720" rIns="45720" tIns="27432" bIns="27432">
            <a:spAutoFit/>
          </a:bodyPr>
          <a:lstStyle/>
          <a:p>
            <a:pPr algn="l">
              <a:lnSpc>
                <a:spcPct val="115000"/>
              </a:lnSpc>
              <a:spcAft>
                <a:spcPts val="400"/>
              </a:spcAft>
            </a:pPr>
            <a:r>
              <a:rPr sz="1400" b="0" i="0">
                <a:solidFill>
                  <a:srgbClr val="2E2A36"/>
                </a:solidFill>
                <a:latin typeface="Montserrat"/>
              </a:rPr>
              <a:t>Este playbook es la referencia única del equipo comercial para el portafolio de cremación y jardines de cenizas. Reúne reglas, precios, discurso por producto, manejo de objeciones y política de comisiones. Se revisa cada trimestre con la Gerencia Comercial. Si algo cambia en la Ficha Técnica, este documento se actualiza.</a:t>
            </a:r>
          </a:p>
        </p:txBody>
      </p:sp>
      <p:sp>
        <p:nvSpPr>
          <p:cNvPr id="7" name="Rectangle 6"/>
          <p:cNvSpPr/>
          <p:nvPr/>
        </p:nvSpPr>
        <p:spPr>
          <a:xfrm>
            <a:off x="548640" y="3429000"/>
            <a:ext cx="5669280" cy="265176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429000"/>
            <a:ext cx="73152" cy="265176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3566160"/>
            <a:ext cx="521208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PENDIENTES DE VALIDACIÓN</a:t>
            </a:r>
          </a:p>
        </p:txBody>
      </p:sp>
      <p:sp>
        <p:nvSpPr>
          <p:cNvPr id="10" name="TextBox 9"/>
          <p:cNvSpPr txBox="1"/>
          <p:nvPr/>
        </p:nvSpPr>
        <p:spPr>
          <a:xfrm>
            <a:off x="822960" y="3931920"/>
            <a:ext cx="5212080" cy="2103120"/>
          </a:xfrm>
          <a:prstGeom prst="rect">
            <a:avLst/>
          </a:prstGeom>
          <a:noFill/>
        </p:spPr>
        <p:txBody>
          <a:bodyPr wrap="square" anchor="t" lIns="45720" rIns="45720" tIns="27432" bIns="27432">
            <a:spAutoFit/>
          </a:bodyPr>
          <a:lstStyle/>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Política de comisiones: 8% en todos los productos. Confirmar con el Gerente Comercial antes de aplicar.</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Jardín de Mascotas: confirmar si la urna biodegradable está incluida en el precio.</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Placas de madera: confirmar el tratamiento de la madera para contacto con el suelo.</a:t>
            </a:r>
          </a:p>
          <a:p>
            <a:pPr algn="l">
              <a:lnSpc>
                <a:spcPct val="115000"/>
              </a:lnSpc>
              <a:spcAft>
                <a:spcPts val="400"/>
              </a:spcAft>
            </a:pPr>
            <a:r>
              <a:rPr sz="900" b="1" i="0">
                <a:solidFill>
                  <a:srgbClr val="C9A86A"/>
                </a:solidFill>
                <a:latin typeface="Montserrat"/>
              </a:rPr>
              <a:t>■  </a:t>
            </a:r>
            <a:r>
              <a:rPr sz="1200" b="0" i="0">
                <a:solidFill>
                  <a:srgbClr val="2E2A36"/>
                </a:solidFill>
                <a:latin typeface="Montserrat"/>
              </a:rPr>
              <a:t>Jardín Ceremonial: producto en definición. No se vende ni se cotiza todavía.</a:t>
            </a:r>
          </a:p>
        </p:txBody>
      </p:sp>
      <p:sp>
        <p:nvSpPr>
          <p:cNvPr id="11" name="TextBox 10"/>
          <p:cNvSpPr txBox="1"/>
          <p:nvPr/>
        </p:nvSpPr>
        <p:spPr>
          <a:xfrm>
            <a:off x="6720840" y="1600200"/>
            <a:ext cx="4846320" cy="457200"/>
          </a:xfrm>
          <a:prstGeom prst="rect">
            <a:avLst/>
          </a:prstGeom>
          <a:noFill/>
        </p:spPr>
        <p:txBody>
          <a:bodyPr wrap="square" anchor="t" lIns="45720" rIns="45720" tIns="27432" bIns="27432">
            <a:spAutoFit/>
          </a:bodyPr>
          <a:lstStyle/>
          <a:p>
            <a:pPr algn="l">
              <a:lnSpc>
                <a:spcPct val="115000"/>
              </a:lnSpc>
              <a:spcAft>
                <a:spcPts val="400"/>
              </a:spcAft>
            </a:pPr>
            <a:r>
              <a:rPr sz="2000" b="1" i="0">
                <a:solidFill>
                  <a:srgbClr val="5B3F80"/>
                </a:solidFill>
                <a:latin typeface="Playfair Display"/>
              </a:rPr>
              <a:t>Contenido</a:t>
            </a:r>
          </a:p>
        </p:txBody>
      </p:sp>
      <p:sp>
        <p:nvSpPr>
          <p:cNvPr id="12" name="TextBox 11"/>
          <p:cNvSpPr txBox="1"/>
          <p:nvPr/>
        </p:nvSpPr>
        <p:spPr>
          <a:xfrm>
            <a:off x="6720840" y="214884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01</a:t>
            </a:r>
          </a:p>
        </p:txBody>
      </p:sp>
      <p:sp>
        <p:nvSpPr>
          <p:cNvPr id="13" name="TextBox 12"/>
          <p:cNvSpPr txBox="1"/>
          <p:nvPr/>
        </p:nvSpPr>
        <p:spPr>
          <a:xfrm>
            <a:off x="7452360" y="222199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Quiénes somos y lo que vendemos</a:t>
            </a:r>
          </a:p>
        </p:txBody>
      </p:sp>
      <p:sp>
        <p:nvSpPr>
          <p:cNvPr id="14" name="Rectangle 13"/>
          <p:cNvSpPr/>
          <p:nvPr/>
        </p:nvSpPr>
        <p:spPr>
          <a:xfrm>
            <a:off x="6720840" y="260604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20840" y="263347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02</a:t>
            </a:r>
          </a:p>
        </p:txBody>
      </p:sp>
      <p:sp>
        <p:nvSpPr>
          <p:cNvPr id="16" name="TextBox 15"/>
          <p:cNvSpPr txBox="1"/>
          <p:nvPr/>
        </p:nvSpPr>
        <p:spPr>
          <a:xfrm>
            <a:off x="7452360" y="270662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A quién le vendemos</a:t>
            </a:r>
          </a:p>
        </p:txBody>
      </p:sp>
      <p:sp>
        <p:nvSpPr>
          <p:cNvPr id="17" name="Rectangle 16"/>
          <p:cNvSpPr/>
          <p:nvPr/>
        </p:nvSpPr>
        <p:spPr>
          <a:xfrm>
            <a:off x="6720840" y="309067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20840" y="311810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03</a:t>
            </a:r>
          </a:p>
        </p:txBody>
      </p:sp>
      <p:sp>
        <p:nvSpPr>
          <p:cNvPr id="19" name="TextBox 18"/>
          <p:cNvSpPr txBox="1"/>
          <p:nvPr/>
        </p:nvSpPr>
        <p:spPr>
          <a:xfrm>
            <a:off x="7452360" y="319125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El proceso de venta</a:t>
            </a:r>
          </a:p>
        </p:txBody>
      </p:sp>
      <p:sp>
        <p:nvSpPr>
          <p:cNvPr id="20" name="Rectangle 19"/>
          <p:cNvSpPr/>
          <p:nvPr/>
        </p:nvSpPr>
        <p:spPr>
          <a:xfrm>
            <a:off x="6720840" y="357530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720840" y="3602736"/>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04</a:t>
            </a:r>
          </a:p>
        </p:txBody>
      </p:sp>
      <p:sp>
        <p:nvSpPr>
          <p:cNvPr id="22" name="TextBox 21"/>
          <p:cNvSpPr txBox="1"/>
          <p:nvPr/>
        </p:nvSpPr>
        <p:spPr>
          <a:xfrm>
            <a:off x="7452360" y="3675888"/>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Producto por producto: speech y reglas</a:t>
            </a:r>
          </a:p>
        </p:txBody>
      </p:sp>
      <p:sp>
        <p:nvSpPr>
          <p:cNvPr id="23" name="Rectangle 22"/>
          <p:cNvSpPr/>
          <p:nvPr/>
        </p:nvSpPr>
        <p:spPr>
          <a:xfrm>
            <a:off x="6720840" y="4059936"/>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720840" y="4087368"/>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05</a:t>
            </a:r>
          </a:p>
        </p:txBody>
      </p:sp>
      <p:sp>
        <p:nvSpPr>
          <p:cNvPr id="25" name="TextBox 24"/>
          <p:cNvSpPr txBox="1"/>
          <p:nvPr/>
        </p:nvSpPr>
        <p:spPr>
          <a:xfrm>
            <a:off x="7452360" y="4160520"/>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Manejo de objeciones</a:t>
            </a:r>
          </a:p>
        </p:txBody>
      </p:sp>
      <p:sp>
        <p:nvSpPr>
          <p:cNvPr id="26" name="Rectangle 25"/>
          <p:cNvSpPr/>
          <p:nvPr/>
        </p:nvSpPr>
        <p:spPr>
          <a:xfrm>
            <a:off x="6720840" y="4544568"/>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20840" y="4572000"/>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06</a:t>
            </a:r>
          </a:p>
        </p:txBody>
      </p:sp>
      <p:sp>
        <p:nvSpPr>
          <p:cNvPr id="28" name="TextBox 27"/>
          <p:cNvSpPr txBox="1"/>
          <p:nvPr/>
        </p:nvSpPr>
        <p:spPr>
          <a:xfrm>
            <a:off x="7452360" y="4645152"/>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Precios, reglas y condiciones</a:t>
            </a:r>
          </a:p>
        </p:txBody>
      </p:sp>
      <p:sp>
        <p:nvSpPr>
          <p:cNvPr id="29" name="Rectangle 28"/>
          <p:cNvSpPr/>
          <p:nvPr/>
        </p:nvSpPr>
        <p:spPr>
          <a:xfrm>
            <a:off x="6720840" y="5029200"/>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720840" y="5056632"/>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07</a:t>
            </a:r>
          </a:p>
        </p:txBody>
      </p:sp>
      <p:sp>
        <p:nvSpPr>
          <p:cNvPr id="31" name="TextBox 30"/>
          <p:cNvSpPr txBox="1"/>
          <p:nvPr/>
        </p:nvSpPr>
        <p:spPr>
          <a:xfrm>
            <a:off x="7452360" y="5129784"/>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Política de comisiones</a:t>
            </a:r>
          </a:p>
        </p:txBody>
      </p:sp>
      <p:sp>
        <p:nvSpPr>
          <p:cNvPr id="32" name="Rectangle 31"/>
          <p:cNvSpPr/>
          <p:nvPr/>
        </p:nvSpPr>
        <p:spPr>
          <a:xfrm>
            <a:off x="6720840" y="5513832"/>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20840" y="5541264"/>
            <a:ext cx="731520" cy="457200"/>
          </a:xfrm>
          <a:prstGeom prst="rect">
            <a:avLst/>
          </a:prstGeom>
          <a:noFill/>
        </p:spPr>
        <p:txBody>
          <a:bodyPr wrap="square" anchor="t" lIns="45720" rIns="45720" tIns="27432" bIns="27432">
            <a:spAutoFit/>
          </a:bodyPr>
          <a:lstStyle/>
          <a:p>
            <a:pPr algn="l">
              <a:lnSpc>
                <a:spcPct val="115000"/>
              </a:lnSpc>
              <a:spcAft>
                <a:spcPts val="400"/>
              </a:spcAft>
            </a:pPr>
            <a:r>
              <a:rPr sz="2200" b="1" i="0">
                <a:solidFill>
                  <a:srgbClr val="C9A86A"/>
                </a:solidFill>
                <a:latin typeface="Playfair Display"/>
              </a:rPr>
              <a:t>08</a:t>
            </a:r>
          </a:p>
        </p:txBody>
      </p:sp>
      <p:sp>
        <p:nvSpPr>
          <p:cNvPr id="34" name="TextBox 33"/>
          <p:cNvSpPr txBox="1"/>
          <p:nvPr/>
        </p:nvSpPr>
        <p:spPr>
          <a:xfrm>
            <a:off x="7452360" y="5614416"/>
            <a:ext cx="4206240" cy="411480"/>
          </a:xfrm>
          <a:prstGeom prst="rect">
            <a:avLst/>
          </a:prstGeom>
          <a:noFill/>
        </p:spPr>
        <p:txBody>
          <a:bodyPr wrap="square" anchor="t" lIns="45720" rIns="45720" tIns="27432" bIns="27432">
            <a:spAutoFit/>
          </a:bodyPr>
          <a:lstStyle/>
          <a:p>
            <a:pPr algn="l">
              <a:lnSpc>
                <a:spcPct val="115000"/>
              </a:lnSpc>
              <a:spcAft>
                <a:spcPts val="400"/>
              </a:spcAft>
            </a:pPr>
            <a:r>
              <a:rPr sz="1400" b="1" i="0">
                <a:solidFill>
                  <a:srgbClr val="5B3F80"/>
                </a:solidFill>
                <a:latin typeface="Montserrat"/>
              </a:rPr>
              <a:t>Herramientas de apoyo</a:t>
            </a:r>
          </a:p>
        </p:txBody>
      </p:sp>
      <p:sp>
        <p:nvSpPr>
          <p:cNvPr id="35" name="Rectangle 34"/>
          <p:cNvSpPr/>
          <p:nvPr/>
        </p:nvSpPr>
        <p:spPr>
          <a:xfrm>
            <a:off x="6720840" y="5998464"/>
            <a:ext cx="4846320" cy="9525"/>
          </a:xfrm>
          <a:prstGeom prst="rect">
            <a:avLst/>
          </a:prstGeom>
          <a:solidFill>
            <a:srgbClr val="E2D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7" name="TextBox 3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01</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Quiénes somos y lo que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Acompañar, no vender: la familia primero, siempre.</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QUIÉNES SOMOS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No vendemos parcelas: acompañamos familias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600200"/>
            <a:ext cx="10972800" cy="1280160"/>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La Auxiliadora, Hogar de las Memorias y Parque Memorial Las Colinas, empresas de Vangrupo, no vendemos nichos, parcelas ni servicios: acompañamos a las familias salvadoreñas a honrar la memoria de quienes aman. La cremación es una decisión cada vez más elegida, y nuestros nuevos jardines de cenizas responden a una pregunta que muchas familias se hacen y pocas se atreven a decir: «¿y después de la cremación, dónde las visitamos?».</a:t>
            </a:r>
          </a:p>
        </p:txBody>
      </p:sp>
      <p:sp>
        <p:nvSpPr>
          <p:cNvPr id="7" name="Rectangle 6"/>
          <p:cNvSpPr/>
          <p:nvPr/>
        </p:nvSpPr>
        <p:spPr>
          <a:xfrm>
            <a:off x="548640"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20"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Un lugar para volver</a:t>
            </a:r>
          </a:p>
        </p:txBody>
      </p:sp>
      <p:sp>
        <p:nvSpPr>
          <p:cNvPr id="10" name="TextBox 9"/>
          <p:cNvSpPr txBox="1"/>
          <p:nvPr/>
        </p:nvSpPr>
        <p:spPr>
          <a:xfrm>
            <a:off x="731520"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La familia tiene un sitio físico, digno y verde para visitar y recordar.</a:t>
            </a:r>
          </a:p>
        </p:txBody>
      </p:sp>
      <p:sp>
        <p:nvSpPr>
          <p:cNvPr id="11" name="Rectangle 10"/>
          <p:cNvSpPr/>
          <p:nvPr/>
        </p:nvSpPr>
        <p:spPr>
          <a:xfrm>
            <a:off x="3364992"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3364992"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47872"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Precio accesible</a:t>
            </a:r>
          </a:p>
        </p:txBody>
      </p:sp>
      <p:sp>
        <p:nvSpPr>
          <p:cNvPr id="14" name="TextBox 13"/>
          <p:cNvSpPr txBox="1"/>
          <p:nvPr/>
        </p:nvSpPr>
        <p:spPr>
          <a:xfrm>
            <a:off x="3547872"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Desde US$ 400 y con financiamiento: un destino final al alcance de más familias.</a:t>
            </a:r>
          </a:p>
        </p:txBody>
      </p:sp>
      <p:sp>
        <p:nvSpPr>
          <p:cNvPr id="15" name="Rectangle 14"/>
          <p:cNvSpPr/>
          <p:nvPr/>
        </p:nvSpPr>
        <p:spPr>
          <a:xfrm>
            <a:off x="6181344"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181344"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4224"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Naturaleza y legado</a:t>
            </a:r>
          </a:p>
        </p:txBody>
      </p:sp>
      <p:sp>
        <p:nvSpPr>
          <p:cNvPr id="18" name="TextBox 17"/>
          <p:cNvSpPr txBox="1"/>
          <p:nvPr/>
        </p:nvSpPr>
        <p:spPr>
          <a:xfrm>
            <a:off x="6364224"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Jardines de plantas de sombra, agua corriente y bosque: un homenaje que vive.</a:t>
            </a:r>
          </a:p>
        </p:txBody>
      </p:sp>
      <p:sp>
        <p:nvSpPr>
          <p:cNvPr id="19" name="Rectangle 18"/>
          <p:cNvSpPr/>
          <p:nvPr/>
        </p:nvSpPr>
        <p:spPr>
          <a:xfrm>
            <a:off x="8997696" y="3154680"/>
            <a:ext cx="2633472" cy="17373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997696" y="3154680"/>
            <a:ext cx="2633472"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0576" y="3319272"/>
            <a:ext cx="2267712"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Sin decisiones bajo presión</a:t>
            </a:r>
          </a:p>
        </p:txBody>
      </p:sp>
      <p:sp>
        <p:nvSpPr>
          <p:cNvPr id="22" name="TextBox 21"/>
          <p:cNvSpPr txBox="1"/>
          <p:nvPr/>
        </p:nvSpPr>
        <p:spPr>
          <a:xfrm>
            <a:off x="9180576" y="3904488"/>
            <a:ext cx="2267712" cy="89611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Planificar hoy evita que la familia decida en el peor momento.</a:t>
            </a:r>
          </a:p>
        </p:txBody>
      </p:sp>
      <p:sp>
        <p:nvSpPr>
          <p:cNvPr id="23" name="Rectangle 22"/>
          <p:cNvSpPr/>
          <p:nvPr/>
        </p:nvSpPr>
        <p:spPr>
          <a:xfrm>
            <a:off x="548640" y="5166360"/>
            <a:ext cx="11094415" cy="9601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 y="5166360"/>
            <a:ext cx="10545775" cy="960120"/>
          </a:xfrm>
          <a:prstGeom prst="rect">
            <a:avLst/>
          </a:prstGeom>
          <a:noFill/>
        </p:spPr>
        <p:txBody>
          <a:bodyPr wrap="square" anchor="ctr" lIns="45720" rIns="45720" tIns="27432" bIns="27432">
            <a:spAutoFit/>
          </a:bodyPr>
          <a:lstStyle/>
          <a:p>
            <a:pPr algn="l">
              <a:lnSpc>
                <a:spcPct val="115000"/>
              </a:lnSpc>
              <a:spcAft>
                <a:spcPts val="400"/>
              </a:spcAft>
            </a:pPr>
            <a:r>
              <a:rPr sz="1200" b="1" i="0">
                <a:solidFill>
                  <a:srgbClr val="C9A86A"/>
                </a:solidFill>
                <a:latin typeface="Montserrat"/>
              </a:rPr>
              <a:t>REGLA DE ORO   </a:t>
            </a:r>
            <a:r>
              <a:rPr sz="1400" b="0" i="1">
                <a:solidFill>
                  <a:srgbClr val="FFFFFF"/>
                </a:solidFill>
                <a:latin typeface="Montserrat"/>
              </a:rPr>
              <a:t>Nuestra diferencia no es el precio: es la atención. Antes de cada propuesta, pregúntese: «¿esto acoge a la familia o solo cierra un negocio?».</a:t>
            </a:r>
          </a:p>
        </p:txBody>
      </p:sp>
      <p:sp>
        <p:nvSpPr>
          <p:cNvPr id="25" name="TextBox 24"/>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6" name="TextBox 25"/>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portafolio en un vistazo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1_portafolio.png"/>
          <p:cNvPicPr>
            <a:picLocks noChangeAspect="1"/>
          </p:cNvPicPr>
          <p:nvPr/>
        </p:nvPicPr>
        <p:blipFill>
          <a:blip r:embed="rId2"/>
          <a:stretch>
            <a:fillRect/>
          </a:stretch>
        </p:blipFill>
        <p:spPr>
          <a:xfrm>
            <a:off x="635698" y="1508760"/>
            <a:ext cx="10920298" cy="475488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01 · LO QUE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Dos momentos de venta, dos actitudes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737360"/>
            <a:ext cx="5440680" cy="54864"/>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Prenecesidad (preventiva)</a:t>
            </a:r>
          </a:p>
        </p:txBody>
      </p:sp>
      <p:sp>
        <p:nvSpPr>
          <p:cNvPr id="9" name="TextBox 8"/>
          <p:cNvSpPr txBox="1"/>
          <p:nvPr/>
        </p:nvSpPr>
        <p:spPr>
          <a:xfrm>
            <a:off x="73152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Venta planificada, de ciclo largo. La familia contrata hoy para protegerse y pagar en cuotas. Es la venta que conducimos activamente.</a:t>
            </a:r>
          </a:p>
        </p:txBody>
      </p:sp>
      <p:sp>
        <p:nvSpPr>
          <p:cNvPr id="10" name="Rectangle 9"/>
          <p:cNvSpPr/>
          <p:nvPr/>
        </p:nvSpPr>
        <p:spPr>
          <a:xfrm>
            <a:off x="6217920" y="1737360"/>
            <a:ext cx="5440680" cy="219456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17920" y="17373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00800" y="1901952"/>
            <a:ext cx="5074920" cy="566928"/>
          </a:xfrm>
          <a:prstGeom prst="rect">
            <a:avLst/>
          </a:prstGeom>
          <a:noFill/>
        </p:spPr>
        <p:txBody>
          <a:bodyPr wrap="square" anchor="ctr" lIns="45720" rIns="45720" tIns="27432" bIns="27432">
            <a:spAutoFit/>
          </a:bodyPr>
          <a:lstStyle/>
          <a:p>
            <a:pPr algn="l">
              <a:lnSpc>
                <a:spcPct val="100000"/>
              </a:lnSpc>
              <a:spcAft>
                <a:spcPts val="400"/>
              </a:spcAft>
            </a:pPr>
            <a:r>
              <a:rPr sz="1800" b="1" i="0">
                <a:solidFill>
                  <a:srgbClr val="5B3F80"/>
                </a:solidFill>
                <a:latin typeface="Montserrat"/>
              </a:rPr>
              <a:t>Necesidad inmediata (emergencia)</a:t>
            </a:r>
          </a:p>
        </p:txBody>
      </p:sp>
      <p:sp>
        <p:nvSpPr>
          <p:cNvPr id="13" name="TextBox 12"/>
          <p:cNvSpPr txBox="1"/>
          <p:nvPr/>
        </p:nvSpPr>
        <p:spPr>
          <a:xfrm>
            <a:off x="6400800" y="2487168"/>
            <a:ext cx="5074920" cy="1353312"/>
          </a:xfrm>
          <a:prstGeom prst="rect">
            <a:avLst/>
          </a:prstGeom>
          <a:noFill/>
        </p:spPr>
        <p:txBody>
          <a:bodyPr wrap="square" anchor="t" lIns="45720" rIns="45720" tIns="27432" bIns="27432">
            <a:spAutoFit/>
          </a:bodyPr>
          <a:lstStyle/>
          <a:p>
            <a:pPr algn="l">
              <a:lnSpc>
                <a:spcPct val="115000"/>
              </a:lnSpc>
              <a:spcAft>
                <a:spcPts val="400"/>
              </a:spcAft>
            </a:pPr>
            <a:r>
              <a:rPr sz="1500" b="0" i="0">
                <a:solidFill>
                  <a:srgbClr val="2E2A36"/>
                </a:solidFill>
                <a:latin typeface="Montserrat"/>
              </a:rPr>
              <a:t>En el momento de la pérdida. Aquí no se «vende»: se acoge, se informa con calma y se resuelve con agilidad y respeto.</a:t>
            </a:r>
          </a:p>
        </p:txBody>
      </p:sp>
      <p:sp>
        <p:nvSpPr>
          <p:cNvPr id="14" name="TextBox 13"/>
          <p:cNvSpPr txBox="1"/>
          <p:nvPr/>
        </p:nvSpPr>
        <p:spPr>
          <a:xfrm>
            <a:off x="548640" y="4297680"/>
            <a:ext cx="11094415"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Qué producto lleva cada equipo</a:t>
            </a:r>
          </a:p>
        </p:txBody>
      </p:sp>
      <p:sp>
        <p:nvSpPr>
          <p:cNvPr id="15" name="Rectangle 14"/>
          <p:cNvSpPr/>
          <p:nvPr/>
        </p:nvSpPr>
        <p:spPr>
          <a:xfrm>
            <a:off x="54864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UAF · Unidad de Apoyo Familiar</a:t>
            </a:r>
          </a:p>
          <a:p>
            <a:pPr algn="l">
              <a:lnSpc>
                <a:spcPct val="115000"/>
              </a:lnSpc>
              <a:spcAft>
                <a:spcPts val="300"/>
              </a:spcAft>
            </a:pPr>
            <a:r>
              <a:rPr sz="1100" b="0" i="0">
                <a:solidFill>
                  <a:srgbClr val="2E2A36"/>
                </a:solidFill>
                <a:latin typeface="Montserrat"/>
              </a:rPr>
              <a:t>Jardín Individual y Ecológico como destino de las cenizas; Solución Modular para el resto de la familia (venta de prenecesidad posterior).</a:t>
            </a:r>
          </a:p>
        </p:txBody>
      </p:sp>
      <p:sp>
        <p:nvSpPr>
          <p:cNvPr id="17" name="Rectangle 16"/>
          <p:cNvSpPr/>
          <p:nvPr/>
        </p:nvSpPr>
        <p:spPr>
          <a:xfrm>
            <a:off x="429768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43484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Pilares Alternativos</a:t>
            </a:r>
          </a:p>
          <a:p>
            <a:pPr algn="l">
              <a:lnSpc>
                <a:spcPct val="115000"/>
              </a:lnSpc>
              <a:spcAft>
                <a:spcPts val="300"/>
              </a:spcAft>
            </a:pPr>
            <a:r>
              <a:rPr sz="1100" b="0" i="0">
                <a:solidFill>
                  <a:srgbClr val="2E2A36"/>
                </a:solidFill>
                <a:latin typeface="Montserrat"/>
              </a:rPr>
              <a:t>Solución Modular (cuota baja, fácil de explicar) y Jardín de Mascotas.</a:t>
            </a:r>
          </a:p>
        </p:txBody>
      </p:sp>
      <p:sp>
        <p:nvSpPr>
          <p:cNvPr id="19" name="Rectangle 18"/>
          <p:cNvSpPr/>
          <p:nvPr/>
        </p:nvSpPr>
        <p:spPr>
          <a:xfrm>
            <a:off x="8046720" y="4800600"/>
            <a:ext cx="3566160" cy="14173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183880" y="4864608"/>
            <a:ext cx="3291840" cy="1325880"/>
          </a:xfrm>
          <a:prstGeom prst="rect">
            <a:avLst/>
          </a:prstGeom>
          <a:noFill/>
        </p:spPr>
        <p:txBody>
          <a:bodyPr wrap="square" anchor="t" lIns="45720" rIns="45720" tIns="27432" bIns="27432">
            <a:spAutoFit/>
          </a:bodyPr>
          <a:lstStyle/>
          <a:p>
            <a:pPr algn="l">
              <a:lnSpc>
                <a:spcPct val="115000"/>
              </a:lnSpc>
              <a:spcAft>
                <a:spcPts val="300"/>
              </a:spcAft>
            </a:pPr>
            <a:r>
              <a:rPr sz="1200" b="1" i="0">
                <a:solidFill>
                  <a:srgbClr val="5B3F80"/>
                </a:solidFill>
                <a:latin typeface="Montserrat"/>
              </a:rPr>
              <a:t>AML · Puerta a puerta</a:t>
            </a:r>
          </a:p>
          <a:p>
            <a:pPr algn="l">
              <a:lnSpc>
                <a:spcPct val="115000"/>
              </a:lnSpc>
              <a:spcAft>
                <a:spcPts val="300"/>
              </a:spcAft>
            </a:pPr>
            <a:r>
              <a:rPr sz="1100" b="0" i="0">
                <a:solidFill>
                  <a:srgbClr val="2E2A36"/>
                </a:solidFill>
                <a:latin typeface="Montserrat"/>
              </a:rPr>
              <a:t>Solución Modular + Jardín Individual: la combinación más completa para el hogar.</a:t>
            </a:r>
          </a:p>
        </p:txBody>
      </p:sp>
      <p:sp>
        <p:nvSpPr>
          <p:cNvPr id="21" name="TextBox 20"/>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2" name="TextBox 21"/>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02</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A quién le vendemos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Conocer al cliente es la mitad de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02 · A QUIÉN LE VENDEMOS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Cinco perfiles de cliente</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Identifique el perfil en los primeros minutos y adapte el tono.</a:t>
            </a:r>
          </a:p>
        </p:txBody>
      </p:sp>
      <p:sp>
        <p:nvSpPr>
          <p:cNvPr id="7" name="Rectangle 6"/>
          <p:cNvSpPr/>
          <p:nvPr/>
        </p:nvSpPr>
        <p:spPr>
          <a:xfrm>
            <a:off x="548640"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548640"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Planificador</a:t>
            </a:r>
          </a:p>
        </p:txBody>
      </p:sp>
      <p:sp>
        <p:nvSpPr>
          <p:cNvPr id="10" name="TextBox 9"/>
          <p:cNvSpPr txBox="1"/>
          <p:nvPr/>
        </p:nvSpPr>
        <p:spPr>
          <a:xfrm>
            <a:off x="658368"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45–65 años, compra para sí mismo.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Tranquilidad y legado. No quiere dejar cargas a su familia.</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Calma, sin prisa, datos claros.</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Individual · Jardín Familiar</a:t>
            </a:r>
          </a:p>
        </p:txBody>
      </p:sp>
      <p:sp>
        <p:nvSpPr>
          <p:cNvPr id="11" name="Rectangle 10"/>
          <p:cNvSpPr/>
          <p:nvPr/>
        </p:nvSpPr>
        <p:spPr>
          <a:xfrm>
            <a:off x="2788919"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2788919"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898647"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Hijo Cuidador</a:t>
            </a:r>
          </a:p>
        </p:txBody>
      </p:sp>
      <p:sp>
        <p:nvSpPr>
          <p:cNvPr id="14" name="TextBox 13"/>
          <p:cNvSpPr txBox="1"/>
          <p:nvPr/>
        </p:nvSpPr>
        <p:spPr>
          <a:xfrm>
            <a:off x="2898647"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25–45 años, compra para sus padres.</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Practicidad, control del presupuesto, evitar improvisar.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Claro, práctico, comparativo.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Solución Modular · Jardín Familiar</a:t>
            </a:r>
          </a:p>
        </p:txBody>
      </p:sp>
      <p:sp>
        <p:nvSpPr>
          <p:cNvPr id="15" name="Rectangle 14"/>
          <p:cNvSpPr/>
          <p:nvPr/>
        </p:nvSpPr>
        <p:spPr>
          <a:xfrm>
            <a:off x="5029198"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029198"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138926"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La Familia en Urgencia</a:t>
            </a:r>
          </a:p>
        </p:txBody>
      </p:sp>
      <p:sp>
        <p:nvSpPr>
          <p:cNvPr id="18" name="TextBox 17"/>
          <p:cNvSpPr txBox="1"/>
          <p:nvPr/>
        </p:nvSpPr>
        <p:spPr>
          <a:xfrm>
            <a:off x="5138926"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En el momento de la pérdida.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Quitar peso, dignidad, agilidad.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Acogida total, nunca comercial.</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Individual · Jardín Ecológico</a:t>
            </a:r>
          </a:p>
        </p:txBody>
      </p:sp>
      <p:sp>
        <p:nvSpPr>
          <p:cNvPr id="19" name="Rectangle 18"/>
          <p:cNvSpPr/>
          <p:nvPr/>
        </p:nvSpPr>
        <p:spPr>
          <a:xfrm>
            <a:off x="7269477"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69477"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79205"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Consciente Ecológico</a:t>
            </a:r>
          </a:p>
        </p:txBody>
      </p:sp>
      <p:sp>
        <p:nvSpPr>
          <p:cNvPr id="22" name="TextBox 21"/>
          <p:cNvSpPr txBox="1"/>
          <p:nvPr/>
        </p:nvSpPr>
        <p:spPr>
          <a:xfrm>
            <a:off x="7379205"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30–55 años, valora la naturaleza.</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Volver a la tierra, sencillez, sostenibilidad.</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Inspirador, natural, sin solemnidad excesiva.</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Ecológico</a:t>
            </a:r>
          </a:p>
        </p:txBody>
      </p:sp>
      <p:sp>
        <p:nvSpPr>
          <p:cNvPr id="23" name="Rectangle 22"/>
          <p:cNvSpPr/>
          <p:nvPr/>
        </p:nvSpPr>
        <p:spPr>
          <a:xfrm>
            <a:off x="9509756" y="2011680"/>
            <a:ext cx="2084831" cy="32461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9509756" y="2011680"/>
            <a:ext cx="2084831" cy="6858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619484" y="2011680"/>
            <a:ext cx="1865375" cy="685800"/>
          </a:xfrm>
          <a:prstGeom prst="rect">
            <a:avLst/>
          </a:prstGeom>
          <a:noFill/>
        </p:spPr>
        <p:txBody>
          <a:bodyPr wrap="square" anchor="ctr" lIns="45720" rIns="45720" tIns="27432" bIns="27432">
            <a:spAutoFit/>
          </a:bodyPr>
          <a:lstStyle/>
          <a:p>
            <a:pPr algn="l">
              <a:lnSpc>
                <a:spcPct val="115000"/>
              </a:lnSpc>
              <a:spcAft>
                <a:spcPts val="400"/>
              </a:spcAft>
            </a:pPr>
            <a:r>
              <a:rPr sz="1400" b="1" i="0">
                <a:solidFill>
                  <a:srgbClr val="FFFFFF"/>
                </a:solidFill>
                <a:latin typeface="Montserrat"/>
              </a:rPr>
              <a:t>El Tutor de Mascota</a:t>
            </a:r>
          </a:p>
        </p:txBody>
      </p:sp>
      <p:sp>
        <p:nvSpPr>
          <p:cNvPr id="26" name="TextBox 25"/>
          <p:cNvSpPr txBox="1"/>
          <p:nvPr/>
        </p:nvSpPr>
        <p:spPr>
          <a:xfrm>
            <a:off x="9619484" y="2788920"/>
            <a:ext cx="1865375" cy="2423160"/>
          </a:xfrm>
          <a:prstGeom prst="rect">
            <a:avLst/>
          </a:prstGeom>
          <a:noFill/>
        </p:spPr>
        <p:txBody>
          <a:bodyPr wrap="square" anchor="t" lIns="45720" rIns="45720" tIns="27432" bIns="27432">
            <a:spAutoFit/>
          </a:bodyPr>
          <a:lstStyle/>
          <a:p>
            <a:pPr algn="l">
              <a:lnSpc>
                <a:spcPct val="115000"/>
              </a:lnSpc>
              <a:spcAft>
                <a:spcPts val="500"/>
              </a:spcAft>
            </a:pPr>
            <a:r>
              <a:rPr sz="1050" b="0" i="1">
                <a:solidFill>
                  <a:srgbClr val="7D7887"/>
                </a:solidFill>
                <a:latin typeface="Montserrat"/>
              </a:rPr>
              <a:t>20–60 años, despide a su compañero.</a:t>
            </a:r>
          </a:p>
          <a:p>
            <a:pPr algn="l">
              <a:lnSpc>
                <a:spcPct val="115000"/>
              </a:lnSpc>
              <a:spcAft>
                <a:spcPts val="500"/>
              </a:spcAft>
            </a:pPr>
            <a:r>
              <a:rPr sz="1050" b="1" i="0">
                <a:solidFill>
                  <a:srgbClr val="5B3F80"/>
                </a:solidFill>
                <a:latin typeface="Montserrat"/>
              </a:rPr>
              <a:t>Busca: </a:t>
            </a:r>
            <a:r>
              <a:rPr sz="1050" b="0" i="0">
                <a:solidFill>
                  <a:srgbClr val="2E2A36"/>
                </a:solidFill>
                <a:latin typeface="Montserrat"/>
              </a:rPr>
              <a:t>Respeto al vínculo, un lugar para recordar.</a:t>
            </a:r>
          </a:p>
          <a:p>
            <a:pPr algn="l">
              <a:lnSpc>
                <a:spcPct val="115000"/>
              </a:lnSpc>
              <a:spcAft>
                <a:spcPts val="500"/>
              </a:spcAft>
            </a:pPr>
            <a:r>
              <a:rPr sz="1050" b="1" i="0">
                <a:solidFill>
                  <a:srgbClr val="5B3F80"/>
                </a:solidFill>
                <a:latin typeface="Montserrat"/>
              </a:rPr>
              <a:t>Tono: </a:t>
            </a:r>
            <a:r>
              <a:rPr sz="1050" b="0" i="0">
                <a:solidFill>
                  <a:srgbClr val="2E2A36"/>
                </a:solidFill>
                <a:latin typeface="Montserrat"/>
              </a:rPr>
              <a:t>Emocional, cálido y ligero.</a:t>
            </a:r>
          </a:p>
          <a:p>
            <a:pPr algn="l">
              <a:lnSpc>
                <a:spcPct val="115000"/>
              </a:lnSpc>
              <a:spcAft>
                <a:spcPts val="500"/>
              </a:spcAft>
            </a:pPr>
            <a:r>
              <a:rPr sz="1050" b="1" i="0">
                <a:solidFill>
                  <a:srgbClr val="C9A86A"/>
                </a:solidFill>
                <a:latin typeface="Montserrat"/>
              </a:rPr>
              <a:t>Ideal: </a:t>
            </a:r>
            <a:r>
              <a:rPr sz="1050" b="1" i="0">
                <a:solidFill>
                  <a:srgbClr val="2E2A36"/>
                </a:solidFill>
                <a:latin typeface="Montserrat"/>
              </a:rPr>
              <a:t>Jardín de Mascotas</a:t>
            </a:r>
          </a:p>
        </p:txBody>
      </p:sp>
      <p:sp>
        <p:nvSpPr>
          <p:cNvPr id="27" name="Rectangle 26"/>
          <p:cNvSpPr/>
          <p:nvPr/>
        </p:nvSpPr>
        <p:spPr>
          <a:xfrm>
            <a:off x="548640" y="5440680"/>
            <a:ext cx="11094415" cy="73152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440680"/>
            <a:ext cx="10637215" cy="731520"/>
          </a:xfrm>
          <a:prstGeom prst="rect">
            <a:avLst/>
          </a:prstGeom>
          <a:noFill/>
        </p:spPr>
        <p:txBody>
          <a:bodyPr wrap="square" anchor="ctr" lIns="45720" rIns="45720" tIns="27432" bIns="27432">
            <a:spAutoFit/>
          </a:bodyPr>
          <a:lstStyle/>
          <a:p>
            <a:pPr algn="l">
              <a:lnSpc>
                <a:spcPct val="115000"/>
              </a:lnSpc>
              <a:spcAft>
                <a:spcPts val="400"/>
              </a:spcAft>
            </a:pPr>
            <a:r>
              <a:rPr sz="1100" b="1" i="0">
                <a:solidFill>
                  <a:srgbClr val="5B3F80"/>
                </a:solidFill>
                <a:latin typeface="Montserrat"/>
              </a:rPr>
              <a:t>FILTRO N·O·A   </a:t>
            </a:r>
            <a:r>
              <a:rPr sz="1150" b="0" i="0">
                <a:solidFill>
                  <a:srgbClr val="2E2A36"/>
                </a:solidFill>
                <a:latin typeface="Montserrat"/>
              </a:rPr>
              <a:t>Antes de invertir energía en un contacto, evalúe tres puntos: Necesidad (¿lo necesita?), Oportunidad (¿es el momento y tiene capacidad de pago?) y Adecuación (¿qué producto encaja con su perfil?). Calificar bien en la entrada evita morosidad en el cobro.</a:t>
            </a:r>
          </a:p>
        </p:txBody>
      </p:sp>
      <p:sp>
        <p:nvSpPr>
          <p:cNvPr id="29" name="TextBox 28"/>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30" name="TextBox 29"/>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03</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El proceso de venta</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 camino claro, del primer contacto a la posventa.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embudo de prenecesidad</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_embudo.png"/>
          <p:cNvPicPr>
            <a:picLocks noChangeAspect="1"/>
          </p:cNvPicPr>
          <p:nvPr/>
        </p:nvPicPr>
        <p:blipFill>
          <a:blip r:embed="rId2"/>
          <a:stretch>
            <a:fillRect/>
          </a:stretch>
        </p:blipFill>
        <p:spPr>
          <a:xfrm>
            <a:off x="996870" y="1600200"/>
            <a:ext cx="10197955" cy="466344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03 · EL PROCESO DE VENTA</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Las cinco etapas de una conversación</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_conversacion.png"/>
          <p:cNvPicPr>
            <a:picLocks noChangeAspect="1"/>
          </p:cNvPicPr>
          <p:nvPr/>
        </p:nvPicPr>
        <p:blipFill>
          <a:blip r:embed="rId2"/>
          <a:stretch>
            <a:fillRect/>
          </a:stretch>
        </p:blipFill>
        <p:spPr>
          <a:xfrm>
            <a:off x="548640" y="1645920"/>
            <a:ext cx="11094415" cy="2328671"/>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11</a:t>
            </a:r>
          </a:p>
        </p:txBody>
      </p:sp>
      <p:sp>
        <p:nvSpPr>
          <p:cNvPr id="9" name="TextBox 8"/>
          <p:cNvSpPr txBox="1"/>
          <p:nvPr/>
        </p:nvSpPr>
        <p:spPr>
          <a:xfrm>
            <a:off x="548640" y="4343400"/>
            <a:ext cx="5486400" cy="41148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Rituales del equipo</a:t>
            </a:r>
          </a:p>
        </p:txBody>
      </p:sp>
      <p:sp>
        <p:nvSpPr>
          <p:cNvPr id="10" name="Rectangle 9"/>
          <p:cNvSpPr/>
          <p:nvPr/>
        </p:nvSpPr>
        <p:spPr>
          <a:xfrm>
            <a:off x="54864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Diario</a:t>
            </a:r>
          </a:p>
        </p:txBody>
      </p:sp>
      <p:sp>
        <p:nvSpPr>
          <p:cNvPr id="13" name="TextBox 12"/>
          <p:cNvSpPr txBox="1"/>
          <p:nvPr/>
        </p:nvSpPr>
        <p:spPr>
          <a:xfrm>
            <a:off x="73152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Alineación rápida de 10 minutos: pendientes y bloqueos.</a:t>
            </a:r>
          </a:p>
        </p:txBody>
      </p:sp>
      <p:sp>
        <p:nvSpPr>
          <p:cNvPr id="14" name="Rectangle 13"/>
          <p:cNvSpPr/>
          <p:nvPr/>
        </p:nvSpPr>
        <p:spPr>
          <a:xfrm>
            <a:off x="429768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29768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8056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Semanal</a:t>
            </a:r>
          </a:p>
        </p:txBody>
      </p:sp>
      <p:sp>
        <p:nvSpPr>
          <p:cNvPr id="17" name="TextBox 16"/>
          <p:cNvSpPr txBox="1"/>
          <p:nvPr/>
        </p:nvSpPr>
        <p:spPr>
          <a:xfrm>
            <a:off x="448056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Revisión del embudo: dónde se están quedando los contactos.</a:t>
            </a:r>
          </a:p>
        </p:txBody>
      </p:sp>
      <p:sp>
        <p:nvSpPr>
          <p:cNvPr id="18" name="Rectangle 17"/>
          <p:cNvSpPr/>
          <p:nvPr/>
        </p:nvSpPr>
        <p:spPr>
          <a:xfrm>
            <a:off x="8046720" y="4800600"/>
            <a:ext cx="3566160" cy="137160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046720" y="4800600"/>
            <a:ext cx="3566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229600" y="496519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Mensual</a:t>
            </a:r>
          </a:p>
        </p:txBody>
      </p:sp>
      <p:sp>
        <p:nvSpPr>
          <p:cNvPr id="21" name="TextBox 20"/>
          <p:cNvSpPr txBox="1"/>
          <p:nvPr/>
        </p:nvSpPr>
        <p:spPr>
          <a:xfrm>
            <a:off x="8229600" y="5550408"/>
            <a:ext cx="3200400" cy="53035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Resultado vs. meta, ajuste de ruta y reconocimiento.</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04</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Producto por producto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Qué es, qué incluye, sus reglas y cómo presentarlo.</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CREMACIÓN · ADD-ON</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Solución Modular de Cremación</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US$ 1.000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Hasta 120 cuotas mensuales (≈ US$ 8,50/mes)</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Módulo de cremación que se integra a cualquier plan funerario vigente o nuevo de Vangrupo, sin cambiar de plan.</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Afiliados actuales y nuevos que quieren sumar la cremación con una cuota mínima.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Proceso completo de cremación individual</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Urna cineraria de línea modular</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Trámites legales básicos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Alquiler temporal de columbario por 1 año (nivel 1, Hogar de las Memorias)</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Se vende como adicional a un plan funerario (actual o nuevo).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Cobertura individual: un módulo por titular o beneficiario.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Debe estar pagado en su totalidad para usar la cremación y el columbario.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columbario temporal es por 12 meses; al término, la familia elige destino final (oportunidad para ofrecer un Jardín de Cenizas).</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SOLUCIÓN MODULAR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«Usted ya protegió a su familia con su plan. Por menos de lo que cuesta un refresco a la semana, alrededor de ocho dólares al mes, puede sumar la cremación completa, con urna, trámites y un año de columbario incluido. Así nadie tendrá que decidir ni pagar de golpe en un momento difícil.»</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plan actual incluye la cremación o solo el servicio funerario?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¿Ha conversado en familia qué preferencia tiene usted?</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le preocupa más: el costo o tener que decidir de urgencia?</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lo sumamos a su plan desde este mes, con la primera cuota de hoy?»</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«Mi plan ya es suficiente.» → «Su plan cubre el servicio funerario; la cremación y la urna se pagarían aparte y de una sola vez. Con el módulo queda todo cubierto en cuotas pequeñas.»</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Ofrézcalo siempre junto a un jardín: la familia resuelve cremación y destino final en una sola decisión.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INHUMACIÓN INDIVIDUAL</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Individual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US$ 600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Pago único o financiado · Mantenimiento US$ 15/año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de la urna en un contenedor enterrado con tapa de granito grabada, en un jardín de plantas de sombra: un lugar permanente para visitar.</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quieren un lugar permanente para visitar, con una inversión moderada.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la urna en contenedor individual (Ø 32 × 40 cm)</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con los datos del ser querido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Camino en gravilla y espacio de contemplación con banco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US$ 15.</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El contenedor queda con 20 cm a la vista; la tapa de granito es la identificación.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INDIVIDUAL</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«Después de la cremación, muchas familias se preguntan dónde dejar las cenizas. En nuestro Jardín 1, su ser querido descansa bajo una tapa de granito con su nombre, rodeado de plantas y con un banco para sentarse a recordar. Es un lugar para volver, con la dignidad que merece.»</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¿Dónde le gustaría poder visitar a su ser querido?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¿Tienen hoy las cenizas en casa o en un columbario temporal?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¿Quién más de la familia participaría en las visitas?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gustaría conocer el jardín esta semana para elegir el lugar con calma?»</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«Prefiero tener las cenizas en casa.» → «Es comprensible querer tenerlas cerca. En el jardín, toda la familia puede visitarlas, y las cenizas quedan protegidas si algún día hay mudanzas o cambios en el hogar.»</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El jardín vende solo: priorice siempre la visita.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1 · PARCELA FAMILIAR</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Familiar</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US$ 2.000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Pago único o financiado · Mantenimiento US$ 25/año</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Parcela familiar en el Jardín 1 con cuatro contenedores agrupados, cada uno con tapa de granito grabada. Sin plazo de permanencia.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buscan un espacio propio y permanente para varias generaciones.</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hasta 4 urnas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Tapa de granito grabada para cada espacio</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Ubicación en el Jardín 1, con paisajismo de plantas de sombra</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Lugar permanente de homenaje familiar, sin plazo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hasta 4 espacios.</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sin plazo.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Cuota de mantenimiento anual: US$ 25 por parcela.</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FAMILIAR</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«Así como una familia comparte una casa, también puede compartir un lugar de memoria. La parcela familiar reúne hasta cuatro seres queridos en un mismo espacio, para siempre, y cuesta US$ 500 por espacio, menos que comprarlos por separado.»</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que la familia esté reunida en un mismo lugar?</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¿Cuántas personas de la familia considerarían este destino?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¿Prefieren pagarlo de una vez o en cuotas?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«¿Reservamos hoy la parcela para su familia y la pagan en cuotas cómodas?»</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mucho dinero.» → «Son US$ 500 por cada espacio, con financiamiento. Y es una decisión que se toma una sola vez para toda la familia.»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Use el argumento por espacio (US$ 500) y no el total.</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2 · BOSQUE DE LAS ORQUÍDEAS</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Ecológico</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US$ 750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Pago único o financiado ·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La urna biodegradable se entierra directamente en el suelo y se integra a la naturaleza. Jardín con agua corriente, en el Jardín 2 o en el Bosque de las Orquídeas.</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Personas con conciencia ambiental que desean que sus cenizas vuelvan a la tierra.</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con urna biodegradable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identificación (madera en el Jardín 2 · mármol en el Bosque)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Entorno natural con agua corriente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 luego, nombre en la placa memorial del monumento (incluida)</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urna. Espacio de 30 × 30 cm, 40 cm de profundidad.</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en el monumento: incluida en el precio de US$ 750.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Explique el plazo de 3 años con total transparencia desde la primera conversación.</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«Para quienes aman la naturaleza, el Jardín Ecológico es volver a la tierra. La urna se integra al suelo del bosque, junto al agua, y durante tres años la familia tiene un lugar señalado para visitar. Después, el nombre queda para siempre en el monumento memorial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¿Su ser querido tenía un vínculo especial con la naturaleza?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¿Qué significa para ustedes «volver a la tierra»?</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 importante para la familia un lugar con nombre para siempre?</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«¿Le parece si visitamos el Bosque de las Orquídeas y elegimos juntos el lugar?»</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«¿Y después de 3 años?» → «La urna ya se habrá integrado a la tierra, como era el deseo. El nombre pasa a la placa memorial del monumento, que queda para siempre en el jardín.»</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Para familias católicas, enfatice que las cenizas reposan en el cementerio, un lugar dedicado a la memoria.</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ECOLÓGICO Y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explicar el ciclo de 3 años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6_ciclo_ecologico.png"/>
          <p:cNvPicPr>
            <a:picLocks noChangeAspect="1"/>
          </p:cNvPicPr>
          <p:nvPr/>
        </p:nvPicPr>
        <p:blipFill>
          <a:blip r:embed="rId2"/>
          <a:stretch>
            <a:fillRect/>
          </a:stretch>
        </p:blipFill>
        <p:spPr>
          <a:xfrm>
            <a:off x="548640" y="2591345"/>
            <a:ext cx="11094415" cy="2681150"/>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MASCOTAS · INHUMACIÓN ECOLÓGICA</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Mascotas</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PRECIO SUGERIDO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2400" b="1" i="0">
                <a:solidFill>
                  <a:srgbClr val="FFFFFF"/>
                </a:solidFill>
                <a:latin typeface="Montserrat"/>
              </a:rPr>
              <a:t>US$ 400 / US$ 550</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US$ 400 solo espacio · US$ 550 con placa memorial incluida</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Inhumación ecológica de las cenizas de la mascota: la urna biodegradable se entierra en el jardín y se identifica con una placa de madera.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consideran a su mascota parte del hogar y desean un cierre digno.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ecológica en el jardín de mascotas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de madera de 20 cm para identificación</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Permanencia de 3 años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Placa memorial en el monumento al término del plazo (opción US$ 550)</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Capacidad: 1 mascota por servicio.</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Permanencia: 3 años. Después, el espacio se reutiliza.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Placa memorial en el monumento: incluida solo en la opción de US$ 550.</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Pago único; puede contratarse como adicional al plan funerario.</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04 · JARDÍN DE MASCOTAS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Cómo presentarlo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00200"/>
            <a:ext cx="667512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00200"/>
            <a:ext cx="73152" cy="224028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691640"/>
            <a:ext cx="621792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SPEECH SUGERIDO</a:t>
            </a:r>
          </a:p>
        </p:txBody>
      </p:sp>
      <p:sp>
        <p:nvSpPr>
          <p:cNvPr id="9" name="TextBox 8"/>
          <p:cNvSpPr txBox="1"/>
          <p:nvPr/>
        </p:nvSpPr>
        <p:spPr>
          <a:xfrm>
            <a:off x="822960" y="2011680"/>
            <a:ext cx="6263640" cy="1783080"/>
          </a:xfrm>
          <a:prstGeom prst="rect">
            <a:avLst/>
          </a:prstGeom>
          <a:noFill/>
        </p:spPr>
        <p:txBody>
          <a:bodyPr wrap="square" anchor="t" lIns="45720" rIns="45720" tIns="27432" bIns="27432">
            <a:spAutoFit/>
          </a:bodyPr>
          <a:lstStyle/>
          <a:p>
            <a:pPr algn="l">
              <a:lnSpc>
                <a:spcPct val="115000"/>
              </a:lnSpc>
              <a:spcAft>
                <a:spcPts val="400"/>
              </a:spcAft>
            </a:pPr>
            <a:r>
              <a:rPr sz="1400" b="0" i="1">
                <a:solidFill>
                  <a:srgbClr val="3E2A5C"/>
                </a:solidFill>
                <a:latin typeface="Playfair Display"/>
              </a:rPr>
              <a:t>«Su compañero fue parte de la familia, y merece una despedida a la altura. En nuestro Jardín de Mascotas descansa con su nombre, en un lugar verde donde ustedes pueden volver a recordarlo. Y con la placa memorial, su nombre queda para siempre en el monumento del jardín.»</a:t>
            </a:r>
          </a:p>
        </p:txBody>
      </p:sp>
      <p:sp>
        <p:nvSpPr>
          <p:cNvPr id="10" name="Rectangle 9"/>
          <p:cNvSpPr/>
          <p:nvPr/>
        </p:nvSpPr>
        <p:spPr>
          <a:xfrm>
            <a:off x="7406639" y="1600200"/>
            <a:ext cx="4343400" cy="224028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406639" y="1600200"/>
            <a:ext cx="4343400"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79" y="1737360"/>
            <a:ext cx="41148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PREGUNTAS DE DESCUBRIMIENTO</a:t>
            </a:r>
          </a:p>
        </p:txBody>
      </p:sp>
      <p:sp>
        <p:nvSpPr>
          <p:cNvPr id="13" name="TextBox 12"/>
          <p:cNvSpPr txBox="1"/>
          <p:nvPr/>
        </p:nvSpPr>
        <p:spPr>
          <a:xfrm>
            <a:off x="7498079" y="2103120"/>
            <a:ext cx="4114800" cy="169164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¿Cómo se llamaba su compañero?</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que su nombre quede para siempre en el monumento memorial?</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¿Les gustaría un lugar para visitarlo con los niños?</a:t>
            </a:r>
          </a:p>
        </p:txBody>
      </p:sp>
      <p:sp>
        <p:nvSpPr>
          <p:cNvPr id="14" name="Rectangle 13"/>
          <p:cNvSpPr/>
          <p:nvPr/>
        </p:nvSpPr>
        <p:spPr>
          <a:xfrm>
            <a:off x="548640" y="4023360"/>
            <a:ext cx="3566160" cy="2240280"/>
          </a:xfrm>
          <a:prstGeom prst="rect">
            <a:avLst/>
          </a:prstGeom>
          <a:solidFill>
            <a:srgbClr val="EEF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4023360"/>
            <a:ext cx="356616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Frase de cierre</a:t>
            </a:r>
          </a:p>
        </p:txBody>
      </p:sp>
      <p:sp>
        <p:nvSpPr>
          <p:cNvPr id="17" name="TextBox 16"/>
          <p:cNvSpPr txBox="1"/>
          <p:nvPr/>
        </p:nvSpPr>
        <p:spPr>
          <a:xfrm>
            <a:off x="73152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«¿Prefieren la opción con placa memorial incluida, para que su nombre quede siempre en el jardín?»</a:t>
            </a:r>
          </a:p>
        </p:txBody>
      </p:sp>
      <p:sp>
        <p:nvSpPr>
          <p:cNvPr id="18" name="Rectangle 17"/>
          <p:cNvSpPr/>
          <p:nvPr/>
        </p:nvSpPr>
        <p:spPr>
          <a:xfrm>
            <a:off x="4297680" y="4023360"/>
            <a:ext cx="3566160" cy="2240280"/>
          </a:xfrm>
          <a:prstGeom prst="rect">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4297680" y="4023360"/>
            <a:ext cx="3566160" cy="54864"/>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48056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Objeción típica</a:t>
            </a:r>
          </a:p>
        </p:txBody>
      </p:sp>
      <p:sp>
        <p:nvSpPr>
          <p:cNvPr id="21" name="TextBox 20"/>
          <p:cNvSpPr txBox="1"/>
          <p:nvPr/>
        </p:nvSpPr>
        <p:spPr>
          <a:xfrm>
            <a:off x="448056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«Es solo una mascota.» → No discuta el vínculo de la familia. Si el cliente minimiza, respete y ofrezca la información por escrito para que decida con calma.</a:t>
            </a:r>
          </a:p>
        </p:txBody>
      </p:sp>
      <p:sp>
        <p:nvSpPr>
          <p:cNvPr id="22" name="Rectangle 21"/>
          <p:cNvSpPr/>
          <p:nvPr/>
        </p:nvSpPr>
        <p:spPr>
          <a:xfrm>
            <a:off x="8046720" y="4023360"/>
            <a:ext cx="3566160" cy="2240280"/>
          </a:xfrm>
          <a:prstGeom prst="rect">
            <a:avLst/>
          </a:prstGeom>
          <a:solidFill>
            <a:srgbClr val="EDF1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4023360"/>
            <a:ext cx="3566160" cy="54864"/>
          </a:xfrm>
          <a:prstGeom prst="rect">
            <a:avLst/>
          </a:prstGeom>
          <a:solidFill>
            <a:srgbClr val="6F8BA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29600" y="4187952"/>
            <a:ext cx="3200400" cy="566928"/>
          </a:xfrm>
          <a:prstGeom prst="rect">
            <a:avLst/>
          </a:prstGeom>
          <a:noFill/>
        </p:spPr>
        <p:txBody>
          <a:bodyPr wrap="square" anchor="ctr" lIns="45720" rIns="45720" tIns="27432" bIns="27432">
            <a:spAutoFit/>
          </a:bodyPr>
          <a:lstStyle/>
          <a:p>
            <a:pPr algn="l">
              <a:lnSpc>
                <a:spcPct val="100000"/>
              </a:lnSpc>
              <a:spcAft>
                <a:spcPts val="400"/>
              </a:spcAft>
            </a:pPr>
            <a:r>
              <a:rPr sz="1400" b="1" i="0">
                <a:solidFill>
                  <a:srgbClr val="5B3F80"/>
                </a:solidFill>
                <a:latin typeface="Montserrat"/>
              </a:rPr>
              <a:t>Tip del asesor</a:t>
            </a:r>
          </a:p>
        </p:txBody>
      </p:sp>
      <p:sp>
        <p:nvSpPr>
          <p:cNvPr id="25" name="TextBox 24"/>
          <p:cNvSpPr txBox="1"/>
          <p:nvPr/>
        </p:nvSpPr>
        <p:spPr>
          <a:xfrm>
            <a:off x="8229600" y="4773168"/>
            <a:ext cx="3200400" cy="1399032"/>
          </a:xfrm>
          <a:prstGeom prst="rect">
            <a:avLst/>
          </a:prstGeom>
          <a:noFill/>
        </p:spPr>
        <p:txBody>
          <a:bodyPr wrap="square" anchor="t" lIns="45720" rIns="45720" tIns="27432" bIns="27432">
            <a:spAutoFit/>
          </a:bodyPr>
          <a:lstStyle/>
          <a:p>
            <a:pPr algn="l">
              <a:lnSpc>
                <a:spcPct val="115000"/>
              </a:lnSpc>
              <a:spcAft>
                <a:spcPts val="400"/>
              </a:spcAft>
            </a:pPr>
            <a:r>
              <a:rPr sz="1200" b="0" i="0">
                <a:solidFill>
                  <a:srgbClr val="2E2A36"/>
                </a:solidFill>
                <a:latin typeface="Montserrat"/>
              </a:rPr>
              <a:t>Llame a la mascota por su nombre durante toda la conversación.</a:t>
            </a:r>
          </a:p>
        </p:txBody>
      </p:sp>
      <p:sp>
        <p:nvSpPr>
          <p:cNvPr id="26" name="TextBox 2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7" name="TextBox 2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508760"/>
          </a:xfrm>
          <a:prstGeom prst="rect">
            <a:avLst/>
          </a:prstGeom>
          <a:solidFill>
            <a:srgbClr val="8E879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1508760"/>
            <a:ext cx="12191695" cy="64008"/>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48640" y="256032"/>
            <a:ext cx="77724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JARDÍN 3 · PRÓXIMO LANZAMIENTO</a:t>
            </a:r>
          </a:p>
        </p:txBody>
      </p:sp>
      <p:sp>
        <p:nvSpPr>
          <p:cNvPr id="5" name="TextBox 4"/>
          <p:cNvSpPr txBox="1"/>
          <p:nvPr/>
        </p:nvSpPr>
        <p:spPr>
          <a:xfrm>
            <a:off x="548640" y="548640"/>
            <a:ext cx="7772400" cy="82296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FFFFFF"/>
                </a:solidFill>
                <a:latin typeface="Playfair Display"/>
              </a:rPr>
              <a:t>Jardín de Cenizas · Ceremonial</a:t>
            </a:r>
          </a:p>
        </p:txBody>
      </p:sp>
      <p:sp>
        <p:nvSpPr>
          <p:cNvPr id="6" name="TextBox 5"/>
          <p:cNvSpPr txBox="1"/>
          <p:nvPr/>
        </p:nvSpPr>
        <p:spPr>
          <a:xfrm>
            <a:off x="8046720" y="256032"/>
            <a:ext cx="3611880" cy="320040"/>
          </a:xfrm>
          <a:prstGeom prst="rect">
            <a:avLst/>
          </a:prstGeom>
          <a:noFill/>
        </p:spPr>
        <p:txBody>
          <a:bodyPr wrap="square" anchor="t" lIns="45720" rIns="45720" tIns="27432" bIns="27432">
            <a:spAutoFit/>
          </a:bodyPr>
          <a:lstStyle/>
          <a:p>
            <a:pPr algn="r">
              <a:lnSpc>
                <a:spcPct val="115000"/>
              </a:lnSpc>
              <a:spcAft>
                <a:spcPts val="400"/>
              </a:spcAft>
            </a:pPr>
            <a:r>
              <a:rPr sz="1100" b="1" i="0">
                <a:solidFill>
                  <a:srgbClr val="C9A86A"/>
                </a:solidFill>
                <a:latin typeface="Montserrat"/>
              </a:rPr>
              <a:t>PRÓXIMO LANZAMIENTO</a:t>
            </a:r>
          </a:p>
        </p:txBody>
      </p:sp>
      <p:sp>
        <p:nvSpPr>
          <p:cNvPr id="7" name="TextBox 6"/>
          <p:cNvSpPr txBox="1"/>
          <p:nvPr/>
        </p:nvSpPr>
        <p:spPr>
          <a:xfrm>
            <a:off x="8046720" y="548640"/>
            <a:ext cx="3611880" cy="822960"/>
          </a:xfrm>
          <a:prstGeom prst="rect">
            <a:avLst/>
          </a:prstGeom>
          <a:noFill/>
        </p:spPr>
        <p:txBody>
          <a:bodyPr wrap="square" anchor="ctr" lIns="45720" rIns="45720" tIns="27432" bIns="27432">
            <a:spAutoFit/>
          </a:bodyPr>
          <a:lstStyle/>
          <a:p>
            <a:pPr algn="r">
              <a:lnSpc>
                <a:spcPct val="115000"/>
              </a:lnSpc>
              <a:spcAft>
                <a:spcPts val="400"/>
              </a:spcAft>
            </a:pPr>
            <a:r>
              <a:rPr sz="3200" b="1" i="0">
                <a:solidFill>
                  <a:srgbClr val="FFFFFF"/>
                </a:solidFill>
                <a:latin typeface="Montserrat"/>
              </a:rPr>
              <a:t>A definir</a:t>
            </a:r>
          </a:p>
        </p:txBody>
      </p:sp>
      <p:sp>
        <p:nvSpPr>
          <p:cNvPr id="8" name="TextBox 7"/>
          <p:cNvSpPr txBox="1"/>
          <p:nvPr/>
        </p:nvSpPr>
        <p:spPr>
          <a:xfrm>
            <a:off x="548640" y="1691640"/>
            <a:ext cx="11094415" cy="36576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A definir</a:t>
            </a:r>
          </a:p>
        </p:txBody>
      </p:sp>
      <p:sp>
        <p:nvSpPr>
          <p:cNvPr id="9" name="TextBox 8"/>
          <p:cNvSpPr txBox="1"/>
          <p:nvPr/>
        </p:nvSpPr>
        <p:spPr>
          <a:xfrm>
            <a:off x="548640" y="2148840"/>
            <a:ext cx="11094415" cy="1005840"/>
          </a:xfrm>
          <a:prstGeom prst="rect">
            <a:avLst/>
          </a:prstGeom>
          <a:noFill/>
        </p:spPr>
        <p:txBody>
          <a:bodyPr wrap="square" anchor="t" lIns="45720" rIns="45720" tIns="27432" bIns="27432">
            <a:spAutoFit/>
          </a:bodyPr>
          <a:lstStyle/>
          <a:p>
            <a:pPr algn="l">
              <a:lnSpc>
                <a:spcPct val="115000"/>
              </a:lnSpc>
              <a:spcAft>
                <a:spcPts val="600"/>
              </a:spcAft>
            </a:pPr>
            <a:r>
              <a:rPr sz="1400" b="1" i="0">
                <a:solidFill>
                  <a:srgbClr val="5B3F80"/>
                </a:solidFill>
                <a:latin typeface="Montserrat"/>
              </a:rPr>
              <a:t>Qué es.  </a:t>
            </a:r>
            <a:r>
              <a:rPr sz="1400" b="0" i="0">
                <a:solidFill>
                  <a:srgbClr val="2E2A36"/>
                </a:solidFill>
                <a:latin typeface="Montserrat"/>
              </a:rPr>
              <a:t>Jardín para inhumación de urnas con ceremonia de agua, con fuentes como elemento central del rito de despedida.</a:t>
            </a:r>
          </a:p>
          <a:p>
            <a:pPr algn="l">
              <a:lnSpc>
                <a:spcPct val="115000"/>
              </a:lnSpc>
              <a:spcAft>
                <a:spcPts val="600"/>
              </a:spcAft>
            </a:pPr>
            <a:r>
              <a:rPr sz="1400" b="1" i="0">
                <a:solidFill>
                  <a:srgbClr val="5B3F80"/>
                </a:solidFill>
                <a:latin typeface="Montserrat"/>
              </a:rPr>
              <a:t>Para quién.  </a:t>
            </a:r>
            <a:r>
              <a:rPr sz="1400" b="0" i="0">
                <a:solidFill>
                  <a:srgbClr val="2E2A36"/>
                </a:solidFill>
                <a:latin typeface="Montserrat"/>
              </a:rPr>
              <a:t>Familias que valoran un rito de despedida simbólico y un entorno contemplativo.</a:t>
            </a:r>
          </a:p>
        </p:txBody>
      </p:sp>
      <p:sp>
        <p:nvSpPr>
          <p:cNvPr id="10" name="Rectangle 9"/>
          <p:cNvSpPr/>
          <p:nvPr/>
        </p:nvSpPr>
        <p:spPr>
          <a:xfrm>
            <a:off x="54864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548640" y="3337560"/>
            <a:ext cx="5440680" cy="54864"/>
          </a:xfrm>
          <a:prstGeom prst="rect">
            <a:avLst/>
          </a:prstGeom>
          <a:solidFill>
            <a:srgbClr val="5E9A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QUÉ INCLUYE</a:t>
            </a:r>
          </a:p>
        </p:txBody>
      </p:sp>
      <p:sp>
        <p:nvSpPr>
          <p:cNvPr id="13" name="TextBox 12"/>
          <p:cNvSpPr txBox="1"/>
          <p:nvPr/>
        </p:nvSpPr>
        <p:spPr>
          <a:xfrm>
            <a:off x="73152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5E9A3C"/>
                </a:solidFill>
                <a:latin typeface="Montserrat"/>
              </a:rPr>
              <a:t>✓  </a:t>
            </a:r>
            <a:r>
              <a:rPr sz="1250" b="0" i="0">
                <a:solidFill>
                  <a:srgbClr val="2E2A36"/>
                </a:solidFill>
                <a:latin typeface="Montserrat"/>
              </a:rPr>
              <a:t>Inhumación de urnas de cenizas</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Ceremonia con agua en fuente</a:t>
            </a:r>
          </a:p>
          <a:p>
            <a:pPr algn="l">
              <a:lnSpc>
                <a:spcPct val="115000"/>
              </a:lnSpc>
              <a:spcAft>
                <a:spcPts val="500"/>
              </a:spcAft>
            </a:pPr>
            <a:r>
              <a:rPr sz="950" b="1" i="0">
                <a:solidFill>
                  <a:srgbClr val="5E9A3C"/>
                </a:solidFill>
                <a:latin typeface="Montserrat"/>
              </a:rPr>
              <a:t>✓  </a:t>
            </a:r>
            <a:r>
              <a:rPr sz="1250" b="0" i="0">
                <a:solidFill>
                  <a:srgbClr val="2E2A36"/>
                </a:solidFill>
                <a:latin typeface="Montserrat"/>
              </a:rPr>
              <a:t>Barrera visual que separa el jardín del crematorio</a:t>
            </a:r>
          </a:p>
        </p:txBody>
      </p:sp>
      <p:sp>
        <p:nvSpPr>
          <p:cNvPr id="14" name="Rectangle 13"/>
          <p:cNvSpPr/>
          <p:nvPr/>
        </p:nvSpPr>
        <p:spPr>
          <a:xfrm>
            <a:off x="6217920" y="3337560"/>
            <a:ext cx="5440680" cy="28346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17920" y="3337560"/>
            <a:ext cx="544068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474720"/>
            <a:ext cx="5074920" cy="36576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5B3F80"/>
                </a:solidFill>
                <a:latin typeface="Montserrat"/>
              </a:rPr>
              <a:t>REGLAS DEL PRODUCTO</a:t>
            </a:r>
          </a:p>
        </p:txBody>
      </p:sp>
      <p:sp>
        <p:nvSpPr>
          <p:cNvPr id="17" name="TextBox 16"/>
          <p:cNvSpPr txBox="1"/>
          <p:nvPr/>
        </p:nvSpPr>
        <p:spPr>
          <a:xfrm>
            <a:off x="6400800" y="3840480"/>
            <a:ext cx="5074920" cy="2286000"/>
          </a:xfrm>
          <a:prstGeom prst="rect">
            <a:avLst/>
          </a:prstGeom>
          <a:noFill/>
        </p:spPr>
        <p:txBody>
          <a:bodyPr wrap="square" anchor="t" lIns="45720" rIns="45720" tIns="27432" bIns="27432">
            <a:spAutoFit/>
          </a:bodyPr>
          <a:lstStyle/>
          <a:p>
            <a:pPr algn="l">
              <a:lnSpc>
                <a:spcPct val="115000"/>
              </a:lnSpc>
              <a:spcAft>
                <a:spcPts val="500"/>
              </a:spcAft>
            </a:pPr>
            <a:r>
              <a:rPr sz="950" b="1" i="0">
                <a:solidFill>
                  <a:srgbClr val="C9A86A"/>
                </a:solidFill>
                <a:latin typeface="Montserrat"/>
              </a:rPr>
              <a:t>■  </a:t>
            </a:r>
            <a:r>
              <a:rPr sz="1250" b="0" i="0">
                <a:solidFill>
                  <a:srgbClr val="2E2A36"/>
                </a:solidFill>
                <a:latin typeface="Montserrat"/>
              </a:rPr>
              <a:t>PRÓXIMO LANZAMIENTO: no se vende ni se cotiza todavía.</a:t>
            </a:r>
          </a:p>
          <a:p>
            <a:pPr algn="l">
              <a:lnSpc>
                <a:spcPct val="115000"/>
              </a:lnSpc>
              <a:spcAft>
                <a:spcPts val="500"/>
              </a:spcAft>
            </a:pPr>
            <a:r>
              <a:rPr sz="950" b="1" i="0">
                <a:solidFill>
                  <a:srgbClr val="C9A86A"/>
                </a:solidFill>
                <a:latin typeface="Montserrat"/>
              </a:rPr>
              <a:t>■  </a:t>
            </a:r>
            <a:r>
              <a:rPr sz="1250" b="0" i="0">
                <a:solidFill>
                  <a:srgbClr val="2E2A36"/>
                </a:solidFill>
                <a:latin typeface="Montserrat"/>
              </a:rPr>
              <a:t>Si un cliente muestra interés, registre su contacto como «interesado Ceremonial».</a:t>
            </a:r>
          </a:p>
        </p:txBody>
      </p:sp>
      <p:sp>
        <p:nvSpPr>
          <p:cNvPr id="18" name="TextBox 17"/>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9" name="TextBox 18"/>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05</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Manejo de objeciones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Una objeción no es un «no»: es una duda que aún no resolvimos.</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El método V·R·A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4_objeciones.png"/>
          <p:cNvPicPr>
            <a:picLocks noChangeAspect="1"/>
          </p:cNvPicPr>
          <p:nvPr/>
        </p:nvPicPr>
        <p:blipFill>
          <a:blip r:embed="rId2"/>
          <a:stretch>
            <a:fillRect/>
          </a:stretch>
        </p:blipFill>
        <p:spPr>
          <a:xfrm>
            <a:off x="548640" y="2230199"/>
            <a:ext cx="11094415" cy="3403442"/>
          </a:xfrm>
          <a:prstGeom prst="rect">
            <a:avLst/>
          </a:prstGeom>
        </p:spPr>
      </p:pic>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(1/4)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1.  «No quiero pensar en eso, es de mala suerte.»</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«Entiendo, a nadie le gusta hablar de este tema.»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Planificar con calma es justamente lo que evita que su familia tenga que decidir en el peor momento. Es un acto de cuidado, no de pesimismo.</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dejo la información para que la conversen en casa?»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2.  «Soy católico, la cremación no está permitida.»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«Su fe es muy importante y la respetamos.»</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Iglesia Católica permite la cremación desde 1963. Lo que pide es que las cenizas reposen en un lugar dedicado, como el cementerio, y no en casa ni dispersas. Nuestros jardines cumplen exactamente con eso.</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conocer el jardín y ver cómo es el lugar?»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(2/4)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3.  «Prefiero la sepultura tradicional.»</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tradición muy valiosa.»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El jardín conserva lo esencial de la sepultura: un lugar con nombre para visitar, con un costo mucho menor y en un entorno natural.</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muestro la diferencia de inversión entre ambas opciones?»</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4.  «Está caro.»</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«Comprendo, es una inversión.»</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la urgencia los costos son mayores y se pagan de golpe. Hoy fija el precio y lo paga en cuotas: la Solución Modular cuesta alrededor de US$ 8,50 al mes.</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«¿Qué cuota mensual le resultaría cómoda?»</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(3/4)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5.  «Tengo que hablarlo con mi familia.»</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«Claro, es una decisión de familia.»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Facilite esa conversación: ofrezca un resumen simple y quedar disponible para resolver dudas de todos juntos.</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«¿Puedo llamarle el [día] para ver si quedó alguna pregunta?»</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6.  «Prefiero tener las cenizas en casa.»</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natural querer tenerlas cerca.»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En el jardín toda la familia puede visitarlas, quedan protegidas ante mudanzas o cambios, y tienen un lugar con su nombre.</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gustaría visitar el jardín antes de decidir?»</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05 · MANEJO DE OBJECIONES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Objeciones frecuentes (4/4)</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31520" y="1645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7.  «¿Por qué pagar mantenimiento cada año?»</a:t>
            </a:r>
          </a:p>
        </p:txBody>
      </p:sp>
      <p:sp>
        <p:nvSpPr>
          <p:cNvPr id="8" name="Rectangle 7"/>
          <p:cNvSpPr/>
          <p:nvPr/>
        </p:nvSpPr>
        <p:spPr>
          <a:xfrm>
            <a:off x="54864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pregunta muy válida.»</a:t>
            </a:r>
          </a:p>
        </p:txBody>
      </p:sp>
      <p:sp>
        <p:nvSpPr>
          <p:cNvPr id="10" name="Rectangle 9"/>
          <p:cNvSpPr/>
          <p:nvPr/>
        </p:nvSpPr>
        <p:spPr>
          <a:xfrm>
            <a:off x="429768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3484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La cuota (US$ 15 o US$ 25 al año) mantiene el jardín siempre cuidado: poda, riego y limpieza. Es lo que garantiza que el lugar luzca digno en cada visita.</a:t>
            </a:r>
          </a:p>
        </p:txBody>
      </p:sp>
      <p:sp>
        <p:nvSpPr>
          <p:cNvPr id="12" name="Rectangle 11"/>
          <p:cNvSpPr/>
          <p:nvPr/>
        </p:nvSpPr>
        <p:spPr>
          <a:xfrm>
            <a:off x="8046720" y="2212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83880" y="2249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«¿Le explico qué incluye el cuidado del jardín?»</a:t>
            </a:r>
          </a:p>
        </p:txBody>
      </p:sp>
      <p:sp>
        <p:nvSpPr>
          <p:cNvPr id="14" name="Rectangle 13"/>
          <p:cNvSpPr/>
          <p:nvPr/>
        </p:nvSpPr>
        <p:spPr>
          <a:xfrm>
            <a:off x="548640" y="3931920"/>
            <a:ext cx="11094415" cy="50292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31520" y="3931920"/>
            <a:ext cx="10728655" cy="502920"/>
          </a:xfrm>
          <a:prstGeom prst="rect">
            <a:avLst/>
          </a:prstGeom>
          <a:noFill/>
        </p:spPr>
        <p:txBody>
          <a:bodyPr wrap="square" anchor="ctr" lIns="45720" rIns="45720" tIns="27432" bIns="27432">
            <a:spAutoFit/>
          </a:bodyPr>
          <a:lstStyle/>
          <a:p>
            <a:pPr algn="l">
              <a:lnSpc>
                <a:spcPct val="115000"/>
              </a:lnSpc>
              <a:spcAft>
                <a:spcPts val="400"/>
              </a:spcAft>
            </a:pPr>
            <a:r>
              <a:rPr sz="1500" b="1" i="0">
                <a:solidFill>
                  <a:srgbClr val="FFFFFF"/>
                </a:solidFill>
                <a:latin typeface="Montserrat"/>
              </a:rPr>
              <a:t>8.  «No confío en estos planes.»</a:t>
            </a:r>
          </a:p>
        </p:txBody>
      </p:sp>
      <p:sp>
        <p:nvSpPr>
          <p:cNvPr id="16" name="Rectangle 15"/>
          <p:cNvSpPr/>
          <p:nvPr/>
        </p:nvSpPr>
        <p:spPr>
          <a:xfrm>
            <a:off x="54864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V  </a:t>
            </a:r>
            <a:r>
              <a:rPr sz="1000" b="1" i="0">
                <a:solidFill>
                  <a:srgbClr val="5B3F80"/>
                </a:solidFill>
                <a:latin typeface="Montserrat"/>
              </a:rPr>
              <a:t>VALIDAR</a:t>
            </a:r>
          </a:p>
          <a:p>
            <a:pPr algn="l">
              <a:lnSpc>
                <a:spcPct val="115000"/>
              </a:lnSpc>
              <a:spcAft>
                <a:spcPts val="300"/>
              </a:spcAft>
            </a:pPr>
            <a:r>
              <a:rPr sz="1100" b="0" i="1">
                <a:solidFill>
                  <a:srgbClr val="2E2A36"/>
                </a:solidFill>
                <a:latin typeface="Montserrat"/>
              </a:rPr>
              <a:t>«Es una preocupación válida.»</a:t>
            </a:r>
          </a:p>
        </p:txBody>
      </p:sp>
      <p:sp>
        <p:nvSpPr>
          <p:cNvPr id="18" name="Rectangle 17"/>
          <p:cNvSpPr/>
          <p:nvPr/>
        </p:nvSpPr>
        <p:spPr>
          <a:xfrm>
            <a:off x="429768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3484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R  </a:t>
            </a:r>
            <a:r>
              <a:rPr sz="1000" b="1" i="0">
                <a:solidFill>
                  <a:srgbClr val="5B3F80"/>
                </a:solidFill>
                <a:latin typeface="Montserrat"/>
              </a:rPr>
              <a:t>REPOSICIONAR</a:t>
            </a:r>
          </a:p>
          <a:p>
            <a:pPr algn="l">
              <a:lnSpc>
                <a:spcPct val="115000"/>
              </a:lnSpc>
              <a:spcAft>
                <a:spcPts val="300"/>
              </a:spcAft>
            </a:pPr>
            <a:r>
              <a:rPr sz="1100" b="0" i="0">
                <a:solidFill>
                  <a:srgbClr val="2E2A36"/>
                </a:solidFill>
                <a:latin typeface="Montserrat"/>
              </a:rPr>
              <a:t>Somos La Auxiliadora, Hogar de las Memorias y Las Colinas, empresas de Vangrupo con trayectoria en El Salvador. El contrato es transparente y puede visitar el jardín cuando quiera.</a:t>
            </a:r>
          </a:p>
        </p:txBody>
      </p:sp>
      <p:sp>
        <p:nvSpPr>
          <p:cNvPr id="20" name="Rectangle 19"/>
          <p:cNvSpPr/>
          <p:nvPr/>
        </p:nvSpPr>
        <p:spPr>
          <a:xfrm>
            <a:off x="8046720" y="4498848"/>
            <a:ext cx="3611880" cy="164592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83880" y="4535424"/>
            <a:ext cx="3337560" cy="1591056"/>
          </a:xfrm>
          <a:prstGeom prst="rect">
            <a:avLst/>
          </a:prstGeom>
          <a:noFill/>
        </p:spPr>
        <p:txBody>
          <a:bodyPr wrap="square" anchor="t" lIns="45720" rIns="45720" tIns="27432" bIns="27432">
            <a:spAutoFit/>
          </a:bodyPr>
          <a:lstStyle/>
          <a:p>
            <a:pPr algn="l">
              <a:lnSpc>
                <a:spcPct val="115000"/>
              </a:lnSpc>
              <a:spcAft>
                <a:spcPts val="300"/>
              </a:spcAft>
            </a:pPr>
            <a:r>
              <a:rPr sz="1600" b="1" i="0">
                <a:solidFill>
                  <a:srgbClr val="C9A86A"/>
                </a:solidFill>
                <a:latin typeface="Playfair Display"/>
              </a:rPr>
              <a:t>A  </a:t>
            </a:r>
            <a:r>
              <a:rPr sz="1000" b="1" i="0">
                <a:solidFill>
                  <a:srgbClr val="5B3F80"/>
                </a:solidFill>
                <a:latin typeface="Montserrat"/>
              </a:rPr>
              <a:t>AVANZAR</a:t>
            </a:r>
          </a:p>
          <a:p>
            <a:pPr algn="l">
              <a:lnSpc>
                <a:spcPct val="115000"/>
              </a:lnSpc>
              <a:spcAft>
                <a:spcPts val="300"/>
              </a:spcAft>
            </a:pPr>
            <a:r>
              <a:rPr sz="1100" b="0" i="1">
                <a:solidFill>
                  <a:srgbClr val="2E2A36"/>
                </a:solidFill>
                <a:latin typeface="Montserrat"/>
              </a:rPr>
              <a:t>«¿Agendamos una visita sin compromiso?»</a:t>
            </a:r>
          </a:p>
        </p:txBody>
      </p:sp>
      <p:sp>
        <p:nvSpPr>
          <p:cNvPr id="22" name="TextBox 2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3" name="TextBox 2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06</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Precios, reglas y condiciones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Transparencia desde la primera conversación.</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Tabla de precios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Fuente oficial: Ficha Técnica vigente. Precios sugeridos en US$, IVA incluido.</a:t>
            </a:r>
          </a:p>
        </p:txBody>
      </p:sp>
      <p:graphicFrame>
        <p:nvGraphicFramePr>
          <p:cNvPr id="7" name="Table 6"/>
          <p:cNvGraphicFramePr>
            <a:graphicFrameLocks noGrp="1"/>
          </p:cNvGraphicFramePr>
          <p:nvPr/>
        </p:nvGraphicFramePr>
        <p:xfrm>
          <a:off x="548640" y="2011680"/>
          <a:ext cx="11094413" cy="3520440"/>
        </p:xfrm>
        <a:graphic>
          <a:graphicData uri="http://schemas.openxmlformats.org/drawingml/2006/table">
            <a:tbl>
              <a:tblPr firstRow="1" bandRow="1">
                <a:tableStyleId>{5C22544A-7EE6-4342-B048-85BDC9FD1C3A}</a:tableStyleId>
              </a:tblPr>
              <a:tblGrid>
                <a:gridCol w="2200545"/>
                <a:gridCol w="1467030"/>
                <a:gridCol w="2750681"/>
                <a:gridCol w="1558719"/>
                <a:gridCol w="3117438"/>
              </a:tblGrid>
              <a:tr h="502920">
                <a:tc>
                  <a:txBody>
                    <a:bodyPr wrap="square"/>
                    <a:lstStyle/>
                    <a:p>
                      <a:r>
                        <a:rPr sz="1250" b="1">
                          <a:solidFill>
                            <a:srgbClr val="FFFFFF"/>
                          </a:solidFill>
                          <a:latin typeface="Montserrat"/>
                        </a:rPr>
                        <a:t>Producto</a:t>
                      </a:r>
                    </a:p>
                  </a:txBody>
                  <a:tcPr marL="73152" marR="73152" marT="36576" marB="36576" anchor="ctr">
                    <a:solidFill>
                      <a:srgbClr val="5B3F80"/>
                    </a:solidFill>
                  </a:tcPr>
                </a:tc>
                <a:tc>
                  <a:txBody>
                    <a:bodyPr wrap="square"/>
                    <a:lstStyle/>
                    <a:p>
                      <a:r>
                        <a:rPr sz="1250" b="1">
                          <a:solidFill>
                            <a:srgbClr val="FFFFFF"/>
                          </a:solidFill>
                          <a:latin typeface="Montserrat"/>
                        </a:rPr>
                        <a:t>Precio</a:t>
                      </a:r>
                    </a:p>
                  </a:txBody>
                  <a:tcPr marL="73152" marR="73152" marT="36576" marB="36576" anchor="ctr">
                    <a:solidFill>
                      <a:srgbClr val="5B3F80"/>
                    </a:solidFill>
                  </a:tcPr>
                </a:tc>
                <a:tc>
                  <a:txBody>
                    <a:bodyPr wrap="square"/>
                    <a:lstStyle/>
                    <a:p>
                      <a:r>
                        <a:rPr sz="1250" b="1">
                          <a:solidFill>
                            <a:srgbClr val="FFFFFF"/>
                          </a:solidFill>
                          <a:latin typeface="Montserrat"/>
                        </a:rPr>
                        <a:t>Forma de pago</a:t>
                      </a:r>
                    </a:p>
                  </a:txBody>
                  <a:tcPr marL="73152" marR="73152" marT="36576" marB="36576" anchor="ctr">
                    <a:solidFill>
                      <a:srgbClr val="5B3F80"/>
                    </a:solidFill>
                  </a:tcPr>
                </a:tc>
                <a:tc>
                  <a:txBody>
                    <a:bodyPr wrap="square"/>
                    <a:lstStyle/>
                    <a:p>
                      <a:r>
                        <a:rPr sz="1250" b="1">
                          <a:solidFill>
                            <a:srgbClr val="FFFFFF"/>
                          </a:solidFill>
                          <a:latin typeface="Montserrat"/>
                        </a:rPr>
                        <a:t>Mantenimiento</a:t>
                      </a:r>
                    </a:p>
                  </a:txBody>
                  <a:tcPr marL="73152" marR="73152" marT="36576" marB="36576" anchor="ctr">
                    <a:solidFill>
                      <a:srgbClr val="5B3F80"/>
                    </a:solidFill>
                  </a:tcPr>
                </a:tc>
                <a:tc>
                  <a:txBody>
                    <a:bodyPr wrap="square"/>
                    <a:lstStyle/>
                    <a:p>
                      <a:r>
                        <a:rPr sz="1250" b="1">
                          <a:solidFill>
                            <a:srgbClr val="FFFFFF"/>
                          </a:solidFill>
                          <a:latin typeface="Montserrat"/>
                        </a:rPr>
                        <a:t>Plazo / condición</a:t>
                      </a:r>
                    </a:p>
                  </a:txBody>
                  <a:tcPr marL="73152" marR="73152" marT="36576" marB="36576" anchor="ctr">
                    <a:solidFill>
                      <a:srgbClr val="5B3F80"/>
                    </a:solidFill>
                  </a:tcPr>
                </a:tc>
              </a:tr>
              <a:tr h="502920">
                <a:tc>
                  <a:txBody>
                    <a:bodyPr wrap="square"/>
                    <a:lstStyle/>
                    <a:p>
                      <a:r>
                        <a:rPr sz="1250" b="1">
                          <a:solidFill>
                            <a:srgbClr val="5B3F80"/>
                          </a:solidFill>
                          <a:latin typeface="Montserrat"/>
                        </a:rPr>
                        <a:t>Solución Modular</a:t>
                      </a:r>
                    </a:p>
                  </a:txBody>
                  <a:tcPr marL="73152" marR="73152" marT="36576" marB="36576" anchor="ctr">
                    <a:solidFill>
                      <a:srgbClr val="FFFFFF"/>
                    </a:solidFill>
                  </a:tcPr>
                </a:tc>
                <a:tc>
                  <a:txBody>
                    <a:bodyPr wrap="square"/>
                    <a:lstStyle/>
                    <a:p>
                      <a:r>
                        <a:rPr sz="1250" b="0">
                          <a:solidFill>
                            <a:srgbClr val="2E2A36"/>
                          </a:solidFill>
                          <a:latin typeface="Montserrat"/>
                        </a:rPr>
                        <a:t>US$ 1.000</a:t>
                      </a:r>
                    </a:p>
                  </a:txBody>
                  <a:tcPr marL="73152" marR="73152" marT="36576" marB="36576" anchor="ctr">
                    <a:solidFill>
                      <a:srgbClr val="FFFFFF"/>
                    </a:solidFill>
                  </a:tcPr>
                </a:tc>
                <a:tc>
                  <a:txBody>
                    <a:bodyPr wrap="square"/>
                    <a:lstStyle/>
                    <a:p>
                      <a:r>
                        <a:rPr sz="1250" b="0">
                          <a:solidFill>
                            <a:srgbClr val="2E2A36"/>
                          </a:solidFill>
                          <a:latin typeface="Montserrat"/>
                        </a:rPr>
                        <a:t>Hasta 120 cuotas (≈ US$ 8,50/mes)</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Columbario 1 año incluido</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Individual</a:t>
                      </a:r>
                    </a:p>
                  </a:txBody>
                  <a:tcPr marL="73152" marR="73152" marT="36576" marB="36576" anchor="ctr">
                    <a:solidFill>
                      <a:srgbClr val="F5F2F8"/>
                    </a:solidFill>
                  </a:tcPr>
                </a:tc>
                <a:tc>
                  <a:txBody>
                    <a:bodyPr wrap="square"/>
                    <a:lstStyle/>
                    <a:p>
                      <a:r>
                        <a:rPr sz="1250" b="0">
                          <a:solidFill>
                            <a:srgbClr val="2E2A36"/>
                          </a:solidFill>
                          <a:latin typeface="Montserrat"/>
                        </a:rPr>
                        <a:t>US$ 600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US$ 15/año</a:t>
                      </a:r>
                    </a:p>
                  </a:txBody>
                  <a:tcPr marL="73152" marR="73152" marT="36576" marB="36576" anchor="ctr">
                    <a:solidFill>
                      <a:srgbClr val="F5F2F8"/>
                    </a:solidFill>
                  </a:tcPr>
                </a:tc>
                <a:tc>
                  <a:txBody>
                    <a:bodyPr wrap="square"/>
                    <a:lstStyle/>
                    <a:p>
                      <a:r>
                        <a:rPr sz="1250" b="0">
                          <a:solidFill>
                            <a:srgbClr val="2E2A36"/>
                          </a:solidFill>
                          <a:latin typeface="Montserrat"/>
                        </a:rPr>
                        <a:t>Sin plazo</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Familiar</a:t>
                      </a:r>
                    </a:p>
                  </a:txBody>
                  <a:tcPr marL="73152" marR="73152" marT="36576" marB="36576" anchor="ctr">
                    <a:solidFill>
                      <a:srgbClr val="FFFFFF"/>
                    </a:solidFill>
                  </a:tcPr>
                </a:tc>
                <a:tc>
                  <a:txBody>
                    <a:bodyPr wrap="square"/>
                    <a:lstStyle/>
                    <a:p>
                      <a:r>
                        <a:rPr sz="1250" b="0">
                          <a:solidFill>
                            <a:srgbClr val="2E2A36"/>
                          </a:solidFill>
                          <a:latin typeface="Montserrat"/>
                        </a:rPr>
                        <a:t>US$ 2.000</a:t>
                      </a:r>
                    </a:p>
                  </a:txBody>
                  <a:tcPr marL="73152" marR="73152" marT="36576" marB="36576" anchor="ctr">
                    <a:solidFill>
                      <a:srgbClr val="FFFFFF"/>
                    </a:solidFill>
                  </a:tcPr>
                </a:tc>
                <a:tc>
                  <a:txBody>
                    <a:bodyPr wrap="square"/>
                    <a:lstStyle/>
                    <a:p>
                      <a:r>
                        <a:rPr sz="1250" b="0">
                          <a:solidFill>
                            <a:srgbClr val="2E2A36"/>
                          </a:solidFill>
                          <a:latin typeface="Montserrat"/>
                        </a:rPr>
                        <a:t>Único o financiado</a:t>
                      </a:r>
                    </a:p>
                  </a:txBody>
                  <a:tcPr marL="73152" marR="73152" marT="36576" marB="36576" anchor="ctr">
                    <a:solidFill>
                      <a:srgbClr val="FFFFFF"/>
                    </a:solidFill>
                  </a:tcPr>
                </a:tc>
                <a:tc>
                  <a:txBody>
                    <a:bodyPr wrap="square"/>
                    <a:lstStyle/>
                    <a:p>
                      <a:r>
                        <a:rPr sz="1250" b="0">
                          <a:solidFill>
                            <a:srgbClr val="2E2A36"/>
                          </a:solidFill>
                          <a:latin typeface="Montserrat"/>
                        </a:rPr>
                        <a:t>US$ 25/año</a:t>
                      </a:r>
                    </a:p>
                  </a:txBody>
                  <a:tcPr marL="73152" marR="73152" marT="36576" marB="36576" anchor="ctr">
                    <a:solidFill>
                      <a:srgbClr val="FFFFFF"/>
                    </a:solidFill>
                  </a:tcPr>
                </a:tc>
                <a:tc>
                  <a:txBody>
                    <a:bodyPr wrap="square"/>
                    <a:lstStyle/>
                    <a:p>
                      <a:r>
                        <a:rPr sz="1250" b="0">
                          <a:solidFill>
                            <a:srgbClr val="2E2A36"/>
                          </a:solidFill>
                          <a:latin typeface="Montserrat"/>
                        </a:rPr>
                        <a:t>Hasta 4 espacios, sin plazo</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Ecológico</a:t>
                      </a:r>
                    </a:p>
                  </a:txBody>
                  <a:tcPr marL="73152" marR="73152" marT="36576" marB="36576" anchor="ctr">
                    <a:solidFill>
                      <a:srgbClr val="F5F2F8"/>
                    </a:solidFill>
                  </a:tcPr>
                </a:tc>
                <a:tc>
                  <a:txBody>
                    <a:bodyPr wrap="square"/>
                    <a:lstStyle/>
                    <a:p>
                      <a:r>
                        <a:rPr sz="1250" b="0">
                          <a:solidFill>
                            <a:srgbClr val="2E2A36"/>
                          </a:solidFill>
                          <a:latin typeface="Montserrat"/>
                        </a:rPr>
                        <a:t>US$ 750</a:t>
                      </a:r>
                    </a:p>
                  </a:txBody>
                  <a:tcPr marL="73152" marR="73152" marT="36576" marB="36576" anchor="ctr">
                    <a:solidFill>
                      <a:srgbClr val="F5F2F8"/>
                    </a:solidFill>
                  </a:tcPr>
                </a:tc>
                <a:tc>
                  <a:txBody>
                    <a:bodyPr wrap="square"/>
                    <a:lstStyle/>
                    <a:p>
                      <a:r>
                        <a:rPr sz="1250" b="0">
                          <a:solidFill>
                            <a:srgbClr val="2E2A36"/>
                          </a:solidFill>
                          <a:latin typeface="Montserrat"/>
                        </a:rPr>
                        <a:t>Único o financiado</a:t>
                      </a:r>
                    </a:p>
                  </a:txBody>
                  <a:tcPr marL="73152" marR="73152" marT="36576" marB="36576" anchor="ctr">
                    <a:solidFill>
                      <a:srgbClr val="F5F2F8"/>
                    </a:solidFill>
                  </a:tcPr>
                </a:tc>
                <a:tc>
                  <a:txBody>
                    <a:bodyPr wrap="square"/>
                    <a:lstStyle/>
                    <a:p>
                      <a:r>
                        <a:rPr sz="1250" b="0">
                          <a:solidFill>
                            <a:srgbClr val="2E2A36"/>
                          </a:solidFill>
                          <a:latin typeface="Montserrat"/>
                        </a:rPr>
                        <a:t>—</a:t>
                      </a:r>
                    </a:p>
                  </a:txBody>
                  <a:tcPr marL="73152" marR="73152" marT="36576" marB="36576" anchor="ctr">
                    <a:solidFill>
                      <a:srgbClr val="F5F2F8"/>
                    </a:solidFill>
                  </a:tcPr>
                </a:tc>
                <a:tc>
                  <a:txBody>
                    <a:bodyPr wrap="square"/>
                    <a:lstStyle/>
                    <a:p>
                      <a:r>
                        <a:rPr sz="1250" b="0">
                          <a:solidFill>
                            <a:srgbClr val="2E2A36"/>
                          </a:solidFill>
                          <a:latin typeface="Montserrat"/>
                        </a:rPr>
                        <a:t>3 años · placa memorial incluida</a:t>
                      </a:r>
                    </a:p>
                  </a:txBody>
                  <a:tcPr marL="73152" marR="73152" marT="36576" marB="36576" anchor="ctr">
                    <a:solidFill>
                      <a:srgbClr val="F5F2F8"/>
                    </a:solidFill>
                  </a:tcPr>
                </a:tc>
              </a:tr>
              <a:tr h="502920">
                <a:tc>
                  <a:txBody>
                    <a:bodyPr wrap="square"/>
                    <a:lstStyle/>
                    <a:p>
                      <a:r>
                        <a:rPr sz="1250" b="1">
                          <a:solidFill>
                            <a:srgbClr val="5B3F80"/>
                          </a:solidFill>
                          <a:latin typeface="Montserrat"/>
                        </a:rPr>
                        <a:t>Jardín de Mascotas</a:t>
                      </a:r>
                    </a:p>
                  </a:txBody>
                  <a:tcPr marL="73152" marR="73152" marT="36576" marB="36576" anchor="ctr">
                    <a:solidFill>
                      <a:srgbClr val="FFFFFF"/>
                    </a:solidFill>
                  </a:tcPr>
                </a:tc>
                <a:tc>
                  <a:txBody>
                    <a:bodyPr wrap="square"/>
                    <a:lstStyle/>
                    <a:p>
                      <a:r>
                        <a:rPr sz="1250" b="0">
                          <a:solidFill>
                            <a:srgbClr val="2E2A36"/>
                          </a:solidFill>
                          <a:latin typeface="Montserrat"/>
                        </a:rPr>
                        <a:t>US$ 400 / 550</a:t>
                      </a:r>
                    </a:p>
                  </a:txBody>
                  <a:tcPr marL="73152" marR="73152" marT="36576" marB="36576" anchor="ctr">
                    <a:solidFill>
                      <a:srgbClr val="FFFFFF"/>
                    </a:solidFill>
                  </a:tcPr>
                </a:tc>
                <a:tc>
                  <a:txBody>
                    <a:bodyPr wrap="square"/>
                    <a:lstStyle/>
                    <a:p>
                      <a:r>
                        <a:rPr sz="1250" b="0">
                          <a:solidFill>
                            <a:srgbClr val="2E2A36"/>
                          </a:solidFill>
                          <a:latin typeface="Montserrat"/>
                        </a:rPr>
                        <a:t>Pago único</a:t>
                      </a:r>
                    </a:p>
                  </a:txBody>
                  <a:tcPr marL="73152" marR="73152" marT="36576" marB="36576" anchor="ctr">
                    <a:solidFill>
                      <a:srgbClr val="FFFFFF"/>
                    </a:solidFill>
                  </a:tcPr>
                </a:tc>
                <a:tc>
                  <a:txBody>
                    <a:bodyPr wrap="square"/>
                    <a:lstStyle/>
                    <a:p>
                      <a:r>
                        <a:rPr sz="1250" b="0">
                          <a:solidFill>
                            <a:srgbClr val="2E2A36"/>
                          </a:solidFill>
                          <a:latin typeface="Montserrat"/>
                        </a:rPr>
                        <a:t>—</a:t>
                      </a:r>
                    </a:p>
                  </a:txBody>
                  <a:tcPr marL="73152" marR="73152" marT="36576" marB="36576" anchor="ctr">
                    <a:solidFill>
                      <a:srgbClr val="FFFFFF"/>
                    </a:solidFill>
                  </a:tcPr>
                </a:tc>
                <a:tc>
                  <a:txBody>
                    <a:bodyPr wrap="square"/>
                    <a:lstStyle/>
                    <a:p>
                      <a:r>
                        <a:rPr sz="1250" b="0">
                          <a:solidFill>
                            <a:srgbClr val="2E2A36"/>
                          </a:solidFill>
                          <a:latin typeface="Montserrat"/>
                        </a:rPr>
                        <a:t>3 años · placa incluida en la opción de US$ 550</a:t>
                      </a:r>
                    </a:p>
                  </a:txBody>
                  <a:tcPr marL="73152" marR="73152" marT="36576" marB="36576" anchor="ctr">
                    <a:solidFill>
                      <a:srgbClr val="FFFFFF"/>
                    </a:solidFill>
                  </a:tcPr>
                </a:tc>
              </a:tr>
              <a:tr h="502920">
                <a:tc>
                  <a:txBody>
                    <a:bodyPr wrap="square"/>
                    <a:lstStyle/>
                    <a:p>
                      <a:r>
                        <a:rPr sz="1250" b="1">
                          <a:solidFill>
                            <a:srgbClr val="5B3F80"/>
                          </a:solidFill>
                          <a:latin typeface="Montserrat"/>
                        </a:rPr>
                        <a:t>Jardín Ceremonial</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A definir</a:t>
                      </a:r>
                    </a:p>
                  </a:txBody>
                  <a:tcPr marL="73152" marR="73152" marT="36576" marB="36576" anchor="ctr">
                    <a:solidFill>
                      <a:srgbClr val="FBF6EC"/>
                    </a:solidFill>
                  </a:tcPr>
                </a:tc>
                <a:tc>
                  <a:txBody>
                    <a:bodyPr wrap="square"/>
                    <a:lstStyle/>
                    <a:p>
                      <a:r>
                        <a:rPr sz="1250" b="0">
                          <a:solidFill>
                            <a:srgbClr val="2E2A36"/>
                          </a:solidFill>
                          <a:latin typeface="Montserrat"/>
                        </a:rPr>
                        <a:t>Próximo lanzamiento</a:t>
                      </a:r>
                    </a:p>
                  </a:txBody>
                  <a:tcPr marL="73152" marR="73152" marT="36576" marB="36576" anchor="ctr">
                    <a:solidFill>
                      <a:srgbClr val="FBF6EC"/>
                    </a:solidFill>
                  </a:tcPr>
                </a:tc>
              </a:tr>
            </a:tbl>
          </a:graphicData>
        </a:graphic>
      </p:graphicFrame>
      <p:sp>
        <p:nvSpPr>
          <p:cNvPr id="8" name="Rectangle 7"/>
          <p:cNvSpPr/>
          <p:nvPr/>
        </p:nvSpPr>
        <p:spPr>
          <a:xfrm>
            <a:off x="548640" y="5669280"/>
            <a:ext cx="11094415" cy="5486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5669280"/>
            <a:ext cx="10637215" cy="548640"/>
          </a:xfrm>
          <a:prstGeom prst="rect">
            <a:avLst/>
          </a:prstGeom>
          <a:noFill/>
        </p:spPr>
        <p:txBody>
          <a:bodyPr wrap="square" anchor="ctr" lIns="45720" rIns="45720" tIns="27432" bIns="27432">
            <a:spAutoFit/>
          </a:bodyPr>
          <a:lstStyle/>
          <a:p>
            <a:pPr algn="l">
              <a:lnSpc>
                <a:spcPct val="115000"/>
              </a:lnSpc>
              <a:spcAft>
                <a:spcPts val="400"/>
              </a:spcAft>
            </a:pPr>
            <a:r>
              <a:rPr sz="1050" b="1" i="0">
                <a:solidFill>
                  <a:srgbClr val="5B3F80"/>
                </a:solidFill>
                <a:latin typeface="Montserrat"/>
              </a:rPr>
              <a:t>EL DESCUENTO NO ES LA SALIDA   </a:t>
            </a:r>
            <a:r>
              <a:rPr sz="1100" b="0" i="0">
                <a:solidFill>
                  <a:srgbClr val="2E2A36"/>
                </a:solidFill>
                <a:latin typeface="Montserrat"/>
              </a:rPr>
              <a:t>Competimos por valor, no por precio. Antes de ofrecer un descuento, refuerce lo que está incluido y la calidad del jardín. Un descuento fácil enseña al cliente a dudar del valor.</a:t>
            </a:r>
          </a:p>
        </p:txBody>
      </p:sp>
      <p:sp>
        <p:nvSpPr>
          <p:cNvPr id="10" name="TextBox 9"/>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1" name="TextBox 10"/>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06 · PRECIOS, REGLAS Y CONDICIONES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Reglas comerciales</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4" cy="4389120"/>
        </p:xfrm>
        <a:graphic>
          <a:graphicData uri="http://schemas.openxmlformats.org/drawingml/2006/table">
            <a:tbl>
              <a:tblPr firstRow="1" bandRow="1">
                <a:tableStyleId>{5C22544A-7EE6-4342-B048-85BDC9FD1C3A}</a:tableStyleId>
              </a:tblPr>
              <a:tblGrid>
                <a:gridCol w="2108855"/>
                <a:gridCol w="8985559"/>
              </a:tblGrid>
              <a:tr h="548640">
                <a:tc>
                  <a:txBody>
                    <a:bodyPr wrap="square"/>
                    <a:lstStyle/>
                    <a:p>
                      <a:r>
                        <a:rPr sz="1300" b="1">
                          <a:solidFill>
                            <a:srgbClr val="FFFFFF"/>
                          </a:solidFill>
                          <a:latin typeface="Montserrat"/>
                        </a:rPr>
                        <a:t>Tema</a:t>
                      </a:r>
                    </a:p>
                  </a:txBody>
                  <a:tcPr marL="73152" marR="73152" marT="36576" marB="36576" anchor="ctr">
                    <a:solidFill>
                      <a:srgbClr val="5B3F80"/>
                    </a:solidFill>
                  </a:tcPr>
                </a:tc>
                <a:tc>
                  <a:txBody>
                    <a:bodyPr wrap="square"/>
                    <a:lstStyle/>
                    <a:p>
                      <a:r>
                        <a:rPr sz="1300" b="1">
                          <a:solidFill>
                            <a:srgbClr val="FFFFFF"/>
                          </a:solidFill>
                          <a:latin typeface="Montserrat"/>
                        </a:rPr>
                        <a:t>Regla</a:t>
                      </a:r>
                    </a:p>
                  </a:txBody>
                  <a:tcPr marL="73152" marR="73152" marT="36576" marB="36576" anchor="ctr">
                    <a:solidFill>
                      <a:srgbClr val="5B3F80"/>
                    </a:solidFill>
                  </a:tcPr>
                </a:tc>
              </a:tr>
              <a:tr h="548640">
                <a:tc>
                  <a:txBody>
                    <a:bodyPr wrap="square"/>
                    <a:lstStyle/>
                    <a:p>
                      <a:r>
                        <a:rPr sz="1300" b="1">
                          <a:solidFill>
                            <a:srgbClr val="5B3F80"/>
                          </a:solidFill>
                          <a:latin typeface="Montserrat"/>
                        </a:rPr>
                        <a:t>Precios</a:t>
                      </a:r>
                    </a:p>
                  </a:txBody>
                  <a:tcPr marL="73152" marR="73152" marT="36576" marB="36576" anchor="ctr">
                    <a:solidFill>
                      <a:srgbClr val="FFFFFF"/>
                    </a:solidFill>
                  </a:tcPr>
                </a:tc>
                <a:tc>
                  <a:txBody>
                    <a:bodyPr wrap="square"/>
                    <a:lstStyle/>
                    <a:p>
                      <a:r>
                        <a:rPr sz="1300" b="0">
                          <a:solidFill>
                            <a:srgbClr val="2E2A36"/>
                          </a:solidFill>
                          <a:latin typeface="Montserrat"/>
                        </a:rPr>
                        <a:t>Precios sugeridos en US$ con IVA incluido. Consulte siempre la Ficha Técnica vigente.</a:t>
                      </a:r>
                    </a:p>
                  </a:txBody>
                  <a:tcPr marL="73152" marR="73152" marT="36576" marB="36576" anchor="ctr">
                    <a:solidFill>
                      <a:srgbClr val="FFFFFF"/>
                    </a:solidFill>
                  </a:tcPr>
                </a:tc>
              </a:tr>
              <a:tr h="548640">
                <a:tc>
                  <a:txBody>
                    <a:bodyPr wrap="square"/>
                    <a:lstStyle/>
                    <a:p>
                      <a:r>
                        <a:rPr sz="1300" b="1">
                          <a:solidFill>
                            <a:srgbClr val="5B3F80"/>
                          </a:solidFill>
                          <a:latin typeface="Montserrat"/>
                        </a:rPr>
                        <a:t>Descuentos</a:t>
                      </a:r>
                    </a:p>
                  </a:txBody>
                  <a:tcPr marL="73152" marR="73152" marT="36576" marB="36576" anchor="ctr">
                    <a:solidFill>
                      <a:srgbClr val="F5F2F8"/>
                    </a:solidFill>
                  </a:tcPr>
                </a:tc>
                <a:tc>
                  <a:txBody>
                    <a:bodyPr wrap="square"/>
                    <a:lstStyle/>
                    <a:p>
                      <a:r>
                        <a:rPr sz="1300" b="0">
                          <a:solidFill>
                            <a:srgbClr val="2E2A36"/>
                          </a:solidFill>
                          <a:latin typeface="Montserrat"/>
                        </a:rPr>
                        <a:t>Prenecesidad: hasta 20% según la campaña del mes. Emergencia: máximo 5%. Siempre con autorización del supervisor.</a:t>
                      </a:r>
                    </a:p>
                  </a:txBody>
                  <a:tcPr marL="73152" marR="73152" marT="36576" marB="36576" anchor="ctr">
                    <a:solidFill>
                      <a:srgbClr val="F5F2F8"/>
                    </a:solidFill>
                  </a:tcPr>
                </a:tc>
              </a:tr>
              <a:tr h="548640">
                <a:tc>
                  <a:txBody>
                    <a:bodyPr wrap="square"/>
                    <a:lstStyle/>
                    <a:p>
                      <a:r>
                        <a:rPr sz="1300" b="1">
                          <a:solidFill>
                            <a:srgbClr val="5B3F80"/>
                          </a:solidFill>
                          <a:latin typeface="Montserrat"/>
                        </a:rPr>
                        <a:t>Mantenimiento</a:t>
                      </a:r>
                    </a:p>
                  </a:txBody>
                  <a:tcPr marL="73152" marR="73152" marT="36576" marB="36576" anchor="ctr">
                    <a:solidFill>
                      <a:srgbClr val="FFFFFF"/>
                    </a:solidFill>
                  </a:tcPr>
                </a:tc>
                <a:tc>
                  <a:txBody>
                    <a:bodyPr wrap="square"/>
                    <a:lstStyle/>
                    <a:p>
                      <a:r>
                        <a:rPr sz="1300" b="0">
                          <a:solidFill>
                            <a:srgbClr val="2E2A36"/>
                          </a:solidFill>
                          <a:latin typeface="Montserrat"/>
                        </a:rPr>
                        <a:t>Individual US$ 15/año y Familiar US$ 25/año. No es opcional: se explica antes de firmar.</a:t>
                      </a:r>
                    </a:p>
                  </a:txBody>
                  <a:tcPr marL="73152" marR="73152" marT="36576" marB="36576" anchor="ctr">
                    <a:solidFill>
                      <a:srgbClr val="FFFFFF"/>
                    </a:solidFill>
                  </a:tcPr>
                </a:tc>
              </a:tr>
              <a:tr h="548640">
                <a:tc>
                  <a:txBody>
                    <a:bodyPr wrap="square"/>
                    <a:lstStyle/>
                    <a:p>
                      <a:r>
                        <a:rPr sz="1300" b="1">
                          <a:solidFill>
                            <a:srgbClr val="5B3F80"/>
                          </a:solidFill>
                          <a:latin typeface="Montserrat"/>
                        </a:rPr>
                        <a:t>Plazo de 3 años</a:t>
                      </a:r>
                    </a:p>
                  </a:txBody>
                  <a:tcPr marL="73152" marR="73152" marT="36576" marB="36576" anchor="ctr">
                    <a:solidFill>
                      <a:srgbClr val="F5F2F8"/>
                    </a:solidFill>
                  </a:tcPr>
                </a:tc>
                <a:tc>
                  <a:txBody>
                    <a:bodyPr wrap="square"/>
                    <a:lstStyle/>
                    <a:p>
                      <a:r>
                        <a:rPr sz="1300" b="0">
                          <a:solidFill>
                            <a:srgbClr val="2E2A36"/>
                          </a:solidFill>
                          <a:latin typeface="Montserrat"/>
                        </a:rPr>
                        <a:t>Ecológico y Mascotas: se explica con total transparencia en la primera conversación.</a:t>
                      </a:r>
                    </a:p>
                  </a:txBody>
                  <a:tcPr marL="73152" marR="73152" marT="36576" marB="36576" anchor="ctr">
                    <a:solidFill>
                      <a:srgbClr val="F5F2F8"/>
                    </a:solidFill>
                  </a:tcPr>
                </a:tc>
              </a:tr>
              <a:tr h="548640">
                <a:tc>
                  <a:txBody>
                    <a:bodyPr wrap="square"/>
                    <a:lstStyle/>
                    <a:p>
                      <a:r>
                        <a:rPr sz="1300" b="1">
                          <a:solidFill>
                            <a:srgbClr val="5B3F80"/>
                          </a:solidFill>
                          <a:latin typeface="Montserrat"/>
                        </a:rPr>
                        <a:t>Placas memoriales</a:t>
                      </a:r>
                    </a:p>
                  </a:txBody>
                  <a:tcPr marL="73152" marR="73152" marT="36576" marB="36576" anchor="ctr">
                    <a:solidFill>
                      <a:srgbClr val="FFFFFF"/>
                    </a:solidFill>
                  </a:tcPr>
                </a:tc>
                <a:tc>
                  <a:txBody>
                    <a:bodyPr wrap="square"/>
                    <a:lstStyle/>
                    <a:p>
                      <a:r>
                        <a:rPr sz="1300" b="0">
                          <a:solidFill>
                            <a:srgbClr val="2E2A36"/>
                          </a:solidFill>
                          <a:latin typeface="Montserrat"/>
                        </a:rPr>
                        <a:t>Incluida en el Jardín Ecológico (US$ 750) y en la opción de Mascotas de US$ 550.</a:t>
                      </a:r>
                    </a:p>
                  </a:txBody>
                  <a:tcPr marL="73152" marR="73152" marT="36576" marB="36576" anchor="ctr">
                    <a:solidFill>
                      <a:srgbClr val="FFFFFF"/>
                    </a:solidFill>
                  </a:tcPr>
                </a:tc>
              </a:tr>
              <a:tr h="548640">
                <a:tc>
                  <a:txBody>
                    <a:bodyPr wrap="square"/>
                    <a:lstStyle/>
                    <a:p>
                      <a:r>
                        <a:rPr sz="1300" b="1">
                          <a:solidFill>
                            <a:srgbClr val="5B3F80"/>
                          </a:solidFill>
                          <a:latin typeface="Montserrat"/>
                        </a:rPr>
                        <a:t>Dueño del contacto</a:t>
                      </a:r>
                    </a:p>
                  </a:txBody>
                  <a:tcPr marL="73152" marR="73152" marT="36576" marB="36576" anchor="ctr">
                    <a:solidFill>
                      <a:srgbClr val="F5F2F8"/>
                    </a:solidFill>
                  </a:tcPr>
                </a:tc>
                <a:tc>
                  <a:txBody>
                    <a:bodyPr wrap="square"/>
                    <a:lstStyle/>
                    <a:p>
                      <a:r>
                        <a:rPr sz="1300" b="0">
                          <a:solidFill>
                            <a:srgbClr val="2E2A36"/>
                          </a:solidFill>
                          <a:latin typeface="Montserrat"/>
                        </a:rPr>
                        <a:t>Quien registra primero. Sin interacción en 15 días, el contacto puede reasignarse.</a:t>
                      </a:r>
                    </a:p>
                  </a:txBody>
                  <a:tcPr marL="73152" marR="73152" marT="36576" marB="36576" anchor="ctr">
                    <a:solidFill>
                      <a:srgbClr val="F5F2F8"/>
                    </a:solidFill>
                  </a:tcPr>
                </a:tc>
              </a:tr>
              <a:tr h="548640">
                <a:tc>
                  <a:txBody>
                    <a:bodyPr wrap="square"/>
                    <a:lstStyle/>
                    <a:p>
                      <a:r>
                        <a:rPr sz="1300" b="1">
                          <a:solidFill>
                            <a:srgbClr val="5B3F80"/>
                          </a:solidFill>
                          <a:latin typeface="Montserrat"/>
                        </a:rPr>
                        <a:t>Lo que NO se promete</a:t>
                      </a:r>
                    </a:p>
                  </a:txBody>
                  <a:tcPr marL="73152" marR="73152" marT="36576" marB="36576" anchor="ctr">
                    <a:solidFill>
                      <a:srgbClr val="FFFFFF"/>
                    </a:solidFill>
                  </a:tcPr>
                </a:tc>
                <a:tc>
                  <a:txBody>
                    <a:bodyPr wrap="square"/>
                    <a:lstStyle/>
                    <a:p>
                      <a:r>
                        <a:rPr sz="1300" b="0">
                          <a:solidFill>
                            <a:srgbClr val="2E2A36"/>
                          </a:solidFill>
                          <a:latin typeface="Montserrat"/>
                        </a:rPr>
                        <a:t>Fechas o precios del Jardín Ceremonial; descuentos fuera de política; ubicaciones específicas sin confirmar disponibilidad.</a:t>
                      </a:r>
                    </a:p>
                  </a:txBody>
                  <a:tcPr marL="73152" marR="73152" marT="36576" marB="36576" anchor="ctr">
                    <a:solidFill>
                      <a:srgbClr val="FFFFFF"/>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07</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Política de comisiones</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La comisión premia la venta buena, no solo la venta.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Comisión única de 8%</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1444752"/>
            <a:ext cx="11094415" cy="411480"/>
          </a:xfrm>
          <a:prstGeom prst="rect">
            <a:avLst/>
          </a:prstGeom>
          <a:noFill/>
        </p:spPr>
        <p:txBody>
          <a:bodyPr wrap="square" anchor="t" lIns="45720" rIns="45720" tIns="27432" bIns="27432">
            <a:spAutoFit/>
          </a:bodyPr>
          <a:lstStyle/>
          <a:p>
            <a:pPr algn="l">
              <a:lnSpc>
                <a:spcPct val="115000"/>
              </a:lnSpc>
              <a:spcAft>
                <a:spcPts val="400"/>
              </a:spcAft>
            </a:pPr>
            <a:r>
              <a:rPr sz="1300" b="0" i="1">
                <a:solidFill>
                  <a:srgbClr val="7D7887"/>
                </a:solidFill>
                <a:latin typeface="Montserrat"/>
              </a:rPr>
              <a:t>Sobre el precio sin IVA. Confirmar con la Gerencia Comercial antes de aplicar.</a:t>
            </a:r>
          </a:p>
        </p:txBody>
      </p:sp>
      <p:pic>
        <p:nvPicPr>
          <p:cNvPr id="7" name="Picture 6" descr="05_comisiones.png"/>
          <p:cNvPicPr>
            <a:picLocks noChangeAspect="1"/>
          </p:cNvPicPr>
          <p:nvPr/>
        </p:nvPicPr>
        <p:blipFill>
          <a:blip r:embed="rId2"/>
          <a:stretch>
            <a:fillRect/>
          </a:stretch>
        </p:blipFill>
        <p:spPr>
          <a:xfrm>
            <a:off x="548640" y="2951226"/>
            <a:ext cx="6035040" cy="1961388"/>
          </a:xfrm>
          <a:prstGeom prst="rect">
            <a:avLst/>
          </a:prstGeom>
        </p:spPr>
      </p:pic>
      <p:sp>
        <p:nvSpPr>
          <p:cNvPr id="8" name="TextBox 7"/>
          <p:cNvSpPr txBox="1"/>
          <p:nvPr/>
        </p:nvSpPr>
        <p:spPr>
          <a:xfrm>
            <a:off x="6812280" y="1965960"/>
            <a:ext cx="4846320" cy="36576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5B3F80"/>
                </a:solidFill>
                <a:latin typeface="Playfair Display"/>
              </a:rPr>
              <a:t>Reglas de comisión</a:t>
            </a:r>
          </a:p>
        </p:txBody>
      </p:sp>
      <p:sp>
        <p:nvSpPr>
          <p:cNvPr id="9" name="TextBox 8"/>
          <p:cNvSpPr txBox="1"/>
          <p:nvPr/>
        </p:nvSpPr>
        <p:spPr>
          <a:xfrm>
            <a:off x="6812280" y="2423160"/>
            <a:ext cx="4846320" cy="2743200"/>
          </a:xfrm>
          <a:prstGeom prst="rect">
            <a:avLst/>
          </a:prstGeom>
          <a:noFill/>
        </p:spPr>
        <p:txBody>
          <a:bodyPr wrap="square" anchor="t" lIns="45720" rIns="45720" tIns="27432" bIns="27432">
            <a:spAutoFit/>
          </a:bodyPr>
          <a:lstStyle/>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Base de cálculo: valor efectivamente cobrado al cliente, sin IVA (13%).</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Comisión única de 8% para todos los productos.</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No generan comisión: cuotas de mantenimiento anual (US$ 15 / US$ 25).</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Bono de venta combinada: US$ 15 al vender la Solución Modular junto con cualquier jardín.</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Acelerador Día de los Muertos (opcional): +2 pp en Individual y Ecológico hasta el 30/11/2026.</a:t>
            </a:r>
          </a:p>
          <a:p>
            <a:pPr algn="l">
              <a:lnSpc>
                <a:spcPct val="115000"/>
              </a:lnSpc>
              <a:spcAft>
                <a:spcPts val="500"/>
              </a:spcAft>
            </a:pPr>
            <a:r>
              <a:rPr sz="900" b="1" i="0">
                <a:solidFill>
                  <a:srgbClr val="C9A86A"/>
                </a:solidFill>
                <a:latin typeface="Montserrat"/>
              </a:rPr>
              <a:t>■  </a:t>
            </a:r>
            <a:r>
              <a:rPr sz="1200" b="0" i="0">
                <a:solidFill>
                  <a:srgbClr val="2E2A36"/>
                </a:solidFill>
                <a:latin typeface="Montserrat"/>
              </a:rPr>
              <a:t>Estorno: la comisión se descuenta de los pagos siguientes al asesor.</a:t>
            </a:r>
          </a:p>
        </p:txBody>
      </p:sp>
      <p:sp>
        <p:nvSpPr>
          <p:cNvPr id="10" name="Rectangle 9"/>
          <p:cNvSpPr/>
          <p:nvPr/>
        </p:nvSpPr>
        <p:spPr>
          <a:xfrm>
            <a:off x="6812280" y="5166360"/>
            <a:ext cx="4846320" cy="1005840"/>
          </a:xfrm>
          <a:prstGeom prst="rect">
            <a:avLst/>
          </a:prstGeom>
          <a:solidFill>
            <a:srgbClr val="FBF6E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949440" y="5166360"/>
            <a:ext cx="4572000" cy="1005840"/>
          </a:xfrm>
          <a:prstGeom prst="rect">
            <a:avLst/>
          </a:prstGeom>
          <a:noFill/>
        </p:spPr>
        <p:txBody>
          <a:bodyPr wrap="square" anchor="ctr" lIns="45720" rIns="45720" tIns="27432" bIns="27432">
            <a:spAutoFit/>
          </a:bodyPr>
          <a:lstStyle/>
          <a:p>
            <a:pPr algn="l">
              <a:lnSpc>
                <a:spcPct val="115000"/>
              </a:lnSpc>
              <a:spcAft>
                <a:spcPts val="400"/>
              </a:spcAft>
            </a:pPr>
            <a:r>
              <a:rPr sz="1150" b="0" i="1">
                <a:solidFill>
                  <a:srgbClr val="2E2A36"/>
                </a:solidFill>
                <a:latin typeface="Montserrat"/>
              </a:rPr>
              <a:t>La comisión premia la venta buena, no solo la venta: una familia que paga a tiempo vale más que un contrato que se cancela. Por eso el pago está ligado al cobro.</a:t>
            </a:r>
          </a:p>
        </p:txBody>
      </p:sp>
      <p:sp>
        <p:nvSpPr>
          <p:cNvPr id="12" name="TextBox 11"/>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13" name="TextBox 12"/>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07 · POLÍTICA DE COMISIONES</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Cuándo se paga y cuándo se descuenta</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6" name="Table 5"/>
          <p:cNvGraphicFramePr>
            <a:graphicFrameLocks noGrp="1"/>
          </p:cNvGraphicFramePr>
          <p:nvPr/>
        </p:nvGraphicFramePr>
        <p:xfrm>
          <a:off x="548640" y="1645920"/>
          <a:ext cx="11094413" cy="4389120"/>
        </p:xfrm>
        <a:graphic>
          <a:graphicData uri="http://schemas.openxmlformats.org/drawingml/2006/table">
            <a:tbl>
              <a:tblPr firstRow="1" bandRow="1">
                <a:tableStyleId>{5C22544A-7EE6-4342-B048-85BDC9FD1C3A}</a:tableStyleId>
              </a:tblPr>
              <a:tblGrid>
                <a:gridCol w="2326248"/>
                <a:gridCol w="715768"/>
                <a:gridCol w="1610479"/>
                <a:gridCol w="4115670"/>
                <a:gridCol w="2326248"/>
              </a:tblGrid>
              <a:tr h="548640">
                <a:tc>
                  <a:txBody>
                    <a:bodyPr wrap="square"/>
                    <a:lstStyle/>
                    <a:p>
                      <a:r>
                        <a:rPr sz="1200" b="1">
                          <a:solidFill>
                            <a:srgbClr val="FFFFFF"/>
                          </a:solidFill>
                          <a:latin typeface="Montserrat"/>
                        </a:rPr>
                        <a:t>Producto</a:t>
                      </a:r>
                    </a:p>
                  </a:txBody>
                  <a:tcPr marL="73152" marR="73152" marT="36576" marB="36576" anchor="ctr">
                    <a:solidFill>
                      <a:srgbClr val="5B3F80"/>
                    </a:solidFill>
                  </a:tcPr>
                </a:tc>
                <a:tc>
                  <a:txBody>
                    <a:bodyPr wrap="square"/>
                    <a:lstStyle/>
                    <a:p>
                      <a:r>
                        <a:rPr sz="1200" b="1">
                          <a:solidFill>
                            <a:srgbClr val="FFFFFF"/>
                          </a:solidFill>
                          <a:latin typeface="Montserrat"/>
                        </a:rPr>
                        <a:t>%</a:t>
                      </a:r>
                    </a:p>
                  </a:txBody>
                  <a:tcPr marL="73152" marR="73152" marT="36576" marB="36576" anchor="ctr">
                    <a:solidFill>
                      <a:srgbClr val="5B3F80"/>
                    </a:solidFill>
                  </a:tcPr>
                </a:tc>
                <a:tc>
                  <a:txBody>
                    <a:bodyPr wrap="square"/>
                    <a:lstStyle/>
                    <a:p>
                      <a:r>
                        <a:rPr sz="1200" b="1">
                          <a:solidFill>
                            <a:srgbClr val="FFFFFF"/>
                          </a:solidFill>
                          <a:latin typeface="Montserrat"/>
                        </a:rPr>
                        <a:t>Comisión (sin IVA)</a:t>
                      </a:r>
                    </a:p>
                  </a:txBody>
                  <a:tcPr marL="73152" marR="73152" marT="36576" marB="36576" anchor="ctr">
                    <a:solidFill>
                      <a:srgbClr val="5B3F80"/>
                    </a:solidFill>
                  </a:tcPr>
                </a:tc>
                <a:tc>
                  <a:txBody>
                    <a:bodyPr wrap="square"/>
                    <a:lstStyle/>
                    <a:p>
                      <a:r>
                        <a:rPr sz="1200" b="1">
                          <a:solidFill>
                            <a:srgbClr val="FFFFFF"/>
                          </a:solidFill>
                          <a:latin typeface="Montserrat"/>
                        </a:rPr>
                        <a:t>Cuándo se paga</a:t>
                      </a:r>
                    </a:p>
                  </a:txBody>
                  <a:tcPr marL="73152" marR="73152" marT="36576" marB="36576" anchor="ctr">
                    <a:solidFill>
                      <a:srgbClr val="5B3F80"/>
                    </a:solidFill>
                  </a:tcPr>
                </a:tc>
                <a:tc>
                  <a:txBody>
                    <a:bodyPr wrap="square"/>
                    <a:lstStyle/>
                    <a:p>
                      <a:r>
                        <a:rPr sz="1200" b="1">
                          <a:solidFill>
                            <a:srgbClr val="FFFFFF"/>
                          </a:solidFill>
                          <a:latin typeface="Montserrat"/>
                        </a:rPr>
                        <a:t>Estorno</a:t>
                      </a:r>
                    </a:p>
                  </a:txBody>
                  <a:tcPr marL="73152" marR="73152" marT="36576" marB="36576" anchor="ctr">
                    <a:solidFill>
                      <a:srgbClr val="5B3F80"/>
                    </a:solidFill>
                  </a:tcPr>
                </a:tc>
              </a:tr>
              <a:tr h="548640">
                <a:tc>
                  <a:txBody>
                    <a:bodyPr wrap="square"/>
                    <a:lstStyle/>
                    <a:p>
                      <a:r>
                        <a:rPr sz="1200" b="1">
                          <a:solidFill>
                            <a:srgbClr val="5B3F80"/>
                          </a:solidFill>
                          <a:latin typeface="Montserrat"/>
                        </a:rPr>
                        <a:t>Solución Modular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US$ 70,80</a:t>
                      </a:r>
                    </a:p>
                  </a:txBody>
                  <a:tcPr marL="73152" marR="73152" marT="36576" marB="36576" anchor="ctr">
                    <a:solidFill>
                      <a:srgbClr val="FFFFFF"/>
                    </a:solidFill>
                  </a:tcPr>
                </a:tc>
                <a:tc>
                  <a:txBody>
                    <a:bodyPr wrap="square"/>
                    <a:lstStyle/>
                    <a:p>
                      <a:r>
                        <a:rPr sz="1200" b="0">
                          <a:solidFill>
                            <a:srgbClr val="2E2A36"/>
                          </a:solidFill>
                          <a:latin typeface="Montserrat"/>
                        </a:rPr>
                        <a:t>Pago único al pagar el cliente la 3ª cuota</a:t>
                      </a:r>
                    </a:p>
                  </a:txBody>
                  <a:tcPr marL="73152" marR="73152" marT="36576" marB="36576" anchor="ctr">
                    <a:solidFill>
                      <a:srgbClr val="FFFFFF"/>
                    </a:solidFill>
                  </a:tcPr>
                </a:tc>
                <a:tc>
                  <a:txBody>
                    <a:bodyPr wrap="square"/>
                    <a:lstStyle/>
                    <a:p>
                      <a:r>
                        <a:rPr sz="1200" b="0">
                          <a:solidFill>
                            <a:srgbClr val="2E2A36"/>
                          </a:solidFill>
                          <a:latin typeface="Montserrat"/>
                        </a:rPr>
                        <a:t>Si cancela antes de la 12ª cuota</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Individual</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US$ 42,48</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Familiar</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US$ 141,59</a:t>
                      </a:r>
                    </a:p>
                  </a:txBody>
                  <a:tcPr marL="73152" marR="73152" marT="36576" marB="36576" anchor="ctr">
                    <a:solidFill>
                      <a:srgbClr val="FFFFFF"/>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Jardín Ecológico</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US$ 53,10</a:t>
                      </a:r>
                    </a:p>
                  </a:txBody>
                  <a:tcPr marL="73152" marR="73152" marT="36576" marB="36576" anchor="ctr">
                    <a:solidFill>
                      <a:srgbClr val="F5F2F8"/>
                    </a:solidFill>
                  </a:tcPr>
                </a:tc>
                <a:tc>
                  <a:txBody>
                    <a:bodyPr wrap="square"/>
                    <a:lstStyle/>
                    <a:p>
                      <a:r>
                        <a:rPr sz="1200" b="0">
                          <a:solidFill>
                            <a:srgbClr val="2E2A36"/>
                          </a:solidFill>
                          <a:latin typeface="Montserrat"/>
                        </a:rPr>
                        <a:t>Contado: mes siguiente · Financiado: proporcional a lo cobrado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Mascotas · solo espacio</a:t>
                      </a:r>
                    </a:p>
                  </a:txBody>
                  <a:tcPr marL="73152" marR="73152" marT="36576" marB="36576" anchor="ctr">
                    <a:solidFill>
                      <a:srgbClr val="FFFFFF"/>
                    </a:solidFill>
                  </a:tcPr>
                </a:tc>
                <a:tc>
                  <a:txBody>
                    <a:bodyPr wrap="square"/>
                    <a:lstStyle/>
                    <a:p>
                      <a:r>
                        <a:rPr sz="1200" b="0">
                          <a:solidFill>
                            <a:srgbClr val="2E2A36"/>
                          </a:solidFill>
                          <a:latin typeface="Montserrat"/>
                        </a:rPr>
                        <a:t>8%</a:t>
                      </a:r>
                    </a:p>
                  </a:txBody>
                  <a:tcPr marL="73152" marR="73152" marT="36576" marB="36576" anchor="ctr">
                    <a:solidFill>
                      <a:srgbClr val="FFFFFF"/>
                    </a:solidFill>
                  </a:tcPr>
                </a:tc>
                <a:tc>
                  <a:txBody>
                    <a:bodyPr wrap="square"/>
                    <a:lstStyle/>
                    <a:p>
                      <a:r>
                        <a:rPr sz="1200" b="0">
                          <a:solidFill>
                            <a:srgbClr val="2E2A36"/>
                          </a:solidFill>
                          <a:latin typeface="Montserrat"/>
                        </a:rPr>
                        <a:t>US$ 28,32</a:t>
                      </a:r>
                    </a:p>
                  </a:txBody>
                  <a:tcPr marL="73152" marR="73152" marT="36576" marB="36576" anchor="ctr">
                    <a:solidFill>
                      <a:srgbClr val="FFFFFF"/>
                    </a:solidFill>
                  </a:tcPr>
                </a:tc>
                <a:tc>
                  <a:txBody>
                    <a:bodyPr wrap="square"/>
                    <a:lstStyle/>
                    <a:p>
                      <a:r>
                        <a:rPr sz="1200" b="0">
                          <a:solidFill>
                            <a:srgbClr val="2E2A36"/>
                          </a:solidFill>
                          <a:latin typeface="Montserrat"/>
                        </a:rPr>
                        <a:t>Mes siguiente al pago</a:t>
                      </a:r>
                    </a:p>
                  </a:txBody>
                  <a:tcPr marL="73152" marR="73152" marT="36576" marB="36576" anchor="ctr">
                    <a:solidFill>
                      <a:srgbClr val="FFFFFF"/>
                    </a:solidFill>
                  </a:tcPr>
                </a:tc>
                <a:tc>
                  <a:txBody>
                    <a:bodyPr wrap="square"/>
                    <a:lstStyle/>
                    <a:p>
                      <a:r>
                        <a:rPr sz="1200" b="0">
                          <a:solidFill>
                            <a:srgbClr val="2E2A36"/>
                          </a:solidFill>
                          <a:latin typeface="Montserrat"/>
                        </a:rPr>
                        <a:t>Cancelación en 90 días</a:t>
                      </a:r>
                    </a:p>
                  </a:txBody>
                  <a:tcPr marL="73152" marR="73152" marT="36576" marB="36576" anchor="ctr">
                    <a:solidFill>
                      <a:srgbClr val="FFFFFF"/>
                    </a:solidFill>
                  </a:tcPr>
                </a:tc>
              </a:tr>
              <a:tr h="548640">
                <a:tc>
                  <a:txBody>
                    <a:bodyPr wrap="square"/>
                    <a:lstStyle/>
                    <a:p>
                      <a:r>
                        <a:rPr sz="1200" b="1">
                          <a:solidFill>
                            <a:srgbClr val="5B3F80"/>
                          </a:solidFill>
                          <a:latin typeface="Montserrat"/>
                        </a:rPr>
                        <a:t>Mascotas · con placa</a:t>
                      </a:r>
                    </a:p>
                  </a:txBody>
                  <a:tcPr marL="73152" marR="73152" marT="36576" marB="36576" anchor="ctr">
                    <a:solidFill>
                      <a:srgbClr val="F5F2F8"/>
                    </a:solidFill>
                  </a:tcPr>
                </a:tc>
                <a:tc>
                  <a:txBody>
                    <a:bodyPr wrap="square"/>
                    <a:lstStyle/>
                    <a:p>
                      <a:r>
                        <a:rPr sz="1200" b="0">
                          <a:solidFill>
                            <a:srgbClr val="2E2A36"/>
                          </a:solidFill>
                          <a:latin typeface="Montserrat"/>
                        </a:rPr>
                        <a:t>8%</a:t>
                      </a:r>
                    </a:p>
                  </a:txBody>
                  <a:tcPr marL="73152" marR="73152" marT="36576" marB="36576" anchor="ctr">
                    <a:solidFill>
                      <a:srgbClr val="F5F2F8"/>
                    </a:solidFill>
                  </a:tcPr>
                </a:tc>
                <a:tc>
                  <a:txBody>
                    <a:bodyPr wrap="square"/>
                    <a:lstStyle/>
                    <a:p>
                      <a:r>
                        <a:rPr sz="1200" b="0">
                          <a:solidFill>
                            <a:srgbClr val="2E2A36"/>
                          </a:solidFill>
                          <a:latin typeface="Montserrat"/>
                        </a:rPr>
                        <a:t>US$ 38,94</a:t>
                      </a:r>
                    </a:p>
                  </a:txBody>
                  <a:tcPr marL="73152" marR="73152" marT="36576" marB="36576" anchor="ctr">
                    <a:solidFill>
                      <a:srgbClr val="F5F2F8"/>
                    </a:solidFill>
                  </a:tcPr>
                </a:tc>
                <a:tc>
                  <a:txBody>
                    <a:bodyPr wrap="square"/>
                    <a:lstStyle/>
                    <a:p>
                      <a:r>
                        <a:rPr sz="1200" b="0">
                          <a:solidFill>
                            <a:srgbClr val="2E2A36"/>
                          </a:solidFill>
                          <a:latin typeface="Montserrat"/>
                        </a:rPr>
                        <a:t>Mes siguiente al pago</a:t>
                      </a:r>
                    </a:p>
                  </a:txBody>
                  <a:tcPr marL="73152" marR="73152" marT="36576" marB="36576" anchor="ctr">
                    <a:solidFill>
                      <a:srgbClr val="F5F2F8"/>
                    </a:solidFill>
                  </a:tcPr>
                </a:tc>
                <a:tc>
                  <a:txBody>
                    <a:bodyPr wrap="square"/>
                    <a:lstStyle/>
                    <a:p>
                      <a:r>
                        <a:rPr sz="1200" b="0">
                          <a:solidFill>
                            <a:srgbClr val="2E2A36"/>
                          </a:solidFill>
                          <a:latin typeface="Montserrat"/>
                        </a:rPr>
                        <a:t>Cancelación en 90 días</a:t>
                      </a:r>
                    </a:p>
                  </a:txBody>
                  <a:tcPr marL="73152" marR="73152" marT="36576" marB="36576" anchor="ctr">
                    <a:solidFill>
                      <a:srgbClr val="F5F2F8"/>
                    </a:solidFill>
                  </a:tcPr>
                </a:tc>
              </a:tr>
              <a:tr h="548640">
                <a:tc>
                  <a:txBody>
                    <a:bodyPr wrap="square"/>
                    <a:lstStyle/>
                    <a:p>
                      <a:r>
                        <a:rPr sz="1200" b="1">
                          <a:solidFill>
                            <a:srgbClr val="5B3F80"/>
                          </a:solidFill>
                          <a:latin typeface="Montserrat"/>
                        </a:rPr>
                        <a:t>Jardín Ceremonial</a:t>
                      </a:r>
                    </a:p>
                  </a:txBody>
                  <a:tcPr marL="73152" marR="73152" marT="36576" marB="36576" anchor="ctr">
                    <a:solidFill>
                      <a:srgbClr val="FBF6EC"/>
                    </a:solidFill>
                  </a:tcPr>
                </a:tc>
                <a:tc>
                  <a:txBody>
                    <a:bodyPr wrap="square"/>
                    <a:lstStyle/>
                    <a:p>
                      <a:r>
                        <a:rPr sz="1200" b="0">
                          <a:solidFill>
                            <a:srgbClr val="2E2A36"/>
                          </a:solidFill>
                          <a:latin typeface="Montserrat"/>
                        </a:rPr>
                        <a:t>A definir</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c>
                  <a:txBody>
                    <a:bodyPr wrap="square"/>
                    <a:lstStyle/>
                    <a:p>
                      <a:r>
                        <a:rPr sz="1200" b="0">
                          <a:solidFill>
                            <a:srgbClr val="2E2A36"/>
                          </a:solidFill>
                          <a:latin typeface="Montserrat"/>
                        </a:rPr>
                        <a:t>—</a:t>
                      </a:r>
                    </a:p>
                  </a:txBody>
                  <a:tcPr marL="73152" marR="73152" marT="36576" marB="36576" anchor="ctr">
                    <a:solidFill>
                      <a:srgbClr val="FBF6EC"/>
                    </a:solidFill>
                  </a:tcPr>
                </a:tc>
              </a:tr>
            </a:tbl>
          </a:graphicData>
        </a:graphic>
      </p:graphicFrame>
      <p:sp>
        <p:nvSpPr>
          <p:cNvPr id="7" name="TextBox 6"/>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8" name="TextBox 7"/>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TextBox 1"/>
          <p:cNvSpPr txBox="1"/>
          <p:nvPr/>
        </p:nvSpPr>
        <p:spPr>
          <a:xfrm>
            <a:off x="914400" y="1417320"/>
            <a:ext cx="3200400" cy="1920240"/>
          </a:xfrm>
          <a:prstGeom prst="rect">
            <a:avLst/>
          </a:prstGeom>
          <a:noFill/>
        </p:spPr>
        <p:txBody>
          <a:bodyPr wrap="square" anchor="t" lIns="45720" rIns="45720" tIns="27432" bIns="27432">
            <a:spAutoFit/>
          </a:bodyPr>
          <a:lstStyle/>
          <a:p>
            <a:pPr algn="l">
              <a:lnSpc>
                <a:spcPct val="115000"/>
              </a:lnSpc>
              <a:spcAft>
                <a:spcPts val="400"/>
              </a:spcAft>
            </a:pPr>
            <a:r>
              <a:rPr sz="11000" b="1" i="0">
                <a:solidFill>
                  <a:srgbClr val="C9A86A"/>
                </a:solidFill>
                <a:latin typeface="Playfair Display"/>
              </a:rPr>
              <a:t>08</a:t>
            </a:r>
          </a:p>
        </p:txBody>
      </p:sp>
      <p:sp>
        <p:nvSpPr>
          <p:cNvPr id="3" name="TextBox 2"/>
          <p:cNvSpPr txBox="1"/>
          <p:nvPr/>
        </p:nvSpPr>
        <p:spPr>
          <a:xfrm>
            <a:off x="914400" y="3429000"/>
            <a:ext cx="10515600" cy="914400"/>
          </a:xfrm>
          <a:prstGeom prst="rect">
            <a:avLst/>
          </a:prstGeom>
          <a:noFill/>
        </p:spPr>
        <p:txBody>
          <a:bodyPr wrap="square" anchor="t" lIns="45720" rIns="45720" tIns="27432" bIns="27432">
            <a:spAutoFit/>
          </a:bodyPr>
          <a:lstStyle/>
          <a:p>
            <a:pPr algn="l">
              <a:lnSpc>
                <a:spcPct val="115000"/>
              </a:lnSpc>
              <a:spcAft>
                <a:spcPts val="400"/>
              </a:spcAft>
            </a:pPr>
            <a:r>
              <a:rPr sz="4000" b="1" i="0">
                <a:solidFill>
                  <a:srgbClr val="FFFFFF"/>
                </a:solidFill>
                <a:latin typeface="Playfair Display"/>
              </a:rPr>
              <a:t>Herramientas de apoyo</a:t>
            </a:r>
          </a:p>
        </p:txBody>
      </p:sp>
      <p:sp>
        <p:nvSpPr>
          <p:cNvPr id="4" name="Rectangle 3"/>
          <p:cNvSpPr/>
          <p:nvPr/>
        </p:nvSpPr>
        <p:spPr>
          <a:xfrm>
            <a:off x="960120" y="443484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4617720"/>
            <a:ext cx="10058400" cy="731520"/>
          </a:xfrm>
          <a:prstGeom prst="rect">
            <a:avLst/>
          </a:prstGeom>
          <a:noFill/>
        </p:spPr>
        <p:txBody>
          <a:bodyPr wrap="square" anchor="t" lIns="45720" rIns="45720" tIns="27432" bIns="27432">
            <a:spAutoFit/>
          </a:bodyPr>
          <a:lstStyle/>
          <a:p>
            <a:pPr algn="l">
              <a:lnSpc>
                <a:spcPct val="115000"/>
              </a:lnSpc>
              <a:spcAft>
                <a:spcPts val="400"/>
              </a:spcAft>
            </a:pPr>
            <a:r>
              <a:rPr sz="1600" b="0" i="1">
                <a:solidFill>
                  <a:srgbClr val="D9CFE6"/>
                </a:solidFill>
                <a:latin typeface="Montserrat"/>
              </a:rPr>
              <a:t>Todo lo que necesita para vender con confianza.</a:t>
            </a:r>
          </a:p>
        </p:txBody>
      </p:sp>
      <p:sp>
        <p:nvSpPr>
          <p:cNvPr id="6" name="TextBox 5"/>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D9CFE6"/>
                </a:solidFill>
                <a:latin typeface="Montserrat"/>
              </a:rPr>
              <a:t>Playbook Comercial  ·  La Auxiliadora · Hogar de las Memorias · Las Colinas · Vangrupo</a:t>
            </a:r>
          </a:p>
        </p:txBody>
      </p:sp>
      <p:sp>
        <p:nvSpPr>
          <p:cNvPr id="7" name="TextBox 6"/>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D9CFE6"/>
                </a:solidFill>
                <a:latin typeface="Montserrat"/>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64592" cy="685800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365760"/>
            <a:ext cx="7315200" cy="320040"/>
          </a:xfrm>
          <a:prstGeom prst="rect">
            <a:avLst/>
          </a:prstGeom>
          <a:noFill/>
        </p:spPr>
        <p:txBody>
          <a:bodyPr wrap="square" anchor="t" lIns="45720" rIns="45720" tIns="27432" bIns="27432">
            <a:spAutoFit/>
          </a:bodyPr>
          <a:lstStyle/>
          <a:p>
            <a:pPr algn="l">
              <a:lnSpc>
                <a:spcPct val="115000"/>
              </a:lnSpc>
              <a:spcAft>
                <a:spcPts val="400"/>
              </a:spcAft>
            </a:pPr>
            <a:r>
              <a:rPr sz="1100" b="1" i="0">
                <a:solidFill>
                  <a:srgbClr val="C9A86A"/>
                </a:solidFill>
                <a:latin typeface="Montserrat"/>
              </a:rPr>
              <a:t>08 · HERRAMIENTAS DE APOYO</a:t>
            </a:r>
          </a:p>
        </p:txBody>
      </p:sp>
      <p:sp>
        <p:nvSpPr>
          <p:cNvPr id="4" name="TextBox 3"/>
          <p:cNvSpPr txBox="1"/>
          <p:nvPr/>
        </p:nvSpPr>
        <p:spPr>
          <a:xfrm>
            <a:off x="548640" y="621792"/>
            <a:ext cx="11094415" cy="685800"/>
          </a:xfrm>
          <a:prstGeom prst="rect">
            <a:avLst/>
          </a:prstGeom>
          <a:noFill/>
        </p:spPr>
        <p:txBody>
          <a:bodyPr wrap="square" anchor="t" lIns="45720" rIns="45720" tIns="27432" bIns="27432">
            <a:spAutoFit/>
          </a:bodyPr>
          <a:lstStyle/>
          <a:p>
            <a:pPr algn="l">
              <a:lnSpc>
                <a:spcPct val="115000"/>
              </a:lnSpc>
              <a:spcAft>
                <a:spcPts val="400"/>
              </a:spcAft>
            </a:pPr>
            <a:r>
              <a:rPr sz="3000" b="1" i="0">
                <a:solidFill>
                  <a:srgbClr val="5B3F80"/>
                </a:solidFill>
                <a:latin typeface="Playfair Display"/>
              </a:rPr>
              <a:t>Lo que usted tiene a mano</a:t>
            </a:r>
          </a:p>
        </p:txBody>
      </p:sp>
      <p:sp>
        <p:nvSpPr>
          <p:cNvPr id="5" name="Rectangle 4"/>
          <p:cNvSpPr/>
          <p:nvPr/>
        </p:nvSpPr>
        <p:spPr>
          <a:xfrm>
            <a:off x="548640" y="1325880"/>
            <a:ext cx="1005840" cy="4572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645920"/>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48640" y="1645920"/>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31520" y="1691640"/>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Ficha Técnica de Cremación</a:t>
            </a:r>
          </a:p>
          <a:p>
            <a:pPr algn="l">
              <a:lnSpc>
                <a:spcPct val="115000"/>
              </a:lnSpc>
              <a:spcAft>
                <a:spcPts val="100"/>
              </a:spcAft>
            </a:pPr>
            <a:r>
              <a:rPr sz="1100" b="0" i="0">
                <a:solidFill>
                  <a:srgbClr val="2E2A36"/>
                </a:solidFill>
                <a:latin typeface="Montserrat"/>
              </a:rPr>
              <a:t>Precios, especificaciones y condiciones vigentes de cada producto.</a:t>
            </a:r>
          </a:p>
        </p:txBody>
      </p:sp>
      <p:sp>
        <p:nvSpPr>
          <p:cNvPr id="9" name="Rectangle 8"/>
          <p:cNvSpPr/>
          <p:nvPr/>
        </p:nvSpPr>
        <p:spPr>
          <a:xfrm>
            <a:off x="548640" y="2542032"/>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542032"/>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31520" y="2587752"/>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Visita al jardín</a:t>
            </a:r>
          </a:p>
          <a:p>
            <a:pPr algn="l">
              <a:lnSpc>
                <a:spcPct val="115000"/>
              </a:lnSpc>
              <a:spcAft>
                <a:spcPts val="100"/>
              </a:spcAft>
            </a:pPr>
            <a:r>
              <a:rPr sz="1100" b="0" i="0">
                <a:solidFill>
                  <a:srgbClr val="2E2A36"/>
                </a:solidFill>
                <a:latin typeface="Montserrat"/>
              </a:rPr>
              <a:t>La herramienta de venta más poderosa. Agende siempre que sea posible.</a:t>
            </a:r>
          </a:p>
        </p:txBody>
      </p:sp>
      <p:sp>
        <p:nvSpPr>
          <p:cNvPr id="12" name="Rectangle 11"/>
          <p:cNvSpPr/>
          <p:nvPr/>
        </p:nvSpPr>
        <p:spPr>
          <a:xfrm>
            <a:off x="548640" y="3438144"/>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3438144"/>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3483864"/>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Presentación «Jardines de Cenizas»</a:t>
            </a:r>
          </a:p>
          <a:p>
            <a:pPr algn="l">
              <a:lnSpc>
                <a:spcPct val="115000"/>
              </a:lnSpc>
              <a:spcAft>
                <a:spcPts val="100"/>
              </a:spcAft>
            </a:pPr>
            <a:r>
              <a:rPr sz="1100" b="0" i="0">
                <a:solidFill>
                  <a:srgbClr val="2E2A36"/>
                </a:solidFill>
                <a:latin typeface="Montserrat"/>
              </a:rPr>
              <a:t>Fotos y medidas de cada jardín para mostrar en la visita o en la casa.</a:t>
            </a:r>
          </a:p>
        </p:txBody>
      </p:sp>
      <p:sp>
        <p:nvSpPr>
          <p:cNvPr id="15" name="Rectangle 14"/>
          <p:cNvSpPr/>
          <p:nvPr/>
        </p:nvSpPr>
        <p:spPr>
          <a:xfrm>
            <a:off x="548640" y="4334256"/>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548640" y="4334256"/>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1520" y="4379976"/>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Simulación de cuotas</a:t>
            </a:r>
          </a:p>
          <a:p>
            <a:pPr algn="l">
              <a:lnSpc>
                <a:spcPct val="115000"/>
              </a:lnSpc>
              <a:spcAft>
                <a:spcPts val="100"/>
              </a:spcAft>
            </a:pPr>
            <a:r>
              <a:rPr sz="1100" b="0" i="0">
                <a:solidFill>
                  <a:srgbClr val="2E2A36"/>
                </a:solidFill>
                <a:latin typeface="Montserrat"/>
              </a:rPr>
              <a:t>Calcule la cuota con el cliente: transparencia genera confianza.</a:t>
            </a:r>
          </a:p>
        </p:txBody>
      </p:sp>
      <p:sp>
        <p:nvSpPr>
          <p:cNvPr id="18" name="Rectangle 17"/>
          <p:cNvSpPr/>
          <p:nvPr/>
        </p:nvSpPr>
        <p:spPr>
          <a:xfrm>
            <a:off x="548640" y="5230368"/>
            <a:ext cx="5669280" cy="777240"/>
          </a:xfrm>
          <a:prstGeom prst="rect">
            <a:avLst/>
          </a:prstGeom>
          <a:solidFill>
            <a:srgbClr val="F5F2F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48640" y="5230368"/>
            <a:ext cx="64008" cy="77724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31520" y="5276088"/>
            <a:ext cx="5394960" cy="731520"/>
          </a:xfrm>
          <a:prstGeom prst="rect">
            <a:avLst/>
          </a:prstGeom>
          <a:noFill/>
        </p:spPr>
        <p:txBody>
          <a:bodyPr wrap="square" anchor="t" lIns="45720" rIns="45720" tIns="27432" bIns="27432">
            <a:spAutoFit/>
          </a:bodyPr>
          <a:lstStyle/>
          <a:p>
            <a:pPr algn="l">
              <a:lnSpc>
                <a:spcPct val="115000"/>
              </a:lnSpc>
              <a:spcAft>
                <a:spcPts val="100"/>
              </a:spcAft>
            </a:pPr>
            <a:r>
              <a:rPr sz="1300" b="1" i="0">
                <a:solidFill>
                  <a:srgbClr val="5B3F80"/>
                </a:solidFill>
                <a:latin typeface="Montserrat"/>
              </a:rPr>
              <a:t>Registro de contactos</a:t>
            </a:r>
          </a:p>
          <a:p>
            <a:pPr algn="l">
              <a:lnSpc>
                <a:spcPct val="115000"/>
              </a:lnSpc>
              <a:spcAft>
                <a:spcPts val="100"/>
              </a:spcAft>
            </a:pPr>
            <a:r>
              <a:rPr sz="1100" b="0" i="0">
                <a:solidFill>
                  <a:srgbClr val="2E2A36"/>
                </a:solidFill>
                <a:latin typeface="Montserrat"/>
              </a:rPr>
              <a:t>Un contacto no registrado no existe: sin datos no hay gestión ni comisión.</a:t>
            </a:r>
          </a:p>
        </p:txBody>
      </p:sp>
      <p:sp>
        <p:nvSpPr>
          <p:cNvPr id="21" name="Rectangle 20"/>
          <p:cNvSpPr/>
          <p:nvPr/>
        </p:nvSpPr>
        <p:spPr>
          <a:xfrm>
            <a:off x="6720840" y="1645920"/>
            <a:ext cx="4937760" cy="4434840"/>
          </a:xfrm>
          <a:prstGeom prst="rect">
            <a:avLst/>
          </a:prstGeom>
          <a:solidFill>
            <a:srgbClr val="5B3F8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95160" y="1783080"/>
            <a:ext cx="4389120" cy="457200"/>
          </a:xfrm>
          <a:prstGeom prst="rect">
            <a:avLst/>
          </a:prstGeom>
          <a:noFill/>
        </p:spPr>
        <p:txBody>
          <a:bodyPr wrap="square" anchor="t" lIns="45720" rIns="45720" tIns="27432" bIns="27432">
            <a:spAutoFit/>
          </a:bodyPr>
          <a:lstStyle/>
          <a:p>
            <a:pPr algn="l">
              <a:lnSpc>
                <a:spcPct val="115000"/>
              </a:lnSpc>
              <a:spcAft>
                <a:spcPts val="400"/>
              </a:spcAft>
            </a:pPr>
            <a:r>
              <a:rPr sz="1800" b="1" i="0">
                <a:solidFill>
                  <a:srgbClr val="C9A86A"/>
                </a:solidFill>
                <a:latin typeface="Playfair Display"/>
              </a:rPr>
              <a:t>Checklist antes de cerrar</a:t>
            </a:r>
          </a:p>
        </p:txBody>
      </p:sp>
      <p:sp>
        <p:nvSpPr>
          <p:cNvPr id="23" name="TextBox 22"/>
          <p:cNvSpPr txBox="1"/>
          <p:nvPr/>
        </p:nvSpPr>
        <p:spPr>
          <a:xfrm>
            <a:off x="6995160" y="2331720"/>
            <a:ext cx="4434840" cy="3657600"/>
          </a:xfrm>
          <a:prstGeom prst="rect">
            <a:avLst/>
          </a:prstGeom>
          <a:noFill/>
        </p:spPr>
        <p:txBody>
          <a:bodyPr wrap="square" anchor="t" lIns="45720" rIns="45720" tIns="27432" bIns="27432">
            <a:spAutoFit/>
          </a:bodyPr>
          <a:lstStyle/>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qué incluye el producto y qué no incluye.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Expliqué la cuota de mantenimiento o el plazo de 3 años, según el caso.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Confirmé el precio y la forma de pago con la Ficha Técnica vigente.</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descuento, si lo hubo, está dentro de la política y autorizado.</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El cliente recibió copia del contrato y el contacto de su asesor.</a:t>
            </a:r>
          </a:p>
          <a:p>
            <a:pPr algn="l">
              <a:lnSpc>
                <a:spcPct val="115000"/>
              </a:lnSpc>
              <a:spcAft>
                <a:spcPts val="900"/>
              </a:spcAft>
            </a:pPr>
            <a:r>
              <a:rPr sz="1400" b="0" i="0">
                <a:solidFill>
                  <a:srgbClr val="C9A86A"/>
                </a:solidFill>
                <a:latin typeface="Montserrat"/>
              </a:rPr>
              <a:t>☐  </a:t>
            </a:r>
            <a:r>
              <a:rPr sz="1300" b="0" i="0">
                <a:solidFill>
                  <a:srgbClr val="FFFFFF"/>
                </a:solidFill>
                <a:latin typeface="Montserrat"/>
              </a:rPr>
              <a:t>Registré la venta completa el mismo día.</a:t>
            </a:r>
          </a:p>
        </p:txBody>
      </p:sp>
      <p:sp>
        <p:nvSpPr>
          <p:cNvPr id="24" name="TextBox 23"/>
          <p:cNvSpPr txBox="1"/>
          <p:nvPr/>
        </p:nvSpPr>
        <p:spPr>
          <a:xfrm>
            <a:off x="548640" y="6446520"/>
            <a:ext cx="10180015" cy="274320"/>
          </a:xfrm>
          <a:prstGeom prst="rect">
            <a:avLst/>
          </a:prstGeom>
          <a:noFill/>
        </p:spPr>
        <p:txBody>
          <a:bodyPr wrap="square" anchor="t" lIns="45720" rIns="45720" tIns="27432" bIns="27432">
            <a:spAutoFit/>
          </a:bodyPr>
          <a:lstStyle/>
          <a:p>
            <a:pPr algn="l">
              <a:lnSpc>
                <a:spcPct val="115000"/>
              </a:lnSpc>
              <a:spcAft>
                <a:spcPts val="400"/>
              </a:spcAft>
            </a:pPr>
            <a:r>
              <a:rPr sz="900" b="0" i="0">
                <a:solidFill>
                  <a:srgbClr val="7D7887"/>
                </a:solidFill>
                <a:latin typeface="Montserrat"/>
              </a:rPr>
              <a:t>Playbook Comercial  ·  La Auxiliadora · Hogar de las Memorias · Las Colinas · Vangrupo</a:t>
            </a:r>
          </a:p>
        </p:txBody>
      </p:sp>
      <p:sp>
        <p:nvSpPr>
          <p:cNvPr id="25" name="TextBox 24"/>
          <p:cNvSpPr txBox="1"/>
          <p:nvPr/>
        </p:nvSpPr>
        <p:spPr>
          <a:xfrm>
            <a:off x="10728655" y="6446520"/>
            <a:ext cx="914400" cy="274320"/>
          </a:xfrm>
          <a:prstGeom prst="rect">
            <a:avLst/>
          </a:prstGeom>
          <a:noFill/>
        </p:spPr>
        <p:txBody>
          <a:bodyPr wrap="square" anchor="t" lIns="45720" rIns="45720" tIns="27432" bIns="27432">
            <a:spAutoFit/>
          </a:bodyPr>
          <a:lstStyle/>
          <a:p>
            <a:pPr algn="r">
              <a:lnSpc>
                <a:spcPct val="115000"/>
              </a:lnSpc>
              <a:spcAft>
                <a:spcPts val="400"/>
              </a:spcAft>
            </a:pPr>
            <a:r>
              <a:rPr sz="900" b="0" i="0">
                <a:solidFill>
                  <a:srgbClr val="7D7887"/>
                </a:solidFill>
                <a:latin typeface="Montserrat"/>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5B3F80"/>
        </a:solidFill>
        <a:effectLst/>
      </p:bgPr>
    </p:bg>
    <p:spTree>
      <p:nvGrpSpPr>
        <p:cNvPr id="1" name=""/>
        <p:cNvGrpSpPr/>
        <p:nvPr/>
      </p:nvGrpSpPr>
      <p:grpSpPr/>
      <p:sp>
        <p:nvSpPr>
          <p:cNvPr id="2" name="Rectangle 1"/>
          <p:cNvSpPr/>
          <p:nvPr/>
        </p:nvSpPr>
        <p:spPr>
          <a:xfrm>
            <a:off x="0" y="6629400"/>
            <a:ext cx="12191695" cy="228600"/>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371600" y="1554480"/>
            <a:ext cx="9448495" cy="2560320"/>
          </a:xfrm>
          <a:prstGeom prst="rect">
            <a:avLst/>
          </a:prstGeom>
          <a:noFill/>
        </p:spPr>
        <p:txBody>
          <a:bodyPr wrap="square" anchor="ctr" lIns="45720" rIns="45720" tIns="27432" bIns="27432">
            <a:spAutoFit/>
          </a:bodyPr>
          <a:lstStyle/>
          <a:p>
            <a:pPr algn="ctr">
              <a:lnSpc>
                <a:spcPct val="115000"/>
              </a:lnSpc>
              <a:spcAft>
                <a:spcPts val="400"/>
              </a:spcAft>
            </a:pPr>
            <a:r>
              <a:rPr sz="3000" b="0" i="1">
                <a:solidFill>
                  <a:srgbClr val="FFFFFF"/>
                </a:solidFill>
                <a:latin typeface="Playfair Display"/>
              </a:rPr>
              <a:t>«Cada familia que atendemos recordará cómo la tratamos en uno de los momentos más sensibles de su vida. Ese es nuestro verdadero producto.»</a:t>
            </a:r>
          </a:p>
        </p:txBody>
      </p:sp>
      <p:sp>
        <p:nvSpPr>
          <p:cNvPr id="4" name="Rectangle 3"/>
          <p:cNvSpPr/>
          <p:nvPr/>
        </p:nvSpPr>
        <p:spPr>
          <a:xfrm>
            <a:off x="5455767" y="4297680"/>
            <a:ext cx="1280160" cy="54864"/>
          </a:xfrm>
          <a:prstGeom prst="rect">
            <a:avLst/>
          </a:prstGeom>
          <a:solidFill>
            <a:srgbClr val="C9A8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371600" y="4572000"/>
            <a:ext cx="9448495" cy="457200"/>
          </a:xfrm>
          <a:prstGeom prst="rect">
            <a:avLst/>
          </a:prstGeom>
          <a:noFill/>
        </p:spPr>
        <p:txBody>
          <a:bodyPr wrap="square" anchor="t" lIns="45720" rIns="45720" tIns="27432" bIns="27432">
            <a:spAutoFit/>
          </a:bodyPr>
          <a:lstStyle/>
          <a:p>
            <a:pPr algn="ctr">
              <a:lnSpc>
                <a:spcPct val="115000"/>
              </a:lnSpc>
              <a:spcAft>
                <a:spcPts val="400"/>
              </a:spcAft>
            </a:pPr>
            <a:r>
              <a:rPr sz="1500" b="1" i="0">
                <a:solidFill>
                  <a:srgbClr val="C9A86A"/>
                </a:solidFill>
                <a:latin typeface="Montserrat"/>
              </a:rPr>
              <a:t>La Auxiliadora · Hogar de las Memorias · Las Colinas · Vangrupo</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