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7562088" cy="10689336"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5B3F80"/>
        </a:solidFill>
        <a:effectLst/>
      </p:bgPr>
    </p:bg>
    <p:spTree>
      <p:nvGrpSpPr>
        <p:cNvPr id="1" name=""/>
        <p:cNvGrpSpPr/>
        <p:nvPr/>
      </p:nvGrpSpPr>
      <p:grpSpPr/>
      <p:sp>
        <p:nvSpPr>
          <p:cNvPr id="2" name="Rounded Rectangle 1"/>
          <p:cNvSpPr/>
          <p:nvPr/>
        </p:nvSpPr>
        <p:spPr>
          <a:xfrm>
            <a:off x="502920" y="548640"/>
            <a:ext cx="6556248" cy="11430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a_auxiliadora.png"/>
          <p:cNvPicPr>
            <a:picLocks noChangeAspect="1"/>
          </p:cNvPicPr>
          <p:nvPr/>
        </p:nvPicPr>
        <p:blipFill>
          <a:blip r:embed="rId2"/>
          <a:stretch>
            <a:fillRect/>
          </a:stretch>
        </p:blipFill>
        <p:spPr>
          <a:xfrm>
            <a:off x="640080" y="889725"/>
            <a:ext cx="1467612" cy="460830"/>
          </a:xfrm>
          <a:prstGeom prst="rect">
            <a:avLst/>
          </a:prstGeom>
        </p:spPr>
      </p:pic>
      <p:pic>
        <p:nvPicPr>
          <p:cNvPr id="4" name="Picture 3" descr="hogar_de_las_memorias.png"/>
          <p:cNvPicPr>
            <a:picLocks noChangeAspect="1"/>
          </p:cNvPicPr>
          <p:nvPr/>
        </p:nvPicPr>
        <p:blipFill>
          <a:blip r:embed="rId3"/>
          <a:stretch>
            <a:fillRect/>
          </a:stretch>
        </p:blipFill>
        <p:spPr>
          <a:xfrm>
            <a:off x="2244852" y="826618"/>
            <a:ext cx="1467612" cy="587044"/>
          </a:xfrm>
          <a:prstGeom prst="rect">
            <a:avLst/>
          </a:prstGeom>
        </p:spPr>
      </p:pic>
      <p:pic>
        <p:nvPicPr>
          <p:cNvPr id="5" name="Picture 4" descr="las_colinas.png"/>
          <p:cNvPicPr>
            <a:picLocks noChangeAspect="1"/>
          </p:cNvPicPr>
          <p:nvPr/>
        </p:nvPicPr>
        <p:blipFill>
          <a:blip r:embed="rId4"/>
          <a:stretch>
            <a:fillRect/>
          </a:stretch>
        </p:blipFill>
        <p:spPr>
          <a:xfrm>
            <a:off x="3890223" y="685800"/>
            <a:ext cx="1386413" cy="868680"/>
          </a:xfrm>
          <a:prstGeom prst="rect">
            <a:avLst/>
          </a:prstGeom>
        </p:spPr>
      </p:pic>
      <p:pic>
        <p:nvPicPr>
          <p:cNvPr id="6" name="Picture 5" descr="vangrupo.png"/>
          <p:cNvPicPr>
            <a:picLocks noChangeAspect="1"/>
          </p:cNvPicPr>
          <p:nvPr/>
        </p:nvPicPr>
        <p:blipFill>
          <a:blip r:embed="rId5"/>
          <a:stretch>
            <a:fillRect/>
          </a:stretch>
        </p:blipFill>
        <p:spPr>
          <a:xfrm>
            <a:off x="5454396" y="932098"/>
            <a:ext cx="1467612" cy="376084"/>
          </a:xfrm>
          <a:prstGeom prst="rect">
            <a:avLst/>
          </a:prstGeom>
        </p:spPr>
      </p:pic>
      <p:sp>
        <p:nvSpPr>
          <p:cNvPr id="7" name="TextBox 6"/>
          <p:cNvSpPr txBox="1"/>
          <p:nvPr/>
        </p:nvSpPr>
        <p:spPr>
          <a:xfrm>
            <a:off x="594360" y="3017520"/>
            <a:ext cx="6556248" cy="365760"/>
          </a:xfrm>
          <a:prstGeom prst="rect">
            <a:avLst/>
          </a:prstGeom>
          <a:noFill/>
        </p:spPr>
        <p:txBody>
          <a:bodyPr wrap="square" anchor="t" lIns="45720" rIns="45720" tIns="27432" bIns="27432">
            <a:spAutoFit/>
          </a:bodyPr>
          <a:lstStyle/>
          <a:p>
            <a:pPr algn="l">
              <a:lnSpc>
                <a:spcPct val="115000"/>
              </a:lnSpc>
              <a:spcAft>
                <a:spcPts val="400"/>
              </a:spcAft>
            </a:pPr>
            <a:r>
              <a:rPr sz="1300" b="1" i="0">
                <a:solidFill>
                  <a:srgbClr val="C9A86A"/>
                </a:solidFill>
                <a:latin typeface="Montserrat"/>
              </a:rPr>
              <a:t>CAMPAÑA DÍA DE LOS MUERTOS 2026</a:t>
            </a:r>
          </a:p>
        </p:txBody>
      </p:sp>
      <p:sp>
        <p:nvSpPr>
          <p:cNvPr id="8" name="TextBox 7"/>
          <p:cNvSpPr txBox="1"/>
          <p:nvPr/>
        </p:nvSpPr>
        <p:spPr>
          <a:xfrm>
            <a:off x="594360" y="3474720"/>
            <a:ext cx="6556248" cy="2011680"/>
          </a:xfrm>
          <a:prstGeom prst="rect">
            <a:avLst/>
          </a:prstGeom>
          <a:noFill/>
        </p:spPr>
        <p:txBody>
          <a:bodyPr wrap="square" anchor="t" lIns="45720" rIns="45720" tIns="27432" bIns="27432">
            <a:spAutoFit/>
          </a:bodyPr>
          <a:lstStyle/>
          <a:p>
            <a:pPr algn="l">
              <a:lnSpc>
                <a:spcPct val="95000"/>
              </a:lnSpc>
              <a:spcAft>
                <a:spcPts val="0"/>
              </a:spcAft>
            </a:pPr>
            <a:r>
              <a:rPr sz="6000" b="1" i="0">
                <a:solidFill>
                  <a:srgbClr val="FFFFFF"/>
                </a:solidFill>
                <a:latin typeface="Playfair Display"/>
              </a:rPr>
              <a:t>Playbook</a:t>
            </a:r>
          </a:p>
          <a:p>
            <a:pPr algn="l">
              <a:lnSpc>
                <a:spcPct val="95000"/>
              </a:lnSpc>
              <a:spcAft>
                <a:spcPts val="0"/>
              </a:spcAft>
            </a:pPr>
            <a:r>
              <a:rPr sz="6000" b="1" i="0">
                <a:solidFill>
                  <a:srgbClr val="FFFFFF"/>
                </a:solidFill>
                <a:latin typeface="Playfair Display"/>
              </a:rPr>
              <a:t>Comercial</a:t>
            </a:r>
          </a:p>
        </p:txBody>
      </p:sp>
      <p:sp>
        <p:nvSpPr>
          <p:cNvPr id="9" name="TextBox 8"/>
          <p:cNvSpPr txBox="1"/>
          <p:nvPr/>
        </p:nvSpPr>
        <p:spPr>
          <a:xfrm>
            <a:off x="594360" y="5532120"/>
            <a:ext cx="6556248" cy="914400"/>
          </a:xfrm>
          <a:prstGeom prst="rect">
            <a:avLst/>
          </a:prstGeom>
          <a:noFill/>
        </p:spPr>
        <p:txBody>
          <a:bodyPr wrap="square" anchor="t" lIns="45720" rIns="45720" tIns="27432" bIns="27432">
            <a:spAutoFit/>
          </a:bodyPr>
          <a:lstStyle/>
          <a:p>
            <a:pPr algn="l">
              <a:lnSpc>
                <a:spcPct val="115000"/>
              </a:lnSpc>
              <a:spcAft>
                <a:spcPts val="400"/>
              </a:spcAft>
            </a:pPr>
            <a:r>
              <a:rPr sz="2200" b="0" i="0">
                <a:solidFill>
                  <a:srgbClr val="F1ECF7"/>
                </a:solidFill>
                <a:latin typeface="Playfair Display"/>
              </a:rPr>
              <a:t>Portafolio de Cremación y Jardines de Cenizas</a:t>
            </a:r>
          </a:p>
        </p:txBody>
      </p:sp>
      <p:sp>
        <p:nvSpPr>
          <p:cNvPr id="10" name="Rectangle 9"/>
          <p:cNvSpPr/>
          <p:nvPr/>
        </p:nvSpPr>
        <p:spPr>
          <a:xfrm>
            <a:off x="640080" y="6629400"/>
            <a:ext cx="1280160"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6858000"/>
            <a:ext cx="6556248" cy="822960"/>
          </a:xfrm>
          <a:prstGeom prst="rect">
            <a:avLst/>
          </a:prstGeom>
          <a:noFill/>
        </p:spPr>
        <p:txBody>
          <a:bodyPr wrap="square" anchor="t" lIns="45720" rIns="45720" tIns="27432" bIns="27432">
            <a:spAutoFit/>
          </a:bodyPr>
          <a:lstStyle/>
          <a:p>
            <a:pPr algn="l">
              <a:lnSpc>
                <a:spcPct val="115000"/>
              </a:lnSpc>
              <a:spcAft>
                <a:spcPts val="400"/>
              </a:spcAft>
            </a:pPr>
            <a:r>
              <a:rPr sz="1600" b="0" i="1">
                <a:solidFill>
                  <a:srgbClr val="FFFFFF"/>
                </a:solidFill>
                <a:latin typeface="Playfair Display"/>
              </a:rPr>
              <a:t>"Acompañar, no vender: la familia primero, siempre."</a:t>
            </a:r>
          </a:p>
        </p:txBody>
      </p:sp>
      <p:sp>
        <p:nvSpPr>
          <p:cNvPr id="12" name="TextBox 11"/>
          <p:cNvSpPr txBox="1"/>
          <p:nvPr/>
        </p:nvSpPr>
        <p:spPr>
          <a:xfrm>
            <a:off x="594360" y="9052560"/>
            <a:ext cx="6556248" cy="365760"/>
          </a:xfrm>
          <a:prstGeom prst="rect">
            <a:avLst/>
          </a:prstGeom>
          <a:noFill/>
        </p:spPr>
        <p:txBody>
          <a:bodyPr wrap="square" anchor="t" lIns="45720" rIns="45720" tIns="27432" bIns="27432">
            <a:spAutoFit/>
          </a:bodyPr>
          <a:lstStyle/>
          <a:p>
            <a:pPr algn="l">
              <a:lnSpc>
                <a:spcPct val="115000"/>
              </a:lnSpc>
              <a:spcAft>
                <a:spcPts val="400"/>
              </a:spcAft>
            </a:pPr>
            <a:r>
              <a:rPr sz="1200" b="1" i="0">
                <a:solidFill>
                  <a:srgbClr val="C9A86A"/>
                </a:solidFill>
                <a:latin typeface="Montserrat"/>
              </a:rPr>
              <a:t>La Auxiliadora · Hogar de las Memorias · Las Colinas · Vangrupo</a:t>
            </a:r>
          </a:p>
        </p:txBody>
      </p:sp>
      <p:sp>
        <p:nvSpPr>
          <p:cNvPr id="13" name="TextBox 12"/>
          <p:cNvSpPr txBox="1"/>
          <p:nvPr/>
        </p:nvSpPr>
        <p:spPr>
          <a:xfrm>
            <a:off x="594360" y="9418320"/>
            <a:ext cx="6556248" cy="365760"/>
          </a:xfrm>
          <a:prstGeom prst="rect">
            <a:avLst/>
          </a:prstGeom>
          <a:noFill/>
        </p:spPr>
        <p:txBody>
          <a:bodyPr wrap="square" anchor="t" lIns="45720" rIns="45720" tIns="27432" bIns="27432">
            <a:spAutoFit/>
          </a:bodyPr>
          <a:lstStyle/>
          <a:p>
            <a:pPr algn="l">
              <a:lnSpc>
                <a:spcPct val="115000"/>
              </a:lnSpc>
              <a:spcAft>
                <a:spcPts val="400"/>
              </a:spcAft>
            </a:pPr>
            <a:r>
              <a:rPr sz="1000" b="0" i="0">
                <a:solidFill>
                  <a:srgbClr val="D9CFE6"/>
                </a:solidFill>
                <a:latin typeface="Montserrat"/>
              </a:rPr>
              <a:t>Versión 1.1 · Octubre 2026 · Uso interno del equipo comercial</a:t>
            </a:r>
          </a:p>
        </p:txBody>
      </p:sp>
      <p:sp>
        <p:nvSpPr>
          <p:cNvPr id="14" name="Rectangle 13"/>
          <p:cNvSpPr/>
          <p:nvPr/>
        </p:nvSpPr>
        <p:spPr>
          <a:xfrm>
            <a:off x="0" y="10460736"/>
            <a:ext cx="7562088" cy="22860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10689336"/>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ANTES DE EMPEZAR</a:t>
            </a:r>
          </a:p>
        </p:txBody>
      </p:sp>
      <p:sp>
        <p:nvSpPr>
          <p:cNvPr id="4" name="TextBox 3"/>
          <p:cNvSpPr txBox="1"/>
          <p:nvPr/>
        </p:nvSpPr>
        <p:spPr>
          <a:xfrm>
            <a:off x="502920" y="621792"/>
            <a:ext cx="6556248"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Cómo usar este playbook</a:t>
            </a:r>
          </a:p>
        </p:txBody>
      </p:sp>
      <p:sp>
        <p:nvSpPr>
          <p:cNvPr id="5" name="Rectangle 4"/>
          <p:cNvSpPr/>
          <p:nvPr/>
        </p:nvSpPr>
        <p:spPr>
          <a:xfrm>
            <a:off x="50292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600200"/>
            <a:ext cx="6556248" cy="1280160"/>
          </a:xfrm>
          <a:prstGeom prst="rect">
            <a:avLst/>
          </a:prstGeom>
          <a:noFill/>
        </p:spPr>
        <p:txBody>
          <a:bodyPr wrap="square" anchor="t" lIns="45720" rIns="45720" tIns="27432" bIns="27432">
            <a:spAutoFit/>
          </a:bodyPr>
          <a:lstStyle/>
          <a:p>
            <a:pPr algn="l">
              <a:lnSpc>
                <a:spcPct val="115000"/>
              </a:lnSpc>
              <a:spcAft>
                <a:spcPts val="400"/>
              </a:spcAft>
            </a:pPr>
            <a:r>
              <a:rPr sz="1250" b="0" i="0">
                <a:solidFill>
                  <a:srgbClr val="2E2A36"/>
                </a:solidFill>
                <a:latin typeface="Montserrat"/>
              </a:rPr>
              <a:t>Este playbook es la referencia única del equipo comercial para el portafolio de cremación y jardines de cenizas. Reúne reglas, precios, discurso por producto, manejo de objeciones y política de comisiones. Se revisa cada trimestre con la Gerencia Comercial. Si algo cambia en la Ficha Técnica, este documento se actualiza.</a:t>
            </a:r>
          </a:p>
        </p:txBody>
      </p:sp>
      <p:sp>
        <p:nvSpPr>
          <p:cNvPr id="7" name="Rectangle 6"/>
          <p:cNvSpPr/>
          <p:nvPr/>
        </p:nvSpPr>
        <p:spPr>
          <a:xfrm>
            <a:off x="502920" y="2971800"/>
            <a:ext cx="6556248" cy="233172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2971800"/>
            <a:ext cx="73152" cy="2331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108960"/>
            <a:ext cx="6099048" cy="320040"/>
          </a:xfrm>
          <a:prstGeom prst="rect">
            <a:avLst/>
          </a:prstGeom>
          <a:noFill/>
        </p:spPr>
        <p:txBody>
          <a:bodyPr wrap="square" anchor="t" lIns="45720" rIns="45720" tIns="27432" bIns="27432">
            <a:spAutoFit/>
          </a:bodyPr>
          <a:lstStyle/>
          <a:p>
            <a:pPr algn="l">
              <a:lnSpc>
                <a:spcPct val="115000"/>
              </a:lnSpc>
              <a:spcAft>
                <a:spcPts val="400"/>
              </a:spcAft>
            </a:pPr>
            <a:r>
              <a:rPr sz="1050" b="1" i="0">
                <a:solidFill>
                  <a:srgbClr val="5B3F80"/>
                </a:solidFill>
                <a:latin typeface="Montserrat"/>
              </a:rPr>
              <a:t>PENDIENTES DE VALIDACIÓN</a:t>
            </a:r>
          </a:p>
        </p:txBody>
      </p:sp>
      <p:sp>
        <p:nvSpPr>
          <p:cNvPr id="10" name="TextBox 9"/>
          <p:cNvSpPr txBox="1"/>
          <p:nvPr/>
        </p:nvSpPr>
        <p:spPr>
          <a:xfrm>
            <a:off x="777240" y="3474720"/>
            <a:ext cx="6099048" cy="1783080"/>
          </a:xfrm>
          <a:prstGeom prst="rect">
            <a:avLst/>
          </a:prstGeom>
          <a:noFill/>
        </p:spPr>
        <p:txBody>
          <a:bodyPr wrap="square" anchor="t" lIns="45720" rIns="45720" tIns="27432" bIns="27432">
            <a:spAutoFit/>
          </a:bodyPr>
          <a:lstStyle/>
          <a:p>
            <a:pPr algn="l">
              <a:lnSpc>
                <a:spcPct val="115000"/>
              </a:lnSpc>
              <a:spcAft>
                <a:spcPts val="400"/>
              </a:spcAft>
            </a:pPr>
            <a:r>
              <a:rPr sz="850" b="1" i="0">
                <a:solidFill>
                  <a:srgbClr val="C9A86A"/>
                </a:solidFill>
                <a:latin typeface="Montserrat"/>
              </a:rPr>
              <a:t>■  </a:t>
            </a:r>
            <a:r>
              <a:rPr sz="1150" b="0" i="0">
                <a:solidFill>
                  <a:srgbClr val="2E2A36"/>
                </a:solidFill>
                <a:latin typeface="Montserrat"/>
              </a:rPr>
              <a:t>Política de comisiones de los productos de cremación: 1 venta en el mes = 8%, 2 ventas = 10%, 3 o más = 12% sobre la facturación.</a:t>
            </a:r>
          </a:p>
          <a:p>
            <a:pPr algn="l">
              <a:lnSpc>
                <a:spcPct val="115000"/>
              </a:lnSpc>
              <a:spcAft>
                <a:spcPts val="400"/>
              </a:spcAft>
            </a:pPr>
            <a:r>
              <a:rPr sz="850" b="1" i="0">
                <a:solidFill>
                  <a:srgbClr val="C9A86A"/>
                </a:solidFill>
                <a:latin typeface="Montserrat"/>
              </a:rPr>
              <a:t>■  </a:t>
            </a:r>
            <a:r>
              <a:rPr sz="1150" b="0" i="0">
                <a:solidFill>
                  <a:srgbClr val="2E2A36"/>
                </a:solidFill>
                <a:latin typeface="Montserrat"/>
              </a:rPr>
              <a:t>Placas de madera: confirmar el tratamiento de la madera para contacto con el suelo.</a:t>
            </a:r>
          </a:p>
          <a:p>
            <a:pPr algn="l">
              <a:lnSpc>
                <a:spcPct val="115000"/>
              </a:lnSpc>
              <a:spcAft>
                <a:spcPts val="400"/>
              </a:spcAft>
            </a:pPr>
            <a:r>
              <a:rPr sz="850" b="1" i="0">
                <a:solidFill>
                  <a:srgbClr val="C9A86A"/>
                </a:solidFill>
                <a:latin typeface="Montserrat"/>
              </a:rPr>
              <a:t>■  </a:t>
            </a:r>
            <a:r>
              <a:rPr sz="1150" b="0" i="0">
                <a:solidFill>
                  <a:srgbClr val="2E2A36"/>
                </a:solidFill>
                <a:latin typeface="Montserrat"/>
              </a:rPr>
              <a:t>Jardín Ceremonial: producto en definición. No se vende ni se cotiza todavía.</a:t>
            </a:r>
          </a:p>
        </p:txBody>
      </p:sp>
      <p:sp>
        <p:nvSpPr>
          <p:cNvPr id="11" name="TextBox 10"/>
          <p:cNvSpPr txBox="1"/>
          <p:nvPr/>
        </p:nvSpPr>
        <p:spPr>
          <a:xfrm>
            <a:off x="502920" y="5486400"/>
            <a:ext cx="6556248" cy="457200"/>
          </a:xfrm>
          <a:prstGeom prst="rect">
            <a:avLst/>
          </a:prstGeom>
          <a:noFill/>
        </p:spPr>
        <p:txBody>
          <a:bodyPr wrap="square" anchor="t" lIns="45720" rIns="45720" tIns="27432" bIns="27432">
            <a:spAutoFit/>
          </a:bodyPr>
          <a:lstStyle/>
          <a:p>
            <a:pPr algn="l">
              <a:lnSpc>
                <a:spcPct val="115000"/>
              </a:lnSpc>
              <a:spcAft>
                <a:spcPts val="400"/>
              </a:spcAft>
            </a:pPr>
            <a:r>
              <a:rPr sz="2200" b="1" i="0">
                <a:solidFill>
                  <a:srgbClr val="5B3F80"/>
                </a:solidFill>
                <a:latin typeface="Playfair Display"/>
              </a:rPr>
              <a:t>Contenido</a:t>
            </a:r>
          </a:p>
        </p:txBody>
      </p:sp>
      <p:sp>
        <p:nvSpPr>
          <p:cNvPr id="12" name="TextBox 11"/>
          <p:cNvSpPr txBox="1"/>
          <p:nvPr/>
        </p:nvSpPr>
        <p:spPr>
          <a:xfrm>
            <a:off x="502920" y="6035040"/>
            <a:ext cx="822960" cy="457200"/>
          </a:xfrm>
          <a:prstGeom prst="rect">
            <a:avLst/>
          </a:prstGeom>
          <a:noFill/>
        </p:spPr>
        <p:txBody>
          <a:bodyPr wrap="square" anchor="t" lIns="45720" rIns="45720" tIns="27432" bIns="27432">
            <a:spAutoFit/>
          </a:bodyPr>
          <a:lstStyle/>
          <a:p>
            <a:pPr algn="l">
              <a:lnSpc>
                <a:spcPct val="115000"/>
              </a:lnSpc>
              <a:spcAft>
                <a:spcPts val="400"/>
              </a:spcAft>
            </a:pPr>
            <a:r>
              <a:rPr sz="2200" b="1" i="0">
                <a:solidFill>
                  <a:srgbClr val="C9A86A"/>
                </a:solidFill>
                <a:latin typeface="Playfair Display"/>
              </a:rPr>
              <a:t>01</a:t>
            </a:r>
          </a:p>
        </p:txBody>
      </p:sp>
      <p:sp>
        <p:nvSpPr>
          <p:cNvPr id="13" name="TextBox 12"/>
          <p:cNvSpPr txBox="1"/>
          <p:nvPr/>
        </p:nvSpPr>
        <p:spPr>
          <a:xfrm>
            <a:off x="1325880" y="6117336"/>
            <a:ext cx="5733288" cy="384048"/>
          </a:xfrm>
          <a:prstGeom prst="rect">
            <a:avLst/>
          </a:prstGeom>
          <a:noFill/>
        </p:spPr>
        <p:txBody>
          <a:bodyPr wrap="square" anchor="t" lIns="45720" rIns="45720" tIns="27432" bIns="27432">
            <a:spAutoFit/>
          </a:bodyPr>
          <a:lstStyle/>
          <a:p>
            <a:pPr algn="l">
              <a:lnSpc>
                <a:spcPct val="115000"/>
              </a:lnSpc>
              <a:spcAft>
                <a:spcPts val="400"/>
              </a:spcAft>
            </a:pPr>
            <a:r>
              <a:rPr sz="1400" b="1" i="0">
                <a:solidFill>
                  <a:srgbClr val="5B3F80"/>
                </a:solidFill>
                <a:latin typeface="Montserrat"/>
              </a:rPr>
              <a:t>Quiénes somos y lo que vendemos</a:t>
            </a:r>
          </a:p>
        </p:txBody>
      </p:sp>
      <p:sp>
        <p:nvSpPr>
          <p:cNvPr id="14" name="Rectangle 13"/>
          <p:cNvSpPr/>
          <p:nvPr/>
        </p:nvSpPr>
        <p:spPr>
          <a:xfrm>
            <a:off x="502920" y="6483096"/>
            <a:ext cx="6556248" cy="10972"/>
          </a:xfrm>
          <a:prstGeom prst="rect">
            <a:avLst/>
          </a:prstGeom>
          <a:solidFill>
            <a:srgbClr val="E2D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6519672"/>
            <a:ext cx="822960" cy="457200"/>
          </a:xfrm>
          <a:prstGeom prst="rect">
            <a:avLst/>
          </a:prstGeom>
          <a:noFill/>
        </p:spPr>
        <p:txBody>
          <a:bodyPr wrap="square" anchor="t" lIns="45720" rIns="45720" tIns="27432" bIns="27432">
            <a:spAutoFit/>
          </a:bodyPr>
          <a:lstStyle/>
          <a:p>
            <a:pPr algn="l">
              <a:lnSpc>
                <a:spcPct val="115000"/>
              </a:lnSpc>
              <a:spcAft>
                <a:spcPts val="400"/>
              </a:spcAft>
            </a:pPr>
            <a:r>
              <a:rPr sz="2200" b="1" i="0">
                <a:solidFill>
                  <a:srgbClr val="C9A86A"/>
                </a:solidFill>
                <a:latin typeface="Playfair Display"/>
              </a:rPr>
              <a:t>02</a:t>
            </a:r>
          </a:p>
        </p:txBody>
      </p:sp>
      <p:sp>
        <p:nvSpPr>
          <p:cNvPr id="16" name="TextBox 15"/>
          <p:cNvSpPr txBox="1"/>
          <p:nvPr/>
        </p:nvSpPr>
        <p:spPr>
          <a:xfrm>
            <a:off x="1325880" y="6601968"/>
            <a:ext cx="5733288" cy="384048"/>
          </a:xfrm>
          <a:prstGeom prst="rect">
            <a:avLst/>
          </a:prstGeom>
          <a:noFill/>
        </p:spPr>
        <p:txBody>
          <a:bodyPr wrap="square" anchor="t" lIns="45720" rIns="45720" tIns="27432" bIns="27432">
            <a:spAutoFit/>
          </a:bodyPr>
          <a:lstStyle/>
          <a:p>
            <a:pPr algn="l">
              <a:lnSpc>
                <a:spcPct val="115000"/>
              </a:lnSpc>
              <a:spcAft>
                <a:spcPts val="400"/>
              </a:spcAft>
            </a:pPr>
            <a:r>
              <a:rPr sz="1400" b="1" i="0">
                <a:solidFill>
                  <a:srgbClr val="5B3F80"/>
                </a:solidFill>
                <a:latin typeface="Montserrat"/>
              </a:rPr>
              <a:t>A quién le vendemos</a:t>
            </a:r>
          </a:p>
        </p:txBody>
      </p:sp>
      <p:sp>
        <p:nvSpPr>
          <p:cNvPr id="17" name="Rectangle 16"/>
          <p:cNvSpPr/>
          <p:nvPr/>
        </p:nvSpPr>
        <p:spPr>
          <a:xfrm>
            <a:off x="502920" y="6967728"/>
            <a:ext cx="6556248" cy="10972"/>
          </a:xfrm>
          <a:prstGeom prst="rect">
            <a:avLst/>
          </a:prstGeom>
          <a:solidFill>
            <a:srgbClr val="E2D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7004304"/>
            <a:ext cx="822960" cy="457200"/>
          </a:xfrm>
          <a:prstGeom prst="rect">
            <a:avLst/>
          </a:prstGeom>
          <a:noFill/>
        </p:spPr>
        <p:txBody>
          <a:bodyPr wrap="square" anchor="t" lIns="45720" rIns="45720" tIns="27432" bIns="27432">
            <a:spAutoFit/>
          </a:bodyPr>
          <a:lstStyle/>
          <a:p>
            <a:pPr algn="l">
              <a:lnSpc>
                <a:spcPct val="115000"/>
              </a:lnSpc>
              <a:spcAft>
                <a:spcPts val="400"/>
              </a:spcAft>
            </a:pPr>
            <a:r>
              <a:rPr sz="2200" b="1" i="0">
                <a:solidFill>
                  <a:srgbClr val="C9A86A"/>
                </a:solidFill>
                <a:latin typeface="Playfair Display"/>
              </a:rPr>
              <a:t>03</a:t>
            </a:r>
          </a:p>
        </p:txBody>
      </p:sp>
      <p:sp>
        <p:nvSpPr>
          <p:cNvPr id="19" name="TextBox 18"/>
          <p:cNvSpPr txBox="1"/>
          <p:nvPr/>
        </p:nvSpPr>
        <p:spPr>
          <a:xfrm>
            <a:off x="1325880" y="7086600"/>
            <a:ext cx="5733288" cy="384048"/>
          </a:xfrm>
          <a:prstGeom prst="rect">
            <a:avLst/>
          </a:prstGeom>
          <a:noFill/>
        </p:spPr>
        <p:txBody>
          <a:bodyPr wrap="square" anchor="t" lIns="45720" rIns="45720" tIns="27432" bIns="27432">
            <a:spAutoFit/>
          </a:bodyPr>
          <a:lstStyle/>
          <a:p>
            <a:pPr algn="l">
              <a:lnSpc>
                <a:spcPct val="115000"/>
              </a:lnSpc>
              <a:spcAft>
                <a:spcPts val="400"/>
              </a:spcAft>
            </a:pPr>
            <a:r>
              <a:rPr sz="1400" b="1" i="0">
                <a:solidFill>
                  <a:srgbClr val="5B3F80"/>
                </a:solidFill>
                <a:latin typeface="Montserrat"/>
              </a:rPr>
              <a:t>El proceso de venta</a:t>
            </a:r>
          </a:p>
        </p:txBody>
      </p:sp>
      <p:sp>
        <p:nvSpPr>
          <p:cNvPr id="20" name="Rectangle 19"/>
          <p:cNvSpPr/>
          <p:nvPr/>
        </p:nvSpPr>
        <p:spPr>
          <a:xfrm>
            <a:off x="502920" y="7452360"/>
            <a:ext cx="6556248" cy="10972"/>
          </a:xfrm>
          <a:prstGeom prst="rect">
            <a:avLst/>
          </a:prstGeom>
          <a:solidFill>
            <a:srgbClr val="E2D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7488936"/>
            <a:ext cx="822960" cy="457200"/>
          </a:xfrm>
          <a:prstGeom prst="rect">
            <a:avLst/>
          </a:prstGeom>
          <a:noFill/>
        </p:spPr>
        <p:txBody>
          <a:bodyPr wrap="square" anchor="t" lIns="45720" rIns="45720" tIns="27432" bIns="27432">
            <a:spAutoFit/>
          </a:bodyPr>
          <a:lstStyle/>
          <a:p>
            <a:pPr algn="l">
              <a:lnSpc>
                <a:spcPct val="115000"/>
              </a:lnSpc>
              <a:spcAft>
                <a:spcPts val="400"/>
              </a:spcAft>
            </a:pPr>
            <a:r>
              <a:rPr sz="2200" b="1" i="0">
                <a:solidFill>
                  <a:srgbClr val="C9A86A"/>
                </a:solidFill>
                <a:latin typeface="Playfair Display"/>
              </a:rPr>
              <a:t>04</a:t>
            </a:r>
          </a:p>
        </p:txBody>
      </p:sp>
      <p:sp>
        <p:nvSpPr>
          <p:cNvPr id="22" name="TextBox 21"/>
          <p:cNvSpPr txBox="1"/>
          <p:nvPr/>
        </p:nvSpPr>
        <p:spPr>
          <a:xfrm>
            <a:off x="1325880" y="7571232"/>
            <a:ext cx="5733288" cy="384048"/>
          </a:xfrm>
          <a:prstGeom prst="rect">
            <a:avLst/>
          </a:prstGeom>
          <a:noFill/>
        </p:spPr>
        <p:txBody>
          <a:bodyPr wrap="square" anchor="t" lIns="45720" rIns="45720" tIns="27432" bIns="27432">
            <a:spAutoFit/>
          </a:bodyPr>
          <a:lstStyle/>
          <a:p>
            <a:pPr algn="l">
              <a:lnSpc>
                <a:spcPct val="115000"/>
              </a:lnSpc>
              <a:spcAft>
                <a:spcPts val="400"/>
              </a:spcAft>
            </a:pPr>
            <a:r>
              <a:rPr sz="1400" b="1" i="0">
                <a:solidFill>
                  <a:srgbClr val="5B3F80"/>
                </a:solidFill>
                <a:latin typeface="Montserrat"/>
              </a:rPr>
              <a:t>Producto por producto: speech y reglas</a:t>
            </a:r>
          </a:p>
        </p:txBody>
      </p:sp>
      <p:sp>
        <p:nvSpPr>
          <p:cNvPr id="23" name="Rectangle 22"/>
          <p:cNvSpPr/>
          <p:nvPr/>
        </p:nvSpPr>
        <p:spPr>
          <a:xfrm>
            <a:off x="502920" y="7936992"/>
            <a:ext cx="6556248" cy="10972"/>
          </a:xfrm>
          <a:prstGeom prst="rect">
            <a:avLst/>
          </a:prstGeom>
          <a:solidFill>
            <a:srgbClr val="E2D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7973568"/>
            <a:ext cx="822960" cy="457200"/>
          </a:xfrm>
          <a:prstGeom prst="rect">
            <a:avLst/>
          </a:prstGeom>
          <a:noFill/>
        </p:spPr>
        <p:txBody>
          <a:bodyPr wrap="square" anchor="t" lIns="45720" rIns="45720" tIns="27432" bIns="27432">
            <a:spAutoFit/>
          </a:bodyPr>
          <a:lstStyle/>
          <a:p>
            <a:pPr algn="l">
              <a:lnSpc>
                <a:spcPct val="115000"/>
              </a:lnSpc>
              <a:spcAft>
                <a:spcPts val="400"/>
              </a:spcAft>
            </a:pPr>
            <a:r>
              <a:rPr sz="2200" b="1" i="0">
                <a:solidFill>
                  <a:srgbClr val="C9A86A"/>
                </a:solidFill>
                <a:latin typeface="Playfair Display"/>
              </a:rPr>
              <a:t>05</a:t>
            </a:r>
          </a:p>
        </p:txBody>
      </p:sp>
      <p:sp>
        <p:nvSpPr>
          <p:cNvPr id="25" name="TextBox 24"/>
          <p:cNvSpPr txBox="1"/>
          <p:nvPr/>
        </p:nvSpPr>
        <p:spPr>
          <a:xfrm>
            <a:off x="1325880" y="8055864"/>
            <a:ext cx="5733288" cy="384048"/>
          </a:xfrm>
          <a:prstGeom prst="rect">
            <a:avLst/>
          </a:prstGeom>
          <a:noFill/>
        </p:spPr>
        <p:txBody>
          <a:bodyPr wrap="square" anchor="t" lIns="45720" rIns="45720" tIns="27432" bIns="27432">
            <a:spAutoFit/>
          </a:bodyPr>
          <a:lstStyle/>
          <a:p>
            <a:pPr algn="l">
              <a:lnSpc>
                <a:spcPct val="115000"/>
              </a:lnSpc>
              <a:spcAft>
                <a:spcPts val="400"/>
              </a:spcAft>
            </a:pPr>
            <a:r>
              <a:rPr sz="1400" b="1" i="0">
                <a:solidFill>
                  <a:srgbClr val="5B3F80"/>
                </a:solidFill>
                <a:latin typeface="Montserrat"/>
              </a:rPr>
              <a:t>Manejo de objeciones</a:t>
            </a:r>
          </a:p>
        </p:txBody>
      </p:sp>
      <p:sp>
        <p:nvSpPr>
          <p:cNvPr id="26" name="Rectangle 25"/>
          <p:cNvSpPr/>
          <p:nvPr/>
        </p:nvSpPr>
        <p:spPr>
          <a:xfrm>
            <a:off x="502920" y="8421624"/>
            <a:ext cx="6556248" cy="10972"/>
          </a:xfrm>
          <a:prstGeom prst="rect">
            <a:avLst/>
          </a:prstGeom>
          <a:solidFill>
            <a:srgbClr val="E2D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8458200"/>
            <a:ext cx="822960" cy="457200"/>
          </a:xfrm>
          <a:prstGeom prst="rect">
            <a:avLst/>
          </a:prstGeom>
          <a:noFill/>
        </p:spPr>
        <p:txBody>
          <a:bodyPr wrap="square" anchor="t" lIns="45720" rIns="45720" tIns="27432" bIns="27432">
            <a:spAutoFit/>
          </a:bodyPr>
          <a:lstStyle/>
          <a:p>
            <a:pPr algn="l">
              <a:lnSpc>
                <a:spcPct val="115000"/>
              </a:lnSpc>
              <a:spcAft>
                <a:spcPts val="400"/>
              </a:spcAft>
            </a:pPr>
            <a:r>
              <a:rPr sz="2200" b="1" i="0">
                <a:solidFill>
                  <a:srgbClr val="C9A86A"/>
                </a:solidFill>
                <a:latin typeface="Playfair Display"/>
              </a:rPr>
              <a:t>06</a:t>
            </a:r>
          </a:p>
        </p:txBody>
      </p:sp>
      <p:sp>
        <p:nvSpPr>
          <p:cNvPr id="28" name="TextBox 27"/>
          <p:cNvSpPr txBox="1"/>
          <p:nvPr/>
        </p:nvSpPr>
        <p:spPr>
          <a:xfrm>
            <a:off x="1325880" y="8540496"/>
            <a:ext cx="5733288" cy="384048"/>
          </a:xfrm>
          <a:prstGeom prst="rect">
            <a:avLst/>
          </a:prstGeom>
          <a:noFill/>
        </p:spPr>
        <p:txBody>
          <a:bodyPr wrap="square" anchor="t" lIns="45720" rIns="45720" tIns="27432" bIns="27432">
            <a:spAutoFit/>
          </a:bodyPr>
          <a:lstStyle/>
          <a:p>
            <a:pPr algn="l">
              <a:lnSpc>
                <a:spcPct val="115000"/>
              </a:lnSpc>
              <a:spcAft>
                <a:spcPts val="400"/>
              </a:spcAft>
            </a:pPr>
            <a:r>
              <a:rPr sz="1400" b="1" i="0">
                <a:solidFill>
                  <a:srgbClr val="5B3F80"/>
                </a:solidFill>
                <a:latin typeface="Montserrat"/>
              </a:rPr>
              <a:t>Precios, reglas y condiciones</a:t>
            </a:r>
          </a:p>
        </p:txBody>
      </p:sp>
      <p:sp>
        <p:nvSpPr>
          <p:cNvPr id="29" name="Rectangle 28"/>
          <p:cNvSpPr/>
          <p:nvPr/>
        </p:nvSpPr>
        <p:spPr>
          <a:xfrm>
            <a:off x="502920" y="8906256"/>
            <a:ext cx="6556248" cy="10972"/>
          </a:xfrm>
          <a:prstGeom prst="rect">
            <a:avLst/>
          </a:prstGeom>
          <a:solidFill>
            <a:srgbClr val="E2D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8942832"/>
            <a:ext cx="822960" cy="457200"/>
          </a:xfrm>
          <a:prstGeom prst="rect">
            <a:avLst/>
          </a:prstGeom>
          <a:noFill/>
        </p:spPr>
        <p:txBody>
          <a:bodyPr wrap="square" anchor="t" lIns="45720" rIns="45720" tIns="27432" bIns="27432">
            <a:spAutoFit/>
          </a:bodyPr>
          <a:lstStyle/>
          <a:p>
            <a:pPr algn="l">
              <a:lnSpc>
                <a:spcPct val="115000"/>
              </a:lnSpc>
              <a:spcAft>
                <a:spcPts val="400"/>
              </a:spcAft>
            </a:pPr>
            <a:r>
              <a:rPr sz="2200" b="1" i="0">
                <a:solidFill>
                  <a:srgbClr val="C9A86A"/>
                </a:solidFill>
                <a:latin typeface="Playfair Display"/>
              </a:rPr>
              <a:t>07</a:t>
            </a:r>
          </a:p>
        </p:txBody>
      </p:sp>
      <p:sp>
        <p:nvSpPr>
          <p:cNvPr id="31" name="TextBox 30"/>
          <p:cNvSpPr txBox="1"/>
          <p:nvPr/>
        </p:nvSpPr>
        <p:spPr>
          <a:xfrm>
            <a:off x="1325880" y="9025128"/>
            <a:ext cx="5733288" cy="384048"/>
          </a:xfrm>
          <a:prstGeom prst="rect">
            <a:avLst/>
          </a:prstGeom>
          <a:noFill/>
        </p:spPr>
        <p:txBody>
          <a:bodyPr wrap="square" anchor="t" lIns="45720" rIns="45720" tIns="27432" bIns="27432">
            <a:spAutoFit/>
          </a:bodyPr>
          <a:lstStyle/>
          <a:p>
            <a:pPr algn="l">
              <a:lnSpc>
                <a:spcPct val="115000"/>
              </a:lnSpc>
              <a:spcAft>
                <a:spcPts val="400"/>
              </a:spcAft>
            </a:pPr>
            <a:r>
              <a:rPr sz="1400" b="1" i="0">
                <a:solidFill>
                  <a:srgbClr val="5B3F80"/>
                </a:solidFill>
                <a:latin typeface="Montserrat"/>
              </a:rPr>
              <a:t>Política de comisiones de los productos de cremación</a:t>
            </a:r>
          </a:p>
        </p:txBody>
      </p:sp>
      <p:sp>
        <p:nvSpPr>
          <p:cNvPr id="32" name="Rectangle 31"/>
          <p:cNvSpPr/>
          <p:nvPr/>
        </p:nvSpPr>
        <p:spPr>
          <a:xfrm>
            <a:off x="502920" y="9390888"/>
            <a:ext cx="6556248" cy="10972"/>
          </a:xfrm>
          <a:prstGeom prst="rect">
            <a:avLst/>
          </a:prstGeom>
          <a:solidFill>
            <a:srgbClr val="E2D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9427464"/>
            <a:ext cx="822960" cy="457200"/>
          </a:xfrm>
          <a:prstGeom prst="rect">
            <a:avLst/>
          </a:prstGeom>
          <a:noFill/>
        </p:spPr>
        <p:txBody>
          <a:bodyPr wrap="square" anchor="t" lIns="45720" rIns="45720" tIns="27432" bIns="27432">
            <a:spAutoFit/>
          </a:bodyPr>
          <a:lstStyle/>
          <a:p>
            <a:pPr algn="l">
              <a:lnSpc>
                <a:spcPct val="115000"/>
              </a:lnSpc>
              <a:spcAft>
                <a:spcPts val="400"/>
              </a:spcAft>
            </a:pPr>
            <a:r>
              <a:rPr sz="2200" b="1" i="0">
                <a:solidFill>
                  <a:srgbClr val="C9A86A"/>
                </a:solidFill>
                <a:latin typeface="Playfair Display"/>
              </a:rPr>
              <a:t>08</a:t>
            </a:r>
          </a:p>
        </p:txBody>
      </p:sp>
      <p:sp>
        <p:nvSpPr>
          <p:cNvPr id="34" name="TextBox 33"/>
          <p:cNvSpPr txBox="1"/>
          <p:nvPr/>
        </p:nvSpPr>
        <p:spPr>
          <a:xfrm>
            <a:off x="1325880" y="9509760"/>
            <a:ext cx="5733288" cy="384048"/>
          </a:xfrm>
          <a:prstGeom prst="rect">
            <a:avLst/>
          </a:prstGeom>
          <a:noFill/>
        </p:spPr>
        <p:txBody>
          <a:bodyPr wrap="square" anchor="t" lIns="45720" rIns="45720" tIns="27432" bIns="27432">
            <a:spAutoFit/>
          </a:bodyPr>
          <a:lstStyle/>
          <a:p>
            <a:pPr algn="l">
              <a:lnSpc>
                <a:spcPct val="115000"/>
              </a:lnSpc>
              <a:spcAft>
                <a:spcPts val="400"/>
              </a:spcAft>
            </a:pPr>
            <a:r>
              <a:rPr sz="1400" b="1" i="0">
                <a:solidFill>
                  <a:srgbClr val="5B3F80"/>
                </a:solidFill>
                <a:latin typeface="Montserrat"/>
              </a:rPr>
              <a:t>Herramientas de apoyo</a:t>
            </a:r>
          </a:p>
        </p:txBody>
      </p:sp>
      <p:sp>
        <p:nvSpPr>
          <p:cNvPr id="35" name="Rectangle 34"/>
          <p:cNvSpPr/>
          <p:nvPr/>
        </p:nvSpPr>
        <p:spPr>
          <a:xfrm>
            <a:off x="502920" y="9875520"/>
            <a:ext cx="6556248" cy="10972"/>
          </a:xfrm>
          <a:prstGeom prst="rect">
            <a:avLst/>
          </a:prstGeom>
          <a:solidFill>
            <a:srgbClr val="E2D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 y="10277856"/>
            <a:ext cx="5641848"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37" name="TextBox 36"/>
          <p:cNvSpPr txBox="1"/>
          <p:nvPr/>
        </p:nvSpPr>
        <p:spPr>
          <a:xfrm>
            <a:off x="6144768" y="10277856"/>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10689336"/>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01 · QUIÉNES SOMOS</a:t>
            </a:r>
          </a:p>
        </p:txBody>
      </p:sp>
      <p:sp>
        <p:nvSpPr>
          <p:cNvPr id="4" name="TextBox 3"/>
          <p:cNvSpPr txBox="1"/>
          <p:nvPr/>
        </p:nvSpPr>
        <p:spPr>
          <a:xfrm>
            <a:off x="502920" y="621792"/>
            <a:ext cx="6556248"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Acompañamos familias</a:t>
            </a:r>
          </a:p>
        </p:txBody>
      </p:sp>
      <p:sp>
        <p:nvSpPr>
          <p:cNvPr id="5" name="Rectangle 4"/>
          <p:cNvSpPr/>
          <p:nvPr/>
        </p:nvSpPr>
        <p:spPr>
          <a:xfrm>
            <a:off x="50292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600200"/>
            <a:ext cx="6556248" cy="1600200"/>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En La Auxiliadora, Hogar de las Memorias y Parque Memorial Las Colinas, empresas de Vangrupo, no vendemos nichos, parcelas ni servicios: acompañamos a las familias salvadoreñas a honrar la memoria de quienes aman. La cremación es una decisión cada vez más elegida, y nuestros nuevos jardines de cenizas responden a una pregunta que muchas familias se hacen y pocas se atreven a decir: "¿y después de la cremación, dónde las visitamos?".</a:t>
            </a:r>
          </a:p>
        </p:txBody>
      </p:sp>
      <p:pic>
        <p:nvPicPr>
          <p:cNvPr id="7" name="Picture 6" descr="01_portafolio.png"/>
          <p:cNvPicPr>
            <a:picLocks noChangeAspect="1"/>
          </p:cNvPicPr>
          <p:nvPr/>
        </p:nvPicPr>
        <p:blipFill>
          <a:blip r:embed="rId2"/>
          <a:stretch>
            <a:fillRect/>
          </a:stretch>
        </p:blipFill>
        <p:spPr>
          <a:xfrm>
            <a:off x="595392" y="3200400"/>
            <a:ext cx="6371303" cy="2880360"/>
          </a:xfrm>
          <a:prstGeom prst="rect">
            <a:avLst/>
          </a:prstGeom>
        </p:spPr>
      </p:pic>
      <p:sp>
        <p:nvSpPr>
          <p:cNvPr id="8" name="Rectangle 7"/>
          <p:cNvSpPr/>
          <p:nvPr/>
        </p:nvSpPr>
        <p:spPr>
          <a:xfrm>
            <a:off x="502920" y="6263640"/>
            <a:ext cx="3186684" cy="11430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6263640"/>
            <a:ext cx="3186684"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637336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UN LUGAR PARA VOLVER</a:t>
            </a:r>
          </a:p>
        </p:txBody>
      </p:sp>
      <p:sp>
        <p:nvSpPr>
          <p:cNvPr id="11" name="TextBox 10"/>
          <p:cNvSpPr txBox="1"/>
          <p:nvPr/>
        </p:nvSpPr>
        <p:spPr>
          <a:xfrm>
            <a:off x="640080" y="6647688"/>
            <a:ext cx="2912364" cy="685800"/>
          </a:xfrm>
          <a:prstGeom prst="rect">
            <a:avLst/>
          </a:prstGeom>
          <a:noFill/>
        </p:spPr>
        <p:txBody>
          <a:bodyPr wrap="square" anchor="t" lIns="45720" rIns="45720" tIns="27432" bIns="27432">
            <a:spAutoFit/>
          </a:bodyPr>
          <a:lstStyle/>
          <a:p>
            <a:pPr algn="l">
              <a:lnSpc>
                <a:spcPct val="115000"/>
              </a:lnSpc>
              <a:spcAft>
                <a:spcPts val="300"/>
              </a:spcAft>
            </a:pPr>
            <a:r>
              <a:rPr sz="1050" b="0" i="0">
                <a:solidFill>
                  <a:srgbClr val="2E2A36"/>
                </a:solidFill>
                <a:latin typeface="Montserrat"/>
              </a:rPr>
              <a:t>La familia tiene un sitio físico, digno y verde para visitar y recordar.</a:t>
            </a:r>
          </a:p>
        </p:txBody>
      </p:sp>
      <p:sp>
        <p:nvSpPr>
          <p:cNvPr id="12" name="Rectangle 11"/>
          <p:cNvSpPr/>
          <p:nvPr/>
        </p:nvSpPr>
        <p:spPr>
          <a:xfrm>
            <a:off x="3872484" y="6263640"/>
            <a:ext cx="3186684" cy="11430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72484" y="6263640"/>
            <a:ext cx="3186684"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09644" y="637336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PRECIO ACCESIBLE</a:t>
            </a:r>
          </a:p>
        </p:txBody>
      </p:sp>
      <p:sp>
        <p:nvSpPr>
          <p:cNvPr id="15" name="TextBox 14"/>
          <p:cNvSpPr txBox="1"/>
          <p:nvPr/>
        </p:nvSpPr>
        <p:spPr>
          <a:xfrm>
            <a:off x="4009644" y="6647688"/>
            <a:ext cx="2912364" cy="685800"/>
          </a:xfrm>
          <a:prstGeom prst="rect">
            <a:avLst/>
          </a:prstGeom>
          <a:noFill/>
        </p:spPr>
        <p:txBody>
          <a:bodyPr wrap="square" anchor="t" lIns="45720" rIns="45720" tIns="27432" bIns="27432">
            <a:spAutoFit/>
          </a:bodyPr>
          <a:lstStyle/>
          <a:p>
            <a:pPr algn="l">
              <a:lnSpc>
                <a:spcPct val="115000"/>
              </a:lnSpc>
              <a:spcAft>
                <a:spcPts val="300"/>
              </a:spcAft>
            </a:pPr>
            <a:r>
              <a:rPr sz="1050" b="0" i="0">
                <a:solidFill>
                  <a:srgbClr val="2E2A36"/>
                </a:solidFill>
                <a:latin typeface="Montserrat"/>
              </a:rPr>
              <a:t>Desde US$ 320 en lanzamiento y con financiamiento: un destino final al alcance de más familias.</a:t>
            </a:r>
          </a:p>
        </p:txBody>
      </p:sp>
      <p:sp>
        <p:nvSpPr>
          <p:cNvPr id="16" name="Rectangle 15"/>
          <p:cNvSpPr/>
          <p:nvPr/>
        </p:nvSpPr>
        <p:spPr>
          <a:xfrm>
            <a:off x="502920" y="7543800"/>
            <a:ext cx="3186684" cy="11430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7543800"/>
            <a:ext cx="3186684"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765352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NATURALEZA Y LEGADO</a:t>
            </a:r>
          </a:p>
        </p:txBody>
      </p:sp>
      <p:sp>
        <p:nvSpPr>
          <p:cNvPr id="19" name="TextBox 18"/>
          <p:cNvSpPr txBox="1"/>
          <p:nvPr/>
        </p:nvSpPr>
        <p:spPr>
          <a:xfrm>
            <a:off x="640080" y="7927848"/>
            <a:ext cx="2912364" cy="685800"/>
          </a:xfrm>
          <a:prstGeom prst="rect">
            <a:avLst/>
          </a:prstGeom>
          <a:noFill/>
        </p:spPr>
        <p:txBody>
          <a:bodyPr wrap="square" anchor="t" lIns="45720" rIns="45720" tIns="27432" bIns="27432">
            <a:spAutoFit/>
          </a:bodyPr>
          <a:lstStyle/>
          <a:p>
            <a:pPr algn="l">
              <a:lnSpc>
                <a:spcPct val="115000"/>
              </a:lnSpc>
              <a:spcAft>
                <a:spcPts val="300"/>
              </a:spcAft>
            </a:pPr>
            <a:r>
              <a:rPr sz="1050" b="0" i="0">
                <a:solidFill>
                  <a:srgbClr val="2E2A36"/>
                </a:solidFill>
                <a:latin typeface="Montserrat"/>
              </a:rPr>
              <a:t>Jardines de plantas de sombra, agua corriente y bosque: un homenaje que vive.</a:t>
            </a:r>
          </a:p>
        </p:txBody>
      </p:sp>
      <p:sp>
        <p:nvSpPr>
          <p:cNvPr id="20" name="Rectangle 19"/>
          <p:cNvSpPr/>
          <p:nvPr/>
        </p:nvSpPr>
        <p:spPr>
          <a:xfrm>
            <a:off x="3872484" y="7543800"/>
            <a:ext cx="3186684" cy="11430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872484" y="7543800"/>
            <a:ext cx="3186684"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09644" y="765352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SIN DECISIONES BAJO PRESIÓN</a:t>
            </a:r>
          </a:p>
        </p:txBody>
      </p:sp>
      <p:sp>
        <p:nvSpPr>
          <p:cNvPr id="23" name="TextBox 22"/>
          <p:cNvSpPr txBox="1"/>
          <p:nvPr/>
        </p:nvSpPr>
        <p:spPr>
          <a:xfrm>
            <a:off x="4009644" y="7927848"/>
            <a:ext cx="2912364" cy="685800"/>
          </a:xfrm>
          <a:prstGeom prst="rect">
            <a:avLst/>
          </a:prstGeom>
          <a:noFill/>
        </p:spPr>
        <p:txBody>
          <a:bodyPr wrap="square" anchor="t" lIns="45720" rIns="45720" tIns="27432" bIns="27432">
            <a:spAutoFit/>
          </a:bodyPr>
          <a:lstStyle/>
          <a:p>
            <a:pPr algn="l">
              <a:lnSpc>
                <a:spcPct val="115000"/>
              </a:lnSpc>
              <a:spcAft>
                <a:spcPts val="300"/>
              </a:spcAft>
            </a:pPr>
            <a:r>
              <a:rPr sz="1050" b="0" i="0">
                <a:solidFill>
                  <a:srgbClr val="2E2A36"/>
                </a:solidFill>
                <a:latin typeface="Montserrat"/>
              </a:rPr>
              <a:t>Planificar hoy evita que la familia decida en el peor momento.</a:t>
            </a:r>
          </a:p>
        </p:txBody>
      </p:sp>
      <p:sp>
        <p:nvSpPr>
          <p:cNvPr id="24" name="Rectangle 23"/>
          <p:cNvSpPr/>
          <p:nvPr/>
        </p:nvSpPr>
        <p:spPr>
          <a:xfrm>
            <a:off x="502920" y="8915400"/>
            <a:ext cx="6556248" cy="109728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8915400"/>
            <a:ext cx="6099048" cy="1097280"/>
          </a:xfrm>
          <a:prstGeom prst="rect">
            <a:avLst/>
          </a:prstGeom>
          <a:noFill/>
        </p:spPr>
        <p:txBody>
          <a:bodyPr wrap="square" anchor="ctr" lIns="45720" rIns="45720" tIns="27432" bIns="27432">
            <a:spAutoFit/>
          </a:bodyPr>
          <a:lstStyle/>
          <a:p>
            <a:pPr algn="l">
              <a:lnSpc>
                <a:spcPct val="115000"/>
              </a:lnSpc>
              <a:spcAft>
                <a:spcPts val="400"/>
              </a:spcAft>
            </a:pPr>
            <a:r>
              <a:rPr sz="1050" b="1" i="0">
                <a:solidFill>
                  <a:srgbClr val="C9A86A"/>
                </a:solidFill>
                <a:latin typeface="Montserrat"/>
              </a:rPr>
              <a:t>REGLA DE ORO   </a:t>
            </a:r>
            <a:r>
              <a:rPr sz="1200" b="0" i="1">
                <a:solidFill>
                  <a:srgbClr val="FFFFFF"/>
                </a:solidFill>
                <a:latin typeface="Montserrat"/>
              </a:rPr>
              <a:t>Nuestra diferencia no es el precio: es la atención. Antes de cada propuesta, pregúntese: "¿esto acoge a la familia o solo cierra un negocio?".</a:t>
            </a:r>
          </a:p>
        </p:txBody>
      </p:sp>
      <p:sp>
        <p:nvSpPr>
          <p:cNvPr id="26" name="TextBox 25"/>
          <p:cNvSpPr txBox="1"/>
          <p:nvPr/>
        </p:nvSpPr>
        <p:spPr>
          <a:xfrm>
            <a:off x="502920" y="10277856"/>
            <a:ext cx="5641848"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27" name="TextBox 26"/>
          <p:cNvSpPr txBox="1"/>
          <p:nvPr/>
        </p:nvSpPr>
        <p:spPr>
          <a:xfrm>
            <a:off x="6144768" y="10277856"/>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10689336"/>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01 · LO QUE VENDEMOS</a:t>
            </a:r>
          </a:p>
        </p:txBody>
      </p:sp>
      <p:sp>
        <p:nvSpPr>
          <p:cNvPr id="4" name="TextBox 3"/>
          <p:cNvSpPr txBox="1"/>
          <p:nvPr/>
        </p:nvSpPr>
        <p:spPr>
          <a:xfrm>
            <a:off x="502920" y="621792"/>
            <a:ext cx="6556248"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Dos momentos de venta</a:t>
            </a:r>
          </a:p>
        </p:txBody>
      </p:sp>
      <p:sp>
        <p:nvSpPr>
          <p:cNvPr id="5" name="Rectangle 4"/>
          <p:cNvSpPr/>
          <p:nvPr/>
        </p:nvSpPr>
        <p:spPr>
          <a:xfrm>
            <a:off x="50292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645920"/>
            <a:ext cx="6556248" cy="14630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6556248" cy="54864"/>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810512"/>
            <a:ext cx="6190488" cy="566928"/>
          </a:xfrm>
          <a:prstGeom prst="rect">
            <a:avLst/>
          </a:prstGeom>
          <a:noFill/>
        </p:spPr>
        <p:txBody>
          <a:bodyPr wrap="square" anchor="ctr" lIns="45720" rIns="45720" tIns="27432" bIns="27432">
            <a:spAutoFit/>
          </a:bodyPr>
          <a:lstStyle/>
          <a:p>
            <a:pPr algn="l">
              <a:lnSpc>
                <a:spcPct val="100000"/>
              </a:lnSpc>
              <a:spcAft>
                <a:spcPts val="400"/>
              </a:spcAft>
            </a:pPr>
            <a:r>
              <a:rPr sz="1500" b="1" i="0">
                <a:solidFill>
                  <a:srgbClr val="5B3F80"/>
                </a:solidFill>
                <a:latin typeface="Montserrat"/>
              </a:rPr>
              <a:t>Prenecesidad (preventiva)</a:t>
            </a:r>
          </a:p>
        </p:txBody>
      </p:sp>
      <p:sp>
        <p:nvSpPr>
          <p:cNvPr id="9" name="TextBox 8"/>
          <p:cNvSpPr txBox="1"/>
          <p:nvPr/>
        </p:nvSpPr>
        <p:spPr>
          <a:xfrm>
            <a:off x="685800" y="2395728"/>
            <a:ext cx="6190488" cy="62179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Venta planificada, de ciclo largo. La familia contrata hoy para protegerse y pagar en cuotas. Es la venta que conducimos activamente.</a:t>
            </a:r>
          </a:p>
        </p:txBody>
      </p:sp>
      <p:sp>
        <p:nvSpPr>
          <p:cNvPr id="10" name="Rectangle 9"/>
          <p:cNvSpPr/>
          <p:nvPr/>
        </p:nvSpPr>
        <p:spPr>
          <a:xfrm>
            <a:off x="502920" y="3246120"/>
            <a:ext cx="6556248" cy="146304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246120"/>
            <a:ext cx="6556248" cy="54864"/>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410712"/>
            <a:ext cx="6190488" cy="566928"/>
          </a:xfrm>
          <a:prstGeom prst="rect">
            <a:avLst/>
          </a:prstGeom>
          <a:noFill/>
        </p:spPr>
        <p:txBody>
          <a:bodyPr wrap="square" anchor="ctr" lIns="45720" rIns="45720" tIns="27432" bIns="27432">
            <a:spAutoFit/>
          </a:bodyPr>
          <a:lstStyle/>
          <a:p>
            <a:pPr algn="l">
              <a:lnSpc>
                <a:spcPct val="100000"/>
              </a:lnSpc>
              <a:spcAft>
                <a:spcPts val="400"/>
              </a:spcAft>
            </a:pPr>
            <a:r>
              <a:rPr sz="1500" b="1" i="0">
                <a:solidFill>
                  <a:srgbClr val="5B3F80"/>
                </a:solidFill>
                <a:latin typeface="Montserrat"/>
              </a:rPr>
              <a:t>Necesidad inmediata (emergencia)</a:t>
            </a:r>
          </a:p>
        </p:txBody>
      </p:sp>
      <p:sp>
        <p:nvSpPr>
          <p:cNvPr id="13" name="TextBox 12"/>
          <p:cNvSpPr txBox="1"/>
          <p:nvPr/>
        </p:nvSpPr>
        <p:spPr>
          <a:xfrm>
            <a:off x="685800" y="3995928"/>
            <a:ext cx="6190488" cy="621792"/>
          </a:xfrm>
          <a:prstGeom prst="rect">
            <a:avLst/>
          </a:prstGeom>
          <a:noFill/>
        </p:spPr>
        <p:txBody>
          <a:bodyPr wrap="square" anchor="t" lIns="45720" rIns="45720" tIns="27432" bIns="27432">
            <a:spAutoFit/>
          </a:bodyPr>
          <a:lstStyle/>
          <a:p>
            <a:pPr algn="l">
              <a:lnSpc>
                <a:spcPct val="115000"/>
              </a:lnSpc>
              <a:spcAft>
                <a:spcPts val="400"/>
              </a:spcAft>
            </a:pPr>
            <a:r>
              <a:rPr sz="1200" b="0" i="0">
                <a:solidFill>
                  <a:srgbClr val="2E2A36"/>
                </a:solidFill>
                <a:latin typeface="Montserrat"/>
              </a:rPr>
              <a:t>En el momento de la pérdida. Aquí no se "vende": se acoge, se informa con calma y se resuelve con agilidad y respeto.</a:t>
            </a:r>
          </a:p>
        </p:txBody>
      </p:sp>
      <p:sp>
        <p:nvSpPr>
          <p:cNvPr id="14" name="TextBox 13"/>
          <p:cNvSpPr txBox="1"/>
          <p:nvPr/>
        </p:nvSpPr>
        <p:spPr>
          <a:xfrm>
            <a:off x="502920" y="4983480"/>
            <a:ext cx="6556248" cy="457200"/>
          </a:xfrm>
          <a:prstGeom prst="rect">
            <a:avLst/>
          </a:prstGeom>
          <a:noFill/>
        </p:spPr>
        <p:txBody>
          <a:bodyPr wrap="square" anchor="t" lIns="45720" rIns="45720" tIns="27432" bIns="27432">
            <a:spAutoFit/>
          </a:bodyPr>
          <a:lstStyle/>
          <a:p>
            <a:pPr algn="l">
              <a:lnSpc>
                <a:spcPct val="115000"/>
              </a:lnSpc>
              <a:spcAft>
                <a:spcPts val="400"/>
              </a:spcAft>
            </a:pPr>
            <a:r>
              <a:rPr sz="1800" b="1" i="0">
                <a:solidFill>
                  <a:srgbClr val="5B3F80"/>
                </a:solidFill>
                <a:latin typeface="Playfair Display"/>
              </a:rPr>
              <a:t>Qué producto lleva cada equipo</a:t>
            </a:r>
          </a:p>
        </p:txBody>
      </p:sp>
      <p:sp>
        <p:nvSpPr>
          <p:cNvPr id="15" name="Rectangle 14"/>
          <p:cNvSpPr/>
          <p:nvPr/>
        </p:nvSpPr>
        <p:spPr>
          <a:xfrm>
            <a:off x="502920" y="5532120"/>
            <a:ext cx="2103120" cy="13716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 y="5532120"/>
            <a:ext cx="1883664" cy="1371600"/>
          </a:xfrm>
          <a:prstGeom prst="rect">
            <a:avLst/>
          </a:prstGeom>
          <a:noFill/>
        </p:spPr>
        <p:txBody>
          <a:bodyPr wrap="square" anchor="ctr" lIns="45720" rIns="45720" tIns="27432" bIns="27432">
            <a:spAutoFit/>
          </a:bodyPr>
          <a:lstStyle/>
          <a:p>
            <a:pPr algn="l">
              <a:lnSpc>
                <a:spcPct val="115000"/>
              </a:lnSpc>
              <a:spcAft>
                <a:spcPts val="400"/>
              </a:spcAft>
            </a:pPr>
            <a:r>
              <a:rPr sz="1200" b="1" i="0">
                <a:solidFill>
                  <a:srgbClr val="FFFFFF"/>
                </a:solidFill>
                <a:latin typeface="Montserrat"/>
              </a:rPr>
              <a:t>UAF · Unidad de Apoyo Familiar</a:t>
            </a:r>
          </a:p>
        </p:txBody>
      </p:sp>
      <p:sp>
        <p:nvSpPr>
          <p:cNvPr id="17" name="Rectangle 16"/>
          <p:cNvSpPr/>
          <p:nvPr/>
        </p:nvSpPr>
        <p:spPr>
          <a:xfrm>
            <a:off x="2606040" y="5532120"/>
            <a:ext cx="4453128" cy="13716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0" y="5623560"/>
            <a:ext cx="4178808" cy="1234440"/>
          </a:xfrm>
          <a:prstGeom prst="rect">
            <a:avLst/>
          </a:prstGeom>
          <a:noFill/>
        </p:spPr>
        <p:txBody>
          <a:bodyPr wrap="square" anchor="t" lIns="45720" rIns="45720" tIns="27432" bIns="27432">
            <a:spAutoFit/>
          </a:bodyPr>
          <a:lstStyle/>
          <a:p>
            <a:pPr algn="l">
              <a:lnSpc>
                <a:spcPct val="115000"/>
              </a:lnSpc>
              <a:spcAft>
                <a:spcPts val="400"/>
              </a:spcAft>
            </a:pPr>
            <a:r>
              <a:rPr sz="1050" b="0" i="1">
                <a:solidFill>
                  <a:srgbClr val="7D7887"/>
                </a:solidFill>
                <a:latin typeface="Montserrat"/>
              </a:rPr>
              <a:t>Acompaña a la familia durante el servicio y trabaja referidos.</a:t>
            </a:r>
          </a:p>
          <a:p>
            <a:pPr algn="l">
              <a:lnSpc>
                <a:spcPct val="115000"/>
              </a:lnSpc>
              <a:spcAft>
                <a:spcPts val="400"/>
              </a:spcAft>
            </a:pPr>
            <a:r>
              <a:rPr sz="1050" b="1" i="0">
                <a:solidFill>
                  <a:srgbClr val="C9A86A"/>
                </a:solidFill>
                <a:latin typeface="Montserrat"/>
              </a:rPr>
              <a:t>Producto foco: </a:t>
            </a:r>
            <a:r>
              <a:rPr sz="1050" b="1" i="0">
                <a:solidFill>
                  <a:srgbClr val="2E2A36"/>
                </a:solidFill>
                <a:latin typeface="Montserrat"/>
              </a:rPr>
              <a:t>Jardín Individual y Ecológico como destino de las cenizas; Solución Modular para el resto de la familia (venta de prenecesidad posterior).</a:t>
            </a:r>
          </a:p>
        </p:txBody>
      </p:sp>
      <p:sp>
        <p:nvSpPr>
          <p:cNvPr id="19" name="Rectangle 18"/>
          <p:cNvSpPr/>
          <p:nvPr/>
        </p:nvSpPr>
        <p:spPr>
          <a:xfrm>
            <a:off x="502920" y="7040880"/>
            <a:ext cx="2103120" cy="13716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 y="7040880"/>
            <a:ext cx="1883664" cy="1371600"/>
          </a:xfrm>
          <a:prstGeom prst="rect">
            <a:avLst/>
          </a:prstGeom>
          <a:noFill/>
        </p:spPr>
        <p:txBody>
          <a:bodyPr wrap="square" anchor="ctr" lIns="45720" rIns="45720" tIns="27432" bIns="27432">
            <a:spAutoFit/>
          </a:bodyPr>
          <a:lstStyle/>
          <a:p>
            <a:pPr algn="l">
              <a:lnSpc>
                <a:spcPct val="115000"/>
              </a:lnSpc>
              <a:spcAft>
                <a:spcPts val="400"/>
              </a:spcAft>
            </a:pPr>
            <a:r>
              <a:rPr sz="1200" b="1" i="0">
                <a:solidFill>
                  <a:srgbClr val="FFFFFF"/>
                </a:solidFill>
                <a:latin typeface="Montserrat"/>
              </a:rPr>
              <a:t>Pilares Alternativos</a:t>
            </a:r>
          </a:p>
        </p:txBody>
      </p:sp>
      <p:sp>
        <p:nvSpPr>
          <p:cNvPr id="21" name="Rectangle 20"/>
          <p:cNvSpPr/>
          <p:nvPr/>
        </p:nvSpPr>
        <p:spPr>
          <a:xfrm>
            <a:off x="2606040" y="7040880"/>
            <a:ext cx="4453128" cy="13716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0" y="7132320"/>
            <a:ext cx="4178808" cy="1234440"/>
          </a:xfrm>
          <a:prstGeom prst="rect">
            <a:avLst/>
          </a:prstGeom>
          <a:noFill/>
        </p:spPr>
        <p:txBody>
          <a:bodyPr wrap="square" anchor="t" lIns="45720" rIns="45720" tIns="27432" bIns="27432">
            <a:spAutoFit/>
          </a:bodyPr>
          <a:lstStyle/>
          <a:p>
            <a:pPr algn="l">
              <a:lnSpc>
                <a:spcPct val="115000"/>
              </a:lnSpc>
              <a:spcAft>
                <a:spcPts val="400"/>
              </a:spcAft>
            </a:pPr>
            <a:r>
              <a:rPr sz="1050" b="0" i="1">
                <a:solidFill>
                  <a:srgbClr val="7D7887"/>
                </a:solidFill>
                <a:latin typeface="Montserrat"/>
              </a:rPr>
              <a:t>Eventos, centros comerciales, bases de cancelaciones y telemercadeo.</a:t>
            </a:r>
          </a:p>
          <a:p>
            <a:pPr algn="l">
              <a:lnSpc>
                <a:spcPct val="115000"/>
              </a:lnSpc>
              <a:spcAft>
                <a:spcPts val="400"/>
              </a:spcAft>
            </a:pPr>
            <a:r>
              <a:rPr sz="1050" b="1" i="0">
                <a:solidFill>
                  <a:srgbClr val="C9A86A"/>
                </a:solidFill>
                <a:latin typeface="Montserrat"/>
              </a:rPr>
              <a:t>Producto foco: </a:t>
            </a:r>
            <a:r>
              <a:rPr sz="1050" b="1" i="0">
                <a:solidFill>
                  <a:srgbClr val="2E2A36"/>
                </a:solidFill>
                <a:latin typeface="Montserrat"/>
              </a:rPr>
              <a:t>Solución Modular (cuota baja, fácil de explicar) y Jardín de Mascotas.</a:t>
            </a:r>
          </a:p>
        </p:txBody>
      </p:sp>
      <p:sp>
        <p:nvSpPr>
          <p:cNvPr id="23" name="Rectangle 22"/>
          <p:cNvSpPr/>
          <p:nvPr/>
        </p:nvSpPr>
        <p:spPr>
          <a:xfrm>
            <a:off x="502920" y="8549640"/>
            <a:ext cx="2103120" cy="13716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2648" y="8549640"/>
            <a:ext cx="1883664" cy="1371600"/>
          </a:xfrm>
          <a:prstGeom prst="rect">
            <a:avLst/>
          </a:prstGeom>
          <a:noFill/>
        </p:spPr>
        <p:txBody>
          <a:bodyPr wrap="square" anchor="ctr" lIns="45720" rIns="45720" tIns="27432" bIns="27432">
            <a:spAutoFit/>
          </a:bodyPr>
          <a:lstStyle/>
          <a:p>
            <a:pPr algn="l">
              <a:lnSpc>
                <a:spcPct val="115000"/>
              </a:lnSpc>
              <a:spcAft>
                <a:spcPts val="400"/>
              </a:spcAft>
            </a:pPr>
            <a:r>
              <a:rPr sz="1200" b="1" i="0">
                <a:solidFill>
                  <a:srgbClr val="FFFFFF"/>
                </a:solidFill>
                <a:latin typeface="Montserrat"/>
              </a:rPr>
              <a:t>AML · Puerta a puerta</a:t>
            </a:r>
          </a:p>
        </p:txBody>
      </p:sp>
      <p:sp>
        <p:nvSpPr>
          <p:cNvPr id="25" name="Rectangle 24"/>
          <p:cNvSpPr/>
          <p:nvPr/>
        </p:nvSpPr>
        <p:spPr>
          <a:xfrm>
            <a:off x="2606040" y="8549640"/>
            <a:ext cx="4453128" cy="13716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43200" y="8641080"/>
            <a:ext cx="4178808" cy="1234440"/>
          </a:xfrm>
          <a:prstGeom prst="rect">
            <a:avLst/>
          </a:prstGeom>
          <a:noFill/>
        </p:spPr>
        <p:txBody>
          <a:bodyPr wrap="square" anchor="t" lIns="45720" rIns="45720" tIns="27432" bIns="27432">
            <a:spAutoFit/>
          </a:bodyPr>
          <a:lstStyle/>
          <a:p>
            <a:pPr algn="l">
              <a:lnSpc>
                <a:spcPct val="115000"/>
              </a:lnSpc>
              <a:spcAft>
                <a:spcPts val="400"/>
              </a:spcAft>
            </a:pPr>
            <a:r>
              <a:rPr sz="1050" b="0" i="1">
                <a:solidFill>
                  <a:srgbClr val="7D7887"/>
                </a:solidFill>
                <a:latin typeface="Montserrat"/>
              </a:rPr>
              <a:t>Prospección sistemática en colonias.</a:t>
            </a:r>
          </a:p>
          <a:p>
            <a:pPr algn="l">
              <a:lnSpc>
                <a:spcPct val="115000"/>
              </a:lnSpc>
              <a:spcAft>
                <a:spcPts val="400"/>
              </a:spcAft>
            </a:pPr>
            <a:r>
              <a:rPr sz="1050" b="1" i="0">
                <a:solidFill>
                  <a:srgbClr val="C9A86A"/>
                </a:solidFill>
                <a:latin typeface="Montserrat"/>
              </a:rPr>
              <a:t>Producto foco: </a:t>
            </a:r>
            <a:r>
              <a:rPr sz="1050" b="1" i="0">
                <a:solidFill>
                  <a:srgbClr val="2E2A36"/>
                </a:solidFill>
                <a:latin typeface="Montserrat"/>
              </a:rPr>
              <a:t>Solución Modular + Jardín Individual: la combinación más completa para el hogar.</a:t>
            </a:r>
          </a:p>
        </p:txBody>
      </p:sp>
      <p:sp>
        <p:nvSpPr>
          <p:cNvPr id="27" name="TextBox 26"/>
          <p:cNvSpPr txBox="1"/>
          <p:nvPr/>
        </p:nvSpPr>
        <p:spPr>
          <a:xfrm>
            <a:off x="502920" y="10277856"/>
            <a:ext cx="5641848"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28" name="TextBox 27"/>
          <p:cNvSpPr txBox="1"/>
          <p:nvPr/>
        </p:nvSpPr>
        <p:spPr>
          <a:xfrm>
            <a:off x="6144768" y="10277856"/>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10689336"/>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02 · A QUIÉN LE VENDEMOS</a:t>
            </a:r>
          </a:p>
        </p:txBody>
      </p:sp>
      <p:sp>
        <p:nvSpPr>
          <p:cNvPr id="4" name="TextBox 3"/>
          <p:cNvSpPr txBox="1"/>
          <p:nvPr/>
        </p:nvSpPr>
        <p:spPr>
          <a:xfrm>
            <a:off x="502920" y="621792"/>
            <a:ext cx="6556248"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Cinco perfiles de cliente</a:t>
            </a:r>
          </a:p>
        </p:txBody>
      </p:sp>
      <p:sp>
        <p:nvSpPr>
          <p:cNvPr id="5" name="Rectangle 4"/>
          <p:cNvSpPr/>
          <p:nvPr/>
        </p:nvSpPr>
        <p:spPr>
          <a:xfrm>
            <a:off x="50292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44752"/>
            <a:ext cx="6556248" cy="411480"/>
          </a:xfrm>
          <a:prstGeom prst="rect">
            <a:avLst/>
          </a:prstGeom>
          <a:noFill/>
        </p:spPr>
        <p:txBody>
          <a:bodyPr wrap="square" anchor="t" lIns="45720" rIns="45720" tIns="27432" bIns="27432">
            <a:spAutoFit/>
          </a:bodyPr>
          <a:lstStyle/>
          <a:p>
            <a:pPr algn="l">
              <a:lnSpc>
                <a:spcPct val="115000"/>
              </a:lnSpc>
              <a:spcAft>
                <a:spcPts val="400"/>
              </a:spcAft>
            </a:pPr>
            <a:r>
              <a:rPr sz="1300" b="0" i="1">
                <a:solidFill>
                  <a:srgbClr val="7D7887"/>
                </a:solidFill>
                <a:latin typeface="Montserrat"/>
              </a:rPr>
              <a:t>Identifique el perfil en los primeros minutos y adapte el tono.</a:t>
            </a:r>
          </a:p>
        </p:txBody>
      </p:sp>
      <p:sp>
        <p:nvSpPr>
          <p:cNvPr id="7" name="Rectangle 6"/>
          <p:cNvSpPr/>
          <p:nvPr/>
        </p:nvSpPr>
        <p:spPr>
          <a:xfrm>
            <a:off x="502920" y="1965960"/>
            <a:ext cx="1920240" cy="1261872"/>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 y="1965960"/>
            <a:ext cx="1737360" cy="1261872"/>
          </a:xfrm>
          <a:prstGeom prst="rect">
            <a:avLst/>
          </a:prstGeom>
          <a:noFill/>
        </p:spPr>
        <p:txBody>
          <a:bodyPr wrap="square" anchor="ctr" lIns="45720" rIns="45720" tIns="27432" bIns="27432">
            <a:spAutoFit/>
          </a:bodyPr>
          <a:lstStyle/>
          <a:p>
            <a:pPr algn="l">
              <a:lnSpc>
                <a:spcPct val="115000"/>
              </a:lnSpc>
              <a:spcAft>
                <a:spcPts val="200"/>
              </a:spcAft>
            </a:pPr>
            <a:r>
              <a:rPr sz="1250" b="1" i="0">
                <a:solidFill>
                  <a:srgbClr val="FFFFFF"/>
                </a:solidFill>
                <a:latin typeface="Montserrat"/>
              </a:rPr>
              <a:t>El Planificador</a:t>
            </a:r>
          </a:p>
          <a:p>
            <a:pPr algn="l">
              <a:lnSpc>
                <a:spcPct val="115000"/>
              </a:lnSpc>
              <a:spcAft>
                <a:spcPts val="200"/>
              </a:spcAft>
            </a:pPr>
            <a:r>
              <a:rPr sz="900" b="0" i="0">
                <a:solidFill>
                  <a:srgbClr val="D9CFE6"/>
                </a:solidFill>
                <a:latin typeface="Montserrat"/>
              </a:rPr>
              <a:t>45–65 años, compra para sí mismo.</a:t>
            </a:r>
          </a:p>
        </p:txBody>
      </p:sp>
      <p:sp>
        <p:nvSpPr>
          <p:cNvPr id="9" name="Rectangle 8"/>
          <p:cNvSpPr/>
          <p:nvPr/>
        </p:nvSpPr>
        <p:spPr>
          <a:xfrm>
            <a:off x="2423160" y="1965960"/>
            <a:ext cx="4636008" cy="1261872"/>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0" y="2039112"/>
            <a:ext cx="4361688" cy="1143000"/>
          </a:xfrm>
          <a:prstGeom prst="rect">
            <a:avLst/>
          </a:prstGeom>
          <a:noFill/>
        </p:spPr>
        <p:txBody>
          <a:bodyPr wrap="square" anchor="t" lIns="45720" rIns="45720" tIns="27432" bIns="27432">
            <a:spAutoFit/>
          </a:bodyPr>
          <a:lstStyle/>
          <a:p>
            <a:pPr algn="l">
              <a:lnSpc>
                <a:spcPct val="115000"/>
              </a:lnSpc>
              <a:spcAft>
                <a:spcPts val="300"/>
              </a:spcAft>
            </a:pPr>
            <a:r>
              <a:rPr sz="1050" b="1" i="0">
                <a:solidFill>
                  <a:srgbClr val="5B3F80"/>
                </a:solidFill>
                <a:latin typeface="Montserrat"/>
              </a:rPr>
              <a:t>Busca: </a:t>
            </a:r>
            <a:r>
              <a:rPr sz="1050" b="0" i="0">
                <a:solidFill>
                  <a:srgbClr val="2E2A36"/>
                </a:solidFill>
                <a:latin typeface="Montserrat"/>
              </a:rPr>
              <a:t>Tranquilidad y legado. No quiere dejar cargas a su familia.</a:t>
            </a:r>
          </a:p>
          <a:p>
            <a:pPr algn="l">
              <a:lnSpc>
                <a:spcPct val="115000"/>
              </a:lnSpc>
              <a:spcAft>
                <a:spcPts val="300"/>
              </a:spcAft>
            </a:pPr>
            <a:r>
              <a:rPr sz="1050" b="1" i="0">
                <a:solidFill>
                  <a:srgbClr val="5B3F80"/>
                </a:solidFill>
                <a:latin typeface="Montserrat"/>
              </a:rPr>
              <a:t>Tono: </a:t>
            </a:r>
            <a:r>
              <a:rPr sz="1050" b="0" i="0">
                <a:solidFill>
                  <a:srgbClr val="2E2A36"/>
                </a:solidFill>
                <a:latin typeface="Montserrat"/>
              </a:rPr>
              <a:t>Calma, sin prisa, datos claros.</a:t>
            </a:r>
          </a:p>
          <a:p>
            <a:pPr algn="l">
              <a:lnSpc>
                <a:spcPct val="115000"/>
              </a:lnSpc>
              <a:spcAft>
                <a:spcPts val="300"/>
              </a:spcAft>
            </a:pPr>
            <a:r>
              <a:rPr sz="1050" b="1" i="0">
                <a:solidFill>
                  <a:srgbClr val="C9A86A"/>
                </a:solidFill>
                <a:latin typeface="Montserrat"/>
              </a:rPr>
              <a:t>Ideal: </a:t>
            </a:r>
            <a:r>
              <a:rPr sz="1050" b="1" i="0">
                <a:solidFill>
                  <a:srgbClr val="2E2A36"/>
                </a:solidFill>
                <a:latin typeface="Montserrat"/>
              </a:rPr>
              <a:t>Solución Modular · Jardín Individual · Jardín Familiar</a:t>
            </a:r>
          </a:p>
        </p:txBody>
      </p:sp>
      <p:sp>
        <p:nvSpPr>
          <p:cNvPr id="11" name="Rectangle 10"/>
          <p:cNvSpPr/>
          <p:nvPr/>
        </p:nvSpPr>
        <p:spPr>
          <a:xfrm>
            <a:off x="502920" y="3337560"/>
            <a:ext cx="1920240" cy="1261872"/>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 y="3337560"/>
            <a:ext cx="1737360" cy="1261872"/>
          </a:xfrm>
          <a:prstGeom prst="rect">
            <a:avLst/>
          </a:prstGeom>
          <a:noFill/>
        </p:spPr>
        <p:txBody>
          <a:bodyPr wrap="square" anchor="ctr" lIns="45720" rIns="45720" tIns="27432" bIns="27432">
            <a:spAutoFit/>
          </a:bodyPr>
          <a:lstStyle/>
          <a:p>
            <a:pPr algn="l">
              <a:lnSpc>
                <a:spcPct val="115000"/>
              </a:lnSpc>
              <a:spcAft>
                <a:spcPts val="200"/>
              </a:spcAft>
            </a:pPr>
            <a:r>
              <a:rPr sz="1250" b="1" i="0">
                <a:solidFill>
                  <a:srgbClr val="FFFFFF"/>
                </a:solidFill>
                <a:latin typeface="Montserrat"/>
              </a:rPr>
              <a:t>El Hijo Cuidador</a:t>
            </a:r>
          </a:p>
          <a:p>
            <a:pPr algn="l">
              <a:lnSpc>
                <a:spcPct val="115000"/>
              </a:lnSpc>
              <a:spcAft>
                <a:spcPts val="200"/>
              </a:spcAft>
            </a:pPr>
            <a:r>
              <a:rPr sz="900" b="0" i="0">
                <a:solidFill>
                  <a:srgbClr val="D9CFE6"/>
                </a:solidFill>
                <a:latin typeface="Montserrat"/>
              </a:rPr>
              <a:t>25–45 años, compra para sus padres.</a:t>
            </a:r>
          </a:p>
        </p:txBody>
      </p:sp>
      <p:sp>
        <p:nvSpPr>
          <p:cNvPr id="13" name="Rectangle 12"/>
          <p:cNvSpPr/>
          <p:nvPr/>
        </p:nvSpPr>
        <p:spPr>
          <a:xfrm>
            <a:off x="2423160" y="3337560"/>
            <a:ext cx="4636008" cy="1261872"/>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60320" y="3410712"/>
            <a:ext cx="4361688" cy="1143000"/>
          </a:xfrm>
          <a:prstGeom prst="rect">
            <a:avLst/>
          </a:prstGeom>
          <a:noFill/>
        </p:spPr>
        <p:txBody>
          <a:bodyPr wrap="square" anchor="t" lIns="45720" rIns="45720" tIns="27432" bIns="27432">
            <a:spAutoFit/>
          </a:bodyPr>
          <a:lstStyle/>
          <a:p>
            <a:pPr algn="l">
              <a:lnSpc>
                <a:spcPct val="115000"/>
              </a:lnSpc>
              <a:spcAft>
                <a:spcPts val="300"/>
              </a:spcAft>
            </a:pPr>
            <a:r>
              <a:rPr sz="1050" b="1" i="0">
                <a:solidFill>
                  <a:srgbClr val="5B3F80"/>
                </a:solidFill>
                <a:latin typeface="Montserrat"/>
              </a:rPr>
              <a:t>Busca: </a:t>
            </a:r>
            <a:r>
              <a:rPr sz="1050" b="0" i="0">
                <a:solidFill>
                  <a:srgbClr val="2E2A36"/>
                </a:solidFill>
                <a:latin typeface="Montserrat"/>
              </a:rPr>
              <a:t>Practicidad, control del presupuesto, evitar improvisar.</a:t>
            </a:r>
          </a:p>
          <a:p>
            <a:pPr algn="l">
              <a:lnSpc>
                <a:spcPct val="115000"/>
              </a:lnSpc>
              <a:spcAft>
                <a:spcPts val="300"/>
              </a:spcAft>
            </a:pPr>
            <a:r>
              <a:rPr sz="1050" b="1" i="0">
                <a:solidFill>
                  <a:srgbClr val="5B3F80"/>
                </a:solidFill>
                <a:latin typeface="Montserrat"/>
              </a:rPr>
              <a:t>Tono: </a:t>
            </a:r>
            <a:r>
              <a:rPr sz="1050" b="0" i="0">
                <a:solidFill>
                  <a:srgbClr val="2E2A36"/>
                </a:solidFill>
                <a:latin typeface="Montserrat"/>
              </a:rPr>
              <a:t>Claro, práctico, comparativo.</a:t>
            </a:r>
          </a:p>
          <a:p>
            <a:pPr algn="l">
              <a:lnSpc>
                <a:spcPct val="115000"/>
              </a:lnSpc>
              <a:spcAft>
                <a:spcPts val="300"/>
              </a:spcAft>
            </a:pPr>
            <a:r>
              <a:rPr sz="1050" b="1" i="0">
                <a:solidFill>
                  <a:srgbClr val="C9A86A"/>
                </a:solidFill>
                <a:latin typeface="Montserrat"/>
              </a:rPr>
              <a:t>Ideal: </a:t>
            </a:r>
            <a:r>
              <a:rPr sz="1050" b="1" i="0">
                <a:solidFill>
                  <a:srgbClr val="2E2A36"/>
                </a:solidFill>
                <a:latin typeface="Montserrat"/>
              </a:rPr>
              <a:t>Solución Modular · Jardín Familiar</a:t>
            </a:r>
          </a:p>
        </p:txBody>
      </p:sp>
      <p:sp>
        <p:nvSpPr>
          <p:cNvPr id="15" name="Rectangle 14"/>
          <p:cNvSpPr/>
          <p:nvPr/>
        </p:nvSpPr>
        <p:spPr>
          <a:xfrm>
            <a:off x="502920" y="4709160"/>
            <a:ext cx="1920240" cy="1261872"/>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 y="4709160"/>
            <a:ext cx="1737360" cy="1261872"/>
          </a:xfrm>
          <a:prstGeom prst="rect">
            <a:avLst/>
          </a:prstGeom>
          <a:noFill/>
        </p:spPr>
        <p:txBody>
          <a:bodyPr wrap="square" anchor="ctr" lIns="45720" rIns="45720" tIns="27432" bIns="27432">
            <a:spAutoFit/>
          </a:bodyPr>
          <a:lstStyle/>
          <a:p>
            <a:pPr algn="l">
              <a:lnSpc>
                <a:spcPct val="115000"/>
              </a:lnSpc>
              <a:spcAft>
                <a:spcPts val="200"/>
              </a:spcAft>
            </a:pPr>
            <a:r>
              <a:rPr sz="1250" b="1" i="0">
                <a:solidFill>
                  <a:srgbClr val="FFFFFF"/>
                </a:solidFill>
                <a:latin typeface="Montserrat"/>
              </a:rPr>
              <a:t>La Familia en Urgencia</a:t>
            </a:r>
          </a:p>
          <a:p>
            <a:pPr algn="l">
              <a:lnSpc>
                <a:spcPct val="115000"/>
              </a:lnSpc>
              <a:spcAft>
                <a:spcPts val="200"/>
              </a:spcAft>
            </a:pPr>
            <a:r>
              <a:rPr sz="900" b="0" i="0">
                <a:solidFill>
                  <a:srgbClr val="D9CFE6"/>
                </a:solidFill>
                <a:latin typeface="Montserrat"/>
              </a:rPr>
              <a:t>En el momento de la pérdida.</a:t>
            </a:r>
          </a:p>
        </p:txBody>
      </p:sp>
      <p:sp>
        <p:nvSpPr>
          <p:cNvPr id="17" name="Rectangle 16"/>
          <p:cNvSpPr/>
          <p:nvPr/>
        </p:nvSpPr>
        <p:spPr>
          <a:xfrm>
            <a:off x="2423160" y="4709160"/>
            <a:ext cx="4636008" cy="1261872"/>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0" y="4782312"/>
            <a:ext cx="4361688" cy="1143000"/>
          </a:xfrm>
          <a:prstGeom prst="rect">
            <a:avLst/>
          </a:prstGeom>
          <a:noFill/>
        </p:spPr>
        <p:txBody>
          <a:bodyPr wrap="square" anchor="t" lIns="45720" rIns="45720" tIns="27432" bIns="27432">
            <a:spAutoFit/>
          </a:bodyPr>
          <a:lstStyle/>
          <a:p>
            <a:pPr algn="l">
              <a:lnSpc>
                <a:spcPct val="115000"/>
              </a:lnSpc>
              <a:spcAft>
                <a:spcPts val="300"/>
              </a:spcAft>
            </a:pPr>
            <a:r>
              <a:rPr sz="1050" b="1" i="0">
                <a:solidFill>
                  <a:srgbClr val="5B3F80"/>
                </a:solidFill>
                <a:latin typeface="Montserrat"/>
              </a:rPr>
              <a:t>Busca: </a:t>
            </a:r>
            <a:r>
              <a:rPr sz="1050" b="0" i="0">
                <a:solidFill>
                  <a:srgbClr val="2E2A36"/>
                </a:solidFill>
                <a:latin typeface="Montserrat"/>
              </a:rPr>
              <a:t>Quitar peso, dignidad, agilidad.</a:t>
            </a:r>
          </a:p>
          <a:p>
            <a:pPr algn="l">
              <a:lnSpc>
                <a:spcPct val="115000"/>
              </a:lnSpc>
              <a:spcAft>
                <a:spcPts val="300"/>
              </a:spcAft>
            </a:pPr>
            <a:r>
              <a:rPr sz="1050" b="1" i="0">
                <a:solidFill>
                  <a:srgbClr val="5B3F80"/>
                </a:solidFill>
                <a:latin typeface="Montserrat"/>
              </a:rPr>
              <a:t>Tono: </a:t>
            </a:r>
            <a:r>
              <a:rPr sz="1050" b="0" i="0">
                <a:solidFill>
                  <a:srgbClr val="2E2A36"/>
                </a:solidFill>
                <a:latin typeface="Montserrat"/>
              </a:rPr>
              <a:t>Acogida total, nunca comercial.</a:t>
            </a:r>
          </a:p>
          <a:p>
            <a:pPr algn="l">
              <a:lnSpc>
                <a:spcPct val="115000"/>
              </a:lnSpc>
              <a:spcAft>
                <a:spcPts val="300"/>
              </a:spcAft>
            </a:pPr>
            <a:r>
              <a:rPr sz="1050" b="1" i="0">
                <a:solidFill>
                  <a:srgbClr val="C9A86A"/>
                </a:solidFill>
                <a:latin typeface="Montserrat"/>
              </a:rPr>
              <a:t>Ideal: </a:t>
            </a:r>
            <a:r>
              <a:rPr sz="1050" b="1" i="0">
                <a:solidFill>
                  <a:srgbClr val="2E2A36"/>
                </a:solidFill>
                <a:latin typeface="Montserrat"/>
              </a:rPr>
              <a:t>Jardín Individual · Jardín Ecológico</a:t>
            </a:r>
          </a:p>
        </p:txBody>
      </p:sp>
      <p:sp>
        <p:nvSpPr>
          <p:cNvPr id="19" name="Rectangle 18"/>
          <p:cNvSpPr/>
          <p:nvPr/>
        </p:nvSpPr>
        <p:spPr>
          <a:xfrm>
            <a:off x="502920" y="6080760"/>
            <a:ext cx="1920240" cy="1261872"/>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 y="6080760"/>
            <a:ext cx="1737360" cy="1261872"/>
          </a:xfrm>
          <a:prstGeom prst="rect">
            <a:avLst/>
          </a:prstGeom>
          <a:noFill/>
        </p:spPr>
        <p:txBody>
          <a:bodyPr wrap="square" anchor="ctr" lIns="45720" rIns="45720" tIns="27432" bIns="27432">
            <a:spAutoFit/>
          </a:bodyPr>
          <a:lstStyle/>
          <a:p>
            <a:pPr algn="l">
              <a:lnSpc>
                <a:spcPct val="115000"/>
              </a:lnSpc>
              <a:spcAft>
                <a:spcPts val="200"/>
              </a:spcAft>
            </a:pPr>
            <a:r>
              <a:rPr sz="1250" b="1" i="0">
                <a:solidFill>
                  <a:srgbClr val="FFFFFF"/>
                </a:solidFill>
                <a:latin typeface="Montserrat"/>
              </a:rPr>
              <a:t>El Consciente Ecológico</a:t>
            </a:r>
          </a:p>
          <a:p>
            <a:pPr algn="l">
              <a:lnSpc>
                <a:spcPct val="115000"/>
              </a:lnSpc>
              <a:spcAft>
                <a:spcPts val="200"/>
              </a:spcAft>
            </a:pPr>
            <a:r>
              <a:rPr sz="900" b="0" i="0">
                <a:solidFill>
                  <a:srgbClr val="D9CFE6"/>
                </a:solidFill>
                <a:latin typeface="Montserrat"/>
              </a:rPr>
              <a:t>30–55 años, valora la naturaleza.</a:t>
            </a:r>
          </a:p>
        </p:txBody>
      </p:sp>
      <p:sp>
        <p:nvSpPr>
          <p:cNvPr id="21" name="Rectangle 20"/>
          <p:cNvSpPr/>
          <p:nvPr/>
        </p:nvSpPr>
        <p:spPr>
          <a:xfrm>
            <a:off x="2423160" y="6080760"/>
            <a:ext cx="4636008" cy="1261872"/>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60320" y="6153912"/>
            <a:ext cx="4361688" cy="1143000"/>
          </a:xfrm>
          <a:prstGeom prst="rect">
            <a:avLst/>
          </a:prstGeom>
          <a:noFill/>
        </p:spPr>
        <p:txBody>
          <a:bodyPr wrap="square" anchor="t" lIns="45720" rIns="45720" tIns="27432" bIns="27432">
            <a:spAutoFit/>
          </a:bodyPr>
          <a:lstStyle/>
          <a:p>
            <a:pPr algn="l">
              <a:lnSpc>
                <a:spcPct val="115000"/>
              </a:lnSpc>
              <a:spcAft>
                <a:spcPts val="300"/>
              </a:spcAft>
            </a:pPr>
            <a:r>
              <a:rPr sz="1050" b="1" i="0">
                <a:solidFill>
                  <a:srgbClr val="5B3F80"/>
                </a:solidFill>
                <a:latin typeface="Montserrat"/>
              </a:rPr>
              <a:t>Busca: </a:t>
            </a:r>
            <a:r>
              <a:rPr sz="1050" b="0" i="0">
                <a:solidFill>
                  <a:srgbClr val="2E2A36"/>
                </a:solidFill>
                <a:latin typeface="Montserrat"/>
              </a:rPr>
              <a:t>Volver a la tierra, sencillez, sostenibilidad.</a:t>
            </a:r>
          </a:p>
          <a:p>
            <a:pPr algn="l">
              <a:lnSpc>
                <a:spcPct val="115000"/>
              </a:lnSpc>
              <a:spcAft>
                <a:spcPts val="300"/>
              </a:spcAft>
            </a:pPr>
            <a:r>
              <a:rPr sz="1050" b="1" i="0">
                <a:solidFill>
                  <a:srgbClr val="5B3F80"/>
                </a:solidFill>
                <a:latin typeface="Montserrat"/>
              </a:rPr>
              <a:t>Tono: </a:t>
            </a:r>
            <a:r>
              <a:rPr sz="1050" b="0" i="0">
                <a:solidFill>
                  <a:srgbClr val="2E2A36"/>
                </a:solidFill>
                <a:latin typeface="Montserrat"/>
              </a:rPr>
              <a:t>Inspirador, natural, sin solemnidad excesiva.</a:t>
            </a:r>
          </a:p>
          <a:p>
            <a:pPr algn="l">
              <a:lnSpc>
                <a:spcPct val="115000"/>
              </a:lnSpc>
              <a:spcAft>
                <a:spcPts val="300"/>
              </a:spcAft>
            </a:pPr>
            <a:r>
              <a:rPr sz="1050" b="1" i="0">
                <a:solidFill>
                  <a:srgbClr val="C9A86A"/>
                </a:solidFill>
                <a:latin typeface="Montserrat"/>
              </a:rPr>
              <a:t>Ideal: </a:t>
            </a:r>
            <a:r>
              <a:rPr sz="1050" b="1" i="0">
                <a:solidFill>
                  <a:srgbClr val="2E2A36"/>
                </a:solidFill>
                <a:latin typeface="Montserrat"/>
              </a:rPr>
              <a:t>Jardín Ecológico</a:t>
            </a:r>
          </a:p>
        </p:txBody>
      </p:sp>
      <p:sp>
        <p:nvSpPr>
          <p:cNvPr id="23" name="Rectangle 22"/>
          <p:cNvSpPr/>
          <p:nvPr/>
        </p:nvSpPr>
        <p:spPr>
          <a:xfrm>
            <a:off x="502920" y="7452360"/>
            <a:ext cx="1920240" cy="1261872"/>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2648" y="7452360"/>
            <a:ext cx="1737360" cy="1261872"/>
          </a:xfrm>
          <a:prstGeom prst="rect">
            <a:avLst/>
          </a:prstGeom>
          <a:noFill/>
        </p:spPr>
        <p:txBody>
          <a:bodyPr wrap="square" anchor="ctr" lIns="45720" rIns="45720" tIns="27432" bIns="27432">
            <a:spAutoFit/>
          </a:bodyPr>
          <a:lstStyle/>
          <a:p>
            <a:pPr algn="l">
              <a:lnSpc>
                <a:spcPct val="115000"/>
              </a:lnSpc>
              <a:spcAft>
                <a:spcPts val="200"/>
              </a:spcAft>
            </a:pPr>
            <a:r>
              <a:rPr sz="1250" b="1" i="0">
                <a:solidFill>
                  <a:srgbClr val="FFFFFF"/>
                </a:solidFill>
                <a:latin typeface="Montserrat"/>
              </a:rPr>
              <a:t>El Tutor de Mascota</a:t>
            </a:r>
          </a:p>
          <a:p>
            <a:pPr algn="l">
              <a:lnSpc>
                <a:spcPct val="115000"/>
              </a:lnSpc>
              <a:spcAft>
                <a:spcPts val="200"/>
              </a:spcAft>
            </a:pPr>
            <a:r>
              <a:rPr sz="900" b="0" i="0">
                <a:solidFill>
                  <a:srgbClr val="D9CFE6"/>
                </a:solidFill>
                <a:latin typeface="Montserrat"/>
              </a:rPr>
              <a:t>20–60 años, despide a su compañero.</a:t>
            </a:r>
          </a:p>
        </p:txBody>
      </p:sp>
      <p:sp>
        <p:nvSpPr>
          <p:cNvPr id="25" name="Rectangle 24"/>
          <p:cNvSpPr/>
          <p:nvPr/>
        </p:nvSpPr>
        <p:spPr>
          <a:xfrm>
            <a:off x="2423160" y="7452360"/>
            <a:ext cx="4636008" cy="1261872"/>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60320" y="7525512"/>
            <a:ext cx="4361688" cy="1143000"/>
          </a:xfrm>
          <a:prstGeom prst="rect">
            <a:avLst/>
          </a:prstGeom>
          <a:noFill/>
        </p:spPr>
        <p:txBody>
          <a:bodyPr wrap="square" anchor="t" lIns="45720" rIns="45720" tIns="27432" bIns="27432">
            <a:spAutoFit/>
          </a:bodyPr>
          <a:lstStyle/>
          <a:p>
            <a:pPr algn="l">
              <a:lnSpc>
                <a:spcPct val="115000"/>
              </a:lnSpc>
              <a:spcAft>
                <a:spcPts val="300"/>
              </a:spcAft>
            </a:pPr>
            <a:r>
              <a:rPr sz="1050" b="1" i="0">
                <a:solidFill>
                  <a:srgbClr val="5B3F80"/>
                </a:solidFill>
                <a:latin typeface="Montserrat"/>
              </a:rPr>
              <a:t>Busca: </a:t>
            </a:r>
            <a:r>
              <a:rPr sz="1050" b="0" i="0">
                <a:solidFill>
                  <a:srgbClr val="2E2A36"/>
                </a:solidFill>
                <a:latin typeface="Montserrat"/>
              </a:rPr>
              <a:t>Respeto al vínculo, un lugar para recordar.</a:t>
            </a:r>
          </a:p>
          <a:p>
            <a:pPr algn="l">
              <a:lnSpc>
                <a:spcPct val="115000"/>
              </a:lnSpc>
              <a:spcAft>
                <a:spcPts val="300"/>
              </a:spcAft>
            </a:pPr>
            <a:r>
              <a:rPr sz="1050" b="1" i="0">
                <a:solidFill>
                  <a:srgbClr val="5B3F80"/>
                </a:solidFill>
                <a:latin typeface="Montserrat"/>
              </a:rPr>
              <a:t>Tono: </a:t>
            </a:r>
            <a:r>
              <a:rPr sz="1050" b="0" i="0">
                <a:solidFill>
                  <a:srgbClr val="2E2A36"/>
                </a:solidFill>
                <a:latin typeface="Montserrat"/>
              </a:rPr>
              <a:t>Emocional, cálido y ligero.</a:t>
            </a:r>
          </a:p>
          <a:p>
            <a:pPr algn="l">
              <a:lnSpc>
                <a:spcPct val="115000"/>
              </a:lnSpc>
              <a:spcAft>
                <a:spcPts val="300"/>
              </a:spcAft>
            </a:pPr>
            <a:r>
              <a:rPr sz="1050" b="1" i="0">
                <a:solidFill>
                  <a:srgbClr val="C9A86A"/>
                </a:solidFill>
                <a:latin typeface="Montserrat"/>
              </a:rPr>
              <a:t>Ideal: </a:t>
            </a:r>
            <a:r>
              <a:rPr sz="1050" b="1" i="0">
                <a:solidFill>
                  <a:srgbClr val="2E2A36"/>
                </a:solidFill>
                <a:latin typeface="Montserrat"/>
              </a:rPr>
              <a:t>Jardín de Mascotas</a:t>
            </a:r>
          </a:p>
        </p:txBody>
      </p:sp>
      <p:sp>
        <p:nvSpPr>
          <p:cNvPr id="27" name="Rectangle 26"/>
          <p:cNvSpPr/>
          <p:nvPr/>
        </p:nvSpPr>
        <p:spPr>
          <a:xfrm>
            <a:off x="502920" y="8869680"/>
            <a:ext cx="6556248" cy="118872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8869680"/>
            <a:ext cx="6099048" cy="1188720"/>
          </a:xfrm>
          <a:prstGeom prst="rect">
            <a:avLst/>
          </a:prstGeom>
          <a:noFill/>
        </p:spPr>
        <p:txBody>
          <a:bodyPr wrap="square" anchor="ctr" lIns="45720" rIns="45720" tIns="27432" bIns="27432">
            <a:spAutoFit/>
          </a:bodyPr>
          <a:lstStyle/>
          <a:p>
            <a:pPr algn="l">
              <a:lnSpc>
                <a:spcPct val="115000"/>
              </a:lnSpc>
              <a:spcAft>
                <a:spcPts val="400"/>
              </a:spcAft>
            </a:pPr>
            <a:r>
              <a:rPr sz="1000" b="1" i="0">
                <a:solidFill>
                  <a:srgbClr val="5B3F80"/>
                </a:solidFill>
                <a:latin typeface="Montserrat"/>
              </a:rPr>
              <a:t>FILTRO N·O·A   </a:t>
            </a:r>
            <a:r>
              <a:rPr sz="1050" b="0" i="0">
                <a:solidFill>
                  <a:srgbClr val="2E2A36"/>
                </a:solidFill>
                <a:latin typeface="Montserrat"/>
              </a:rPr>
              <a:t>Antes de invertir energía en un contacto, evalúe tres puntos: Necesidad (¿lo necesita?), Oportunidad (¿es el momento y tiene capacidad de pago?) y Adecuación (¿qué producto encaja con su perfil?). Calificar bien en la entrada evita morosidad en el cobro.</a:t>
            </a:r>
          </a:p>
        </p:txBody>
      </p:sp>
      <p:sp>
        <p:nvSpPr>
          <p:cNvPr id="29" name="TextBox 28"/>
          <p:cNvSpPr txBox="1"/>
          <p:nvPr/>
        </p:nvSpPr>
        <p:spPr>
          <a:xfrm>
            <a:off x="502920" y="10277856"/>
            <a:ext cx="5641848"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30" name="TextBox 29"/>
          <p:cNvSpPr txBox="1"/>
          <p:nvPr/>
        </p:nvSpPr>
        <p:spPr>
          <a:xfrm>
            <a:off x="6144768" y="10277856"/>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10689336"/>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03 · EL PROCESO DE VENTA</a:t>
            </a:r>
          </a:p>
        </p:txBody>
      </p:sp>
      <p:sp>
        <p:nvSpPr>
          <p:cNvPr id="4" name="TextBox 3"/>
          <p:cNvSpPr txBox="1"/>
          <p:nvPr/>
        </p:nvSpPr>
        <p:spPr>
          <a:xfrm>
            <a:off x="502920" y="621792"/>
            <a:ext cx="6556248"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Del contacto a la posventa</a:t>
            </a:r>
          </a:p>
        </p:txBody>
      </p:sp>
      <p:sp>
        <p:nvSpPr>
          <p:cNvPr id="5" name="Rectangle 4"/>
          <p:cNvSpPr/>
          <p:nvPr/>
        </p:nvSpPr>
        <p:spPr>
          <a:xfrm>
            <a:off x="50292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2_embudo.png"/>
          <p:cNvPicPr>
            <a:picLocks noChangeAspect="1"/>
          </p:cNvPicPr>
          <p:nvPr/>
        </p:nvPicPr>
        <p:blipFill>
          <a:blip r:embed="rId2"/>
          <a:stretch>
            <a:fillRect/>
          </a:stretch>
        </p:blipFill>
        <p:spPr>
          <a:xfrm>
            <a:off x="502920" y="1587041"/>
            <a:ext cx="6556248" cy="2998117"/>
          </a:xfrm>
          <a:prstGeom prst="rect">
            <a:avLst/>
          </a:prstGeom>
        </p:spPr>
      </p:pic>
      <p:pic>
        <p:nvPicPr>
          <p:cNvPr id="7" name="Picture 6" descr="03_conversacion.png"/>
          <p:cNvPicPr>
            <a:picLocks noChangeAspect="1"/>
          </p:cNvPicPr>
          <p:nvPr/>
        </p:nvPicPr>
        <p:blipFill>
          <a:blip r:embed="rId3"/>
          <a:stretch>
            <a:fillRect/>
          </a:stretch>
        </p:blipFill>
        <p:spPr>
          <a:xfrm>
            <a:off x="502920" y="4798335"/>
            <a:ext cx="6556248" cy="1376129"/>
          </a:xfrm>
          <a:prstGeom prst="rect">
            <a:avLst/>
          </a:prstGeom>
        </p:spPr>
      </p:pic>
      <p:sp>
        <p:nvSpPr>
          <p:cNvPr id="8" name="TextBox 7"/>
          <p:cNvSpPr txBox="1"/>
          <p:nvPr/>
        </p:nvSpPr>
        <p:spPr>
          <a:xfrm>
            <a:off x="502920" y="6446520"/>
            <a:ext cx="6556248" cy="411480"/>
          </a:xfrm>
          <a:prstGeom prst="rect">
            <a:avLst/>
          </a:prstGeom>
          <a:noFill/>
        </p:spPr>
        <p:txBody>
          <a:bodyPr wrap="square" anchor="t" lIns="45720" rIns="45720" tIns="27432" bIns="27432">
            <a:spAutoFit/>
          </a:bodyPr>
          <a:lstStyle/>
          <a:p>
            <a:pPr algn="l">
              <a:lnSpc>
                <a:spcPct val="115000"/>
              </a:lnSpc>
              <a:spcAft>
                <a:spcPts val="400"/>
              </a:spcAft>
            </a:pPr>
            <a:r>
              <a:rPr sz="1800" b="1" i="0">
                <a:solidFill>
                  <a:srgbClr val="5B3F80"/>
                </a:solidFill>
                <a:latin typeface="Playfair Display"/>
              </a:rPr>
              <a:t>Rituales del equipo</a:t>
            </a:r>
          </a:p>
        </p:txBody>
      </p:sp>
      <p:sp>
        <p:nvSpPr>
          <p:cNvPr id="9" name="Rectangle 8"/>
          <p:cNvSpPr/>
          <p:nvPr/>
        </p:nvSpPr>
        <p:spPr>
          <a:xfrm>
            <a:off x="502920" y="6949440"/>
            <a:ext cx="6556248" cy="9144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6949440"/>
            <a:ext cx="6556248"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7059168"/>
            <a:ext cx="6281928"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DIARIO</a:t>
            </a:r>
          </a:p>
        </p:txBody>
      </p:sp>
      <p:sp>
        <p:nvSpPr>
          <p:cNvPr id="12" name="TextBox 11"/>
          <p:cNvSpPr txBox="1"/>
          <p:nvPr/>
        </p:nvSpPr>
        <p:spPr>
          <a:xfrm>
            <a:off x="640080" y="7333488"/>
            <a:ext cx="6281928" cy="457200"/>
          </a:xfrm>
          <a:prstGeom prst="rect">
            <a:avLst/>
          </a:prstGeom>
          <a:noFill/>
        </p:spPr>
        <p:txBody>
          <a:bodyPr wrap="square" anchor="t" lIns="45720" rIns="45720" tIns="27432" bIns="27432">
            <a:spAutoFit/>
          </a:bodyPr>
          <a:lstStyle/>
          <a:p>
            <a:pPr algn="l">
              <a:lnSpc>
                <a:spcPct val="115000"/>
              </a:lnSpc>
              <a:spcAft>
                <a:spcPts val="300"/>
              </a:spcAft>
            </a:pPr>
            <a:r>
              <a:rPr sz="1100" b="0" i="0">
                <a:solidFill>
                  <a:srgbClr val="2E2A36"/>
                </a:solidFill>
                <a:latin typeface="Montserrat"/>
              </a:rPr>
              <a:t>Alineación rápida de 10 minutos: pendientes y bloqueos.</a:t>
            </a:r>
          </a:p>
        </p:txBody>
      </p:sp>
      <p:sp>
        <p:nvSpPr>
          <p:cNvPr id="13" name="Rectangle 12"/>
          <p:cNvSpPr/>
          <p:nvPr/>
        </p:nvSpPr>
        <p:spPr>
          <a:xfrm>
            <a:off x="502920" y="7973568"/>
            <a:ext cx="6556248" cy="9144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7973568"/>
            <a:ext cx="6556248"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8083296"/>
            <a:ext cx="6281928"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SEMANAL</a:t>
            </a:r>
          </a:p>
        </p:txBody>
      </p:sp>
      <p:sp>
        <p:nvSpPr>
          <p:cNvPr id="16" name="TextBox 15"/>
          <p:cNvSpPr txBox="1"/>
          <p:nvPr/>
        </p:nvSpPr>
        <p:spPr>
          <a:xfrm>
            <a:off x="640080" y="8357616"/>
            <a:ext cx="6281928" cy="457200"/>
          </a:xfrm>
          <a:prstGeom prst="rect">
            <a:avLst/>
          </a:prstGeom>
          <a:noFill/>
        </p:spPr>
        <p:txBody>
          <a:bodyPr wrap="square" anchor="t" lIns="45720" rIns="45720" tIns="27432" bIns="27432">
            <a:spAutoFit/>
          </a:bodyPr>
          <a:lstStyle/>
          <a:p>
            <a:pPr algn="l">
              <a:lnSpc>
                <a:spcPct val="115000"/>
              </a:lnSpc>
              <a:spcAft>
                <a:spcPts val="300"/>
              </a:spcAft>
            </a:pPr>
            <a:r>
              <a:rPr sz="1100" b="0" i="0">
                <a:solidFill>
                  <a:srgbClr val="2E2A36"/>
                </a:solidFill>
                <a:latin typeface="Montserrat"/>
              </a:rPr>
              <a:t>Revisión del embudo: dónde se están quedando los contactos.</a:t>
            </a:r>
          </a:p>
        </p:txBody>
      </p:sp>
      <p:sp>
        <p:nvSpPr>
          <p:cNvPr id="17" name="Rectangle 16"/>
          <p:cNvSpPr/>
          <p:nvPr/>
        </p:nvSpPr>
        <p:spPr>
          <a:xfrm>
            <a:off x="502920" y="8997696"/>
            <a:ext cx="6556248" cy="9144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8997696"/>
            <a:ext cx="6556248"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9107424"/>
            <a:ext cx="6281928"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MENSUAL</a:t>
            </a:r>
          </a:p>
        </p:txBody>
      </p:sp>
      <p:sp>
        <p:nvSpPr>
          <p:cNvPr id="20" name="TextBox 19"/>
          <p:cNvSpPr txBox="1"/>
          <p:nvPr/>
        </p:nvSpPr>
        <p:spPr>
          <a:xfrm>
            <a:off x="640080" y="9381744"/>
            <a:ext cx="6281928" cy="457200"/>
          </a:xfrm>
          <a:prstGeom prst="rect">
            <a:avLst/>
          </a:prstGeom>
          <a:noFill/>
        </p:spPr>
        <p:txBody>
          <a:bodyPr wrap="square" anchor="t" lIns="45720" rIns="45720" tIns="27432" bIns="27432">
            <a:spAutoFit/>
          </a:bodyPr>
          <a:lstStyle/>
          <a:p>
            <a:pPr algn="l">
              <a:lnSpc>
                <a:spcPct val="115000"/>
              </a:lnSpc>
              <a:spcAft>
                <a:spcPts val="300"/>
              </a:spcAft>
            </a:pPr>
            <a:r>
              <a:rPr sz="1100" b="0" i="0">
                <a:solidFill>
                  <a:srgbClr val="2E2A36"/>
                </a:solidFill>
                <a:latin typeface="Montserrat"/>
              </a:rPr>
              <a:t>Resultado vs. meta, ajuste de ruta y reconocimiento.</a:t>
            </a:r>
          </a:p>
        </p:txBody>
      </p:sp>
      <p:sp>
        <p:nvSpPr>
          <p:cNvPr id="21" name="TextBox 20"/>
          <p:cNvSpPr txBox="1"/>
          <p:nvPr/>
        </p:nvSpPr>
        <p:spPr>
          <a:xfrm>
            <a:off x="502920" y="10277856"/>
            <a:ext cx="5641848"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22" name="TextBox 21"/>
          <p:cNvSpPr txBox="1"/>
          <p:nvPr/>
        </p:nvSpPr>
        <p:spPr>
          <a:xfrm>
            <a:off x="6144768" y="10277856"/>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562088" cy="146304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0"/>
            <a:ext cx="7562088"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4206240"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C9A86A"/>
                </a:solidFill>
                <a:latin typeface="Montserrat"/>
              </a:rPr>
              <a:t>CREMACIÓN · ADD-ON</a:t>
            </a:r>
          </a:p>
        </p:txBody>
      </p:sp>
      <p:sp>
        <p:nvSpPr>
          <p:cNvPr id="5" name="TextBox 4"/>
          <p:cNvSpPr txBox="1"/>
          <p:nvPr/>
        </p:nvSpPr>
        <p:spPr>
          <a:xfrm>
            <a:off x="502920" y="502920"/>
            <a:ext cx="4206240" cy="868680"/>
          </a:xfrm>
          <a:prstGeom prst="rect">
            <a:avLst/>
          </a:prstGeom>
          <a:noFill/>
        </p:spPr>
        <p:txBody>
          <a:bodyPr wrap="square" anchor="t" lIns="45720" rIns="45720" tIns="27432" bIns="27432">
            <a:spAutoFit/>
          </a:bodyPr>
          <a:lstStyle/>
          <a:p>
            <a:pPr algn="l">
              <a:lnSpc>
                <a:spcPct val="100000"/>
              </a:lnSpc>
              <a:spcAft>
                <a:spcPts val="400"/>
              </a:spcAft>
            </a:pPr>
            <a:r>
              <a:rPr sz="2100" b="1" i="0">
                <a:solidFill>
                  <a:srgbClr val="FFFFFF"/>
                </a:solidFill>
                <a:latin typeface="Playfair Display"/>
              </a:rPr>
              <a:t>Solución Modular de Cremación</a:t>
            </a:r>
          </a:p>
        </p:txBody>
      </p:sp>
      <p:sp>
        <p:nvSpPr>
          <p:cNvPr id="6" name="TextBox 5"/>
          <p:cNvSpPr txBox="1"/>
          <p:nvPr/>
        </p:nvSpPr>
        <p:spPr>
          <a:xfrm>
            <a:off x="4663440" y="228600"/>
            <a:ext cx="2395728" cy="274320"/>
          </a:xfrm>
          <a:prstGeom prst="rect">
            <a:avLst/>
          </a:prstGeom>
          <a:noFill/>
        </p:spPr>
        <p:txBody>
          <a:bodyPr wrap="square" anchor="t" lIns="45720" rIns="45720" tIns="27432" bIns="27432">
            <a:spAutoFit/>
          </a:bodyPr>
          <a:lstStyle/>
          <a:p>
            <a:pPr algn="r">
              <a:lnSpc>
                <a:spcPct val="115000"/>
              </a:lnSpc>
              <a:spcAft>
                <a:spcPts val="400"/>
              </a:spcAft>
            </a:pPr>
            <a:r>
              <a:rPr sz="950" b="1" i="0">
                <a:solidFill>
                  <a:srgbClr val="C9A86A"/>
                </a:solidFill>
                <a:latin typeface="Montserrat"/>
              </a:rPr>
              <a:t>PRECIO SUGERIDO</a:t>
            </a:r>
          </a:p>
        </p:txBody>
      </p:sp>
      <p:sp>
        <p:nvSpPr>
          <p:cNvPr id="7" name="TextBox 6"/>
          <p:cNvSpPr txBox="1"/>
          <p:nvPr/>
        </p:nvSpPr>
        <p:spPr>
          <a:xfrm>
            <a:off x="4663440" y="502920"/>
            <a:ext cx="2395728" cy="868680"/>
          </a:xfrm>
          <a:prstGeom prst="rect">
            <a:avLst/>
          </a:prstGeom>
          <a:noFill/>
        </p:spPr>
        <p:txBody>
          <a:bodyPr wrap="square" anchor="ctr" lIns="45720" rIns="45720" tIns="27432" bIns="27432">
            <a:spAutoFit/>
          </a:bodyPr>
          <a:lstStyle/>
          <a:p>
            <a:pPr algn="r">
              <a:lnSpc>
                <a:spcPct val="115000"/>
              </a:lnSpc>
              <a:spcAft>
                <a:spcPts val="400"/>
              </a:spcAft>
            </a:pPr>
            <a:r>
              <a:rPr sz="2600" b="1" i="0">
                <a:solidFill>
                  <a:srgbClr val="FFFFFF"/>
                </a:solidFill>
                <a:latin typeface="Montserrat"/>
              </a:rPr>
              <a:t>US$ 1.000</a:t>
            </a:r>
          </a:p>
        </p:txBody>
      </p:sp>
      <p:sp>
        <p:nvSpPr>
          <p:cNvPr id="8" name="TextBox 7"/>
          <p:cNvSpPr txBox="1"/>
          <p:nvPr/>
        </p:nvSpPr>
        <p:spPr>
          <a:xfrm>
            <a:off x="502920" y="1627632"/>
            <a:ext cx="6556248" cy="320040"/>
          </a:xfrm>
          <a:prstGeom prst="rect">
            <a:avLst/>
          </a:prstGeom>
          <a:noFill/>
        </p:spPr>
        <p:txBody>
          <a:bodyPr wrap="square" anchor="t" lIns="45720" rIns="45720" tIns="27432" bIns="27432">
            <a:spAutoFit/>
          </a:bodyPr>
          <a:lstStyle/>
          <a:p>
            <a:pPr algn="l">
              <a:lnSpc>
                <a:spcPct val="115000"/>
              </a:lnSpc>
              <a:spcAft>
                <a:spcPts val="400"/>
              </a:spcAft>
            </a:pPr>
            <a:r>
              <a:rPr sz="1100" b="0" i="1">
                <a:solidFill>
                  <a:srgbClr val="7D7887"/>
                </a:solidFill>
                <a:latin typeface="Montserrat"/>
              </a:rPr>
              <a:t>Lanzamiento (−20%): US$ 800 · Pago en hasta 120 meses, con intereses</a:t>
            </a:r>
          </a:p>
        </p:txBody>
      </p:sp>
      <p:sp>
        <p:nvSpPr>
          <p:cNvPr id="9" name="TextBox 8"/>
          <p:cNvSpPr txBox="1"/>
          <p:nvPr/>
        </p:nvSpPr>
        <p:spPr>
          <a:xfrm>
            <a:off x="502920" y="1993392"/>
            <a:ext cx="6556248" cy="10515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Qué es.  </a:t>
            </a:r>
            <a:r>
              <a:rPr sz="1100" b="0" i="0">
                <a:solidFill>
                  <a:srgbClr val="2E2A36"/>
                </a:solidFill>
                <a:latin typeface="Montserrat"/>
              </a:rPr>
              <a:t>Módulo de cremación que se integra a cualquier plan funerario vigente o nuevo de Vangrupo, sin cambiar de plan.</a:t>
            </a:r>
          </a:p>
          <a:p>
            <a:pPr algn="l">
              <a:lnSpc>
                <a:spcPct val="115000"/>
              </a:lnSpc>
              <a:spcAft>
                <a:spcPts val="400"/>
              </a:spcAft>
            </a:pPr>
            <a:r>
              <a:rPr sz="1100" b="1" i="0">
                <a:solidFill>
                  <a:srgbClr val="5B3F80"/>
                </a:solidFill>
                <a:latin typeface="Montserrat"/>
              </a:rPr>
              <a:t>Para quién.  </a:t>
            </a:r>
            <a:r>
              <a:rPr sz="1100" b="0" i="0">
                <a:solidFill>
                  <a:srgbClr val="2E2A36"/>
                </a:solidFill>
                <a:latin typeface="Montserrat"/>
              </a:rPr>
              <a:t>Afiliados actuales y nuevos que quieren sumar la cremación con una cuota mínima.</a:t>
            </a:r>
          </a:p>
        </p:txBody>
      </p:sp>
      <p:sp>
        <p:nvSpPr>
          <p:cNvPr id="10" name="Rectangle 9"/>
          <p:cNvSpPr/>
          <p:nvPr/>
        </p:nvSpPr>
        <p:spPr>
          <a:xfrm>
            <a:off x="502920" y="3108960"/>
            <a:ext cx="3186684" cy="242316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108960"/>
            <a:ext cx="3186684" cy="64008"/>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218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QUÉ INCLUYE</a:t>
            </a:r>
          </a:p>
        </p:txBody>
      </p:sp>
      <p:sp>
        <p:nvSpPr>
          <p:cNvPr id="13" name="TextBox 12"/>
          <p:cNvSpPr txBox="1"/>
          <p:nvPr/>
        </p:nvSpPr>
        <p:spPr>
          <a:xfrm>
            <a:off x="640080" y="3493008"/>
            <a:ext cx="2912364" cy="1965960"/>
          </a:xfrm>
          <a:prstGeom prst="rect">
            <a:avLst/>
          </a:prstGeom>
          <a:noFill/>
        </p:spPr>
        <p:txBody>
          <a:bodyPr wrap="square" anchor="t" lIns="45720" rIns="45720" tIns="27432" bIns="27432">
            <a:spAutoFit/>
          </a:bodyPr>
          <a:lstStyle/>
          <a:p>
            <a:pPr algn="l">
              <a:lnSpc>
                <a:spcPct val="115000"/>
              </a:lnSpc>
              <a:spcAft>
                <a:spcPts val="300"/>
              </a:spcAft>
            </a:pPr>
            <a:r>
              <a:rPr sz="750" b="1" i="0">
                <a:solidFill>
                  <a:srgbClr val="5E9A3C"/>
                </a:solidFill>
                <a:latin typeface="Montserrat"/>
              </a:rPr>
              <a:t>✓  </a:t>
            </a:r>
            <a:r>
              <a:rPr sz="1050" b="0" i="0">
                <a:solidFill>
                  <a:srgbClr val="2E2A36"/>
                </a:solidFill>
                <a:latin typeface="Montserrat"/>
              </a:rPr>
              <a:t>Proceso completo de cremación individual</a:t>
            </a:r>
          </a:p>
          <a:p>
            <a:pPr algn="l">
              <a:lnSpc>
                <a:spcPct val="115000"/>
              </a:lnSpc>
              <a:spcAft>
                <a:spcPts val="300"/>
              </a:spcAft>
            </a:pPr>
            <a:r>
              <a:rPr sz="750" b="1" i="0">
                <a:solidFill>
                  <a:srgbClr val="5E9A3C"/>
                </a:solidFill>
                <a:latin typeface="Montserrat"/>
              </a:rPr>
              <a:t>✓  </a:t>
            </a:r>
            <a:r>
              <a:rPr sz="1050" b="0" i="0">
                <a:solidFill>
                  <a:srgbClr val="2E2A36"/>
                </a:solidFill>
                <a:latin typeface="Montserrat"/>
              </a:rPr>
              <a:t>Urna cineraria de línea modular</a:t>
            </a:r>
          </a:p>
          <a:p>
            <a:pPr algn="l">
              <a:lnSpc>
                <a:spcPct val="115000"/>
              </a:lnSpc>
              <a:spcAft>
                <a:spcPts val="300"/>
              </a:spcAft>
            </a:pPr>
            <a:r>
              <a:rPr sz="750" b="1" i="0">
                <a:solidFill>
                  <a:srgbClr val="5E9A3C"/>
                </a:solidFill>
                <a:latin typeface="Montserrat"/>
              </a:rPr>
              <a:t>✓  </a:t>
            </a:r>
            <a:r>
              <a:rPr sz="1050" b="0" i="0">
                <a:solidFill>
                  <a:srgbClr val="2E2A36"/>
                </a:solidFill>
                <a:latin typeface="Montserrat"/>
              </a:rPr>
              <a:t>Trámites legales básicos</a:t>
            </a:r>
          </a:p>
          <a:p>
            <a:pPr algn="l">
              <a:lnSpc>
                <a:spcPct val="115000"/>
              </a:lnSpc>
              <a:spcAft>
                <a:spcPts val="300"/>
              </a:spcAft>
            </a:pPr>
            <a:r>
              <a:rPr sz="750" b="1" i="0">
                <a:solidFill>
                  <a:srgbClr val="5E9A3C"/>
                </a:solidFill>
                <a:latin typeface="Montserrat"/>
              </a:rPr>
              <a:t>✓  </a:t>
            </a:r>
            <a:r>
              <a:rPr sz="1050" b="0" i="0">
                <a:solidFill>
                  <a:srgbClr val="2E2A36"/>
                </a:solidFill>
                <a:latin typeface="Montserrat"/>
              </a:rPr>
              <a:t>Alquiler temporal de columbario por 1 año en Hogar de las Memorias</a:t>
            </a:r>
          </a:p>
        </p:txBody>
      </p:sp>
      <p:sp>
        <p:nvSpPr>
          <p:cNvPr id="14" name="Rectangle 13"/>
          <p:cNvSpPr/>
          <p:nvPr/>
        </p:nvSpPr>
        <p:spPr>
          <a:xfrm>
            <a:off x="3872484" y="3108960"/>
            <a:ext cx="3186684" cy="242316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872484" y="3108960"/>
            <a:ext cx="3186684"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09644" y="3218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REGLAS DEL PRODUCTO</a:t>
            </a:r>
          </a:p>
        </p:txBody>
      </p:sp>
      <p:sp>
        <p:nvSpPr>
          <p:cNvPr id="17" name="TextBox 16"/>
          <p:cNvSpPr txBox="1"/>
          <p:nvPr/>
        </p:nvSpPr>
        <p:spPr>
          <a:xfrm>
            <a:off x="4009644" y="3493008"/>
            <a:ext cx="2912364" cy="1965960"/>
          </a:xfrm>
          <a:prstGeom prst="rect">
            <a:avLst/>
          </a:prstGeom>
          <a:noFill/>
        </p:spPr>
        <p:txBody>
          <a:bodyPr wrap="square" anchor="t" lIns="45720" rIns="45720" tIns="27432" bIns="27432">
            <a:spAutoFit/>
          </a:bodyPr>
          <a:lstStyle/>
          <a:p>
            <a:pPr algn="l">
              <a:lnSpc>
                <a:spcPct val="115000"/>
              </a:lnSpc>
              <a:spcAft>
                <a:spcPts val="300"/>
              </a:spcAft>
            </a:pPr>
            <a:r>
              <a:rPr sz="750" b="1" i="0">
                <a:solidFill>
                  <a:srgbClr val="C9A86A"/>
                </a:solidFill>
                <a:latin typeface="Montserrat"/>
              </a:rPr>
              <a:t>■  </a:t>
            </a:r>
            <a:r>
              <a:rPr sz="1050" b="0" i="0">
                <a:solidFill>
                  <a:srgbClr val="2E2A36"/>
                </a:solidFill>
                <a:latin typeface="Montserrat"/>
              </a:rPr>
              <a:t>Se vende como adicional a un plan funerario (actual o nuevo).</a:t>
            </a:r>
          </a:p>
          <a:p>
            <a:pPr algn="l">
              <a:lnSpc>
                <a:spcPct val="115000"/>
              </a:lnSpc>
              <a:spcAft>
                <a:spcPts val="300"/>
              </a:spcAft>
            </a:pPr>
            <a:r>
              <a:rPr sz="750" b="1" i="0">
                <a:solidFill>
                  <a:srgbClr val="C9A86A"/>
                </a:solidFill>
                <a:latin typeface="Montserrat"/>
              </a:rPr>
              <a:t>■  </a:t>
            </a:r>
            <a:r>
              <a:rPr sz="1050" b="0" i="0">
                <a:solidFill>
                  <a:srgbClr val="2E2A36"/>
                </a:solidFill>
                <a:latin typeface="Montserrat"/>
              </a:rPr>
              <a:t>Cobertura individual: un módulo por titular o beneficiario.</a:t>
            </a:r>
          </a:p>
          <a:p>
            <a:pPr algn="l">
              <a:lnSpc>
                <a:spcPct val="115000"/>
              </a:lnSpc>
              <a:spcAft>
                <a:spcPts val="300"/>
              </a:spcAft>
            </a:pPr>
            <a:r>
              <a:rPr sz="750" b="1" i="0">
                <a:solidFill>
                  <a:srgbClr val="C9A86A"/>
                </a:solidFill>
                <a:latin typeface="Montserrat"/>
              </a:rPr>
              <a:t>■  </a:t>
            </a:r>
            <a:r>
              <a:rPr sz="1050" b="0" i="0">
                <a:solidFill>
                  <a:srgbClr val="2E2A36"/>
                </a:solidFill>
                <a:latin typeface="Montserrat"/>
              </a:rPr>
              <a:t>Debe estar pagado en su totalidad para usar la cremación y el columbario.</a:t>
            </a:r>
          </a:p>
          <a:p>
            <a:pPr algn="l">
              <a:lnSpc>
                <a:spcPct val="115000"/>
              </a:lnSpc>
              <a:spcAft>
                <a:spcPts val="300"/>
              </a:spcAft>
            </a:pPr>
            <a:r>
              <a:rPr sz="750" b="1" i="0">
                <a:solidFill>
                  <a:srgbClr val="C9A86A"/>
                </a:solidFill>
                <a:latin typeface="Montserrat"/>
              </a:rPr>
              <a:t>■  </a:t>
            </a:r>
            <a:r>
              <a:rPr sz="1050" b="0" i="0">
                <a:solidFill>
                  <a:srgbClr val="2E2A36"/>
                </a:solidFill>
                <a:latin typeface="Montserrat"/>
              </a:rPr>
              <a:t>El columbario temporal es por 12 meses; al término, la familia elige destino final (oportunidad para ofrecer un Jardín de Cenizas o un columbario).</a:t>
            </a:r>
          </a:p>
        </p:txBody>
      </p:sp>
      <p:sp>
        <p:nvSpPr>
          <p:cNvPr id="18" name="Rectangle 17"/>
          <p:cNvSpPr/>
          <p:nvPr/>
        </p:nvSpPr>
        <p:spPr>
          <a:xfrm>
            <a:off x="502920" y="5669280"/>
            <a:ext cx="6556248" cy="128016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5669280"/>
            <a:ext cx="73152" cy="128016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715000"/>
            <a:ext cx="6190488"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SPEECH SUGERIDO</a:t>
            </a:r>
          </a:p>
        </p:txBody>
      </p:sp>
      <p:sp>
        <p:nvSpPr>
          <p:cNvPr id="21" name="TextBox 20"/>
          <p:cNvSpPr txBox="1"/>
          <p:nvPr/>
        </p:nvSpPr>
        <p:spPr>
          <a:xfrm>
            <a:off x="731520" y="5961888"/>
            <a:ext cx="6190488" cy="960120"/>
          </a:xfrm>
          <a:prstGeom prst="rect">
            <a:avLst/>
          </a:prstGeom>
          <a:noFill/>
        </p:spPr>
        <p:txBody>
          <a:bodyPr wrap="square" anchor="t" lIns="45720" rIns="45720" tIns="27432" bIns="27432">
            <a:spAutoFit/>
          </a:bodyPr>
          <a:lstStyle/>
          <a:p>
            <a:pPr algn="l">
              <a:lnSpc>
                <a:spcPct val="115000"/>
              </a:lnSpc>
              <a:spcAft>
                <a:spcPts val="400"/>
              </a:spcAft>
            </a:pPr>
            <a:r>
              <a:rPr sz="1100" b="0" i="1">
                <a:solidFill>
                  <a:srgbClr val="3E2A5C"/>
                </a:solidFill>
                <a:latin typeface="Playfair Display"/>
              </a:rPr>
              <a:t>"Usted ya protegió a su familia con su plan. Pagando en hasta 120 meses, puede sumar la cremación completa, con urna, trámites y un año de columbario incluido. Así nadie tendrá que decidir ni pagar de golpe en un momento difícil."</a:t>
            </a:r>
          </a:p>
        </p:txBody>
      </p:sp>
      <p:sp>
        <p:nvSpPr>
          <p:cNvPr id="22" name="Rectangle 21"/>
          <p:cNvSpPr/>
          <p:nvPr/>
        </p:nvSpPr>
        <p:spPr>
          <a:xfrm>
            <a:off x="502920" y="7086600"/>
            <a:ext cx="3186684" cy="16002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7086600"/>
            <a:ext cx="3186684"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719632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PREGUNTAS DE DESCUBRIMIENTO</a:t>
            </a:r>
          </a:p>
        </p:txBody>
      </p:sp>
      <p:sp>
        <p:nvSpPr>
          <p:cNvPr id="25" name="TextBox 24"/>
          <p:cNvSpPr txBox="1"/>
          <p:nvPr/>
        </p:nvSpPr>
        <p:spPr>
          <a:xfrm>
            <a:off x="640080" y="7470648"/>
            <a:ext cx="2912364" cy="1143000"/>
          </a:xfrm>
          <a:prstGeom prst="rect">
            <a:avLst/>
          </a:prstGeom>
          <a:noFill/>
        </p:spPr>
        <p:txBody>
          <a:bodyPr wrap="square" anchor="t" lIns="45720" rIns="45720" tIns="27432" bIns="27432">
            <a:spAutoFit/>
          </a:bodyPr>
          <a:lstStyle/>
          <a:p>
            <a:pPr algn="l">
              <a:lnSpc>
                <a:spcPct val="115000"/>
              </a:lnSpc>
              <a:spcAft>
                <a:spcPts val="300"/>
              </a:spcAft>
            </a:pPr>
            <a:r>
              <a:rPr sz="650" b="1" i="0">
                <a:solidFill>
                  <a:srgbClr val="C9A86A"/>
                </a:solidFill>
                <a:latin typeface="Montserrat"/>
              </a:rPr>
              <a:t>?  </a:t>
            </a:r>
            <a:r>
              <a:rPr sz="950" b="0" i="0">
                <a:solidFill>
                  <a:srgbClr val="2E2A36"/>
                </a:solidFill>
                <a:latin typeface="Montserrat"/>
              </a:rPr>
              <a:t>¿Su plan actual incluye la cremación o solo el servicio funerario?</a:t>
            </a:r>
          </a:p>
          <a:p>
            <a:pPr algn="l">
              <a:lnSpc>
                <a:spcPct val="115000"/>
              </a:lnSpc>
              <a:spcAft>
                <a:spcPts val="300"/>
              </a:spcAft>
            </a:pPr>
            <a:r>
              <a:rPr sz="650" b="1" i="0">
                <a:solidFill>
                  <a:srgbClr val="C9A86A"/>
                </a:solidFill>
                <a:latin typeface="Montserrat"/>
              </a:rPr>
              <a:t>?  </a:t>
            </a:r>
            <a:r>
              <a:rPr sz="950" b="0" i="0">
                <a:solidFill>
                  <a:srgbClr val="2E2A36"/>
                </a:solidFill>
                <a:latin typeface="Montserrat"/>
              </a:rPr>
              <a:t>¿Ha conversado en familia qué preferencia tiene usted?</a:t>
            </a:r>
          </a:p>
          <a:p>
            <a:pPr algn="l">
              <a:lnSpc>
                <a:spcPct val="115000"/>
              </a:lnSpc>
              <a:spcAft>
                <a:spcPts val="300"/>
              </a:spcAft>
            </a:pPr>
            <a:r>
              <a:rPr sz="650" b="1" i="0">
                <a:solidFill>
                  <a:srgbClr val="C9A86A"/>
                </a:solidFill>
                <a:latin typeface="Montserrat"/>
              </a:rPr>
              <a:t>?  </a:t>
            </a:r>
            <a:r>
              <a:rPr sz="950" b="0" i="0">
                <a:solidFill>
                  <a:srgbClr val="2E2A36"/>
                </a:solidFill>
                <a:latin typeface="Montserrat"/>
              </a:rPr>
              <a:t>¿Qué le preocupa más: el costo o tener que decidir de urgencia?</a:t>
            </a:r>
          </a:p>
        </p:txBody>
      </p:sp>
      <p:sp>
        <p:nvSpPr>
          <p:cNvPr id="26" name="Rectangle 25"/>
          <p:cNvSpPr/>
          <p:nvPr/>
        </p:nvSpPr>
        <p:spPr>
          <a:xfrm>
            <a:off x="3872484" y="7086600"/>
            <a:ext cx="3186684" cy="1600200"/>
          </a:xfrm>
          <a:prstGeom prst="rect">
            <a:avLst/>
          </a:prstGeom>
          <a:solidFill>
            <a:srgbClr val="EE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72484" y="7086600"/>
            <a:ext cx="3186684" cy="64008"/>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09644" y="719632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FRASE DE CIERRE</a:t>
            </a:r>
          </a:p>
        </p:txBody>
      </p:sp>
      <p:sp>
        <p:nvSpPr>
          <p:cNvPr id="29" name="TextBox 28"/>
          <p:cNvSpPr txBox="1"/>
          <p:nvPr/>
        </p:nvSpPr>
        <p:spPr>
          <a:xfrm>
            <a:off x="4009644" y="7470648"/>
            <a:ext cx="2912364" cy="1143000"/>
          </a:xfrm>
          <a:prstGeom prst="rect">
            <a:avLst/>
          </a:prstGeom>
          <a:noFill/>
        </p:spPr>
        <p:txBody>
          <a:bodyPr wrap="square" anchor="t" lIns="45720" rIns="45720" tIns="27432" bIns="27432">
            <a:spAutoFit/>
          </a:bodyPr>
          <a:lstStyle/>
          <a:p>
            <a:pPr algn="l">
              <a:lnSpc>
                <a:spcPct val="115000"/>
              </a:lnSpc>
              <a:spcAft>
                <a:spcPts val="300"/>
              </a:spcAft>
            </a:pPr>
            <a:r>
              <a:rPr sz="1050" b="0" i="0">
                <a:solidFill>
                  <a:srgbClr val="2E2A36"/>
                </a:solidFill>
                <a:latin typeface="Montserrat"/>
              </a:rPr>
              <a:t>"¿Le parece si lo sumamos a su plan desde este mes, con la primera cuota de hoy?"</a:t>
            </a:r>
          </a:p>
        </p:txBody>
      </p:sp>
      <p:sp>
        <p:nvSpPr>
          <p:cNvPr id="30" name="Rectangle 29"/>
          <p:cNvSpPr/>
          <p:nvPr/>
        </p:nvSpPr>
        <p:spPr>
          <a:xfrm>
            <a:off x="502920" y="8823960"/>
            <a:ext cx="3186684" cy="1325880"/>
          </a:xfrm>
          <a:prstGeom prst="rect">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2920" y="8823960"/>
            <a:ext cx="3186684" cy="6400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8933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OBJECIÓN TÍPICA</a:t>
            </a:r>
          </a:p>
        </p:txBody>
      </p:sp>
      <p:sp>
        <p:nvSpPr>
          <p:cNvPr id="33" name="TextBox 32"/>
          <p:cNvSpPr txBox="1"/>
          <p:nvPr/>
        </p:nvSpPr>
        <p:spPr>
          <a:xfrm>
            <a:off x="640080" y="9208008"/>
            <a:ext cx="2912364" cy="868680"/>
          </a:xfrm>
          <a:prstGeom prst="rect">
            <a:avLst/>
          </a:prstGeom>
          <a:noFill/>
        </p:spPr>
        <p:txBody>
          <a:bodyPr wrap="square" anchor="t" lIns="45720" rIns="45720" tIns="27432" bIns="27432">
            <a:spAutoFit/>
          </a:bodyPr>
          <a:lstStyle/>
          <a:p>
            <a:pPr algn="l">
              <a:lnSpc>
                <a:spcPct val="115000"/>
              </a:lnSpc>
              <a:spcAft>
                <a:spcPts val="300"/>
              </a:spcAft>
            </a:pPr>
            <a:r>
              <a:rPr sz="900" b="0" i="0">
                <a:solidFill>
                  <a:srgbClr val="2E2A36"/>
                </a:solidFill>
                <a:latin typeface="Montserrat"/>
              </a:rPr>
              <a:t>"Mi plan ya es suficiente." → "Su plan cubre el servicio funerario; la cremación y la urna se pagarían aparte y de una sola vez. Con el módulo queda todo cubierto en cuotas pequeñas."</a:t>
            </a:r>
          </a:p>
        </p:txBody>
      </p:sp>
      <p:sp>
        <p:nvSpPr>
          <p:cNvPr id="34" name="Rectangle 33"/>
          <p:cNvSpPr/>
          <p:nvPr/>
        </p:nvSpPr>
        <p:spPr>
          <a:xfrm>
            <a:off x="3872484" y="8823960"/>
            <a:ext cx="3186684" cy="1325880"/>
          </a:xfrm>
          <a:prstGeom prst="rect">
            <a:avLst/>
          </a:prstGeom>
          <a:solidFill>
            <a:srgbClr val="ED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872484" y="8823960"/>
            <a:ext cx="3186684" cy="64008"/>
          </a:xfrm>
          <a:prstGeom prst="rect">
            <a:avLst/>
          </a:prstGeom>
          <a:solidFill>
            <a:srgbClr val="6F8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09644" y="8933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TIP DEL ASESOR</a:t>
            </a:r>
          </a:p>
        </p:txBody>
      </p:sp>
      <p:sp>
        <p:nvSpPr>
          <p:cNvPr id="37" name="TextBox 36"/>
          <p:cNvSpPr txBox="1"/>
          <p:nvPr/>
        </p:nvSpPr>
        <p:spPr>
          <a:xfrm>
            <a:off x="4009644" y="9208008"/>
            <a:ext cx="2912364" cy="868680"/>
          </a:xfrm>
          <a:prstGeom prst="rect">
            <a:avLst/>
          </a:prstGeom>
          <a:noFill/>
        </p:spPr>
        <p:txBody>
          <a:bodyPr wrap="square" anchor="t" lIns="45720" rIns="45720" tIns="27432" bIns="27432">
            <a:spAutoFit/>
          </a:bodyPr>
          <a:lstStyle/>
          <a:p>
            <a:pPr algn="l">
              <a:lnSpc>
                <a:spcPct val="115000"/>
              </a:lnSpc>
              <a:spcAft>
                <a:spcPts val="300"/>
              </a:spcAft>
            </a:pPr>
            <a:r>
              <a:rPr sz="1050" b="0" i="0">
                <a:solidFill>
                  <a:srgbClr val="2E2A36"/>
                </a:solidFill>
                <a:latin typeface="Montserrat"/>
              </a:rPr>
              <a:t>Ofrézcalo siempre junto a un jardín: la familia resuelve cremación y destino final en una sola decisión.</a:t>
            </a:r>
          </a:p>
        </p:txBody>
      </p:sp>
      <p:sp>
        <p:nvSpPr>
          <p:cNvPr id="38" name="TextBox 37"/>
          <p:cNvSpPr txBox="1"/>
          <p:nvPr/>
        </p:nvSpPr>
        <p:spPr>
          <a:xfrm>
            <a:off x="502920" y="10277856"/>
            <a:ext cx="5641848"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39" name="TextBox 38"/>
          <p:cNvSpPr txBox="1"/>
          <p:nvPr/>
        </p:nvSpPr>
        <p:spPr>
          <a:xfrm>
            <a:off x="6144768" y="10277856"/>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562088" cy="146304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0"/>
            <a:ext cx="7562088"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4206240"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C9A86A"/>
                </a:solidFill>
                <a:latin typeface="Montserrat"/>
              </a:rPr>
              <a:t>JARDÍN 1 · INHUMACIÓN INDIVIDUAL</a:t>
            </a:r>
          </a:p>
        </p:txBody>
      </p:sp>
      <p:sp>
        <p:nvSpPr>
          <p:cNvPr id="5" name="TextBox 4"/>
          <p:cNvSpPr txBox="1"/>
          <p:nvPr/>
        </p:nvSpPr>
        <p:spPr>
          <a:xfrm>
            <a:off x="502920" y="502920"/>
            <a:ext cx="4206240" cy="868680"/>
          </a:xfrm>
          <a:prstGeom prst="rect">
            <a:avLst/>
          </a:prstGeom>
          <a:noFill/>
        </p:spPr>
        <p:txBody>
          <a:bodyPr wrap="square" anchor="t" lIns="45720" rIns="45720" tIns="27432" bIns="27432">
            <a:spAutoFit/>
          </a:bodyPr>
          <a:lstStyle/>
          <a:p>
            <a:pPr algn="l">
              <a:lnSpc>
                <a:spcPct val="100000"/>
              </a:lnSpc>
              <a:spcAft>
                <a:spcPts val="400"/>
              </a:spcAft>
            </a:pPr>
            <a:r>
              <a:rPr sz="2100" b="1" i="0">
                <a:solidFill>
                  <a:srgbClr val="FFFFFF"/>
                </a:solidFill>
                <a:latin typeface="Playfair Display"/>
              </a:rPr>
              <a:t>Jardín de Cenizas · Individual</a:t>
            </a:r>
          </a:p>
        </p:txBody>
      </p:sp>
      <p:sp>
        <p:nvSpPr>
          <p:cNvPr id="6" name="TextBox 5"/>
          <p:cNvSpPr txBox="1"/>
          <p:nvPr/>
        </p:nvSpPr>
        <p:spPr>
          <a:xfrm>
            <a:off x="4663440" y="228600"/>
            <a:ext cx="2395728" cy="274320"/>
          </a:xfrm>
          <a:prstGeom prst="rect">
            <a:avLst/>
          </a:prstGeom>
          <a:noFill/>
        </p:spPr>
        <p:txBody>
          <a:bodyPr wrap="square" anchor="t" lIns="45720" rIns="45720" tIns="27432" bIns="27432">
            <a:spAutoFit/>
          </a:bodyPr>
          <a:lstStyle/>
          <a:p>
            <a:pPr algn="r">
              <a:lnSpc>
                <a:spcPct val="115000"/>
              </a:lnSpc>
              <a:spcAft>
                <a:spcPts val="400"/>
              </a:spcAft>
            </a:pPr>
            <a:r>
              <a:rPr sz="950" b="1" i="0">
                <a:solidFill>
                  <a:srgbClr val="C9A86A"/>
                </a:solidFill>
                <a:latin typeface="Montserrat"/>
              </a:rPr>
              <a:t>PRECIO SUGERIDO</a:t>
            </a:r>
          </a:p>
        </p:txBody>
      </p:sp>
      <p:sp>
        <p:nvSpPr>
          <p:cNvPr id="7" name="TextBox 6"/>
          <p:cNvSpPr txBox="1"/>
          <p:nvPr/>
        </p:nvSpPr>
        <p:spPr>
          <a:xfrm>
            <a:off x="4663440" y="502920"/>
            <a:ext cx="2395728" cy="868680"/>
          </a:xfrm>
          <a:prstGeom prst="rect">
            <a:avLst/>
          </a:prstGeom>
          <a:noFill/>
        </p:spPr>
        <p:txBody>
          <a:bodyPr wrap="square" anchor="ctr" lIns="45720" rIns="45720" tIns="27432" bIns="27432">
            <a:spAutoFit/>
          </a:bodyPr>
          <a:lstStyle/>
          <a:p>
            <a:pPr algn="r">
              <a:lnSpc>
                <a:spcPct val="115000"/>
              </a:lnSpc>
              <a:spcAft>
                <a:spcPts val="400"/>
              </a:spcAft>
            </a:pPr>
            <a:r>
              <a:rPr sz="2600" b="1" i="0">
                <a:solidFill>
                  <a:srgbClr val="FFFFFF"/>
                </a:solidFill>
                <a:latin typeface="Montserrat"/>
              </a:rPr>
              <a:t>US$ 600</a:t>
            </a:r>
          </a:p>
        </p:txBody>
      </p:sp>
      <p:sp>
        <p:nvSpPr>
          <p:cNvPr id="8" name="TextBox 7"/>
          <p:cNvSpPr txBox="1"/>
          <p:nvPr/>
        </p:nvSpPr>
        <p:spPr>
          <a:xfrm>
            <a:off x="502920" y="1627632"/>
            <a:ext cx="6556248" cy="320040"/>
          </a:xfrm>
          <a:prstGeom prst="rect">
            <a:avLst/>
          </a:prstGeom>
          <a:noFill/>
        </p:spPr>
        <p:txBody>
          <a:bodyPr wrap="square" anchor="t" lIns="45720" rIns="45720" tIns="27432" bIns="27432">
            <a:spAutoFit/>
          </a:bodyPr>
          <a:lstStyle/>
          <a:p>
            <a:pPr algn="l">
              <a:lnSpc>
                <a:spcPct val="115000"/>
              </a:lnSpc>
              <a:spcAft>
                <a:spcPts val="400"/>
              </a:spcAft>
            </a:pPr>
            <a:r>
              <a:rPr sz="1100" b="0" i="1">
                <a:solidFill>
                  <a:srgbClr val="7D7887"/>
                </a:solidFill>
                <a:latin typeface="Montserrat"/>
              </a:rPr>
              <a:t>Lanzamiento (−20%): US$ 480 · Pago único o financiado · Mantenimiento US$ 15/año</a:t>
            </a:r>
          </a:p>
        </p:txBody>
      </p:sp>
      <p:sp>
        <p:nvSpPr>
          <p:cNvPr id="9" name="TextBox 8"/>
          <p:cNvSpPr txBox="1"/>
          <p:nvPr/>
        </p:nvSpPr>
        <p:spPr>
          <a:xfrm>
            <a:off x="502920" y="1993392"/>
            <a:ext cx="6556248" cy="10515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Qué es.  </a:t>
            </a:r>
            <a:r>
              <a:rPr sz="1100" b="0" i="0">
                <a:solidFill>
                  <a:srgbClr val="2E2A36"/>
                </a:solidFill>
                <a:latin typeface="Montserrat"/>
              </a:rPr>
              <a:t>Inhumación de la urna en un contenedor enterrado con tapa de granito grabada, en un jardín de plantas de sombra: un lugar para visitar por 30 años desde la primera inhumación, renovable.</a:t>
            </a:r>
          </a:p>
          <a:p>
            <a:pPr algn="l">
              <a:lnSpc>
                <a:spcPct val="115000"/>
              </a:lnSpc>
              <a:spcAft>
                <a:spcPts val="400"/>
              </a:spcAft>
            </a:pPr>
            <a:r>
              <a:rPr sz="1100" b="1" i="0">
                <a:solidFill>
                  <a:srgbClr val="5B3F80"/>
                </a:solidFill>
                <a:latin typeface="Montserrat"/>
              </a:rPr>
              <a:t>Para quién.  </a:t>
            </a:r>
            <a:r>
              <a:rPr sz="1100" b="0" i="0">
                <a:solidFill>
                  <a:srgbClr val="2E2A36"/>
                </a:solidFill>
                <a:latin typeface="Montserrat"/>
              </a:rPr>
              <a:t>Familias que quieren un lugar propio para visitar, con una inversión moderada.</a:t>
            </a:r>
          </a:p>
        </p:txBody>
      </p:sp>
      <p:sp>
        <p:nvSpPr>
          <p:cNvPr id="10" name="Rectangle 9"/>
          <p:cNvSpPr/>
          <p:nvPr/>
        </p:nvSpPr>
        <p:spPr>
          <a:xfrm>
            <a:off x="502920" y="3108960"/>
            <a:ext cx="3186684" cy="242316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108960"/>
            <a:ext cx="3186684" cy="64008"/>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218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QUÉ INCLUYE</a:t>
            </a:r>
          </a:p>
        </p:txBody>
      </p:sp>
      <p:sp>
        <p:nvSpPr>
          <p:cNvPr id="13" name="TextBox 12"/>
          <p:cNvSpPr txBox="1"/>
          <p:nvPr/>
        </p:nvSpPr>
        <p:spPr>
          <a:xfrm>
            <a:off x="640080" y="3493008"/>
            <a:ext cx="2912364" cy="1965960"/>
          </a:xfrm>
          <a:prstGeom prst="rect">
            <a:avLst/>
          </a:prstGeom>
          <a:noFill/>
        </p:spPr>
        <p:txBody>
          <a:bodyPr wrap="square" anchor="t" lIns="45720" rIns="45720" tIns="27432" bIns="27432">
            <a:spAutoFit/>
          </a:bodyPr>
          <a:lstStyle/>
          <a:p>
            <a:pPr algn="l">
              <a:lnSpc>
                <a:spcPct val="115000"/>
              </a:lnSpc>
              <a:spcAft>
                <a:spcPts val="300"/>
              </a:spcAft>
            </a:pPr>
            <a:r>
              <a:rPr sz="750" b="1" i="0">
                <a:solidFill>
                  <a:srgbClr val="5E9A3C"/>
                </a:solidFill>
                <a:latin typeface="Montserrat"/>
              </a:rPr>
              <a:t>✓  </a:t>
            </a:r>
            <a:r>
              <a:rPr sz="1050" b="0" i="0">
                <a:solidFill>
                  <a:srgbClr val="2E2A36"/>
                </a:solidFill>
                <a:latin typeface="Montserrat"/>
              </a:rPr>
              <a:t>Inhumación de la urna en contenedor individual (Ø 32 × 40 cm)</a:t>
            </a:r>
          </a:p>
          <a:p>
            <a:pPr algn="l">
              <a:lnSpc>
                <a:spcPct val="115000"/>
              </a:lnSpc>
              <a:spcAft>
                <a:spcPts val="300"/>
              </a:spcAft>
            </a:pPr>
            <a:r>
              <a:rPr sz="750" b="1" i="0">
                <a:solidFill>
                  <a:srgbClr val="5E9A3C"/>
                </a:solidFill>
                <a:latin typeface="Montserrat"/>
              </a:rPr>
              <a:t>✓  </a:t>
            </a:r>
            <a:r>
              <a:rPr sz="1050" b="0" i="0">
                <a:solidFill>
                  <a:srgbClr val="2E2A36"/>
                </a:solidFill>
                <a:latin typeface="Montserrat"/>
              </a:rPr>
              <a:t>Tapa de granito con los datos del ser querido</a:t>
            </a:r>
          </a:p>
          <a:p>
            <a:pPr algn="l">
              <a:lnSpc>
                <a:spcPct val="115000"/>
              </a:lnSpc>
              <a:spcAft>
                <a:spcPts val="300"/>
              </a:spcAft>
            </a:pPr>
            <a:r>
              <a:rPr sz="750" b="1" i="0">
                <a:solidFill>
                  <a:srgbClr val="5E9A3C"/>
                </a:solidFill>
                <a:latin typeface="Montserrat"/>
              </a:rPr>
              <a:t>✓  </a:t>
            </a:r>
            <a:r>
              <a:rPr sz="1050" b="0" i="0">
                <a:solidFill>
                  <a:srgbClr val="2E2A36"/>
                </a:solidFill>
                <a:latin typeface="Montserrat"/>
              </a:rPr>
              <a:t>Ubicación en el Jardín 1, con paisajismo de plantas de sombra</a:t>
            </a:r>
          </a:p>
          <a:p>
            <a:pPr algn="l">
              <a:lnSpc>
                <a:spcPct val="115000"/>
              </a:lnSpc>
              <a:spcAft>
                <a:spcPts val="300"/>
              </a:spcAft>
            </a:pPr>
            <a:r>
              <a:rPr sz="750" b="1" i="0">
                <a:solidFill>
                  <a:srgbClr val="5E9A3C"/>
                </a:solidFill>
                <a:latin typeface="Montserrat"/>
              </a:rPr>
              <a:t>✓  </a:t>
            </a:r>
            <a:r>
              <a:rPr sz="1050" b="0" i="0">
                <a:solidFill>
                  <a:srgbClr val="2E2A36"/>
                </a:solidFill>
                <a:latin typeface="Montserrat"/>
              </a:rPr>
              <a:t>Camino en gravilla y espacio de contemplación con banco</a:t>
            </a:r>
          </a:p>
        </p:txBody>
      </p:sp>
      <p:sp>
        <p:nvSpPr>
          <p:cNvPr id="14" name="Rectangle 13"/>
          <p:cNvSpPr/>
          <p:nvPr/>
        </p:nvSpPr>
        <p:spPr>
          <a:xfrm>
            <a:off x="3872484" y="3108960"/>
            <a:ext cx="3186684" cy="242316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872484" y="3108960"/>
            <a:ext cx="3186684"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09644" y="3218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REGLAS DEL PRODUCTO</a:t>
            </a:r>
          </a:p>
        </p:txBody>
      </p:sp>
      <p:sp>
        <p:nvSpPr>
          <p:cNvPr id="17" name="TextBox 16"/>
          <p:cNvSpPr txBox="1"/>
          <p:nvPr/>
        </p:nvSpPr>
        <p:spPr>
          <a:xfrm>
            <a:off x="4009644" y="3493008"/>
            <a:ext cx="2912364" cy="1965960"/>
          </a:xfrm>
          <a:prstGeom prst="rect">
            <a:avLst/>
          </a:prstGeom>
          <a:noFill/>
        </p:spPr>
        <p:txBody>
          <a:bodyPr wrap="square" anchor="t" lIns="45720" rIns="45720" tIns="27432" bIns="27432">
            <a:spAutoFit/>
          </a:bodyPr>
          <a:lstStyle/>
          <a:p>
            <a:pPr algn="l">
              <a:lnSpc>
                <a:spcPct val="115000"/>
              </a:lnSpc>
              <a:spcAft>
                <a:spcPts val="300"/>
              </a:spcAft>
            </a:pPr>
            <a:r>
              <a:rPr sz="750" b="1" i="0">
                <a:solidFill>
                  <a:srgbClr val="C9A86A"/>
                </a:solidFill>
                <a:latin typeface="Montserrat"/>
              </a:rPr>
              <a:t>■  </a:t>
            </a:r>
            <a:r>
              <a:rPr sz="1050" b="0" i="0">
                <a:solidFill>
                  <a:srgbClr val="2E2A36"/>
                </a:solidFill>
                <a:latin typeface="Montserrat"/>
              </a:rPr>
              <a:t>Capacidad: 1 urna.</a:t>
            </a:r>
          </a:p>
          <a:p>
            <a:pPr algn="l">
              <a:lnSpc>
                <a:spcPct val="115000"/>
              </a:lnSpc>
              <a:spcAft>
                <a:spcPts val="300"/>
              </a:spcAft>
            </a:pPr>
            <a:r>
              <a:rPr sz="750" b="1" i="0">
                <a:solidFill>
                  <a:srgbClr val="C9A86A"/>
                </a:solidFill>
                <a:latin typeface="Montserrat"/>
              </a:rPr>
              <a:t>■  </a:t>
            </a:r>
            <a:r>
              <a:rPr sz="1050" b="0" i="0">
                <a:solidFill>
                  <a:srgbClr val="2E2A36"/>
                </a:solidFill>
                <a:latin typeface="Montserrat"/>
              </a:rPr>
              <a:t>Cuota de mantenimiento anual: US$ 15. Permanencia: 30 años desde la primera inhumación, renovable.</a:t>
            </a:r>
          </a:p>
          <a:p>
            <a:pPr algn="l">
              <a:lnSpc>
                <a:spcPct val="115000"/>
              </a:lnSpc>
              <a:spcAft>
                <a:spcPts val="300"/>
              </a:spcAft>
            </a:pPr>
            <a:r>
              <a:rPr sz="750" b="1" i="0">
                <a:solidFill>
                  <a:srgbClr val="C9A86A"/>
                </a:solidFill>
                <a:latin typeface="Montserrat"/>
              </a:rPr>
              <a:t>■  </a:t>
            </a:r>
            <a:r>
              <a:rPr sz="1050" b="0" i="0">
                <a:solidFill>
                  <a:srgbClr val="2E2A36"/>
                </a:solidFill>
                <a:latin typeface="Montserrat"/>
              </a:rPr>
              <a:t>El contenedor queda con 20 cm a la vista; la tapa de granito es la identificación.</a:t>
            </a:r>
          </a:p>
        </p:txBody>
      </p:sp>
      <p:sp>
        <p:nvSpPr>
          <p:cNvPr id="18" name="Rectangle 17"/>
          <p:cNvSpPr/>
          <p:nvPr/>
        </p:nvSpPr>
        <p:spPr>
          <a:xfrm>
            <a:off x="502920" y="5669280"/>
            <a:ext cx="6556248" cy="128016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5669280"/>
            <a:ext cx="73152" cy="128016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715000"/>
            <a:ext cx="6190488"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SPEECH SUGERIDO</a:t>
            </a:r>
          </a:p>
        </p:txBody>
      </p:sp>
      <p:sp>
        <p:nvSpPr>
          <p:cNvPr id="21" name="TextBox 20"/>
          <p:cNvSpPr txBox="1"/>
          <p:nvPr/>
        </p:nvSpPr>
        <p:spPr>
          <a:xfrm>
            <a:off x="731520" y="5961888"/>
            <a:ext cx="6190488" cy="960120"/>
          </a:xfrm>
          <a:prstGeom prst="rect">
            <a:avLst/>
          </a:prstGeom>
          <a:noFill/>
        </p:spPr>
        <p:txBody>
          <a:bodyPr wrap="square" anchor="t" lIns="45720" rIns="45720" tIns="27432" bIns="27432">
            <a:spAutoFit/>
          </a:bodyPr>
          <a:lstStyle/>
          <a:p>
            <a:pPr algn="l">
              <a:lnSpc>
                <a:spcPct val="115000"/>
              </a:lnSpc>
              <a:spcAft>
                <a:spcPts val="400"/>
              </a:spcAft>
            </a:pPr>
            <a:r>
              <a:rPr sz="1100" b="0" i="1">
                <a:solidFill>
                  <a:srgbClr val="3E2A5C"/>
                </a:solidFill>
                <a:latin typeface="Playfair Display"/>
              </a:rPr>
              <a:t>"Después de la cremación, muchas familias se preguntan dónde dejar las cenizas. En nuestro Jardín 1, su ser querido descansa bajo una tapa de granito con su nombre, rodeado de plantas y con un banco para sentarse a recordar. Es un lugar para volver, con la dignidad que merece."</a:t>
            </a:r>
          </a:p>
        </p:txBody>
      </p:sp>
      <p:sp>
        <p:nvSpPr>
          <p:cNvPr id="22" name="Rectangle 21"/>
          <p:cNvSpPr/>
          <p:nvPr/>
        </p:nvSpPr>
        <p:spPr>
          <a:xfrm>
            <a:off x="502920" y="7086600"/>
            <a:ext cx="3186684" cy="16002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7086600"/>
            <a:ext cx="3186684"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719632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PREGUNTAS DE DESCUBRIMIENTO</a:t>
            </a:r>
          </a:p>
        </p:txBody>
      </p:sp>
      <p:sp>
        <p:nvSpPr>
          <p:cNvPr id="25" name="TextBox 24"/>
          <p:cNvSpPr txBox="1"/>
          <p:nvPr/>
        </p:nvSpPr>
        <p:spPr>
          <a:xfrm>
            <a:off x="640080" y="7470648"/>
            <a:ext cx="2912364" cy="1143000"/>
          </a:xfrm>
          <a:prstGeom prst="rect">
            <a:avLst/>
          </a:prstGeom>
          <a:noFill/>
        </p:spPr>
        <p:txBody>
          <a:bodyPr wrap="square" anchor="t" lIns="45720" rIns="45720" tIns="27432" bIns="27432">
            <a:spAutoFit/>
          </a:bodyPr>
          <a:lstStyle/>
          <a:p>
            <a:pPr algn="l">
              <a:lnSpc>
                <a:spcPct val="115000"/>
              </a:lnSpc>
              <a:spcAft>
                <a:spcPts val="300"/>
              </a:spcAft>
            </a:pPr>
            <a:r>
              <a:rPr sz="650" b="1" i="0">
                <a:solidFill>
                  <a:srgbClr val="C9A86A"/>
                </a:solidFill>
                <a:latin typeface="Montserrat"/>
              </a:rPr>
              <a:t>?  </a:t>
            </a:r>
            <a:r>
              <a:rPr sz="950" b="0" i="0">
                <a:solidFill>
                  <a:srgbClr val="2E2A36"/>
                </a:solidFill>
                <a:latin typeface="Montserrat"/>
              </a:rPr>
              <a:t>¿Dónde le gustaría poder visitar a su ser querido?</a:t>
            </a:r>
          </a:p>
          <a:p>
            <a:pPr algn="l">
              <a:lnSpc>
                <a:spcPct val="115000"/>
              </a:lnSpc>
              <a:spcAft>
                <a:spcPts val="300"/>
              </a:spcAft>
            </a:pPr>
            <a:r>
              <a:rPr sz="650" b="1" i="0">
                <a:solidFill>
                  <a:srgbClr val="C9A86A"/>
                </a:solidFill>
                <a:latin typeface="Montserrat"/>
              </a:rPr>
              <a:t>?  </a:t>
            </a:r>
            <a:r>
              <a:rPr sz="950" b="0" i="0">
                <a:solidFill>
                  <a:srgbClr val="2E2A36"/>
                </a:solidFill>
                <a:latin typeface="Montserrat"/>
              </a:rPr>
              <a:t>¿Tienen hoy las cenizas en casa o en un columbario temporal?</a:t>
            </a:r>
          </a:p>
          <a:p>
            <a:pPr algn="l">
              <a:lnSpc>
                <a:spcPct val="115000"/>
              </a:lnSpc>
              <a:spcAft>
                <a:spcPts val="300"/>
              </a:spcAft>
            </a:pPr>
            <a:r>
              <a:rPr sz="650" b="1" i="0">
                <a:solidFill>
                  <a:srgbClr val="C9A86A"/>
                </a:solidFill>
                <a:latin typeface="Montserrat"/>
              </a:rPr>
              <a:t>?  </a:t>
            </a:r>
            <a:r>
              <a:rPr sz="950" b="0" i="0">
                <a:solidFill>
                  <a:srgbClr val="2E2A36"/>
                </a:solidFill>
                <a:latin typeface="Montserrat"/>
              </a:rPr>
              <a:t>¿Quién más de la familia participaría en las visitas?</a:t>
            </a:r>
          </a:p>
        </p:txBody>
      </p:sp>
      <p:sp>
        <p:nvSpPr>
          <p:cNvPr id="26" name="Rectangle 25"/>
          <p:cNvSpPr/>
          <p:nvPr/>
        </p:nvSpPr>
        <p:spPr>
          <a:xfrm>
            <a:off x="3872484" y="7086600"/>
            <a:ext cx="3186684" cy="1600200"/>
          </a:xfrm>
          <a:prstGeom prst="rect">
            <a:avLst/>
          </a:prstGeom>
          <a:solidFill>
            <a:srgbClr val="EE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72484" y="7086600"/>
            <a:ext cx="3186684" cy="64008"/>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09644" y="719632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FRASE DE CIERRE</a:t>
            </a:r>
          </a:p>
        </p:txBody>
      </p:sp>
      <p:sp>
        <p:nvSpPr>
          <p:cNvPr id="29" name="TextBox 28"/>
          <p:cNvSpPr txBox="1"/>
          <p:nvPr/>
        </p:nvSpPr>
        <p:spPr>
          <a:xfrm>
            <a:off x="4009644" y="7470648"/>
            <a:ext cx="2912364" cy="1143000"/>
          </a:xfrm>
          <a:prstGeom prst="rect">
            <a:avLst/>
          </a:prstGeom>
          <a:noFill/>
        </p:spPr>
        <p:txBody>
          <a:bodyPr wrap="square" anchor="t" lIns="45720" rIns="45720" tIns="27432" bIns="27432">
            <a:spAutoFit/>
          </a:bodyPr>
          <a:lstStyle/>
          <a:p>
            <a:pPr algn="l">
              <a:lnSpc>
                <a:spcPct val="115000"/>
              </a:lnSpc>
              <a:spcAft>
                <a:spcPts val="300"/>
              </a:spcAft>
            </a:pPr>
            <a:r>
              <a:rPr sz="1050" b="0" i="0">
                <a:solidFill>
                  <a:srgbClr val="2E2A36"/>
                </a:solidFill>
                <a:latin typeface="Montserrat"/>
              </a:rPr>
              <a:t>"¿Le gustaría conocer el jardín esta semana para elegir el lugar con calma?"</a:t>
            </a:r>
          </a:p>
        </p:txBody>
      </p:sp>
      <p:sp>
        <p:nvSpPr>
          <p:cNvPr id="30" name="Rectangle 29"/>
          <p:cNvSpPr/>
          <p:nvPr/>
        </p:nvSpPr>
        <p:spPr>
          <a:xfrm>
            <a:off x="502920" y="8823960"/>
            <a:ext cx="3186684" cy="1325880"/>
          </a:xfrm>
          <a:prstGeom prst="rect">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2920" y="8823960"/>
            <a:ext cx="3186684" cy="6400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8933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OBJECIÓN TÍPICA</a:t>
            </a:r>
          </a:p>
        </p:txBody>
      </p:sp>
      <p:sp>
        <p:nvSpPr>
          <p:cNvPr id="33" name="TextBox 32"/>
          <p:cNvSpPr txBox="1"/>
          <p:nvPr/>
        </p:nvSpPr>
        <p:spPr>
          <a:xfrm>
            <a:off x="640080" y="9208008"/>
            <a:ext cx="2912364" cy="868680"/>
          </a:xfrm>
          <a:prstGeom prst="rect">
            <a:avLst/>
          </a:prstGeom>
          <a:noFill/>
        </p:spPr>
        <p:txBody>
          <a:bodyPr wrap="square" anchor="t" lIns="45720" rIns="45720" tIns="27432" bIns="27432">
            <a:spAutoFit/>
          </a:bodyPr>
          <a:lstStyle/>
          <a:p>
            <a:pPr algn="l">
              <a:lnSpc>
                <a:spcPct val="115000"/>
              </a:lnSpc>
              <a:spcAft>
                <a:spcPts val="300"/>
              </a:spcAft>
            </a:pPr>
            <a:r>
              <a:rPr sz="900" b="0" i="0">
                <a:solidFill>
                  <a:srgbClr val="2E2A36"/>
                </a:solidFill>
                <a:latin typeface="Montserrat"/>
              </a:rPr>
              <a:t>"Prefiero tener las cenizas en casa." → "Es comprensible querer tenerlas cerca. En el jardín, toda la familia puede visitarlas, y las cenizas quedan protegidas si algún día hay mudanzas o cambios en el hogar."</a:t>
            </a:r>
          </a:p>
        </p:txBody>
      </p:sp>
      <p:sp>
        <p:nvSpPr>
          <p:cNvPr id="34" name="Rectangle 33"/>
          <p:cNvSpPr/>
          <p:nvPr/>
        </p:nvSpPr>
        <p:spPr>
          <a:xfrm>
            <a:off x="3872484" y="8823960"/>
            <a:ext cx="3186684" cy="1325880"/>
          </a:xfrm>
          <a:prstGeom prst="rect">
            <a:avLst/>
          </a:prstGeom>
          <a:solidFill>
            <a:srgbClr val="ED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872484" y="8823960"/>
            <a:ext cx="3186684" cy="64008"/>
          </a:xfrm>
          <a:prstGeom prst="rect">
            <a:avLst/>
          </a:prstGeom>
          <a:solidFill>
            <a:srgbClr val="6F8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09644" y="8933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TIP DEL ASESOR</a:t>
            </a:r>
          </a:p>
        </p:txBody>
      </p:sp>
      <p:sp>
        <p:nvSpPr>
          <p:cNvPr id="37" name="TextBox 36"/>
          <p:cNvSpPr txBox="1"/>
          <p:nvPr/>
        </p:nvSpPr>
        <p:spPr>
          <a:xfrm>
            <a:off x="4009644" y="9208008"/>
            <a:ext cx="2912364" cy="868680"/>
          </a:xfrm>
          <a:prstGeom prst="rect">
            <a:avLst/>
          </a:prstGeom>
          <a:noFill/>
        </p:spPr>
        <p:txBody>
          <a:bodyPr wrap="square" anchor="t" lIns="45720" rIns="45720" tIns="27432" bIns="27432">
            <a:spAutoFit/>
          </a:bodyPr>
          <a:lstStyle/>
          <a:p>
            <a:pPr algn="l">
              <a:lnSpc>
                <a:spcPct val="115000"/>
              </a:lnSpc>
              <a:spcAft>
                <a:spcPts val="300"/>
              </a:spcAft>
            </a:pPr>
            <a:r>
              <a:rPr sz="1050" b="0" i="0">
                <a:solidFill>
                  <a:srgbClr val="2E2A36"/>
                </a:solidFill>
                <a:latin typeface="Montserrat"/>
              </a:rPr>
              <a:t>El jardín vende solo: priorice siempre la visita.</a:t>
            </a:r>
          </a:p>
        </p:txBody>
      </p:sp>
      <p:sp>
        <p:nvSpPr>
          <p:cNvPr id="38" name="TextBox 37"/>
          <p:cNvSpPr txBox="1"/>
          <p:nvPr/>
        </p:nvSpPr>
        <p:spPr>
          <a:xfrm>
            <a:off x="502920" y="10277856"/>
            <a:ext cx="5641848"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39" name="TextBox 38"/>
          <p:cNvSpPr txBox="1"/>
          <p:nvPr/>
        </p:nvSpPr>
        <p:spPr>
          <a:xfrm>
            <a:off x="6144768" y="10277856"/>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562088" cy="146304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0"/>
            <a:ext cx="7562088"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4206240"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C9A86A"/>
                </a:solidFill>
                <a:latin typeface="Montserrat"/>
              </a:rPr>
              <a:t>JARDÍN 1 · PARCELA FAMILIAR</a:t>
            </a:r>
          </a:p>
        </p:txBody>
      </p:sp>
      <p:sp>
        <p:nvSpPr>
          <p:cNvPr id="5" name="TextBox 4"/>
          <p:cNvSpPr txBox="1"/>
          <p:nvPr/>
        </p:nvSpPr>
        <p:spPr>
          <a:xfrm>
            <a:off x="502920" y="502920"/>
            <a:ext cx="4206240" cy="868680"/>
          </a:xfrm>
          <a:prstGeom prst="rect">
            <a:avLst/>
          </a:prstGeom>
          <a:noFill/>
        </p:spPr>
        <p:txBody>
          <a:bodyPr wrap="square" anchor="t" lIns="45720" rIns="45720" tIns="27432" bIns="27432">
            <a:spAutoFit/>
          </a:bodyPr>
          <a:lstStyle/>
          <a:p>
            <a:pPr algn="l">
              <a:lnSpc>
                <a:spcPct val="100000"/>
              </a:lnSpc>
              <a:spcAft>
                <a:spcPts val="400"/>
              </a:spcAft>
            </a:pPr>
            <a:r>
              <a:rPr sz="2100" b="1" i="0">
                <a:solidFill>
                  <a:srgbClr val="FFFFFF"/>
                </a:solidFill>
                <a:latin typeface="Playfair Display"/>
              </a:rPr>
              <a:t>Jardín de Cenizas · Familiar</a:t>
            </a:r>
          </a:p>
        </p:txBody>
      </p:sp>
      <p:sp>
        <p:nvSpPr>
          <p:cNvPr id="6" name="TextBox 5"/>
          <p:cNvSpPr txBox="1"/>
          <p:nvPr/>
        </p:nvSpPr>
        <p:spPr>
          <a:xfrm>
            <a:off x="4663440" y="228600"/>
            <a:ext cx="2395728" cy="274320"/>
          </a:xfrm>
          <a:prstGeom prst="rect">
            <a:avLst/>
          </a:prstGeom>
          <a:noFill/>
        </p:spPr>
        <p:txBody>
          <a:bodyPr wrap="square" anchor="t" lIns="45720" rIns="45720" tIns="27432" bIns="27432">
            <a:spAutoFit/>
          </a:bodyPr>
          <a:lstStyle/>
          <a:p>
            <a:pPr algn="r">
              <a:lnSpc>
                <a:spcPct val="115000"/>
              </a:lnSpc>
              <a:spcAft>
                <a:spcPts val="400"/>
              </a:spcAft>
            </a:pPr>
            <a:r>
              <a:rPr sz="950" b="1" i="0">
                <a:solidFill>
                  <a:srgbClr val="C9A86A"/>
                </a:solidFill>
                <a:latin typeface="Montserrat"/>
              </a:rPr>
              <a:t>PRECIO SUGERIDO</a:t>
            </a:r>
          </a:p>
        </p:txBody>
      </p:sp>
      <p:sp>
        <p:nvSpPr>
          <p:cNvPr id="7" name="TextBox 6"/>
          <p:cNvSpPr txBox="1"/>
          <p:nvPr/>
        </p:nvSpPr>
        <p:spPr>
          <a:xfrm>
            <a:off x="4663440" y="502920"/>
            <a:ext cx="2395728" cy="868680"/>
          </a:xfrm>
          <a:prstGeom prst="rect">
            <a:avLst/>
          </a:prstGeom>
          <a:noFill/>
        </p:spPr>
        <p:txBody>
          <a:bodyPr wrap="square" anchor="ctr" lIns="45720" rIns="45720" tIns="27432" bIns="27432">
            <a:spAutoFit/>
          </a:bodyPr>
          <a:lstStyle/>
          <a:p>
            <a:pPr algn="r">
              <a:lnSpc>
                <a:spcPct val="115000"/>
              </a:lnSpc>
              <a:spcAft>
                <a:spcPts val="400"/>
              </a:spcAft>
            </a:pPr>
            <a:r>
              <a:rPr sz="2600" b="1" i="0">
                <a:solidFill>
                  <a:srgbClr val="FFFFFF"/>
                </a:solidFill>
                <a:latin typeface="Montserrat"/>
              </a:rPr>
              <a:t>US$ 2.000</a:t>
            </a:r>
          </a:p>
        </p:txBody>
      </p:sp>
      <p:sp>
        <p:nvSpPr>
          <p:cNvPr id="8" name="TextBox 7"/>
          <p:cNvSpPr txBox="1"/>
          <p:nvPr/>
        </p:nvSpPr>
        <p:spPr>
          <a:xfrm>
            <a:off x="502920" y="1627632"/>
            <a:ext cx="6556248" cy="320040"/>
          </a:xfrm>
          <a:prstGeom prst="rect">
            <a:avLst/>
          </a:prstGeom>
          <a:noFill/>
        </p:spPr>
        <p:txBody>
          <a:bodyPr wrap="square" anchor="t" lIns="45720" rIns="45720" tIns="27432" bIns="27432">
            <a:spAutoFit/>
          </a:bodyPr>
          <a:lstStyle/>
          <a:p>
            <a:pPr algn="l">
              <a:lnSpc>
                <a:spcPct val="115000"/>
              </a:lnSpc>
              <a:spcAft>
                <a:spcPts val="400"/>
              </a:spcAft>
            </a:pPr>
            <a:r>
              <a:rPr sz="1100" b="0" i="1">
                <a:solidFill>
                  <a:srgbClr val="7D7887"/>
                </a:solidFill>
                <a:latin typeface="Montserrat"/>
              </a:rPr>
              <a:t>Lanzamiento (−20%): US$ 1.600 · Pago único o financiado · Mantenimiento US$ 24/año</a:t>
            </a:r>
          </a:p>
        </p:txBody>
      </p:sp>
      <p:sp>
        <p:nvSpPr>
          <p:cNvPr id="9" name="TextBox 8"/>
          <p:cNvSpPr txBox="1"/>
          <p:nvPr/>
        </p:nvSpPr>
        <p:spPr>
          <a:xfrm>
            <a:off x="502920" y="1993392"/>
            <a:ext cx="6556248" cy="10515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Qué es.  </a:t>
            </a:r>
            <a:r>
              <a:rPr sz="1100" b="0" i="0">
                <a:solidFill>
                  <a:srgbClr val="2E2A36"/>
                </a:solidFill>
                <a:latin typeface="Montserrat"/>
              </a:rPr>
              <a:t>Parcela familiar en el Jardín 1 con cuatro contenedores agrupados, cada uno con tapa de granito grabada. Permanencia de 30 años desde la primera inhumación, renovable.</a:t>
            </a:r>
          </a:p>
          <a:p>
            <a:pPr algn="l">
              <a:lnSpc>
                <a:spcPct val="115000"/>
              </a:lnSpc>
              <a:spcAft>
                <a:spcPts val="400"/>
              </a:spcAft>
            </a:pPr>
            <a:r>
              <a:rPr sz="1100" b="1" i="0">
                <a:solidFill>
                  <a:srgbClr val="5B3F80"/>
                </a:solidFill>
                <a:latin typeface="Montserrat"/>
              </a:rPr>
              <a:t>Para quién.  </a:t>
            </a:r>
            <a:r>
              <a:rPr sz="1100" b="0" i="0">
                <a:solidFill>
                  <a:srgbClr val="2E2A36"/>
                </a:solidFill>
                <a:latin typeface="Montserrat"/>
              </a:rPr>
              <a:t>Familias que buscan un espacio propio para varias generaciones.</a:t>
            </a:r>
          </a:p>
        </p:txBody>
      </p:sp>
      <p:sp>
        <p:nvSpPr>
          <p:cNvPr id="10" name="Rectangle 9"/>
          <p:cNvSpPr/>
          <p:nvPr/>
        </p:nvSpPr>
        <p:spPr>
          <a:xfrm>
            <a:off x="502920" y="3108960"/>
            <a:ext cx="3186684" cy="242316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108960"/>
            <a:ext cx="3186684" cy="64008"/>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218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QUÉ INCLUYE</a:t>
            </a:r>
          </a:p>
        </p:txBody>
      </p:sp>
      <p:sp>
        <p:nvSpPr>
          <p:cNvPr id="13" name="TextBox 12"/>
          <p:cNvSpPr txBox="1"/>
          <p:nvPr/>
        </p:nvSpPr>
        <p:spPr>
          <a:xfrm>
            <a:off x="640080" y="3493008"/>
            <a:ext cx="2912364" cy="1965960"/>
          </a:xfrm>
          <a:prstGeom prst="rect">
            <a:avLst/>
          </a:prstGeom>
          <a:noFill/>
        </p:spPr>
        <p:txBody>
          <a:bodyPr wrap="square" anchor="t" lIns="45720" rIns="45720" tIns="27432" bIns="27432">
            <a:spAutoFit/>
          </a:bodyPr>
          <a:lstStyle/>
          <a:p>
            <a:pPr algn="l">
              <a:lnSpc>
                <a:spcPct val="115000"/>
              </a:lnSpc>
              <a:spcAft>
                <a:spcPts val="300"/>
              </a:spcAft>
            </a:pPr>
            <a:r>
              <a:rPr sz="750" b="1" i="0">
                <a:solidFill>
                  <a:srgbClr val="5E9A3C"/>
                </a:solidFill>
                <a:latin typeface="Montserrat"/>
              </a:rPr>
              <a:t>✓  </a:t>
            </a:r>
            <a:r>
              <a:rPr sz="1050" b="0" i="0">
                <a:solidFill>
                  <a:srgbClr val="2E2A36"/>
                </a:solidFill>
                <a:latin typeface="Montserrat"/>
              </a:rPr>
              <a:t>Inhumación de hasta 4 urnas</a:t>
            </a:r>
          </a:p>
          <a:p>
            <a:pPr algn="l">
              <a:lnSpc>
                <a:spcPct val="115000"/>
              </a:lnSpc>
              <a:spcAft>
                <a:spcPts val="300"/>
              </a:spcAft>
            </a:pPr>
            <a:r>
              <a:rPr sz="750" b="1" i="0">
                <a:solidFill>
                  <a:srgbClr val="5E9A3C"/>
                </a:solidFill>
                <a:latin typeface="Montserrat"/>
              </a:rPr>
              <a:t>✓  </a:t>
            </a:r>
            <a:r>
              <a:rPr sz="1050" b="0" i="0">
                <a:solidFill>
                  <a:srgbClr val="2E2A36"/>
                </a:solidFill>
                <a:latin typeface="Montserrat"/>
              </a:rPr>
              <a:t>Tapa de granito grabada para cada espacio</a:t>
            </a:r>
          </a:p>
          <a:p>
            <a:pPr algn="l">
              <a:lnSpc>
                <a:spcPct val="115000"/>
              </a:lnSpc>
              <a:spcAft>
                <a:spcPts val="300"/>
              </a:spcAft>
            </a:pPr>
            <a:r>
              <a:rPr sz="750" b="1" i="0">
                <a:solidFill>
                  <a:srgbClr val="5E9A3C"/>
                </a:solidFill>
                <a:latin typeface="Montserrat"/>
              </a:rPr>
              <a:t>✓  </a:t>
            </a:r>
            <a:r>
              <a:rPr sz="1050" b="0" i="0">
                <a:solidFill>
                  <a:srgbClr val="2E2A36"/>
                </a:solidFill>
                <a:latin typeface="Montserrat"/>
              </a:rPr>
              <a:t>Ubicación en el Jardín 1, con paisajismo de plantas de sombra</a:t>
            </a:r>
          </a:p>
          <a:p>
            <a:pPr algn="l">
              <a:lnSpc>
                <a:spcPct val="115000"/>
              </a:lnSpc>
              <a:spcAft>
                <a:spcPts val="300"/>
              </a:spcAft>
            </a:pPr>
            <a:r>
              <a:rPr sz="750" b="1" i="0">
                <a:solidFill>
                  <a:srgbClr val="5E9A3C"/>
                </a:solidFill>
                <a:latin typeface="Montserrat"/>
              </a:rPr>
              <a:t>✓  </a:t>
            </a:r>
            <a:r>
              <a:rPr sz="1050" b="0" i="0">
                <a:solidFill>
                  <a:srgbClr val="2E2A36"/>
                </a:solidFill>
                <a:latin typeface="Montserrat"/>
              </a:rPr>
              <a:t>Lugar de homenaje familiar por 30 años, renovable por igual período</a:t>
            </a:r>
          </a:p>
        </p:txBody>
      </p:sp>
      <p:sp>
        <p:nvSpPr>
          <p:cNvPr id="14" name="Rectangle 13"/>
          <p:cNvSpPr/>
          <p:nvPr/>
        </p:nvSpPr>
        <p:spPr>
          <a:xfrm>
            <a:off x="3872484" y="3108960"/>
            <a:ext cx="3186684" cy="242316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872484" y="3108960"/>
            <a:ext cx="3186684"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09644" y="3218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REGLAS DEL PRODUCTO</a:t>
            </a:r>
          </a:p>
        </p:txBody>
      </p:sp>
      <p:sp>
        <p:nvSpPr>
          <p:cNvPr id="17" name="TextBox 16"/>
          <p:cNvSpPr txBox="1"/>
          <p:nvPr/>
        </p:nvSpPr>
        <p:spPr>
          <a:xfrm>
            <a:off x="4009644" y="3493008"/>
            <a:ext cx="2912364" cy="1965960"/>
          </a:xfrm>
          <a:prstGeom prst="rect">
            <a:avLst/>
          </a:prstGeom>
          <a:noFill/>
        </p:spPr>
        <p:txBody>
          <a:bodyPr wrap="square" anchor="t" lIns="45720" rIns="45720" tIns="27432" bIns="27432">
            <a:spAutoFit/>
          </a:bodyPr>
          <a:lstStyle/>
          <a:p>
            <a:pPr algn="l">
              <a:lnSpc>
                <a:spcPct val="115000"/>
              </a:lnSpc>
              <a:spcAft>
                <a:spcPts val="300"/>
              </a:spcAft>
            </a:pPr>
            <a:r>
              <a:rPr sz="750" b="1" i="0">
                <a:solidFill>
                  <a:srgbClr val="C9A86A"/>
                </a:solidFill>
                <a:latin typeface="Montserrat"/>
              </a:rPr>
              <a:t>■  </a:t>
            </a:r>
            <a:r>
              <a:rPr sz="1050" b="0" i="0">
                <a:solidFill>
                  <a:srgbClr val="2E2A36"/>
                </a:solidFill>
                <a:latin typeface="Montserrat"/>
              </a:rPr>
              <a:t>Capacidad: hasta 4 espacios.</a:t>
            </a:r>
          </a:p>
          <a:p>
            <a:pPr algn="l">
              <a:lnSpc>
                <a:spcPct val="115000"/>
              </a:lnSpc>
              <a:spcAft>
                <a:spcPts val="300"/>
              </a:spcAft>
            </a:pPr>
            <a:r>
              <a:rPr sz="750" b="1" i="0">
                <a:solidFill>
                  <a:srgbClr val="C9A86A"/>
                </a:solidFill>
                <a:latin typeface="Montserrat"/>
              </a:rPr>
              <a:t>■  </a:t>
            </a:r>
            <a:r>
              <a:rPr sz="1050" b="0" i="0">
                <a:solidFill>
                  <a:srgbClr val="2E2A36"/>
                </a:solidFill>
                <a:latin typeface="Montserrat"/>
              </a:rPr>
              <a:t>Permanencia: 30 años desde la primera inhumación, renovable por igual período.</a:t>
            </a:r>
          </a:p>
          <a:p>
            <a:pPr algn="l">
              <a:lnSpc>
                <a:spcPct val="115000"/>
              </a:lnSpc>
              <a:spcAft>
                <a:spcPts val="300"/>
              </a:spcAft>
            </a:pPr>
            <a:r>
              <a:rPr sz="750" b="1" i="0">
                <a:solidFill>
                  <a:srgbClr val="C9A86A"/>
                </a:solidFill>
                <a:latin typeface="Montserrat"/>
              </a:rPr>
              <a:t>■  </a:t>
            </a:r>
            <a:r>
              <a:rPr sz="1050" b="0" i="0">
                <a:solidFill>
                  <a:srgbClr val="2E2A36"/>
                </a:solidFill>
                <a:latin typeface="Montserrat"/>
              </a:rPr>
              <a:t>Cuota de mantenimiento anual: US$ 24 por parcela.</a:t>
            </a:r>
          </a:p>
        </p:txBody>
      </p:sp>
      <p:sp>
        <p:nvSpPr>
          <p:cNvPr id="18" name="Rectangle 17"/>
          <p:cNvSpPr/>
          <p:nvPr/>
        </p:nvSpPr>
        <p:spPr>
          <a:xfrm>
            <a:off x="502920" y="5669280"/>
            <a:ext cx="6556248" cy="128016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5669280"/>
            <a:ext cx="73152" cy="128016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715000"/>
            <a:ext cx="6190488"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SPEECH SUGERIDO</a:t>
            </a:r>
          </a:p>
        </p:txBody>
      </p:sp>
      <p:sp>
        <p:nvSpPr>
          <p:cNvPr id="21" name="TextBox 20"/>
          <p:cNvSpPr txBox="1"/>
          <p:nvPr/>
        </p:nvSpPr>
        <p:spPr>
          <a:xfrm>
            <a:off x="731520" y="5961888"/>
            <a:ext cx="6190488" cy="960120"/>
          </a:xfrm>
          <a:prstGeom prst="rect">
            <a:avLst/>
          </a:prstGeom>
          <a:noFill/>
        </p:spPr>
        <p:txBody>
          <a:bodyPr wrap="square" anchor="t" lIns="45720" rIns="45720" tIns="27432" bIns="27432">
            <a:spAutoFit/>
          </a:bodyPr>
          <a:lstStyle/>
          <a:p>
            <a:pPr algn="l">
              <a:lnSpc>
                <a:spcPct val="115000"/>
              </a:lnSpc>
              <a:spcAft>
                <a:spcPts val="400"/>
              </a:spcAft>
            </a:pPr>
            <a:r>
              <a:rPr sz="1100" b="0" i="1">
                <a:solidFill>
                  <a:srgbClr val="3E2A5C"/>
                </a:solidFill>
                <a:latin typeface="Playfair Display"/>
              </a:rPr>
              <a:t>"Así como una familia comparte una casa, también puede compartir un lugar de memoria. La parcela familiar reúne hasta cuatro seres queridos en un mismo espacio, por 30 años renovables, y cuesta US$ 500 por espacio (US$ 400 con el precio de lanzamiento), menos que comprarlos por separado."</a:t>
            </a:r>
          </a:p>
        </p:txBody>
      </p:sp>
      <p:sp>
        <p:nvSpPr>
          <p:cNvPr id="22" name="Rectangle 21"/>
          <p:cNvSpPr/>
          <p:nvPr/>
        </p:nvSpPr>
        <p:spPr>
          <a:xfrm>
            <a:off x="502920" y="7086600"/>
            <a:ext cx="3186684" cy="16002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7086600"/>
            <a:ext cx="3186684"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719632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PREGUNTAS DE DESCUBRIMIENTO</a:t>
            </a:r>
          </a:p>
        </p:txBody>
      </p:sp>
      <p:sp>
        <p:nvSpPr>
          <p:cNvPr id="25" name="TextBox 24"/>
          <p:cNvSpPr txBox="1"/>
          <p:nvPr/>
        </p:nvSpPr>
        <p:spPr>
          <a:xfrm>
            <a:off x="640080" y="7470648"/>
            <a:ext cx="2912364" cy="1143000"/>
          </a:xfrm>
          <a:prstGeom prst="rect">
            <a:avLst/>
          </a:prstGeom>
          <a:noFill/>
        </p:spPr>
        <p:txBody>
          <a:bodyPr wrap="square" anchor="t" lIns="45720" rIns="45720" tIns="27432" bIns="27432">
            <a:spAutoFit/>
          </a:bodyPr>
          <a:lstStyle/>
          <a:p>
            <a:pPr algn="l">
              <a:lnSpc>
                <a:spcPct val="115000"/>
              </a:lnSpc>
              <a:spcAft>
                <a:spcPts val="300"/>
              </a:spcAft>
            </a:pPr>
            <a:r>
              <a:rPr sz="650" b="1" i="0">
                <a:solidFill>
                  <a:srgbClr val="C9A86A"/>
                </a:solidFill>
                <a:latin typeface="Montserrat"/>
              </a:rPr>
              <a:t>?  </a:t>
            </a:r>
            <a:r>
              <a:rPr sz="950" b="0" i="0">
                <a:solidFill>
                  <a:srgbClr val="2E2A36"/>
                </a:solidFill>
                <a:latin typeface="Montserrat"/>
              </a:rPr>
              <a:t>¿Les gustaría que la familia esté reunida en un mismo lugar?</a:t>
            </a:r>
          </a:p>
          <a:p>
            <a:pPr algn="l">
              <a:lnSpc>
                <a:spcPct val="115000"/>
              </a:lnSpc>
              <a:spcAft>
                <a:spcPts val="300"/>
              </a:spcAft>
            </a:pPr>
            <a:r>
              <a:rPr sz="650" b="1" i="0">
                <a:solidFill>
                  <a:srgbClr val="C9A86A"/>
                </a:solidFill>
                <a:latin typeface="Montserrat"/>
              </a:rPr>
              <a:t>?  </a:t>
            </a:r>
            <a:r>
              <a:rPr sz="950" b="0" i="0">
                <a:solidFill>
                  <a:srgbClr val="2E2A36"/>
                </a:solidFill>
                <a:latin typeface="Montserrat"/>
              </a:rPr>
              <a:t>¿Cuántas personas de la familia considerarían este destino?</a:t>
            </a:r>
          </a:p>
          <a:p>
            <a:pPr algn="l">
              <a:lnSpc>
                <a:spcPct val="115000"/>
              </a:lnSpc>
              <a:spcAft>
                <a:spcPts val="300"/>
              </a:spcAft>
            </a:pPr>
            <a:r>
              <a:rPr sz="650" b="1" i="0">
                <a:solidFill>
                  <a:srgbClr val="C9A86A"/>
                </a:solidFill>
                <a:latin typeface="Montserrat"/>
              </a:rPr>
              <a:t>?  </a:t>
            </a:r>
            <a:r>
              <a:rPr sz="950" b="0" i="0">
                <a:solidFill>
                  <a:srgbClr val="2E2A36"/>
                </a:solidFill>
                <a:latin typeface="Montserrat"/>
              </a:rPr>
              <a:t>¿Prefieren pagarlo de una vez o en cuotas?</a:t>
            </a:r>
          </a:p>
        </p:txBody>
      </p:sp>
      <p:sp>
        <p:nvSpPr>
          <p:cNvPr id="26" name="Rectangle 25"/>
          <p:cNvSpPr/>
          <p:nvPr/>
        </p:nvSpPr>
        <p:spPr>
          <a:xfrm>
            <a:off x="3872484" y="7086600"/>
            <a:ext cx="3186684" cy="1600200"/>
          </a:xfrm>
          <a:prstGeom prst="rect">
            <a:avLst/>
          </a:prstGeom>
          <a:solidFill>
            <a:srgbClr val="EE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72484" y="7086600"/>
            <a:ext cx="3186684" cy="64008"/>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09644" y="719632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FRASE DE CIERRE</a:t>
            </a:r>
          </a:p>
        </p:txBody>
      </p:sp>
      <p:sp>
        <p:nvSpPr>
          <p:cNvPr id="29" name="TextBox 28"/>
          <p:cNvSpPr txBox="1"/>
          <p:nvPr/>
        </p:nvSpPr>
        <p:spPr>
          <a:xfrm>
            <a:off x="4009644" y="7470648"/>
            <a:ext cx="2912364" cy="1143000"/>
          </a:xfrm>
          <a:prstGeom prst="rect">
            <a:avLst/>
          </a:prstGeom>
          <a:noFill/>
        </p:spPr>
        <p:txBody>
          <a:bodyPr wrap="square" anchor="t" lIns="45720" rIns="45720" tIns="27432" bIns="27432">
            <a:spAutoFit/>
          </a:bodyPr>
          <a:lstStyle/>
          <a:p>
            <a:pPr algn="l">
              <a:lnSpc>
                <a:spcPct val="115000"/>
              </a:lnSpc>
              <a:spcAft>
                <a:spcPts val="300"/>
              </a:spcAft>
            </a:pPr>
            <a:r>
              <a:rPr sz="1050" b="0" i="0">
                <a:solidFill>
                  <a:srgbClr val="2E2A36"/>
                </a:solidFill>
                <a:latin typeface="Montserrat"/>
              </a:rPr>
              <a:t>"¿Reservamos hoy la parcela para su familia y la pagan en cuotas cómodas?"</a:t>
            </a:r>
          </a:p>
        </p:txBody>
      </p:sp>
      <p:sp>
        <p:nvSpPr>
          <p:cNvPr id="30" name="Rectangle 29"/>
          <p:cNvSpPr/>
          <p:nvPr/>
        </p:nvSpPr>
        <p:spPr>
          <a:xfrm>
            <a:off x="502920" y="8823960"/>
            <a:ext cx="3186684" cy="1325880"/>
          </a:xfrm>
          <a:prstGeom prst="rect">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2920" y="8823960"/>
            <a:ext cx="3186684" cy="6400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8933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OBJECIÓN TÍPICA</a:t>
            </a:r>
          </a:p>
        </p:txBody>
      </p:sp>
      <p:sp>
        <p:nvSpPr>
          <p:cNvPr id="33" name="TextBox 32"/>
          <p:cNvSpPr txBox="1"/>
          <p:nvPr/>
        </p:nvSpPr>
        <p:spPr>
          <a:xfrm>
            <a:off x="640080" y="9208008"/>
            <a:ext cx="2912364" cy="868680"/>
          </a:xfrm>
          <a:prstGeom prst="rect">
            <a:avLst/>
          </a:prstGeom>
          <a:noFill/>
        </p:spPr>
        <p:txBody>
          <a:bodyPr wrap="square" anchor="t" lIns="45720" rIns="45720" tIns="27432" bIns="27432">
            <a:spAutoFit/>
          </a:bodyPr>
          <a:lstStyle/>
          <a:p>
            <a:pPr algn="l">
              <a:lnSpc>
                <a:spcPct val="115000"/>
              </a:lnSpc>
              <a:spcAft>
                <a:spcPts val="300"/>
              </a:spcAft>
            </a:pPr>
            <a:r>
              <a:rPr sz="900" b="0" i="0">
                <a:solidFill>
                  <a:srgbClr val="2E2A36"/>
                </a:solidFill>
                <a:latin typeface="Montserrat"/>
              </a:rPr>
              <a:t>"Es mucho dinero." → "Son US$ 500 por cada espacio, con financiamiento. Y es una decisión que se toma una sola vez para toda la familia."</a:t>
            </a:r>
          </a:p>
        </p:txBody>
      </p:sp>
      <p:sp>
        <p:nvSpPr>
          <p:cNvPr id="34" name="Rectangle 33"/>
          <p:cNvSpPr/>
          <p:nvPr/>
        </p:nvSpPr>
        <p:spPr>
          <a:xfrm>
            <a:off x="3872484" y="8823960"/>
            <a:ext cx="3186684" cy="1325880"/>
          </a:xfrm>
          <a:prstGeom prst="rect">
            <a:avLst/>
          </a:prstGeom>
          <a:solidFill>
            <a:srgbClr val="ED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872484" y="8823960"/>
            <a:ext cx="3186684" cy="64008"/>
          </a:xfrm>
          <a:prstGeom prst="rect">
            <a:avLst/>
          </a:prstGeom>
          <a:solidFill>
            <a:srgbClr val="6F8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09644" y="8933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TIP DEL ASESOR</a:t>
            </a:r>
          </a:p>
        </p:txBody>
      </p:sp>
      <p:sp>
        <p:nvSpPr>
          <p:cNvPr id="37" name="TextBox 36"/>
          <p:cNvSpPr txBox="1"/>
          <p:nvPr/>
        </p:nvSpPr>
        <p:spPr>
          <a:xfrm>
            <a:off x="4009644" y="9208008"/>
            <a:ext cx="2912364" cy="868680"/>
          </a:xfrm>
          <a:prstGeom prst="rect">
            <a:avLst/>
          </a:prstGeom>
          <a:noFill/>
        </p:spPr>
        <p:txBody>
          <a:bodyPr wrap="square" anchor="t" lIns="45720" rIns="45720" tIns="27432" bIns="27432">
            <a:spAutoFit/>
          </a:bodyPr>
          <a:lstStyle/>
          <a:p>
            <a:pPr algn="l">
              <a:lnSpc>
                <a:spcPct val="115000"/>
              </a:lnSpc>
              <a:spcAft>
                <a:spcPts val="300"/>
              </a:spcAft>
            </a:pPr>
            <a:r>
              <a:rPr sz="1050" b="0" i="0">
                <a:solidFill>
                  <a:srgbClr val="2E2A36"/>
                </a:solidFill>
                <a:latin typeface="Montserrat"/>
              </a:rPr>
              <a:t>Use el argumento por espacio (US$ 500) y no el total.</a:t>
            </a:r>
          </a:p>
        </p:txBody>
      </p:sp>
      <p:sp>
        <p:nvSpPr>
          <p:cNvPr id="38" name="TextBox 37"/>
          <p:cNvSpPr txBox="1"/>
          <p:nvPr/>
        </p:nvSpPr>
        <p:spPr>
          <a:xfrm>
            <a:off x="502920" y="10277856"/>
            <a:ext cx="5641848"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39" name="TextBox 38"/>
          <p:cNvSpPr txBox="1"/>
          <p:nvPr/>
        </p:nvSpPr>
        <p:spPr>
          <a:xfrm>
            <a:off x="6144768" y="10277856"/>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562088" cy="146304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0"/>
            <a:ext cx="7562088"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4206240"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C9A86A"/>
                </a:solidFill>
                <a:latin typeface="Montserrat"/>
              </a:rPr>
              <a:t>JARDÍN 2 · BOSQUE DE LAS ORQUÍDEAS</a:t>
            </a:r>
          </a:p>
        </p:txBody>
      </p:sp>
      <p:sp>
        <p:nvSpPr>
          <p:cNvPr id="5" name="TextBox 4"/>
          <p:cNvSpPr txBox="1"/>
          <p:nvPr/>
        </p:nvSpPr>
        <p:spPr>
          <a:xfrm>
            <a:off x="502920" y="502920"/>
            <a:ext cx="4206240" cy="868680"/>
          </a:xfrm>
          <a:prstGeom prst="rect">
            <a:avLst/>
          </a:prstGeom>
          <a:noFill/>
        </p:spPr>
        <p:txBody>
          <a:bodyPr wrap="square" anchor="t" lIns="45720" rIns="45720" tIns="27432" bIns="27432">
            <a:spAutoFit/>
          </a:bodyPr>
          <a:lstStyle/>
          <a:p>
            <a:pPr algn="l">
              <a:lnSpc>
                <a:spcPct val="100000"/>
              </a:lnSpc>
              <a:spcAft>
                <a:spcPts val="400"/>
              </a:spcAft>
            </a:pPr>
            <a:r>
              <a:rPr sz="2100" b="1" i="0">
                <a:solidFill>
                  <a:srgbClr val="FFFFFF"/>
                </a:solidFill>
                <a:latin typeface="Playfair Display"/>
              </a:rPr>
              <a:t>Jardín de Cenizas · Ecológico</a:t>
            </a:r>
          </a:p>
        </p:txBody>
      </p:sp>
      <p:sp>
        <p:nvSpPr>
          <p:cNvPr id="6" name="TextBox 5"/>
          <p:cNvSpPr txBox="1"/>
          <p:nvPr/>
        </p:nvSpPr>
        <p:spPr>
          <a:xfrm>
            <a:off x="4663440" y="228600"/>
            <a:ext cx="2395728" cy="274320"/>
          </a:xfrm>
          <a:prstGeom prst="rect">
            <a:avLst/>
          </a:prstGeom>
          <a:noFill/>
        </p:spPr>
        <p:txBody>
          <a:bodyPr wrap="square" anchor="t" lIns="45720" rIns="45720" tIns="27432" bIns="27432">
            <a:spAutoFit/>
          </a:bodyPr>
          <a:lstStyle/>
          <a:p>
            <a:pPr algn="r">
              <a:lnSpc>
                <a:spcPct val="115000"/>
              </a:lnSpc>
              <a:spcAft>
                <a:spcPts val="400"/>
              </a:spcAft>
            </a:pPr>
            <a:r>
              <a:rPr sz="950" b="1" i="0">
                <a:solidFill>
                  <a:srgbClr val="C9A86A"/>
                </a:solidFill>
                <a:latin typeface="Montserrat"/>
              </a:rPr>
              <a:t>PRECIO SUGERIDO</a:t>
            </a:r>
          </a:p>
        </p:txBody>
      </p:sp>
      <p:sp>
        <p:nvSpPr>
          <p:cNvPr id="7" name="TextBox 6"/>
          <p:cNvSpPr txBox="1"/>
          <p:nvPr/>
        </p:nvSpPr>
        <p:spPr>
          <a:xfrm>
            <a:off x="4663440" y="502920"/>
            <a:ext cx="2395728" cy="868680"/>
          </a:xfrm>
          <a:prstGeom prst="rect">
            <a:avLst/>
          </a:prstGeom>
          <a:noFill/>
        </p:spPr>
        <p:txBody>
          <a:bodyPr wrap="square" anchor="ctr" lIns="45720" rIns="45720" tIns="27432" bIns="27432">
            <a:spAutoFit/>
          </a:bodyPr>
          <a:lstStyle/>
          <a:p>
            <a:pPr algn="r">
              <a:lnSpc>
                <a:spcPct val="115000"/>
              </a:lnSpc>
              <a:spcAft>
                <a:spcPts val="400"/>
              </a:spcAft>
            </a:pPr>
            <a:r>
              <a:rPr sz="2600" b="1" i="0">
                <a:solidFill>
                  <a:srgbClr val="FFFFFF"/>
                </a:solidFill>
                <a:latin typeface="Montserrat"/>
              </a:rPr>
              <a:t>US$ 750</a:t>
            </a:r>
          </a:p>
        </p:txBody>
      </p:sp>
      <p:sp>
        <p:nvSpPr>
          <p:cNvPr id="8" name="TextBox 7"/>
          <p:cNvSpPr txBox="1"/>
          <p:nvPr/>
        </p:nvSpPr>
        <p:spPr>
          <a:xfrm>
            <a:off x="502920" y="1627632"/>
            <a:ext cx="6556248" cy="320040"/>
          </a:xfrm>
          <a:prstGeom prst="rect">
            <a:avLst/>
          </a:prstGeom>
          <a:noFill/>
        </p:spPr>
        <p:txBody>
          <a:bodyPr wrap="square" anchor="t" lIns="45720" rIns="45720" tIns="27432" bIns="27432">
            <a:spAutoFit/>
          </a:bodyPr>
          <a:lstStyle/>
          <a:p>
            <a:pPr algn="l">
              <a:lnSpc>
                <a:spcPct val="115000"/>
              </a:lnSpc>
              <a:spcAft>
                <a:spcPts val="400"/>
              </a:spcAft>
            </a:pPr>
            <a:r>
              <a:rPr sz="1100" b="0" i="1">
                <a:solidFill>
                  <a:srgbClr val="7D7887"/>
                </a:solidFill>
                <a:latin typeface="Montserrat"/>
              </a:rPr>
              <a:t>Lanzamiento (−20%): US$ 600 · Pago único o financiado · Placa memorial incluida</a:t>
            </a:r>
          </a:p>
        </p:txBody>
      </p:sp>
      <p:sp>
        <p:nvSpPr>
          <p:cNvPr id="9" name="TextBox 8"/>
          <p:cNvSpPr txBox="1"/>
          <p:nvPr/>
        </p:nvSpPr>
        <p:spPr>
          <a:xfrm>
            <a:off x="502920" y="1993392"/>
            <a:ext cx="6556248" cy="10515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Qué es.  </a:t>
            </a:r>
            <a:r>
              <a:rPr sz="1100" b="0" i="0">
                <a:solidFill>
                  <a:srgbClr val="2E2A36"/>
                </a:solidFill>
                <a:latin typeface="Montserrat"/>
              </a:rPr>
              <a:t>La urna biodegradable se entierra directamente en el suelo y se integra a la naturaleza. Jardín con agua corriente, en el Jardín 2 o en el Bosque de las Orquídeas.</a:t>
            </a:r>
          </a:p>
          <a:p>
            <a:pPr algn="l">
              <a:lnSpc>
                <a:spcPct val="115000"/>
              </a:lnSpc>
              <a:spcAft>
                <a:spcPts val="400"/>
              </a:spcAft>
            </a:pPr>
            <a:r>
              <a:rPr sz="1100" b="1" i="0">
                <a:solidFill>
                  <a:srgbClr val="5B3F80"/>
                </a:solidFill>
                <a:latin typeface="Montserrat"/>
              </a:rPr>
              <a:t>Para quién.  </a:t>
            </a:r>
            <a:r>
              <a:rPr sz="1100" b="0" i="0">
                <a:solidFill>
                  <a:srgbClr val="2E2A36"/>
                </a:solidFill>
                <a:latin typeface="Montserrat"/>
              </a:rPr>
              <a:t>Personas con conciencia ambiental que desean que sus cenizas vuelvan a la tierra.</a:t>
            </a:r>
          </a:p>
        </p:txBody>
      </p:sp>
      <p:sp>
        <p:nvSpPr>
          <p:cNvPr id="10" name="Rectangle 9"/>
          <p:cNvSpPr/>
          <p:nvPr/>
        </p:nvSpPr>
        <p:spPr>
          <a:xfrm>
            <a:off x="502920" y="3108960"/>
            <a:ext cx="3186684" cy="242316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108960"/>
            <a:ext cx="3186684" cy="64008"/>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218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QUÉ INCLUYE</a:t>
            </a:r>
          </a:p>
        </p:txBody>
      </p:sp>
      <p:sp>
        <p:nvSpPr>
          <p:cNvPr id="13" name="TextBox 12"/>
          <p:cNvSpPr txBox="1"/>
          <p:nvPr/>
        </p:nvSpPr>
        <p:spPr>
          <a:xfrm>
            <a:off x="640080" y="3493008"/>
            <a:ext cx="2912364" cy="1965960"/>
          </a:xfrm>
          <a:prstGeom prst="rect">
            <a:avLst/>
          </a:prstGeom>
          <a:noFill/>
        </p:spPr>
        <p:txBody>
          <a:bodyPr wrap="square" anchor="t" lIns="45720" rIns="45720" tIns="27432" bIns="27432">
            <a:spAutoFit/>
          </a:bodyPr>
          <a:lstStyle/>
          <a:p>
            <a:pPr algn="l">
              <a:lnSpc>
                <a:spcPct val="115000"/>
              </a:lnSpc>
              <a:spcAft>
                <a:spcPts val="300"/>
              </a:spcAft>
            </a:pPr>
            <a:r>
              <a:rPr sz="750" b="1" i="0">
                <a:solidFill>
                  <a:srgbClr val="5E9A3C"/>
                </a:solidFill>
                <a:latin typeface="Montserrat"/>
              </a:rPr>
              <a:t>✓  </a:t>
            </a:r>
            <a:r>
              <a:rPr sz="1050" b="0" i="0">
                <a:solidFill>
                  <a:srgbClr val="2E2A36"/>
                </a:solidFill>
                <a:latin typeface="Montserrat"/>
              </a:rPr>
              <a:t>Inhumación ecológica con urna biodegradable</a:t>
            </a:r>
          </a:p>
          <a:p>
            <a:pPr algn="l">
              <a:lnSpc>
                <a:spcPct val="115000"/>
              </a:lnSpc>
              <a:spcAft>
                <a:spcPts val="300"/>
              </a:spcAft>
            </a:pPr>
            <a:r>
              <a:rPr sz="750" b="1" i="0">
                <a:solidFill>
                  <a:srgbClr val="5E9A3C"/>
                </a:solidFill>
                <a:latin typeface="Montserrat"/>
              </a:rPr>
              <a:t>✓  </a:t>
            </a:r>
            <a:r>
              <a:rPr sz="1050" b="0" i="0">
                <a:solidFill>
                  <a:srgbClr val="2E2A36"/>
                </a:solidFill>
                <a:latin typeface="Montserrat"/>
              </a:rPr>
              <a:t>Placa de identificación (madera en el Jardín 2 · mármol en el Bosque)</a:t>
            </a:r>
          </a:p>
          <a:p>
            <a:pPr algn="l">
              <a:lnSpc>
                <a:spcPct val="115000"/>
              </a:lnSpc>
              <a:spcAft>
                <a:spcPts val="300"/>
              </a:spcAft>
            </a:pPr>
            <a:r>
              <a:rPr sz="750" b="1" i="0">
                <a:solidFill>
                  <a:srgbClr val="5E9A3C"/>
                </a:solidFill>
                <a:latin typeface="Montserrat"/>
              </a:rPr>
              <a:t>✓  </a:t>
            </a:r>
            <a:r>
              <a:rPr sz="1050" b="0" i="0">
                <a:solidFill>
                  <a:srgbClr val="2E2A36"/>
                </a:solidFill>
                <a:latin typeface="Montserrat"/>
              </a:rPr>
              <a:t>Entorno natural con agua corriente</a:t>
            </a:r>
          </a:p>
          <a:p>
            <a:pPr algn="l">
              <a:lnSpc>
                <a:spcPct val="115000"/>
              </a:lnSpc>
              <a:spcAft>
                <a:spcPts val="300"/>
              </a:spcAft>
            </a:pPr>
            <a:r>
              <a:rPr sz="750" b="1" i="0">
                <a:solidFill>
                  <a:srgbClr val="5E9A3C"/>
                </a:solidFill>
                <a:latin typeface="Montserrat"/>
              </a:rPr>
              <a:t>✓  </a:t>
            </a:r>
            <a:r>
              <a:rPr sz="1050" b="0" i="0">
                <a:solidFill>
                  <a:srgbClr val="2E2A36"/>
                </a:solidFill>
                <a:latin typeface="Montserrat"/>
              </a:rPr>
              <a:t>Permanencia de 3 años; luego, nombre en la placa memorial del monumento (incluida)</a:t>
            </a:r>
          </a:p>
        </p:txBody>
      </p:sp>
      <p:sp>
        <p:nvSpPr>
          <p:cNvPr id="14" name="Rectangle 13"/>
          <p:cNvSpPr/>
          <p:nvPr/>
        </p:nvSpPr>
        <p:spPr>
          <a:xfrm>
            <a:off x="3872484" y="3108960"/>
            <a:ext cx="3186684" cy="242316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872484" y="3108960"/>
            <a:ext cx="3186684"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09644" y="3218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REGLAS DEL PRODUCTO</a:t>
            </a:r>
          </a:p>
        </p:txBody>
      </p:sp>
      <p:sp>
        <p:nvSpPr>
          <p:cNvPr id="17" name="TextBox 16"/>
          <p:cNvSpPr txBox="1"/>
          <p:nvPr/>
        </p:nvSpPr>
        <p:spPr>
          <a:xfrm>
            <a:off x="4009644" y="3493008"/>
            <a:ext cx="2912364" cy="1965960"/>
          </a:xfrm>
          <a:prstGeom prst="rect">
            <a:avLst/>
          </a:prstGeom>
          <a:noFill/>
        </p:spPr>
        <p:txBody>
          <a:bodyPr wrap="square" anchor="t" lIns="45720" rIns="45720" tIns="27432" bIns="27432">
            <a:spAutoFit/>
          </a:bodyPr>
          <a:lstStyle/>
          <a:p>
            <a:pPr algn="l">
              <a:lnSpc>
                <a:spcPct val="115000"/>
              </a:lnSpc>
              <a:spcAft>
                <a:spcPts val="300"/>
              </a:spcAft>
            </a:pPr>
            <a:r>
              <a:rPr sz="750" b="1" i="0">
                <a:solidFill>
                  <a:srgbClr val="C9A86A"/>
                </a:solidFill>
                <a:latin typeface="Montserrat"/>
              </a:rPr>
              <a:t>■  </a:t>
            </a:r>
            <a:r>
              <a:rPr sz="1050" b="0" i="0">
                <a:solidFill>
                  <a:srgbClr val="2E2A36"/>
                </a:solidFill>
                <a:latin typeface="Montserrat"/>
              </a:rPr>
              <a:t>Capacidad: 1 urna. Espacio de 30 × 30 cm, 40 cm de profundidad.</a:t>
            </a:r>
          </a:p>
          <a:p>
            <a:pPr algn="l">
              <a:lnSpc>
                <a:spcPct val="115000"/>
              </a:lnSpc>
              <a:spcAft>
                <a:spcPts val="300"/>
              </a:spcAft>
            </a:pPr>
            <a:r>
              <a:rPr sz="750" b="1" i="0">
                <a:solidFill>
                  <a:srgbClr val="C9A86A"/>
                </a:solidFill>
                <a:latin typeface="Montserrat"/>
              </a:rPr>
              <a:t>■  </a:t>
            </a:r>
            <a:r>
              <a:rPr sz="1050" b="0" i="0">
                <a:solidFill>
                  <a:srgbClr val="2E2A36"/>
                </a:solidFill>
                <a:latin typeface="Montserrat"/>
              </a:rPr>
              <a:t>Permanencia: 3 años. Después, el espacio se reutiliza.</a:t>
            </a:r>
          </a:p>
          <a:p>
            <a:pPr algn="l">
              <a:lnSpc>
                <a:spcPct val="115000"/>
              </a:lnSpc>
              <a:spcAft>
                <a:spcPts val="300"/>
              </a:spcAft>
            </a:pPr>
            <a:r>
              <a:rPr sz="750" b="1" i="0">
                <a:solidFill>
                  <a:srgbClr val="C9A86A"/>
                </a:solidFill>
                <a:latin typeface="Montserrat"/>
              </a:rPr>
              <a:t>■  </a:t>
            </a:r>
            <a:r>
              <a:rPr sz="1050" b="0" i="0">
                <a:solidFill>
                  <a:srgbClr val="2E2A36"/>
                </a:solidFill>
                <a:latin typeface="Montserrat"/>
              </a:rPr>
              <a:t>Placa memorial en el monumento: incluida en el precio de US$ 750.</a:t>
            </a:r>
          </a:p>
          <a:p>
            <a:pPr algn="l">
              <a:lnSpc>
                <a:spcPct val="115000"/>
              </a:lnSpc>
              <a:spcAft>
                <a:spcPts val="300"/>
              </a:spcAft>
            </a:pPr>
            <a:r>
              <a:rPr sz="750" b="1" i="0">
                <a:solidFill>
                  <a:srgbClr val="C9A86A"/>
                </a:solidFill>
                <a:latin typeface="Montserrat"/>
              </a:rPr>
              <a:t>■  </a:t>
            </a:r>
            <a:r>
              <a:rPr sz="1050" b="0" i="0">
                <a:solidFill>
                  <a:srgbClr val="2E2A36"/>
                </a:solidFill>
                <a:latin typeface="Montserrat"/>
              </a:rPr>
              <a:t>Explique el plazo de 3 años con total transparencia desde la primera conversación.</a:t>
            </a:r>
          </a:p>
        </p:txBody>
      </p:sp>
      <p:sp>
        <p:nvSpPr>
          <p:cNvPr id="18" name="Rectangle 17"/>
          <p:cNvSpPr/>
          <p:nvPr/>
        </p:nvSpPr>
        <p:spPr>
          <a:xfrm>
            <a:off x="502920" y="5669280"/>
            <a:ext cx="6556248" cy="128016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5669280"/>
            <a:ext cx="73152" cy="128016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715000"/>
            <a:ext cx="6190488"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SPEECH SUGERIDO</a:t>
            </a:r>
          </a:p>
        </p:txBody>
      </p:sp>
      <p:sp>
        <p:nvSpPr>
          <p:cNvPr id="21" name="TextBox 20"/>
          <p:cNvSpPr txBox="1"/>
          <p:nvPr/>
        </p:nvSpPr>
        <p:spPr>
          <a:xfrm>
            <a:off x="731520" y="5961888"/>
            <a:ext cx="6190488" cy="960120"/>
          </a:xfrm>
          <a:prstGeom prst="rect">
            <a:avLst/>
          </a:prstGeom>
          <a:noFill/>
        </p:spPr>
        <p:txBody>
          <a:bodyPr wrap="square" anchor="t" lIns="45720" rIns="45720" tIns="27432" bIns="27432">
            <a:spAutoFit/>
          </a:bodyPr>
          <a:lstStyle/>
          <a:p>
            <a:pPr algn="l">
              <a:lnSpc>
                <a:spcPct val="115000"/>
              </a:lnSpc>
              <a:spcAft>
                <a:spcPts val="400"/>
              </a:spcAft>
            </a:pPr>
            <a:r>
              <a:rPr sz="1100" b="0" i="1">
                <a:solidFill>
                  <a:srgbClr val="3E2A5C"/>
                </a:solidFill>
                <a:latin typeface="Playfair Display"/>
              </a:rPr>
              <a:t>"Para quienes aman la naturaleza, el Jardín Ecológico es volver a la tierra. La urna se integra al suelo del bosque, junto al agua, y durante tres años la familia tiene un lugar señalado para visitar. Después, el nombre queda para siempre en el monumento memorial del jardín."</a:t>
            </a:r>
          </a:p>
        </p:txBody>
      </p:sp>
      <p:sp>
        <p:nvSpPr>
          <p:cNvPr id="22" name="Rectangle 21"/>
          <p:cNvSpPr/>
          <p:nvPr/>
        </p:nvSpPr>
        <p:spPr>
          <a:xfrm>
            <a:off x="502920" y="7086600"/>
            <a:ext cx="3186684" cy="16002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7086600"/>
            <a:ext cx="3186684"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719632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PREGUNTAS DE DESCUBRIMIENTO</a:t>
            </a:r>
          </a:p>
        </p:txBody>
      </p:sp>
      <p:sp>
        <p:nvSpPr>
          <p:cNvPr id="25" name="TextBox 24"/>
          <p:cNvSpPr txBox="1"/>
          <p:nvPr/>
        </p:nvSpPr>
        <p:spPr>
          <a:xfrm>
            <a:off x="640080" y="7470648"/>
            <a:ext cx="2912364" cy="1143000"/>
          </a:xfrm>
          <a:prstGeom prst="rect">
            <a:avLst/>
          </a:prstGeom>
          <a:noFill/>
        </p:spPr>
        <p:txBody>
          <a:bodyPr wrap="square" anchor="t" lIns="45720" rIns="45720" tIns="27432" bIns="27432">
            <a:spAutoFit/>
          </a:bodyPr>
          <a:lstStyle/>
          <a:p>
            <a:pPr algn="l">
              <a:lnSpc>
                <a:spcPct val="115000"/>
              </a:lnSpc>
              <a:spcAft>
                <a:spcPts val="300"/>
              </a:spcAft>
            </a:pPr>
            <a:r>
              <a:rPr sz="650" b="1" i="0">
                <a:solidFill>
                  <a:srgbClr val="C9A86A"/>
                </a:solidFill>
                <a:latin typeface="Montserrat"/>
              </a:rPr>
              <a:t>?  </a:t>
            </a:r>
            <a:r>
              <a:rPr sz="950" b="0" i="0">
                <a:solidFill>
                  <a:srgbClr val="2E2A36"/>
                </a:solidFill>
                <a:latin typeface="Montserrat"/>
              </a:rPr>
              <a:t>¿Su ser querido tenía un vínculo especial con la naturaleza?</a:t>
            </a:r>
          </a:p>
          <a:p>
            <a:pPr algn="l">
              <a:lnSpc>
                <a:spcPct val="115000"/>
              </a:lnSpc>
              <a:spcAft>
                <a:spcPts val="300"/>
              </a:spcAft>
            </a:pPr>
            <a:r>
              <a:rPr sz="650" b="1" i="0">
                <a:solidFill>
                  <a:srgbClr val="C9A86A"/>
                </a:solidFill>
                <a:latin typeface="Montserrat"/>
              </a:rPr>
              <a:t>?  </a:t>
            </a:r>
            <a:r>
              <a:rPr sz="950" b="0" i="0">
                <a:solidFill>
                  <a:srgbClr val="2E2A36"/>
                </a:solidFill>
                <a:latin typeface="Montserrat"/>
              </a:rPr>
              <a:t>¿Qué significa para ustedes "volver a la tierra"?</a:t>
            </a:r>
          </a:p>
          <a:p>
            <a:pPr algn="l">
              <a:lnSpc>
                <a:spcPct val="115000"/>
              </a:lnSpc>
              <a:spcAft>
                <a:spcPts val="300"/>
              </a:spcAft>
            </a:pPr>
            <a:r>
              <a:rPr sz="650" b="1" i="0">
                <a:solidFill>
                  <a:srgbClr val="C9A86A"/>
                </a:solidFill>
                <a:latin typeface="Montserrat"/>
              </a:rPr>
              <a:t>?  </a:t>
            </a:r>
            <a:r>
              <a:rPr sz="950" b="0" i="0">
                <a:solidFill>
                  <a:srgbClr val="2E2A36"/>
                </a:solidFill>
                <a:latin typeface="Montserrat"/>
              </a:rPr>
              <a:t>¿Es importante para la familia un lugar con nombre para siempre?</a:t>
            </a:r>
          </a:p>
        </p:txBody>
      </p:sp>
      <p:sp>
        <p:nvSpPr>
          <p:cNvPr id="26" name="Rectangle 25"/>
          <p:cNvSpPr/>
          <p:nvPr/>
        </p:nvSpPr>
        <p:spPr>
          <a:xfrm>
            <a:off x="3872484" y="7086600"/>
            <a:ext cx="3186684" cy="1600200"/>
          </a:xfrm>
          <a:prstGeom prst="rect">
            <a:avLst/>
          </a:prstGeom>
          <a:solidFill>
            <a:srgbClr val="EE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72484" y="7086600"/>
            <a:ext cx="3186684" cy="64008"/>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09644" y="719632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FRASE DE CIERRE</a:t>
            </a:r>
          </a:p>
        </p:txBody>
      </p:sp>
      <p:sp>
        <p:nvSpPr>
          <p:cNvPr id="29" name="TextBox 28"/>
          <p:cNvSpPr txBox="1"/>
          <p:nvPr/>
        </p:nvSpPr>
        <p:spPr>
          <a:xfrm>
            <a:off x="4009644" y="7470648"/>
            <a:ext cx="2912364" cy="1143000"/>
          </a:xfrm>
          <a:prstGeom prst="rect">
            <a:avLst/>
          </a:prstGeom>
          <a:noFill/>
        </p:spPr>
        <p:txBody>
          <a:bodyPr wrap="square" anchor="t" lIns="45720" rIns="45720" tIns="27432" bIns="27432">
            <a:spAutoFit/>
          </a:bodyPr>
          <a:lstStyle/>
          <a:p>
            <a:pPr algn="l">
              <a:lnSpc>
                <a:spcPct val="115000"/>
              </a:lnSpc>
              <a:spcAft>
                <a:spcPts val="300"/>
              </a:spcAft>
            </a:pPr>
            <a:r>
              <a:rPr sz="1050" b="0" i="0">
                <a:solidFill>
                  <a:srgbClr val="2E2A36"/>
                </a:solidFill>
                <a:latin typeface="Montserrat"/>
              </a:rPr>
              <a:t>"¿Le parece si visitamos el Bosque de las Orquídeas y elegimos juntos el lugar?"</a:t>
            </a:r>
          </a:p>
        </p:txBody>
      </p:sp>
      <p:sp>
        <p:nvSpPr>
          <p:cNvPr id="30" name="Rectangle 29"/>
          <p:cNvSpPr/>
          <p:nvPr/>
        </p:nvSpPr>
        <p:spPr>
          <a:xfrm>
            <a:off x="502920" y="8823960"/>
            <a:ext cx="3186684" cy="1325880"/>
          </a:xfrm>
          <a:prstGeom prst="rect">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2920" y="8823960"/>
            <a:ext cx="3186684" cy="6400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8933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OBJECIÓN TÍPICA</a:t>
            </a:r>
          </a:p>
        </p:txBody>
      </p:sp>
      <p:sp>
        <p:nvSpPr>
          <p:cNvPr id="33" name="TextBox 32"/>
          <p:cNvSpPr txBox="1"/>
          <p:nvPr/>
        </p:nvSpPr>
        <p:spPr>
          <a:xfrm>
            <a:off x="640080" y="9208008"/>
            <a:ext cx="2912364" cy="868680"/>
          </a:xfrm>
          <a:prstGeom prst="rect">
            <a:avLst/>
          </a:prstGeom>
          <a:noFill/>
        </p:spPr>
        <p:txBody>
          <a:bodyPr wrap="square" anchor="t" lIns="45720" rIns="45720" tIns="27432" bIns="27432">
            <a:spAutoFit/>
          </a:bodyPr>
          <a:lstStyle/>
          <a:p>
            <a:pPr algn="l">
              <a:lnSpc>
                <a:spcPct val="115000"/>
              </a:lnSpc>
              <a:spcAft>
                <a:spcPts val="300"/>
              </a:spcAft>
            </a:pPr>
            <a:r>
              <a:rPr sz="900" b="0" i="0">
                <a:solidFill>
                  <a:srgbClr val="2E2A36"/>
                </a:solidFill>
                <a:latin typeface="Montserrat"/>
              </a:rPr>
              <a:t>"¿Y después de 3 años?" → "La urna ya se habrá integrado a la tierra, como era el deseo. El nombre pasa a la placa memorial del monumento, que queda para siempre en el jardín."</a:t>
            </a:r>
          </a:p>
        </p:txBody>
      </p:sp>
      <p:sp>
        <p:nvSpPr>
          <p:cNvPr id="34" name="Rectangle 33"/>
          <p:cNvSpPr/>
          <p:nvPr/>
        </p:nvSpPr>
        <p:spPr>
          <a:xfrm>
            <a:off x="3872484" y="8823960"/>
            <a:ext cx="3186684" cy="1325880"/>
          </a:xfrm>
          <a:prstGeom prst="rect">
            <a:avLst/>
          </a:prstGeom>
          <a:solidFill>
            <a:srgbClr val="ED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872484" y="8823960"/>
            <a:ext cx="3186684" cy="64008"/>
          </a:xfrm>
          <a:prstGeom prst="rect">
            <a:avLst/>
          </a:prstGeom>
          <a:solidFill>
            <a:srgbClr val="6F8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09644" y="8933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TIP DEL ASESOR</a:t>
            </a:r>
          </a:p>
        </p:txBody>
      </p:sp>
      <p:sp>
        <p:nvSpPr>
          <p:cNvPr id="37" name="TextBox 36"/>
          <p:cNvSpPr txBox="1"/>
          <p:nvPr/>
        </p:nvSpPr>
        <p:spPr>
          <a:xfrm>
            <a:off x="4009644" y="9208008"/>
            <a:ext cx="2912364" cy="868680"/>
          </a:xfrm>
          <a:prstGeom prst="rect">
            <a:avLst/>
          </a:prstGeom>
          <a:noFill/>
        </p:spPr>
        <p:txBody>
          <a:bodyPr wrap="square" anchor="t" lIns="45720" rIns="45720" tIns="27432" bIns="27432">
            <a:spAutoFit/>
          </a:bodyPr>
          <a:lstStyle/>
          <a:p>
            <a:pPr algn="l">
              <a:lnSpc>
                <a:spcPct val="115000"/>
              </a:lnSpc>
              <a:spcAft>
                <a:spcPts val="300"/>
              </a:spcAft>
            </a:pPr>
            <a:r>
              <a:rPr sz="1050" b="0" i="0">
                <a:solidFill>
                  <a:srgbClr val="2E2A36"/>
                </a:solidFill>
                <a:latin typeface="Montserrat"/>
              </a:rPr>
              <a:t>Para familias católicas, enfatice que las cenizas reposan en el cementerio, un lugar dedicado a la memoria.</a:t>
            </a:r>
          </a:p>
        </p:txBody>
      </p:sp>
      <p:sp>
        <p:nvSpPr>
          <p:cNvPr id="38" name="TextBox 37"/>
          <p:cNvSpPr txBox="1"/>
          <p:nvPr/>
        </p:nvSpPr>
        <p:spPr>
          <a:xfrm>
            <a:off x="502920" y="10277856"/>
            <a:ext cx="5641848"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39" name="TextBox 38"/>
          <p:cNvSpPr txBox="1"/>
          <p:nvPr/>
        </p:nvSpPr>
        <p:spPr>
          <a:xfrm>
            <a:off x="6144768" y="10277856"/>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10689336"/>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04 · JARDÍN ECOLÓGICO Y DE MASCOTAS</a:t>
            </a:r>
          </a:p>
        </p:txBody>
      </p:sp>
      <p:sp>
        <p:nvSpPr>
          <p:cNvPr id="4" name="TextBox 3"/>
          <p:cNvSpPr txBox="1"/>
          <p:nvPr/>
        </p:nvSpPr>
        <p:spPr>
          <a:xfrm>
            <a:off x="502920" y="621792"/>
            <a:ext cx="6556248"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El ciclo de 3 años</a:t>
            </a:r>
          </a:p>
        </p:txBody>
      </p:sp>
      <p:sp>
        <p:nvSpPr>
          <p:cNvPr id="5" name="Rectangle 4"/>
          <p:cNvSpPr/>
          <p:nvPr/>
        </p:nvSpPr>
        <p:spPr>
          <a:xfrm>
            <a:off x="50292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6_ciclo_ecologico.png"/>
          <p:cNvPicPr>
            <a:picLocks noChangeAspect="1"/>
          </p:cNvPicPr>
          <p:nvPr/>
        </p:nvPicPr>
        <p:blipFill>
          <a:blip r:embed="rId2"/>
          <a:stretch>
            <a:fillRect/>
          </a:stretch>
        </p:blipFill>
        <p:spPr>
          <a:xfrm>
            <a:off x="502920" y="2911107"/>
            <a:ext cx="6556248" cy="1584426"/>
          </a:xfrm>
          <a:prstGeom prst="rect">
            <a:avLst/>
          </a:prstGeom>
        </p:spPr>
      </p:pic>
      <p:sp>
        <p:nvSpPr>
          <p:cNvPr id="7" name="Rectangle 6"/>
          <p:cNvSpPr/>
          <p:nvPr/>
        </p:nvSpPr>
        <p:spPr>
          <a:xfrm>
            <a:off x="502920" y="4572000"/>
            <a:ext cx="6556248" cy="128016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4572000"/>
            <a:ext cx="73152" cy="128016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572000"/>
            <a:ext cx="6099048" cy="1280160"/>
          </a:xfrm>
          <a:prstGeom prst="rect">
            <a:avLst/>
          </a:prstGeom>
          <a:noFill/>
        </p:spPr>
        <p:txBody>
          <a:bodyPr wrap="square" anchor="ctr" lIns="45720" rIns="45720" tIns="27432" bIns="27432">
            <a:spAutoFit/>
          </a:bodyPr>
          <a:lstStyle/>
          <a:p>
            <a:pPr algn="l">
              <a:lnSpc>
                <a:spcPct val="115000"/>
              </a:lnSpc>
              <a:spcAft>
                <a:spcPts val="400"/>
              </a:spcAft>
            </a:pPr>
            <a:r>
              <a:rPr sz="1000" b="1" i="0">
                <a:solidFill>
                  <a:srgbClr val="5B3F80"/>
                </a:solidFill>
                <a:latin typeface="Montserrat"/>
              </a:rPr>
              <a:t>TRANSPARENCIA   </a:t>
            </a:r>
            <a:r>
              <a:rPr sz="1150" b="0" i="0">
                <a:solidFill>
                  <a:srgbClr val="2E2A36"/>
                </a:solidFill>
                <a:latin typeface="Montserrat"/>
              </a:rPr>
              <a:t>Explique el plazo de 3 años desde la primera conversación. La placa memorial está incluida en el Jardín Ecológico y en el Jardín de Mascotas.</a:t>
            </a:r>
          </a:p>
        </p:txBody>
      </p:sp>
      <p:sp>
        <p:nvSpPr>
          <p:cNvPr id="10" name="TextBox 9"/>
          <p:cNvSpPr txBox="1"/>
          <p:nvPr/>
        </p:nvSpPr>
        <p:spPr>
          <a:xfrm>
            <a:off x="502920" y="10277856"/>
            <a:ext cx="5641848"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11" name="TextBox 10"/>
          <p:cNvSpPr txBox="1"/>
          <p:nvPr/>
        </p:nvSpPr>
        <p:spPr>
          <a:xfrm>
            <a:off x="6144768" y="10277856"/>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562088" cy="146304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0"/>
            <a:ext cx="7562088"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4206240"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C9A86A"/>
                </a:solidFill>
                <a:latin typeface="Montserrat"/>
              </a:rPr>
              <a:t>MASCOTAS · INHUMACIÓN ECOLÓGICA</a:t>
            </a:r>
          </a:p>
        </p:txBody>
      </p:sp>
      <p:sp>
        <p:nvSpPr>
          <p:cNvPr id="5" name="TextBox 4"/>
          <p:cNvSpPr txBox="1"/>
          <p:nvPr/>
        </p:nvSpPr>
        <p:spPr>
          <a:xfrm>
            <a:off x="502920" y="502920"/>
            <a:ext cx="4206240" cy="868680"/>
          </a:xfrm>
          <a:prstGeom prst="rect">
            <a:avLst/>
          </a:prstGeom>
          <a:noFill/>
        </p:spPr>
        <p:txBody>
          <a:bodyPr wrap="square" anchor="t" lIns="45720" rIns="45720" tIns="27432" bIns="27432">
            <a:spAutoFit/>
          </a:bodyPr>
          <a:lstStyle/>
          <a:p>
            <a:pPr algn="l">
              <a:lnSpc>
                <a:spcPct val="100000"/>
              </a:lnSpc>
              <a:spcAft>
                <a:spcPts val="400"/>
              </a:spcAft>
            </a:pPr>
            <a:r>
              <a:rPr sz="2100" b="1" i="0">
                <a:solidFill>
                  <a:srgbClr val="FFFFFF"/>
                </a:solidFill>
                <a:latin typeface="Playfair Display"/>
              </a:rPr>
              <a:t>Jardín de Mascotas</a:t>
            </a:r>
          </a:p>
        </p:txBody>
      </p:sp>
      <p:sp>
        <p:nvSpPr>
          <p:cNvPr id="6" name="TextBox 5"/>
          <p:cNvSpPr txBox="1"/>
          <p:nvPr/>
        </p:nvSpPr>
        <p:spPr>
          <a:xfrm>
            <a:off x="4663440" y="228600"/>
            <a:ext cx="2395728" cy="274320"/>
          </a:xfrm>
          <a:prstGeom prst="rect">
            <a:avLst/>
          </a:prstGeom>
          <a:noFill/>
        </p:spPr>
        <p:txBody>
          <a:bodyPr wrap="square" anchor="t" lIns="45720" rIns="45720" tIns="27432" bIns="27432">
            <a:spAutoFit/>
          </a:bodyPr>
          <a:lstStyle/>
          <a:p>
            <a:pPr algn="r">
              <a:lnSpc>
                <a:spcPct val="115000"/>
              </a:lnSpc>
              <a:spcAft>
                <a:spcPts val="400"/>
              </a:spcAft>
            </a:pPr>
            <a:r>
              <a:rPr sz="950" b="1" i="0">
                <a:solidFill>
                  <a:srgbClr val="C9A86A"/>
                </a:solidFill>
                <a:latin typeface="Montserrat"/>
              </a:rPr>
              <a:t>PRECIO SUGERIDO</a:t>
            </a:r>
          </a:p>
        </p:txBody>
      </p:sp>
      <p:sp>
        <p:nvSpPr>
          <p:cNvPr id="7" name="TextBox 6"/>
          <p:cNvSpPr txBox="1"/>
          <p:nvPr/>
        </p:nvSpPr>
        <p:spPr>
          <a:xfrm>
            <a:off x="4663440" y="502920"/>
            <a:ext cx="2395728" cy="868680"/>
          </a:xfrm>
          <a:prstGeom prst="rect">
            <a:avLst/>
          </a:prstGeom>
          <a:noFill/>
        </p:spPr>
        <p:txBody>
          <a:bodyPr wrap="square" anchor="ctr" lIns="45720" rIns="45720" tIns="27432" bIns="27432">
            <a:spAutoFit/>
          </a:bodyPr>
          <a:lstStyle/>
          <a:p>
            <a:pPr algn="r">
              <a:lnSpc>
                <a:spcPct val="115000"/>
              </a:lnSpc>
              <a:spcAft>
                <a:spcPts val="400"/>
              </a:spcAft>
            </a:pPr>
            <a:r>
              <a:rPr sz="1900" b="1" i="0">
                <a:solidFill>
                  <a:srgbClr val="FFFFFF"/>
                </a:solidFill>
                <a:latin typeface="Montserrat"/>
              </a:rPr>
              <a:t>US$ 400 / US$ 550</a:t>
            </a:r>
          </a:p>
        </p:txBody>
      </p:sp>
      <p:sp>
        <p:nvSpPr>
          <p:cNvPr id="8" name="TextBox 7"/>
          <p:cNvSpPr txBox="1"/>
          <p:nvPr/>
        </p:nvSpPr>
        <p:spPr>
          <a:xfrm>
            <a:off x="502920" y="1627632"/>
            <a:ext cx="6556248" cy="320040"/>
          </a:xfrm>
          <a:prstGeom prst="rect">
            <a:avLst/>
          </a:prstGeom>
          <a:noFill/>
        </p:spPr>
        <p:txBody>
          <a:bodyPr wrap="square" anchor="t" lIns="45720" rIns="45720" tIns="27432" bIns="27432">
            <a:spAutoFit/>
          </a:bodyPr>
          <a:lstStyle/>
          <a:p>
            <a:pPr algn="l">
              <a:lnSpc>
                <a:spcPct val="115000"/>
              </a:lnSpc>
              <a:spcAft>
                <a:spcPts val="400"/>
              </a:spcAft>
            </a:pPr>
            <a:r>
              <a:rPr sz="1100" b="0" i="1">
                <a:solidFill>
                  <a:srgbClr val="7D7887"/>
                </a:solidFill>
                <a:latin typeface="Montserrat"/>
              </a:rPr>
              <a:t>Lanzamiento (−20%): US$ 320 / US$ 440 · US$ 400 solo espacio · US$ 550 con cremación</a:t>
            </a:r>
          </a:p>
        </p:txBody>
      </p:sp>
      <p:sp>
        <p:nvSpPr>
          <p:cNvPr id="9" name="TextBox 8"/>
          <p:cNvSpPr txBox="1"/>
          <p:nvPr/>
        </p:nvSpPr>
        <p:spPr>
          <a:xfrm>
            <a:off x="502920" y="1993392"/>
            <a:ext cx="6556248" cy="10515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Qué es.  </a:t>
            </a:r>
            <a:r>
              <a:rPr sz="1100" b="0" i="0">
                <a:solidFill>
                  <a:srgbClr val="2E2A36"/>
                </a:solidFill>
                <a:latin typeface="Montserrat"/>
              </a:rPr>
              <a:t>Inhumación ecológica de las cenizas de la mascota: la urna biodegradable se entierra en el jardín y se identifica con una placa de madera. La opción de US$ 550 incluye también la cremación de la mascota.</a:t>
            </a:r>
          </a:p>
          <a:p>
            <a:pPr algn="l">
              <a:lnSpc>
                <a:spcPct val="115000"/>
              </a:lnSpc>
              <a:spcAft>
                <a:spcPts val="400"/>
              </a:spcAft>
            </a:pPr>
            <a:r>
              <a:rPr sz="1100" b="1" i="0">
                <a:solidFill>
                  <a:srgbClr val="5B3F80"/>
                </a:solidFill>
                <a:latin typeface="Montserrat"/>
              </a:rPr>
              <a:t>Para quién.  </a:t>
            </a:r>
            <a:r>
              <a:rPr sz="1100" b="0" i="0">
                <a:solidFill>
                  <a:srgbClr val="2E2A36"/>
                </a:solidFill>
                <a:latin typeface="Montserrat"/>
              </a:rPr>
              <a:t>Familias que consideran a su mascota parte del hogar y desean un cierre digno.</a:t>
            </a:r>
          </a:p>
        </p:txBody>
      </p:sp>
      <p:sp>
        <p:nvSpPr>
          <p:cNvPr id="10" name="Rectangle 9"/>
          <p:cNvSpPr/>
          <p:nvPr/>
        </p:nvSpPr>
        <p:spPr>
          <a:xfrm>
            <a:off x="502920" y="3108960"/>
            <a:ext cx="3186684" cy="242316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108960"/>
            <a:ext cx="3186684" cy="64008"/>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218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QUÉ INCLUYE</a:t>
            </a:r>
          </a:p>
        </p:txBody>
      </p:sp>
      <p:sp>
        <p:nvSpPr>
          <p:cNvPr id="13" name="TextBox 12"/>
          <p:cNvSpPr txBox="1"/>
          <p:nvPr/>
        </p:nvSpPr>
        <p:spPr>
          <a:xfrm>
            <a:off x="640080" y="3493008"/>
            <a:ext cx="2912364" cy="1965960"/>
          </a:xfrm>
          <a:prstGeom prst="rect">
            <a:avLst/>
          </a:prstGeom>
          <a:noFill/>
        </p:spPr>
        <p:txBody>
          <a:bodyPr wrap="square" anchor="t" lIns="45720" rIns="45720" tIns="27432" bIns="27432">
            <a:spAutoFit/>
          </a:bodyPr>
          <a:lstStyle/>
          <a:p>
            <a:pPr algn="l">
              <a:lnSpc>
                <a:spcPct val="115000"/>
              </a:lnSpc>
              <a:spcAft>
                <a:spcPts val="300"/>
              </a:spcAft>
            </a:pPr>
            <a:r>
              <a:rPr sz="750" b="1" i="0">
                <a:solidFill>
                  <a:srgbClr val="5E9A3C"/>
                </a:solidFill>
                <a:latin typeface="Montserrat"/>
              </a:rPr>
              <a:t>✓  </a:t>
            </a:r>
            <a:r>
              <a:rPr sz="1050" b="0" i="0">
                <a:solidFill>
                  <a:srgbClr val="2E2A36"/>
                </a:solidFill>
                <a:latin typeface="Montserrat"/>
              </a:rPr>
              <a:t>Inhumación ecológica en el jardín de mascotas; cremación y urna biodegradable en la opción de US$ 550</a:t>
            </a:r>
          </a:p>
          <a:p>
            <a:pPr algn="l">
              <a:lnSpc>
                <a:spcPct val="115000"/>
              </a:lnSpc>
              <a:spcAft>
                <a:spcPts val="300"/>
              </a:spcAft>
            </a:pPr>
            <a:r>
              <a:rPr sz="750" b="1" i="0">
                <a:solidFill>
                  <a:srgbClr val="5E9A3C"/>
                </a:solidFill>
                <a:latin typeface="Montserrat"/>
              </a:rPr>
              <a:t>✓  </a:t>
            </a:r>
            <a:r>
              <a:rPr sz="1050" b="0" i="0">
                <a:solidFill>
                  <a:srgbClr val="2E2A36"/>
                </a:solidFill>
                <a:latin typeface="Montserrat"/>
              </a:rPr>
              <a:t>Placa de madera de 20 cm para identificación</a:t>
            </a:r>
          </a:p>
          <a:p>
            <a:pPr algn="l">
              <a:lnSpc>
                <a:spcPct val="115000"/>
              </a:lnSpc>
              <a:spcAft>
                <a:spcPts val="300"/>
              </a:spcAft>
            </a:pPr>
            <a:r>
              <a:rPr sz="750" b="1" i="0">
                <a:solidFill>
                  <a:srgbClr val="5E9A3C"/>
                </a:solidFill>
                <a:latin typeface="Montserrat"/>
              </a:rPr>
              <a:t>✓  </a:t>
            </a:r>
            <a:r>
              <a:rPr sz="1050" b="0" i="0">
                <a:solidFill>
                  <a:srgbClr val="2E2A36"/>
                </a:solidFill>
                <a:latin typeface="Montserrat"/>
              </a:rPr>
              <a:t>Permanencia de 3 años</a:t>
            </a:r>
          </a:p>
          <a:p>
            <a:pPr algn="l">
              <a:lnSpc>
                <a:spcPct val="115000"/>
              </a:lnSpc>
              <a:spcAft>
                <a:spcPts val="300"/>
              </a:spcAft>
            </a:pPr>
            <a:r>
              <a:rPr sz="750" b="1" i="0">
                <a:solidFill>
                  <a:srgbClr val="5E9A3C"/>
                </a:solidFill>
                <a:latin typeface="Montserrat"/>
              </a:rPr>
              <a:t>✓  </a:t>
            </a:r>
            <a:r>
              <a:rPr sz="1050" b="0" i="0">
                <a:solidFill>
                  <a:srgbClr val="2E2A36"/>
                </a:solidFill>
                <a:latin typeface="Montserrat"/>
              </a:rPr>
              <a:t>Placa memorial en el monumento al término del plazo (incluida)</a:t>
            </a:r>
          </a:p>
        </p:txBody>
      </p:sp>
      <p:sp>
        <p:nvSpPr>
          <p:cNvPr id="14" name="Rectangle 13"/>
          <p:cNvSpPr/>
          <p:nvPr/>
        </p:nvSpPr>
        <p:spPr>
          <a:xfrm>
            <a:off x="3872484" y="3108960"/>
            <a:ext cx="3186684" cy="242316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872484" y="3108960"/>
            <a:ext cx="3186684"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09644" y="3218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REGLAS DEL PRODUCTO</a:t>
            </a:r>
          </a:p>
        </p:txBody>
      </p:sp>
      <p:sp>
        <p:nvSpPr>
          <p:cNvPr id="17" name="TextBox 16"/>
          <p:cNvSpPr txBox="1"/>
          <p:nvPr/>
        </p:nvSpPr>
        <p:spPr>
          <a:xfrm>
            <a:off x="4009644" y="3493008"/>
            <a:ext cx="2912364" cy="1965960"/>
          </a:xfrm>
          <a:prstGeom prst="rect">
            <a:avLst/>
          </a:prstGeom>
          <a:noFill/>
        </p:spPr>
        <p:txBody>
          <a:bodyPr wrap="square" anchor="t" lIns="45720" rIns="45720" tIns="27432" bIns="27432">
            <a:spAutoFit/>
          </a:bodyPr>
          <a:lstStyle/>
          <a:p>
            <a:pPr algn="l">
              <a:lnSpc>
                <a:spcPct val="115000"/>
              </a:lnSpc>
              <a:spcAft>
                <a:spcPts val="300"/>
              </a:spcAft>
            </a:pPr>
            <a:r>
              <a:rPr sz="750" b="1" i="0">
                <a:solidFill>
                  <a:srgbClr val="C9A86A"/>
                </a:solidFill>
                <a:latin typeface="Montserrat"/>
              </a:rPr>
              <a:t>■  </a:t>
            </a:r>
            <a:r>
              <a:rPr sz="1050" b="0" i="0">
                <a:solidFill>
                  <a:srgbClr val="2E2A36"/>
                </a:solidFill>
                <a:latin typeface="Montserrat"/>
              </a:rPr>
              <a:t>Capacidad: 1 mascota por servicio.</a:t>
            </a:r>
          </a:p>
          <a:p>
            <a:pPr algn="l">
              <a:lnSpc>
                <a:spcPct val="115000"/>
              </a:lnSpc>
              <a:spcAft>
                <a:spcPts val="300"/>
              </a:spcAft>
            </a:pPr>
            <a:r>
              <a:rPr sz="750" b="1" i="0">
                <a:solidFill>
                  <a:srgbClr val="C9A86A"/>
                </a:solidFill>
                <a:latin typeface="Montserrat"/>
              </a:rPr>
              <a:t>■  </a:t>
            </a:r>
            <a:r>
              <a:rPr sz="1050" b="0" i="0">
                <a:solidFill>
                  <a:srgbClr val="2E2A36"/>
                </a:solidFill>
                <a:latin typeface="Montserrat"/>
              </a:rPr>
              <a:t>Permanencia: 3 años. Después, el espacio se reutiliza.</a:t>
            </a:r>
          </a:p>
          <a:p>
            <a:pPr algn="l">
              <a:lnSpc>
                <a:spcPct val="115000"/>
              </a:lnSpc>
              <a:spcAft>
                <a:spcPts val="300"/>
              </a:spcAft>
            </a:pPr>
            <a:r>
              <a:rPr sz="750" b="1" i="0">
                <a:solidFill>
                  <a:srgbClr val="C9A86A"/>
                </a:solidFill>
                <a:latin typeface="Montserrat"/>
              </a:rPr>
              <a:t>■  </a:t>
            </a:r>
            <a:r>
              <a:rPr sz="1050" b="0" i="0">
                <a:solidFill>
                  <a:srgbClr val="2E2A36"/>
                </a:solidFill>
                <a:latin typeface="Montserrat"/>
              </a:rPr>
              <a:t>Placa memorial incluida. Urna biodegradable incluida solo con cremación (US$ 550); con solo espacio (US$ 400) se compra aparte.</a:t>
            </a:r>
          </a:p>
          <a:p>
            <a:pPr algn="l">
              <a:lnSpc>
                <a:spcPct val="115000"/>
              </a:lnSpc>
              <a:spcAft>
                <a:spcPts val="300"/>
              </a:spcAft>
            </a:pPr>
            <a:r>
              <a:rPr sz="750" b="1" i="0">
                <a:solidFill>
                  <a:srgbClr val="C9A86A"/>
                </a:solidFill>
                <a:latin typeface="Montserrat"/>
              </a:rPr>
              <a:t>■  </a:t>
            </a:r>
            <a:r>
              <a:rPr sz="1050" b="0" i="0">
                <a:solidFill>
                  <a:srgbClr val="2E2A36"/>
                </a:solidFill>
                <a:latin typeface="Montserrat"/>
              </a:rPr>
              <a:t>Pago único; puede contratarse como adicional al plan funerario.</a:t>
            </a:r>
          </a:p>
        </p:txBody>
      </p:sp>
      <p:sp>
        <p:nvSpPr>
          <p:cNvPr id="18" name="Rectangle 17"/>
          <p:cNvSpPr/>
          <p:nvPr/>
        </p:nvSpPr>
        <p:spPr>
          <a:xfrm>
            <a:off x="502920" y="5669280"/>
            <a:ext cx="6556248" cy="128016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5669280"/>
            <a:ext cx="73152" cy="128016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715000"/>
            <a:ext cx="6190488"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SPEECH SUGERIDO</a:t>
            </a:r>
          </a:p>
        </p:txBody>
      </p:sp>
      <p:sp>
        <p:nvSpPr>
          <p:cNvPr id="21" name="TextBox 20"/>
          <p:cNvSpPr txBox="1"/>
          <p:nvPr/>
        </p:nvSpPr>
        <p:spPr>
          <a:xfrm>
            <a:off x="731520" y="5961888"/>
            <a:ext cx="6190488" cy="960120"/>
          </a:xfrm>
          <a:prstGeom prst="rect">
            <a:avLst/>
          </a:prstGeom>
          <a:noFill/>
        </p:spPr>
        <p:txBody>
          <a:bodyPr wrap="square" anchor="t" lIns="45720" rIns="45720" tIns="27432" bIns="27432">
            <a:spAutoFit/>
          </a:bodyPr>
          <a:lstStyle/>
          <a:p>
            <a:pPr algn="l">
              <a:lnSpc>
                <a:spcPct val="115000"/>
              </a:lnSpc>
              <a:spcAft>
                <a:spcPts val="400"/>
              </a:spcAft>
            </a:pPr>
            <a:r>
              <a:rPr sz="1100" b="0" i="1">
                <a:solidFill>
                  <a:srgbClr val="3E2A5C"/>
                </a:solidFill>
                <a:latin typeface="Playfair Display"/>
              </a:rPr>
              <a:t>"Su compañero fue parte de la familia, y merece una despedida a la altura. En nuestro Jardín de Mascotas descansa con su nombre, en un lugar verde donde ustedes pueden volver a recordarlo. Y con la placa memorial, su nombre queda para siempre en el monumento del jardín."</a:t>
            </a:r>
          </a:p>
        </p:txBody>
      </p:sp>
      <p:sp>
        <p:nvSpPr>
          <p:cNvPr id="22" name="Rectangle 21"/>
          <p:cNvSpPr/>
          <p:nvPr/>
        </p:nvSpPr>
        <p:spPr>
          <a:xfrm>
            <a:off x="502920" y="7086600"/>
            <a:ext cx="3186684" cy="16002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7086600"/>
            <a:ext cx="3186684"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719632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PREGUNTAS DE DESCUBRIMIENTO</a:t>
            </a:r>
          </a:p>
        </p:txBody>
      </p:sp>
      <p:sp>
        <p:nvSpPr>
          <p:cNvPr id="25" name="TextBox 24"/>
          <p:cNvSpPr txBox="1"/>
          <p:nvPr/>
        </p:nvSpPr>
        <p:spPr>
          <a:xfrm>
            <a:off x="640080" y="7470648"/>
            <a:ext cx="2912364" cy="1143000"/>
          </a:xfrm>
          <a:prstGeom prst="rect">
            <a:avLst/>
          </a:prstGeom>
          <a:noFill/>
        </p:spPr>
        <p:txBody>
          <a:bodyPr wrap="square" anchor="t" lIns="45720" rIns="45720" tIns="27432" bIns="27432">
            <a:spAutoFit/>
          </a:bodyPr>
          <a:lstStyle/>
          <a:p>
            <a:pPr algn="l">
              <a:lnSpc>
                <a:spcPct val="115000"/>
              </a:lnSpc>
              <a:spcAft>
                <a:spcPts val="300"/>
              </a:spcAft>
            </a:pPr>
            <a:r>
              <a:rPr sz="650" b="1" i="0">
                <a:solidFill>
                  <a:srgbClr val="C9A86A"/>
                </a:solidFill>
                <a:latin typeface="Montserrat"/>
              </a:rPr>
              <a:t>?  </a:t>
            </a:r>
            <a:r>
              <a:rPr sz="950" b="0" i="0">
                <a:solidFill>
                  <a:srgbClr val="2E2A36"/>
                </a:solidFill>
                <a:latin typeface="Montserrat"/>
              </a:rPr>
              <a:t>¿Cómo se llamaba su compañero?</a:t>
            </a:r>
          </a:p>
          <a:p>
            <a:pPr algn="l">
              <a:lnSpc>
                <a:spcPct val="115000"/>
              </a:lnSpc>
              <a:spcAft>
                <a:spcPts val="300"/>
              </a:spcAft>
            </a:pPr>
            <a:r>
              <a:rPr sz="650" b="1" i="0">
                <a:solidFill>
                  <a:srgbClr val="C9A86A"/>
                </a:solidFill>
                <a:latin typeface="Montserrat"/>
              </a:rPr>
              <a:t>?  </a:t>
            </a:r>
            <a:r>
              <a:rPr sz="950" b="0" i="0">
                <a:solidFill>
                  <a:srgbClr val="2E2A36"/>
                </a:solidFill>
                <a:latin typeface="Montserrat"/>
              </a:rPr>
              <a:t>¿Ya se realizó la cremación o necesitan también ese servicio?</a:t>
            </a:r>
          </a:p>
          <a:p>
            <a:pPr algn="l">
              <a:lnSpc>
                <a:spcPct val="115000"/>
              </a:lnSpc>
              <a:spcAft>
                <a:spcPts val="300"/>
              </a:spcAft>
            </a:pPr>
            <a:r>
              <a:rPr sz="650" b="1" i="0">
                <a:solidFill>
                  <a:srgbClr val="C9A86A"/>
                </a:solidFill>
                <a:latin typeface="Montserrat"/>
              </a:rPr>
              <a:t>?  </a:t>
            </a:r>
            <a:r>
              <a:rPr sz="950" b="0" i="0">
                <a:solidFill>
                  <a:srgbClr val="2E2A36"/>
                </a:solidFill>
                <a:latin typeface="Montserrat"/>
              </a:rPr>
              <a:t>¿Les gustaría un lugar para visitarlo con los niños?</a:t>
            </a:r>
          </a:p>
        </p:txBody>
      </p:sp>
      <p:sp>
        <p:nvSpPr>
          <p:cNvPr id="26" name="Rectangle 25"/>
          <p:cNvSpPr/>
          <p:nvPr/>
        </p:nvSpPr>
        <p:spPr>
          <a:xfrm>
            <a:off x="3872484" y="7086600"/>
            <a:ext cx="3186684" cy="1600200"/>
          </a:xfrm>
          <a:prstGeom prst="rect">
            <a:avLst/>
          </a:prstGeom>
          <a:solidFill>
            <a:srgbClr val="EE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72484" y="7086600"/>
            <a:ext cx="3186684" cy="64008"/>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09644" y="719632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FRASE DE CIERRE</a:t>
            </a:r>
          </a:p>
        </p:txBody>
      </p:sp>
      <p:sp>
        <p:nvSpPr>
          <p:cNvPr id="29" name="TextBox 28"/>
          <p:cNvSpPr txBox="1"/>
          <p:nvPr/>
        </p:nvSpPr>
        <p:spPr>
          <a:xfrm>
            <a:off x="4009644" y="7470648"/>
            <a:ext cx="2912364" cy="1143000"/>
          </a:xfrm>
          <a:prstGeom prst="rect">
            <a:avLst/>
          </a:prstGeom>
          <a:noFill/>
        </p:spPr>
        <p:txBody>
          <a:bodyPr wrap="square" anchor="t" lIns="45720" rIns="45720" tIns="27432" bIns="27432">
            <a:spAutoFit/>
          </a:bodyPr>
          <a:lstStyle/>
          <a:p>
            <a:pPr algn="l">
              <a:lnSpc>
                <a:spcPct val="115000"/>
              </a:lnSpc>
              <a:spcAft>
                <a:spcPts val="300"/>
              </a:spcAft>
            </a:pPr>
            <a:r>
              <a:rPr sz="1050" b="0" i="0">
                <a:solidFill>
                  <a:srgbClr val="2E2A36"/>
                </a:solidFill>
                <a:latin typeface="Montserrat"/>
              </a:rPr>
              <a:t>"¿Prefieren la opción con cremación incluida, para resolver todo en un solo paso?"</a:t>
            </a:r>
          </a:p>
        </p:txBody>
      </p:sp>
      <p:sp>
        <p:nvSpPr>
          <p:cNvPr id="30" name="Rectangle 29"/>
          <p:cNvSpPr/>
          <p:nvPr/>
        </p:nvSpPr>
        <p:spPr>
          <a:xfrm>
            <a:off x="502920" y="8823960"/>
            <a:ext cx="3186684" cy="1325880"/>
          </a:xfrm>
          <a:prstGeom prst="rect">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2920" y="8823960"/>
            <a:ext cx="3186684" cy="6400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8933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OBJECIÓN TÍPICA</a:t>
            </a:r>
          </a:p>
        </p:txBody>
      </p:sp>
      <p:sp>
        <p:nvSpPr>
          <p:cNvPr id="33" name="TextBox 32"/>
          <p:cNvSpPr txBox="1"/>
          <p:nvPr/>
        </p:nvSpPr>
        <p:spPr>
          <a:xfrm>
            <a:off x="640080" y="9208008"/>
            <a:ext cx="2912364" cy="868680"/>
          </a:xfrm>
          <a:prstGeom prst="rect">
            <a:avLst/>
          </a:prstGeom>
          <a:noFill/>
        </p:spPr>
        <p:txBody>
          <a:bodyPr wrap="square" anchor="t" lIns="45720" rIns="45720" tIns="27432" bIns="27432">
            <a:spAutoFit/>
          </a:bodyPr>
          <a:lstStyle/>
          <a:p>
            <a:pPr algn="l">
              <a:lnSpc>
                <a:spcPct val="115000"/>
              </a:lnSpc>
              <a:spcAft>
                <a:spcPts val="300"/>
              </a:spcAft>
            </a:pPr>
            <a:r>
              <a:rPr sz="900" b="0" i="0">
                <a:solidFill>
                  <a:srgbClr val="2E2A36"/>
                </a:solidFill>
                <a:latin typeface="Montserrat"/>
              </a:rPr>
              <a:t>"Es solo una mascota." → No discuta el vínculo de la familia. Si el cliente minimiza, respete y ofrezca la información por escrito para que decida con calma.</a:t>
            </a:r>
          </a:p>
        </p:txBody>
      </p:sp>
      <p:sp>
        <p:nvSpPr>
          <p:cNvPr id="34" name="Rectangle 33"/>
          <p:cNvSpPr/>
          <p:nvPr/>
        </p:nvSpPr>
        <p:spPr>
          <a:xfrm>
            <a:off x="3872484" y="8823960"/>
            <a:ext cx="3186684" cy="1325880"/>
          </a:xfrm>
          <a:prstGeom prst="rect">
            <a:avLst/>
          </a:prstGeom>
          <a:solidFill>
            <a:srgbClr val="ED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872484" y="8823960"/>
            <a:ext cx="3186684" cy="64008"/>
          </a:xfrm>
          <a:prstGeom prst="rect">
            <a:avLst/>
          </a:prstGeom>
          <a:solidFill>
            <a:srgbClr val="6F8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09644" y="8933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TIP DEL ASESOR</a:t>
            </a:r>
          </a:p>
        </p:txBody>
      </p:sp>
      <p:sp>
        <p:nvSpPr>
          <p:cNvPr id="37" name="TextBox 36"/>
          <p:cNvSpPr txBox="1"/>
          <p:nvPr/>
        </p:nvSpPr>
        <p:spPr>
          <a:xfrm>
            <a:off x="4009644" y="9208008"/>
            <a:ext cx="2912364" cy="868680"/>
          </a:xfrm>
          <a:prstGeom prst="rect">
            <a:avLst/>
          </a:prstGeom>
          <a:noFill/>
        </p:spPr>
        <p:txBody>
          <a:bodyPr wrap="square" anchor="t" lIns="45720" rIns="45720" tIns="27432" bIns="27432">
            <a:spAutoFit/>
          </a:bodyPr>
          <a:lstStyle/>
          <a:p>
            <a:pPr algn="l">
              <a:lnSpc>
                <a:spcPct val="115000"/>
              </a:lnSpc>
              <a:spcAft>
                <a:spcPts val="300"/>
              </a:spcAft>
            </a:pPr>
            <a:r>
              <a:rPr sz="1050" b="0" i="0">
                <a:solidFill>
                  <a:srgbClr val="2E2A36"/>
                </a:solidFill>
                <a:latin typeface="Montserrat"/>
              </a:rPr>
              <a:t>Llame a la mascota por su nombre durante toda la conversación.</a:t>
            </a:r>
          </a:p>
        </p:txBody>
      </p:sp>
      <p:sp>
        <p:nvSpPr>
          <p:cNvPr id="38" name="TextBox 37"/>
          <p:cNvSpPr txBox="1"/>
          <p:nvPr/>
        </p:nvSpPr>
        <p:spPr>
          <a:xfrm>
            <a:off x="502920" y="10277856"/>
            <a:ext cx="5641848"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39" name="TextBox 38"/>
          <p:cNvSpPr txBox="1"/>
          <p:nvPr/>
        </p:nvSpPr>
        <p:spPr>
          <a:xfrm>
            <a:off x="6144768" y="10277856"/>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562088" cy="1463040"/>
          </a:xfrm>
          <a:prstGeom prst="rect">
            <a:avLst/>
          </a:prstGeom>
          <a:solidFill>
            <a:srgbClr val="8E87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0"/>
            <a:ext cx="7562088"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4206240"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C9A86A"/>
                </a:solidFill>
                <a:latin typeface="Montserrat"/>
              </a:rPr>
              <a:t>JARDÍN 3 · PRÓXIMO LANZAMIENTO</a:t>
            </a:r>
          </a:p>
        </p:txBody>
      </p:sp>
      <p:sp>
        <p:nvSpPr>
          <p:cNvPr id="5" name="TextBox 4"/>
          <p:cNvSpPr txBox="1"/>
          <p:nvPr/>
        </p:nvSpPr>
        <p:spPr>
          <a:xfrm>
            <a:off x="502920" y="502920"/>
            <a:ext cx="4206240" cy="868680"/>
          </a:xfrm>
          <a:prstGeom prst="rect">
            <a:avLst/>
          </a:prstGeom>
          <a:noFill/>
        </p:spPr>
        <p:txBody>
          <a:bodyPr wrap="square" anchor="t" lIns="45720" rIns="45720" tIns="27432" bIns="27432">
            <a:spAutoFit/>
          </a:bodyPr>
          <a:lstStyle/>
          <a:p>
            <a:pPr algn="l">
              <a:lnSpc>
                <a:spcPct val="100000"/>
              </a:lnSpc>
              <a:spcAft>
                <a:spcPts val="400"/>
              </a:spcAft>
            </a:pPr>
            <a:r>
              <a:rPr sz="2100" b="1" i="0">
                <a:solidFill>
                  <a:srgbClr val="FFFFFF"/>
                </a:solidFill>
                <a:latin typeface="Playfair Display"/>
              </a:rPr>
              <a:t>Jardín de Cenizas · Ceremonial</a:t>
            </a:r>
          </a:p>
        </p:txBody>
      </p:sp>
      <p:sp>
        <p:nvSpPr>
          <p:cNvPr id="6" name="TextBox 5"/>
          <p:cNvSpPr txBox="1"/>
          <p:nvPr/>
        </p:nvSpPr>
        <p:spPr>
          <a:xfrm>
            <a:off x="4663440" y="228600"/>
            <a:ext cx="2395728" cy="274320"/>
          </a:xfrm>
          <a:prstGeom prst="rect">
            <a:avLst/>
          </a:prstGeom>
          <a:noFill/>
        </p:spPr>
        <p:txBody>
          <a:bodyPr wrap="square" anchor="t" lIns="45720" rIns="45720" tIns="27432" bIns="27432">
            <a:spAutoFit/>
          </a:bodyPr>
          <a:lstStyle/>
          <a:p>
            <a:pPr algn="r">
              <a:lnSpc>
                <a:spcPct val="115000"/>
              </a:lnSpc>
              <a:spcAft>
                <a:spcPts val="400"/>
              </a:spcAft>
            </a:pPr>
            <a:r>
              <a:rPr sz="950" b="1" i="0">
                <a:solidFill>
                  <a:srgbClr val="C9A86A"/>
                </a:solidFill>
                <a:latin typeface="Montserrat"/>
              </a:rPr>
              <a:t>PRÓXIMO LANZAMIENTO</a:t>
            </a:r>
          </a:p>
        </p:txBody>
      </p:sp>
      <p:sp>
        <p:nvSpPr>
          <p:cNvPr id="7" name="TextBox 6"/>
          <p:cNvSpPr txBox="1"/>
          <p:nvPr/>
        </p:nvSpPr>
        <p:spPr>
          <a:xfrm>
            <a:off x="4663440" y="502920"/>
            <a:ext cx="2395728" cy="868680"/>
          </a:xfrm>
          <a:prstGeom prst="rect">
            <a:avLst/>
          </a:prstGeom>
          <a:noFill/>
        </p:spPr>
        <p:txBody>
          <a:bodyPr wrap="square" anchor="ctr" lIns="45720" rIns="45720" tIns="27432" bIns="27432">
            <a:spAutoFit/>
          </a:bodyPr>
          <a:lstStyle/>
          <a:p>
            <a:pPr algn="r">
              <a:lnSpc>
                <a:spcPct val="115000"/>
              </a:lnSpc>
              <a:spcAft>
                <a:spcPts val="400"/>
              </a:spcAft>
            </a:pPr>
            <a:r>
              <a:rPr sz="2600" b="1" i="0">
                <a:solidFill>
                  <a:srgbClr val="FFFFFF"/>
                </a:solidFill>
                <a:latin typeface="Montserrat"/>
              </a:rPr>
              <a:t>A definir</a:t>
            </a:r>
          </a:p>
        </p:txBody>
      </p:sp>
      <p:sp>
        <p:nvSpPr>
          <p:cNvPr id="8" name="TextBox 7"/>
          <p:cNvSpPr txBox="1"/>
          <p:nvPr/>
        </p:nvSpPr>
        <p:spPr>
          <a:xfrm>
            <a:off x="502920" y="1627632"/>
            <a:ext cx="6556248" cy="320040"/>
          </a:xfrm>
          <a:prstGeom prst="rect">
            <a:avLst/>
          </a:prstGeom>
          <a:noFill/>
        </p:spPr>
        <p:txBody>
          <a:bodyPr wrap="square" anchor="t" lIns="45720" rIns="45720" tIns="27432" bIns="27432">
            <a:spAutoFit/>
          </a:bodyPr>
          <a:lstStyle/>
          <a:p>
            <a:pPr algn="l">
              <a:lnSpc>
                <a:spcPct val="115000"/>
              </a:lnSpc>
              <a:spcAft>
                <a:spcPts val="400"/>
              </a:spcAft>
            </a:pPr>
            <a:r>
              <a:rPr sz="1100" b="0" i="1">
                <a:solidFill>
                  <a:srgbClr val="7D7887"/>
                </a:solidFill>
                <a:latin typeface="Montserrat"/>
              </a:rPr>
              <a:t>A definir</a:t>
            </a:r>
          </a:p>
        </p:txBody>
      </p:sp>
      <p:sp>
        <p:nvSpPr>
          <p:cNvPr id="9" name="TextBox 8"/>
          <p:cNvSpPr txBox="1"/>
          <p:nvPr/>
        </p:nvSpPr>
        <p:spPr>
          <a:xfrm>
            <a:off x="502920" y="1993392"/>
            <a:ext cx="6556248" cy="10515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Qué es.  </a:t>
            </a:r>
            <a:r>
              <a:rPr sz="1100" b="0" i="0">
                <a:solidFill>
                  <a:srgbClr val="2E2A36"/>
                </a:solidFill>
                <a:latin typeface="Montserrat"/>
              </a:rPr>
              <a:t>Jardín para inhumación de urnas con ceremonia de agua, con fuentes como elemento central del rito de despedida.</a:t>
            </a:r>
          </a:p>
          <a:p>
            <a:pPr algn="l">
              <a:lnSpc>
                <a:spcPct val="115000"/>
              </a:lnSpc>
              <a:spcAft>
                <a:spcPts val="400"/>
              </a:spcAft>
            </a:pPr>
            <a:r>
              <a:rPr sz="1100" b="1" i="0">
                <a:solidFill>
                  <a:srgbClr val="5B3F80"/>
                </a:solidFill>
                <a:latin typeface="Montserrat"/>
              </a:rPr>
              <a:t>Para quién.  </a:t>
            </a:r>
            <a:r>
              <a:rPr sz="1100" b="0" i="0">
                <a:solidFill>
                  <a:srgbClr val="2E2A36"/>
                </a:solidFill>
                <a:latin typeface="Montserrat"/>
              </a:rPr>
              <a:t>Familias que valoran un rito de despedida simbólico y un entorno contemplativo.</a:t>
            </a:r>
          </a:p>
        </p:txBody>
      </p:sp>
      <p:sp>
        <p:nvSpPr>
          <p:cNvPr id="10" name="Rectangle 9"/>
          <p:cNvSpPr/>
          <p:nvPr/>
        </p:nvSpPr>
        <p:spPr>
          <a:xfrm>
            <a:off x="502920" y="3108960"/>
            <a:ext cx="3186684" cy="242316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108960"/>
            <a:ext cx="3186684" cy="64008"/>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218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QUÉ INCLUYE</a:t>
            </a:r>
          </a:p>
        </p:txBody>
      </p:sp>
      <p:sp>
        <p:nvSpPr>
          <p:cNvPr id="13" name="TextBox 12"/>
          <p:cNvSpPr txBox="1"/>
          <p:nvPr/>
        </p:nvSpPr>
        <p:spPr>
          <a:xfrm>
            <a:off x="640080" y="3493008"/>
            <a:ext cx="2912364" cy="1965960"/>
          </a:xfrm>
          <a:prstGeom prst="rect">
            <a:avLst/>
          </a:prstGeom>
          <a:noFill/>
        </p:spPr>
        <p:txBody>
          <a:bodyPr wrap="square" anchor="t" lIns="45720" rIns="45720" tIns="27432" bIns="27432">
            <a:spAutoFit/>
          </a:bodyPr>
          <a:lstStyle/>
          <a:p>
            <a:pPr algn="l">
              <a:lnSpc>
                <a:spcPct val="115000"/>
              </a:lnSpc>
              <a:spcAft>
                <a:spcPts val="300"/>
              </a:spcAft>
            </a:pPr>
            <a:r>
              <a:rPr sz="750" b="1" i="0">
                <a:solidFill>
                  <a:srgbClr val="5E9A3C"/>
                </a:solidFill>
                <a:latin typeface="Montserrat"/>
              </a:rPr>
              <a:t>✓  </a:t>
            </a:r>
            <a:r>
              <a:rPr sz="1050" b="0" i="0">
                <a:solidFill>
                  <a:srgbClr val="2E2A36"/>
                </a:solidFill>
                <a:latin typeface="Montserrat"/>
              </a:rPr>
              <a:t>Inhumación de urnas de cenizas</a:t>
            </a:r>
          </a:p>
          <a:p>
            <a:pPr algn="l">
              <a:lnSpc>
                <a:spcPct val="115000"/>
              </a:lnSpc>
              <a:spcAft>
                <a:spcPts val="300"/>
              </a:spcAft>
            </a:pPr>
            <a:r>
              <a:rPr sz="750" b="1" i="0">
                <a:solidFill>
                  <a:srgbClr val="5E9A3C"/>
                </a:solidFill>
                <a:latin typeface="Montserrat"/>
              </a:rPr>
              <a:t>✓  </a:t>
            </a:r>
            <a:r>
              <a:rPr sz="1050" b="0" i="0">
                <a:solidFill>
                  <a:srgbClr val="2E2A36"/>
                </a:solidFill>
                <a:latin typeface="Montserrat"/>
              </a:rPr>
              <a:t>Ceremonia con agua en fuente</a:t>
            </a:r>
          </a:p>
          <a:p>
            <a:pPr algn="l">
              <a:lnSpc>
                <a:spcPct val="115000"/>
              </a:lnSpc>
              <a:spcAft>
                <a:spcPts val="300"/>
              </a:spcAft>
            </a:pPr>
            <a:r>
              <a:rPr sz="750" b="1" i="0">
                <a:solidFill>
                  <a:srgbClr val="5E9A3C"/>
                </a:solidFill>
                <a:latin typeface="Montserrat"/>
              </a:rPr>
              <a:t>✓  </a:t>
            </a:r>
            <a:r>
              <a:rPr sz="1050" b="0" i="0">
                <a:solidFill>
                  <a:srgbClr val="2E2A36"/>
                </a:solidFill>
                <a:latin typeface="Montserrat"/>
              </a:rPr>
              <a:t>Barrera visual que separa el jardín del crematorio</a:t>
            </a:r>
          </a:p>
        </p:txBody>
      </p:sp>
      <p:sp>
        <p:nvSpPr>
          <p:cNvPr id="14" name="Rectangle 13"/>
          <p:cNvSpPr/>
          <p:nvPr/>
        </p:nvSpPr>
        <p:spPr>
          <a:xfrm>
            <a:off x="3872484" y="3108960"/>
            <a:ext cx="3186684" cy="242316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872484" y="3108960"/>
            <a:ext cx="3186684"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09644" y="3218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REGLAS DEL PRODUCTO</a:t>
            </a:r>
          </a:p>
        </p:txBody>
      </p:sp>
      <p:sp>
        <p:nvSpPr>
          <p:cNvPr id="17" name="TextBox 16"/>
          <p:cNvSpPr txBox="1"/>
          <p:nvPr/>
        </p:nvSpPr>
        <p:spPr>
          <a:xfrm>
            <a:off x="4009644" y="3493008"/>
            <a:ext cx="2912364" cy="1965960"/>
          </a:xfrm>
          <a:prstGeom prst="rect">
            <a:avLst/>
          </a:prstGeom>
          <a:noFill/>
        </p:spPr>
        <p:txBody>
          <a:bodyPr wrap="square" anchor="t" lIns="45720" rIns="45720" tIns="27432" bIns="27432">
            <a:spAutoFit/>
          </a:bodyPr>
          <a:lstStyle/>
          <a:p>
            <a:pPr algn="l">
              <a:lnSpc>
                <a:spcPct val="115000"/>
              </a:lnSpc>
              <a:spcAft>
                <a:spcPts val="300"/>
              </a:spcAft>
            </a:pPr>
            <a:r>
              <a:rPr sz="750" b="1" i="0">
                <a:solidFill>
                  <a:srgbClr val="C9A86A"/>
                </a:solidFill>
                <a:latin typeface="Montserrat"/>
              </a:rPr>
              <a:t>■  </a:t>
            </a:r>
            <a:r>
              <a:rPr sz="1050" b="0" i="0">
                <a:solidFill>
                  <a:srgbClr val="2E2A36"/>
                </a:solidFill>
                <a:latin typeface="Montserrat"/>
              </a:rPr>
              <a:t>PRÓXIMO LANZAMIENTO: no se vende ni se cotiza todavía.</a:t>
            </a:r>
          </a:p>
          <a:p>
            <a:pPr algn="l">
              <a:lnSpc>
                <a:spcPct val="115000"/>
              </a:lnSpc>
              <a:spcAft>
                <a:spcPts val="300"/>
              </a:spcAft>
            </a:pPr>
            <a:r>
              <a:rPr sz="750" b="1" i="0">
                <a:solidFill>
                  <a:srgbClr val="C9A86A"/>
                </a:solidFill>
                <a:latin typeface="Montserrat"/>
              </a:rPr>
              <a:t>■  </a:t>
            </a:r>
            <a:r>
              <a:rPr sz="1050" b="0" i="0">
                <a:solidFill>
                  <a:srgbClr val="2E2A36"/>
                </a:solidFill>
                <a:latin typeface="Montserrat"/>
              </a:rPr>
              <a:t>Si un cliente muestra interés, registre su contacto como "interesado Ceremonial".</a:t>
            </a:r>
          </a:p>
        </p:txBody>
      </p:sp>
      <p:sp>
        <p:nvSpPr>
          <p:cNvPr id="18" name="Rectangle 17"/>
          <p:cNvSpPr/>
          <p:nvPr/>
        </p:nvSpPr>
        <p:spPr>
          <a:xfrm>
            <a:off x="502920" y="5669280"/>
            <a:ext cx="6556248" cy="128016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5669280"/>
            <a:ext cx="73152" cy="128016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715000"/>
            <a:ext cx="6190488"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SPEECH SUGERIDO</a:t>
            </a:r>
          </a:p>
        </p:txBody>
      </p:sp>
      <p:sp>
        <p:nvSpPr>
          <p:cNvPr id="21" name="TextBox 20"/>
          <p:cNvSpPr txBox="1"/>
          <p:nvPr/>
        </p:nvSpPr>
        <p:spPr>
          <a:xfrm>
            <a:off x="731520" y="5961888"/>
            <a:ext cx="6190488" cy="960120"/>
          </a:xfrm>
          <a:prstGeom prst="rect">
            <a:avLst/>
          </a:prstGeom>
          <a:noFill/>
        </p:spPr>
        <p:txBody>
          <a:bodyPr wrap="square" anchor="t" lIns="45720" rIns="45720" tIns="27432" bIns="27432">
            <a:spAutoFit/>
          </a:bodyPr>
          <a:lstStyle/>
          <a:p>
            <a:pPr algn="l">
              <a:lnSpc>
                <a:spcPct val="115000"/>
              </a:lnSpc>
              <a:spcAft>
                <a:spcPts val="400"/>
              </a:spcAft>
            </a:pPr>
            <a:r>
              <a:rPr sz="1100" b="0" i="1">
                <a:solidFill>
                  <a:srgbClr val="3E2A5C"/>
                </a:solidFill>
                <a:latin typeface="Playfair Display"/>
              </a:rPr>
              <a:t>"Estamos preparando un nuevo jardín con una ceremonia de agua muy especial. Si le interesa, con gusto le aviso apenas esté disponible."</a:t>
            </a:r>
          </a:p>
        </p:txBody>
      </p:sp>
      <p:sp>
        <p:nvSpPr>
          <p:cNvPr id="22" name="Rectangle 21"/>
          <p:cNvSpPr/>
          <p:nvPr/>
        </p:nvSpPr>
        <p:spPr>
          <a:xfrm>
            <a:off x="502920" y="7086600"/>
            <a:ext cx="3186684" cy="16002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7086600"/>
            <a:ext cx="3186684"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719632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PREGUNTAS DE DESCUBRIMIENTO</a:t>
            </a:r>
          </a:p>
        </p:txBody>
      </p:sp>
      <p:sp>
        <p:nvSpPr>
          <p:cNvPr id="25" name="TextBox 24"/>
          <p:cNvSpPr txBox="1"/>
          <p:nvPr/>
        </p:nvSpPr>
        <p:spPr>
          <a:xfrm>
            <a:off x="640080" y="7470648"/>
            <a:ext cx="2912364" cy="1143000"/>
          </a:xfrm>
          <a:prstGeom prst="rect">
            <a:avLst/>
          </a:prstGeom>
          <a:noFill/>
        </p:spPr>
        <p:txBody>
          <a:bodyPr wrap="square" anchor="t" lIns="45720" rIns="45720" tIns="27432" bIns="27432">
            <a:spAutoFit/>
          </a:bodyPr>
          <a:lstStyle/>
          <a:p>
            <a:pPr algn="l">
              <a:lnSpc>
                <a:spcPct val="115000"/>
              </a:lnSpc>
              <a:spcAft>
                <a:spcPts val="300"/>
              </a:spcAft>
            </a:pPr>
            <a:r>
              <a:rPr sz="650" b="1" i="0">
                <a:solidFill>
                  <a:srgbClr val="C9A86A"/>
                </a:solidFill>
                <a:latin typeface="Montserrat"/>
              </a:rPr>
              <a:t>?  </a:t>
            </a:r>
            <a:r>
              <a:rPr sz="950" b="0" i="0">
                <a:solidFill>
                  <a:srgbClr val="2E2A36"/>
                </a:solidFill>
                <a:latin typeface="Montserrat"/>
              </a:rPr>
              <a:t>¿Le gustaría que le avisemos cuando esté disponible?</a:t>
            </a:r>
          </a:p>
        </p:txBody>
      </p:sp>
      <p:sp>
        <p:nvSpPr>
          <p:cNvPr id="26" name="Rectangle 25"/>
          <p:cNvSpPr/>
          <p:nvPr/>
        </p:nvSpPr>
        <p:spPr>
          <a:xfrm>
            <a:off x="3872484" y="7086600"/>
            <a:ext cx="3186684" cy="1600200"/>
          </a:xfrm>
          <a:prstGeom prst="rect">
            <a:avLst/>
          </a:prstGeom>
          <a:solidFill>
            <a:srgbClr val="EE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72484" y="7086600"/>
            <a:ext cx="3186684" cy="64008"/>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09644" y="719632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FRASE DE CIERRE</a:t>
            </a:r>
          </a:p>
        </p:txBody>
      </p:sp>
      <p:sp>
        <p:nvSpPr>
          <p:cNvPr id="29" name="TextBox 28"/>
          <p:cNvSpPr txBox="1"/>
          <p:nvPr/>
        </p:nvSpPr>
        <p:spPr>
          <a:xfrm>
            <a:off x="4009644" y="7470648"/>
            <a:ext cx="2912364" cy="1143000"/>
          </a:xfrm>
          <a:prstGeom prst="rect">
            <a:avLst/>
          </a:prstGeom>
          <a:noFill/>
        </p:spPr>
        <p:txBody>
          <a:bodyPr wrap="square" anchor="t" lIns="45720" rIns="45720" tIns="27432" bIns="27432">
            <a:spAutoFit/>
          </a:bodyPr>
          <a:lstStyle/>
          <a:p>
            <a:pPr algn="l">
              <a:lnSpc>
                <a:spcPct val="115000"/>
              </a:lnSpc>
              <a:spcAft>
                <a:spcPts val="300"/>
              </a:spcAft>
            </a:pPr>
            <a:r>
              <a:rPr sz="1050" b="0" i="0">
                <a:solidFill>
                  <a:srgbClr val="2E2A36"/>
                </a:solidFill>
                <a:latin typeface="Montserrat"/>
              </a:rPr>
              <a:t>Registrar el interés y ofrecer, mientras tanto, el Jardín Individual o el Ecológico.</a:t>
            </a:r>
          </a:p>
        </p:txBody>
      </p:sp>
      <p:sp>
        <p:nvSpPr>
          <p:cNvPr id="30" name="Rectangle 29"/>
          <p:cNvSpPr/>
          <p:nvPr/>
        </p:nvSpPr>
        <p:spPr>
          <a:xfrm>
            <a:off x="502920" y="8823960"/>
            <a:ext cx="3186684" cy="1325880"/>
          </a:xfrm>
          <a:prstGeom prst="rect">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2920" y="8823960"/>
            <a:ext cx="3186684" cy="6400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8933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OBJECIÓN TÍPICA</a:t>
            </a:r>
          </a:p>
        </p:txBody>
      </p:sp>
      <p:sp>
        <p:nvSpPr>
          <p:cNvPr id="33" name="TextBox 32"/>
          <p:cNvSpPr txBox="1"/>
          <p:nvPr/>
        </p:nvSpPr>
        <p:spPr>
          <a:xfrm>
            <a:off x="640080" y="9208008"/>
            <a:ext cx="2912364" cy="868680"/>
          </a:xfrm>
          <a:prstGeom prst="rect">
            <a:avLst/>
          </a:prstGeom>
          <a:noFill/>
        </p:spPr>
        <p:txBody>
          <a:bodyPr wrap="square" anchor="t" lIns="45720" rIns="45720" tIns="27432" bIns="27432">
            <a:spAutoFit/>
          </a:bodyPr>
          <a:lstStyle/>
          <a:p>
            <a:pPr algn="l">
              <a:lnSpc>
                <a:spcPct val="115000"/>
              </a:lnSpc>
              <a:spcAft>
                <a:spcPts val="300"/>
              </a:spcAft>
            </a:pPr>
            <a:r>
              <a:rPr sz="900" b="0" i="0">
                <a:solidFill>
                  <a:srgbClr val="2E2A36"/>
                </a:solidFill>
                <a:latin typeface="Montserrat"/>
              </a:rPr>
              <a:t>No aplica todavía.</a:t>
            </a:r>
          </a:p>
        </p:txBody>
      </p:sp>
      <p:sp>
        <p:nvSpPr>
          <p:cNvPr id="34" name="Rectangle 33"/>
          <p:cNvSpPr/>
          <p:nvPr/>
        </p:nvSpPr>
        <p:spPr>
          <a:xfrm>
            <a:off x="3872484" y="8823960"/>
            <a:ext cx="3186684" cy="1325880"/>
          </a:xfrm>
          <a:prstGeom prst="rect">
            <a:avLst/>
          </a:prstGeom>
          <a:solidFill>
            <a:srgbClr val="ED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872484" y="8823960"/>
            <a:ext cx="3186684" cy="64008"/>
          </a:xfrm>
          <a:prstGeom prst="rect">
            <a:avLst/>
          </a:prstGeom>
          <a:solidFill>
            <a:srgbClr val="6F8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09644" y="8933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TIP DEL ASESOR</a:t>
            </a:r>
          </a:p>
        </p:txBody>
      </p:sp>
      <p:sp>
        <p:nvSpPr>
          <p:cNvPr id="37" name="TextBox 36"/>
          <p:cNvSpPr txBox="1"/>
          <p:nvPr/>
        </p:nvSpPr>
        <p:spPr>
          <a:xfrm>
            <a:off x="4009644" y="9208008"/>
            <a:ext cx="2912364" cy="868680"/>
          </a:xfrm>
          <a:prstGeom prst="rect">
            <a:avLst/>
          </a:prstGeom>
          <a:noFill/>
        </p:spPr>
        <p:txBody>
          <a:bodyPr wrap="square" anchor="t" lIns="45720" rIns="45720" tIns="27432" bIns="27432">
            <a:spAutoFit/>
          </a:bodyPr>
          <a:lstStyle/>
          <a:p>
            <a:pPr algn="l">
              <a:lnSpc>
                <a:spcPct val="115000"/>
              </a:lnSpc>
              <a:spcAft>
                <a:spcPts val="300"/>
              </a:spcAft>
            </a:pPr>
            <a:r>
              <a:rPr sz="1050" b="0" i="0">
                <a:solidFill>
                  <a:srgbClr val="2E2A36"/>
                </a:solidFill>
                <a:latin typeface="Montserrat"/>
              </a:rPr>
              <a:t>No prometa fechas ni precios.</a:t>
            </a:r>
          </a:p>
        </p:txBody>
      </p:sp>
      <p:sp>
        <p:nvSpPr>
          <p:cNvPr id="38" name="TextBox 37"/>
          <p:cNvSpPr txBox="1"/>
          <p:nvPr/>
        </p:nvSpPr>
        <p:spPr>
          <a:xfrm>
            <a:off x="502920" y="10277856"/>
            <a:ext cx="5641848"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39" name="TextBox 38"/>
          <p:cNvSpPr txBox="1"/>
          <p:nvPr/>
        </p:nvSpPr>
        <p:spPr>
          <a:xfrm>
            <a:off x="6144768" y="10277856"/>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562088" cy="146304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0"/>
            <a:ext cx="7562088"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4206240"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C9A86A"/>
                </a:solidFill>
                <a:latin typeface="Montserrat"/>
              </a:rPr>
              <a:t>HOGAR DE LAS MEMORIAS · SERVICIO COMPLETO</a:t>
            </a:r>
          </a:p>
        </p:txBody>
      </p:sp>
      <p:sp>
        <p:nvSpPr>
          <p:cNvPr id="5" name="TextBox 4"/>
          <p:cNvSpPr txBox="1"/>
          <p:nvPr/>
        </p:nvSpPr>
        <p:spPr>
          <a:xfrm>
            <a:off x="502920" y="502920"/>
            <a:ext cx="4206240" cy="868680"/>
          </a:xfrm>
          <a:prstGeom prst="rect">
            <a:avLst/>
          </a:prstGeom>
          <a:noFill/>
        </p:spPr>
        <p:txBody>
          <a:bodyPr wrap="square" anchor="t" lIns="45720" rIns="45720" tIns="27432" bIns="27432">
            <a:spAutoFit/>
          </a:bodyPr>
          <a:lstStyle/>
          <a:p>
            <a:pPr algn="l">
              <a:lnSpc>
                <a:spcPct val="100000"/>
              </a:lnSpc>
              <a:spcAft>
                <a:spcPts val="400"/>
              </a:spcAft>
            </a:pPr>
            <a:r>
              <a:rPr sz="2100" b="1" i="0">
                <a:solidFill>
                  <a:srgbClr val="FFFFFF"/>
                </a:solidFill>
                <a:latin typeface="Playfair Display"/>
              </a:rPr>
              <a:t>Columbario Supremo Plus</a:t>
            </a:r>
          </a:p>
        </p:txBody>
      </p:sp>
      <p:sp>
        <p:nvSpPr>
          <p:cNvPr id="6" name="TextBox 5"/>
          <p:cNvSpPr txBox="1"/>
          <p:nvPr/>
        </p:nvSpPr>
        <p:spPr>
          <a:xfrm>
            <a:off x="4663440" y="228600"/>
            <a:ext cx="2395728" cy="274320"/>
          </a:xfrm>
          <a:prstGeom prst="rect">
            <a:avLst/>
          </a:prstGeom>
          <a:noFill/>
        </p:spPr>
        <p:txBody>
          <a:bodyPr wrap="square" anchor="t" lIns="45720" rIns="45720" tIns="27432" bIns="27432">
            <a:spAutoFit/>
          </a:bodyPr>
          <a:lstStyle/>
          <a:p>
            <a:pPr algn="r">
              <a:lnSpc>
                <a:spcPct val="115000"/>
              </a:lnSpc>
              <a:spcAft>
                <a:spcPts val="400"/>
              </a:spcAft>
            </a:pPr>
            <a:r>
              <a:rPr sz="950" b="1" i="0">
                <a:solidFill>
                  <a:srgbClr val="C9A86A"/>
                </a:solidFill>
                <a:latin typeface="Montserrat"/>
              </a:rPr>
              <a:t>PRECIO SEGÚN UBICACIÓN</a:t>
            </a:r>
          </a:p>
        </p:txBody>
      </p:sp>
      <p:sp>
        <p:nvSpPr>
          <p:cNvPr id="7" name="TextBox 6"/>
          <p:cNvSpPr txBox="1"/>
          <p:nvPr/>
        </p:nvSpPr>
        <p:spPr>
          <a:xfrm>
            <a:off x="4663440" y="502920"/>
            <a:ext cx="2395728" cy="868680"/>
          </a:xfrm>
          <a:prstGeom prst="rect">
            <a:avLst/>
          </a:prstGeom>
          <a:noFill/>
        </p:spPr>
        <p:txBody>
          <a:bodyPr wrap="square" anchor="ctr" lIns="45720" rIns="45720" tIns="27432" bIns="27432">
            <a:spAutoFit/>
          </a:bodyPr>
          <a:lstStyle/>
          <a:p>
            <a:pPr algn="r">
              <a:lnSpc>
                <a:spcPct val="115000"/>
              </a:lnSpc>
              <a:spcAft>
                <a:spcPts val="400"/>
              </a:spcAft>
            </a:pPr>
            <a:r>
              <a:rPr sz="1900" b="1" i="0">
                <a:solidFill>
                  <a:srgbClr val="FFFFFF"/>
                </a:solidFill>
                <a:latin typeface="Montserrat"/>
              </a:rPr>
              <a:t>US$ 2.700 – 3.900</a:t>
            </a:r>
          </a:p>
        </p:txBody>
      </p:sp>
      <p:sp>
        <p:nvSpPr>
          <p:cNvPr id="8" name="TextBox 7"/>
          <p:cNvSpPr txBox="1"/>
          <p:nvPr/>
        </p:nvSpPr>
        <p:spPr>
          <a:xfrm>
            <a:off x="502920" y="1627632"/>
            <a:ext cx="6556248" cy="320040"/>
          </a:xfrm>
          <a:prstGeom prst="rect">
            <a:avLst/>
          </a:prstGeom>
          <a:noFill/>
        </p:spPr>
        <p:txBody>
          <a:bodyPr wrap="square" anchor="t" lIns="45720" rIns="45720" tIns="27432" bIns="27432">
            <a:spAutoFit/>
          </a:bodyPr>
          <a:lstStyle/>
          <a:p>
            <a:pPr algn="l">
              <a:lnSpc>
                <a:spcPct val="115000"/>
              </a:lnSpc>
              <a:spcAft>
                <a:spcPts val="400"/>
              </a:spcAft>
            </a:pPr>
            <a:r>
              <a:rPr sz="1000" b="0" i="1">
                <a:solidFill>
                  <a:srgbClr val="7D7887"/>
                </a:solidFill>
                <a:latin typeface="Montserrat"/>
              </a:rPr>
              <a:t>Finados y noviembre (−15%): desde US$ 2.295 · Pago único o hasta 120 meses, con intereses</a:t>
            </a:r>
          </a:p>
        </p:txBody>
      </p:sp>
      <p:sp>
        <p:nvSpPr>
          <p:cNvPr id="9" name="TextBox 8"/>
          <p:cNvSpPr txBox="1"/>
          <p:nvPr/>
        </p:nvSpPr>
        <p:spPr>
          <a:xfrm>
            <a:off x="502920" y="1993392"/>
            <a:ext cx="6556248" cy="10515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Qué es.  </a:t>
            </a:r>
            <a:r>
              <a:rPr sz="1100" b="0" i="0">
                <a:solidFill>
                  <a:srgbClr val="2E2A36"/>
                </a:solidFill>
                <a:latin typeface="Montserrat"/>
              </a:rPr>
              <a:t>Integra en un solo contrato el servicio funerario, dos cremaciones y un columbario permanente de cristal o mármol para hasta dos urnas, en El Hogar de las Memorias.</a:t>
            </a:r>
          </a:p>
          <a:p>
            <a:pPr algn="l">
              <a:lnSpc>
                <a:spcPct val="115000"/>
              </a:lnSpc>
              <a:spcAft>
                <a:spcPts val="400"/>
              </a:spcAft>
            </a:pPr>
            <a:r>
              <a:rPr sz="1100" b="1" i="0">
                <a:solidFill>
                  <a:srgbClr val="5B3F80"/>
                </a:solidFill>
                <a:latin typeface="Montserrat"/>
              </a:rPr>
              <a:t>Para quién.  </a:t>
            </a:r>
            <a:r>
              <a:rPr sz="1100" b="0" i="0">
                <a:solidFill>
                  <a:srgbClr val="2E2A36"/>
                </a:solidFill>
                <a:latin typeface="Montserrat"/>
              </a:rPr>
              <a:t>Familias que quieren resolver en una sola compra el funeral, la cremación y un lugar permanente para dos seres queridos.</a:t>
            </a:r>
          </a:p>
        </p:txBody>
      </p:sp>
      <p:sp>
        <p:nvSpPr>
          <p:cNvPr id="10" name="Rectangle 9"/>
          <p:cNvSpPr/>
          <p:nvPr/>
        </p:nvSpPr>
        <p:spPr>
          <a:xfrm>
            <a:off x="502920" y="3108960"/>
            <a:ext cx="3186684" cy="242316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108960"/>
            <a:ext cx="3186684" cy="64008"/>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218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QUÉ INCLUYE</a:t>
            </a:r>
          </a:p>
        </p:txBody>
      </p:sp>
      <p:sp>
        <p:nvSpPr>
          <p:cNvPr id="13" name="TextBox 12"/>
          <p:cNvSpPr txBox="1"/>
          <p:nvPr/>
        </p:nvSpPr>
        <p:spPr>
          <a:xfrm>
            <a:off x="640080" y="3493008"/>
            <a:ext cx="2912364" cy="1965960"/>
          </a:xfrm>
          <a:prstGeom prst="rect">
            <a:avLst/>
          </a:prstGeom>
          <a:noFill/>
        </p:spPr>
        <p:txBody>
          <a:bodyPr wrap="square" anchor="t" lIns="45720" rIns="45720" tIns="27432" bIns="27432">
            <a:spAutoFit/>
          </a:bodyPr>
          <a:lstStyle/>
          <a:p>
            <a:pPr algn="l">
              <a:lnSpc>
                <a:spcPct val="115000"/>
              </a:lnSpc>
              <a:spcAft>
                <a:spcPts val="300"/>
              </a:spcAft>
            </a:pPr>
            <a:r>
              <a:rPr sz="750" b="1" i="0">
                <a:solidFill>
                  <a:srgbClr val="5E9A3C"/>
                </a:solidFill>
                <a:latin typeface="Montserrat"/>
              </a:rPr>
              <a:t>✓  </a:t>
            </a:r>
            <a:r>
              <a:rPr sz="1050" b="0" i="0">
                <a:solidFill>
                  <a:srgbClr val="2E2A36"/>
                </a:solidFill>
                <a:latin typeface="Montserrat"/>
              </a:rPr>
              <a:t>Incluye columbario estándar permanente de cristal o mármol, para hasta 2 urnas</a:t>
            </a:r>
          </a:p>
          <a:p>
            <a:pPr algn="l">
              <a:lnSpc>
                <a:spcPct val="115000"/>
              </a:lnSpc>
              <a:spcAft>
                <a:spcPts val="300"/>
              </a:spcAft>
            </a:pPr>
            <a:r>
              <a:rPr sz="750" b="1" i="0">
                <a:solidFill>
                  <a:srgbClr val="5E9A3C"/>
                </a:solidFill>
                <a:latin typeface="Montserrat"/>
              </a:rPr>
              <a:t>✓  </a:t>
            </a:r>
            <a:r>
              <a:rPr sz="1050" b="0" i="0">
                <a:solidFill>
                  <a:srgbClr val="2E2A36"/>
                </a:solidFill>
                <a:latin typeface="Montserrat"/>
              </a:rPr>
              <a:t>Traslados, preparación y resguardo hasta 5 días; Programa Vive de acompañamiento en el duelo</a:t>
            </a:r>
          </a:p>
          <a:p>
            <a:pPr algn="l">
              <a:lnSpc>
                <a:spcPct val="115000"/>
              </a:lnSpc>
              <a:spcAft>
                <a:spcPts val="300"/>
              </a:spcAft>
            </a:pPr>
            <a:r>
              <a:rPr sz="750" b="1" i="0">
                <a:solidFill>
                  <a:srgbClr val="5E9A3C"/>
                </a:solidFill>
                <a:latin typeface="Montserrat"/>
              </a:rPr>
              <a:t>✓  </a:t>
            </a:r>
            <a:r>
              <a:rPr sz="1050" b="0" i="0">
                <a:solidFill>
                  <a:srgbClr val="2E2A36"/>
                </a:solidFill>
                <a:latin typeface="Montserrat"/>
              </a:rPr>
              <a:t>Urnas cinerarias básicas (2) y 2 cremaciones con certificado</a:t>
            </a:r>
          </a:p>
          <a:p>
            <a:pPr algn="l">
              <a:lnSpc>
                <a:spcPct val="115000"/>
              </a:lnSpc>
              <a:spcAft>
                <a:spcPts val="300"/>
              </a:spcAft>
            </a:pPr>
            <a:r>
              <a:rPr sz="750" b="1" i="0">
                <a:solidFill>
                  <a:srgbClr val="5E9A3C"/>
                </a:solidFill>
                <a:latin typeface="Montserrat"/>
              </a:rPr>
              <a:t>✓  </a:t>
            </a:r>
            <a:r>
              <a:rPr sz="1050" b="0" i="0">
                <a:solidFill>
                  <a:srgbClr val="2E2A36"/>
                </a:solidFill>
                <a:latin typeface="Montserrat"/>
              </a:rPr>
              <a:t>Capilla de velación 24 h, ataúd ceremonial y carroza tradicional</a:t>
            </a:r>
          </a:p>
        </p:txBody>
      </p:sp>
      <p:sp>
        <p:nvSpPr>
          <p:cNvPr id="14" name="Rectangle 13"/>
          <p:cNvSpPr/>
          <p:nvPr/>
        </p:nvSpPr>
        <p:spPr>
          <a:xfrm>
            <a:off x="3872484" y="3108960"/>
            <a:ext cx="3186684" cy="242316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872484" y="3108960"/>
            <a:ext cx="3186684"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09644" y="3218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REGLAS DEL PRODUCTO</a:t>
            </a:r>
          </a:p>
        </p:txBody>
      </p:sp>
      <p:sp>
        <p:nvSpPr>
          <p:cNvPr id="17" name="TextBox 16"/>
          <p:cNvSpPr txBox="1"/>
          <p:nvPr/>
        </p:nvSpPr>
        <p:spPr>
          <a:xfrm>
            <a:off x="4009644" y="3493008"/>
            <a:ext cx="2912364" cy="1965960"/>
          </a:xfrm>
          <a:prstGeom prst="rect">
            <a:avLst/>
          </a:prstGeom>
          <a:noFill/>
        </p:spPr>
        <p:txBody>
          <a:bodyPr wrap="square" anchor="t" lIns="45720" rIns="45720" tIns="27432" bIns="27432">
            <a:spAutoFit/>
          </a:bodyPr>
          <a:lstStyle/>
          <a:p>
            <a:pPr algn="l">
              <a:lnSpc>
                <a:spcPct val="115000"/>
              </a:lnSpc>
              <a:spcAft>
                <a:spcPts val="300"/>
              </a:spcAft>
            </a:pPr>
            <a:r>
              <a:rPr sz="750" b="1" i="0">
                <a:solidFill>
                  <a:srgbClr val="C9A86A"/>
                </a:solidFill>
                <a:latin typeface="Montserrat"/>
              </a:rPr>
              <a:t>■  </a:t>
            </a:r>
            <a:r>
              <a:rPr sz="1050" b="0" i="0">
                <a:solidFill>
                  <a:srgbClr val="2E2A36"/>
                </a:solidFill>
                <a:latin typeface="Montserrat"/>
              </a:rPr>
              <a:t>Capacidad: hasta 2 urnas; incluye 2 cremaciones.</a:t>
            </a:r>
          </a:p>
          <a:p>
            <a:pPr algn="l">
              <a:lnSpc>
                <a:spcPct val="115000"/>
              </a:lnSpc>
              <a:spcAft>
                <a:spcPts val="300"/>
              </a:spcAft>
            </a:pPr>
            <a:r>
              <a:rPr sz="750" b="1" i="0">
                <a:solidFill>
                  <a:srgbClr val="C9A86A"/>
                </a:solidFill>
                <a:latin typeface="Montserrat"/>
              </a:rPr>
              <a:t>■  </a:t>
            </a:r>
            <a:r>
              <a:rPr sz="1050" b="0" i="0">
                <a:solidFill>
                  <a:srgbClr val="2E2A36"/>
                </a:solidFill>
                <a:latin typeface="Montserrat"/>
              </a:rPr>
              <a:t>Con ubicación definida: US$ 3.400 – 3.900; a futuro: US$ 2.700 – 3.200 (según fila y nivel).</a:t>
            </a:r>
          </a:p>
          <a:p>
            <a:pPr algn="l">
              <a:lnSpc>
                <a:spcPct val="115000"/>
              </a:lnSpc>
              <a:spcAft>
                <a:spcPts val="300"/>
              </a:spcAft>
            </a:pPr>
            <a:r>
              <a:rPr sz="750" b="1" i="0">
                <a:solidFill>
                  <a:srgbClr val="C9A86A"/>
                </a:solidFill>
                <a:latin typeface="Montserrat"/>
              </a:rPr>
              <a:t>■  </a:t>
            </a:r>
            <a:r>
              <a:rPr sz="1050" b="0" i="0">
                <a:solidFill>
                  <a:srgbClr val="2E2A36"/>
                </a:solidFill>
                <a:latin typeface="Montserrat"/>
              </a:rPr>
              <a:t>Elija velación en La Auxiliadora (Maquilishuat o Básica) o en Capillas Memoriales (Las Camelias o Básica).</a:t>
            </a:r>
          </a:p>
        </p:txBody>
      </p:sp>
      <p:sp>
        <p:nvSpPr>
          <p:cNvPr id="18" name="Rectangle 17"/>
          <p:cNvSpPr/>
          <p:nvPr/>
        </p:nvSpPr>
        <p:spPr>
          <a:xfrm>
            <a:off x="502920" y="5669280"/>
            <a:ext cx="6556248" cy="128016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5669280"/>
            <a:ext cx="73152" cy="128016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715000"/>
            <a:ext cx="6190488"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SPEECH SUGERIDO</a:t>
            </a:r>
          </a:p>
        </p:txBody>
      </p:sp>
      <p:sp>
        <p:nvSpPr>
          <p:cNvPr id="21" name="TextBox 20"/>
          <p:cNvSpPr txBox="1"/>
          <p:nvPr/>
        </p:nvSpPr>
        <p:spPr>
          <a:xfrm>
            <a:off x="731520" y="5961888"/>
            <a:ext cx="6190488" cy="960120"/>
          </a:xfrm>
          <a:prstGeom prst="rect">
            <a:avLst/>
          </a:prstGeom>
          <a:noFill/>
        </p:spPr>
        <p:txBody>
          <a:bodyPr wrap="square" anchor="t" lIns="45720" rIns="45720" tIns="27432" bIns="27432">
            <a:spAutoFit/>
          </a:bodyPr>
          <a:lstStyle/>
          <a:p>
            <a:pPr algn="l">
              <a:lnSpc>
                <a:spcPct val="115000"/>
              </a:lnSpc>
              <a:spcAft>
                <a:spcPts val="400"/>
              </a:spcAft>
            </a:pPr>
            <a:r>
              <a:rPr sz="1100" b="0" i="1">
                <a:solidFill>
                  <a:srgbClr val="3E2A5C"/>
                </a:solidFill>
                <a:latin typeface="Playfair Display"/>
              </a:rPr>
              <a:t>"Con el Supremo Plus su familia no tendrá que coordinar nada: el servicio funerario, la cremación y el lugar donde descansarán las cenizas quedan resueltos en un solo contrato, para dos personas y para siempre."</a:t>
            </a:r>
          </a:p>
        </p:txBody>
      </p:sp>
      <p:sp>
        <p:nvSpPr>
          <p:cNvPr id="22" name="Rectangle 21"/>
          <p:cNvSpPr/>
          <p:nvPr/>
        </p:nvSpPr>
        <p:spPr>
          <a:xfrm>
            <a:off x="502920" y="7086600"/>
            <a:ext cx="3186684" cy="16002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7086600"/>
            <a:ext cx="3186684"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719632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PREGUNTAS DE DESCUBRIMIENTO</a:t>
            </a:r>
          </a:p>
        </p:txBody>
      </p:sp>
      <p:sp>
        <p:nvSpPr>
          <p:cNvPr id="25" name="TextBox 24"/>
          <p:cNvSpPr txBox="1"/>
          <p:nvPr/>
        </p:nvSpPr>
        <p:spPr>
          <a:xfrm>
            <a:off x="640080" y="7470648"/>
            <a:ext cx="2912364" cy="1143000"/>
          </a:xfrm>
          <a:prstGeom prst="rect">
            <a:avLst/>
          </a:prstGeom>
          <a:noFill/>
        </p:spPr>
        <p:txBody>
          <a:bodyPr wrap="square" anchor="t" lIns="45720" rIns="45720" tIns="27432" bIns="27432">
            <a:spAutoFit/>
          </a:bodyPr>
          <a:lstStyle/>
          <a:p>
            <a:pPr algn="l">
              <a:lnSpc>
                <a:spcPct val="115000"/>
              </a:lnSpc>
              <a:spcAft>
                <a:spcPts val="300"/>
              </a:spcAft>
            </a:pPr>
            <a:r>
              <a:rPr sz="650" b="1" i="0">
                <a:solidFill>
                  <a:srgbClr val="C9A86A"/>
                </a:solidFill>
                <a:latin typeface="Montserrat"/>
              </a:rPr>
              <a:t>?  </a:t>
            </a:r>
            <a:r>
              <a:rPr sz="950" b="0" i="0">
                <a:solidFill>
                  <a:srgbClr val="2E2A36"/>
                </a:solidFill>
                <a:latin typeface="Montserrat"/>
              </a:rPr>
              <a:t>¿Han pensado dónde quedarían las cenizas después de la cremación?</a:t>
            </a:r>
          </a:p>
          <a:p>
            <a:pPr algn="l">
              <a:lnSpc>
                <a:spcPct val="115000"/>
              </a:lnSpc>
              <a:spcAft>
                <a:spcPts val="300"/>
              </a:spcAft>
            </a:pPr>
            <a:r>
              <a:rPr sz="650" b="1" i="0">
                <a:solidFill>
                  <a:srgbClr val="C9A86A"/>
                </a:solidFill>
                <a:latin typeface="Montserrat"/>
              </a:rPr>
              <a:t>?  </a:t>
            </a:r>
            <a:r>
              <a:rPr sz="950" b="0" i="0">
                <a:solidFill>
                  <a:srgbClr val="2E2A36"/>
                </a:solidFill>
                <a:latin typeface="Montserrat"/>
              </a:rPr>
              <a:t>¿Lo considera para usted y su pareja, o para sus padres?</a:t>
            </a:r>
          </a:p>
          <a:p>
            <a:pPr algn="l">
              <a:lnSpc>
                <a:spcPct val="115000"/>
              </a:lnSpc>
              <a:spcAft>
                <a:spcPts val="300"/>
              </a:spcAft>
            </a:pPr>
            <a:r>
              <a:rPr sz="650" b="1" i="0">
                <a:solidFill>
                  <a:srgbClr val="C9A86A"/>
                </a:solidFill>
                <a:latin typeface="Montserrat"/>
              </a:rPr>
              <a:t>?  </a:t>
            </a:r>
            <a:r>
              <a:rPr sz="950" b="0" i="0">
                <a:solidFill>
                  <a:srgbClr val="2E2A36"/>
                </a:solidFill>
                <a:latin typeface="Montserrat"/>
              </a:rPr>
              <a:t>¿Prefiere elegir hoy el nicho o dejar la ubicación para más adelante?</a:t>
            </a:r>
          </a:p>
        </p:txBody>
      </p:sp>
      <p:sp>
        <p:nvSpPr>
          <p:cNvPr id="26" name="Rectangle 25"/>
          <p:cNvSpPr/>
          <p:nvPr/>
        </p:nvSpPr>
        <p:spPr>
          <a:xfrm>
            <a:off x="3872484" y="7086600"/>
            <a:ext cx="3186684" cy="1600200"/>
          </a:xfrm>
          <a:prstGeom prst="rect">
            <a:avLst/>
          </a:prstGeom>
          <a:solidFill>
            <a:srgbClr val="EE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72484" y="7086600"/>
            <a:ext cx="3186684" cy="64008"/>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09644" y="719632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FRASE DE CIERRE</a:t>
            </a:r>
          </a:p>
        </p:txBody>
      </p:sp>
      <p:sp>
        <p:nvSpPr>
          <p:cNvPr id="29" name="TextBox 28"/>
          <p:cNvSpPr txBox="1"/>
          <p:nvPr/>
        </p:nvSpPr>
        <p:spPr>
          <a:xfrm>
            <a:off x="4009644" y="7470648"/>
            <a:ext cx="2912364" cy="1143000"/>
          </a:xfrm>
          <a:prstGeom prst="rect">
            <a:avLst/>
          </a:prstGeom>
          <a:noFill/>
        </p:spPr>
        <p:txBody>
          <a:bodyPr wrap="square" anchor="t" lIns="45720" rIns="45720" tIns="27432" bIns="27432">
            <a:spAutoFit/>
          </a:bodyPr>
          <a:lstStyle/>
          <a:p>
            <a:pPr algn="l">
              <a:lnSpc>
                <a:spcPct val="115000"/>
              </a:lnSpc>
              <a:spcAft>
                <a:spcPts val="300"/>
              </a:spcAft>
            </a:pPr>
            <a:r>
              <a:rPr sz="1050" b="0" i="0">
                <a:solidFill>
                  <a:srgbClr val="2E2A36"/>
                </a:solidFill>
                <a:latin typeface="Montserrat"/>
              </a:rPr>
              <a:t>"¿Aprovechamos el precio de noviembre y elegimos hoy la ubicación?"</a:t>
            </a:r>
          </a:p>
        </p:txBody>
      </p:sp>
      <p:sp>
        <p:nvSpPr>
          <p:cNvPr id="30" name="Rectangle 29"/>
          <p:cNvSpPr/>
          <p:nvPr/>
        </p:nvSpPr>
        <p:spPr>
          <a:xfrm>
            <a:off x="502920" y="8823960"/>
            <a:ext cx="3186684" cy="1325880"/>
          </a:xfrm>
          <a:prstGeom prst="rect">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2920" y="8823960"/>
            <a:ext cx="3186684" cy="6400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8933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OBJECIÓN TÍPICA</a:t>
            </a:r>
          </a:p>
        </p:txBody>
      </p:sp>
      <p:sp>
        <p:nvSpPr>
          <p:cNvPr id="33" name="TextBox 32"/>
          <p:cNvSpPr txBox="1"/>
          <p:nvPr/>
        </p:nvSpPr>
        <p:spPr>
          <a:xfrm>
            <a:off x="640080" y="9208008"/>
            <a:ext cx="2912364" cy="868680"/>
          </a:xfrm>
          <a:prstGeom prst="rect">
            <a:avLst/>
          </a:prstGeom>
          <a:noFill/>
        </p:spPr>
        <p:txBody>
          <a:bodyPr wrap="square" anchor="t" lIns="45720" rIns="45720" tIns="27432" bIns="27432">
            <a:spAutoFit/>
          </a:bodyPr>
          <a:lstStyle/>
          <a:p>
            <a:pPr algn="l">
              <a:lnSpc>
                <a:spcPct val="115000"/>
              </a:lnSpc>
              <a:spcAft>
                <a:spcPts val="300"/>
              </a:spcAft>
            </a:pPr>
            <a:r>
              <a:rPr sz="900" b="0" i="0">
                <a:solidFill>
                  <a:srgbClr val="2E2A36"/>
                </a:solidFill>
                <a:latin typeface="Montserrat"/>
              </a:rPr>
              <a:t>"Es una inversión alta." → "Incluye todo para dos personas: funeral, dos cremaciones y el columbario permanente. Y puede pagarse en hasta 120 meses."</a:t>
            </a:r>
          </a:p>
        </p:txBody>
      </p:sp>
      <p:sp>
        <p:nvSpPr>
          <p:cNvPr id="34" name="Rectangle 33"/>
          <p:cNvSpPr/>
          <p:nvPr/>
        </p:nvSpPr>
        <p:spPr>
          <a:xfrm>
            <a:off x="3872484" y="8823960"/>
            <a:ext cx="3186684" cy="1325880"/>
          </a:xfrm>
          <a:prstGeom prst="rect">
            <a:avLst/>
          </a:prstGeom>
          <a:solidFill>
            <a:srgbClr val="ED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872484" y="8823960"/>
            <a:ext cx="3186684" cy="64008"/>
          </a:xfrm>
          <a:prstGeom prst="rect">
            <a:avLst/>
          </a:prstGeom>
          <a:solidFill>
            <a:srgbClr val="6F8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09644" y="8933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TIP DEL ASESOR</a:t>
            </a:r>
          </a:p>
        </p:txBody>
      </p:sp>
      <p:sp>
        <p:nvSpPr>
          <p:cNvPr id="37" name="TextBox 36"/>
          <p:cNvSpPr txBox="1"/>
          <p:nvPr/>
        </p:nvSpPr>
        <p:spPr>
          <a:xfrm>
            <a:off x="4009644" y="9208008"/>
            <a:ext cx="2912364" cy="868680"/>
          </a:xfrm>
          <a:prstGeom prst="rect">
            <a:avLst/>
          </a:prstGeom>
          <a:noFill/>
        </p:spPr>
        <p:txBody>
          <a:bodyPr wrap="square" anchor="t" lIns="45720" rIns="45720" tIns="27432" bIns="27432">
            <a:spAutoFit/>
          </a:bodyPr>
          <a:lstStyle/>
          <a:p>
            <a:pPr algn="l">
              <a:lnSpc>
                <a:spcPct val="115000"/>
              </a:lnSpc>
              <a:spcAft>
                <a:spcPts val="300"/>
              </a:spcAft>
            </a:pPr>
            <a:r>
              <a:rPr sz="1050" b="0" i="0">
                <a:solidFill>
                  <a:srgbClr val="2E2A36"/>
                </a:solidFill>
                <a:latin typeface="Montserrat"/>
              </a:rPr>
              <a:t>Si el presupuesto no alcanza para la ubicación definida, ofrezca la ubicación a futuro: el mismo producto, a menor precio.</a:t>
            </a:r>
          </a:p>
        </p:txBody>
      </p:sp>
      <p:sp>
        <p:nvSpPr>
          <p:cNvPr id="38" name="TextBox 37"/>
          <p:cNvSpPr txBox="1"/>
          <p:nvPr/>
        </p:nvSpPr>
        <p:spPr>
          <a:xfrm>
            <a:off x="502920" y="10277856"/>
            <a:ext cx="5641848"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39" name="TextBox 38"/>
          <p:cNvSpPr txBox="1"/>
          <p:nvPr/>
        </p:nvSpPr>
        <p:spPr>
          <a:xfrm>
            <a:off x="6144768" y="10277856"/>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562088" cy="146304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0"/>
            <a:ext cx="7562088"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4206240"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C9A86A"/>
                </a:solidFill>
                <a:latin typeface="Montserrat"/>
              </a:rPr>
              <a:t>HOGAR DE LAS MEMORIAS · COLUMBARIO</a:t>
            </a:r>
          </a:p>
        </p:txBody>
      </p:sp>
      <p:sp>
        <p:nvSpPr>
          <p:cNvPr id="5" name="TextBox 4"/>
          <p:cNvSpPr txBox="1"/>
          <p:nvPr/>
        </p:nvSpPr>
        <p:spPr>
          <a:xfrm>
            <a:off x="502920" y="502920"/>
            <a:ext cx="4206240" cy="868680"/>
          </a:xfrm>
          <a:prstGeom prst="rect">
            <a:avLst/>
          </a:prstGeom>
          <a:noFill/>
        </p:spPr>
        <p:txBody>
          <a:bodyPr wrap="square" anchor="t" lIns="45720" rIns="45720" tIns="27432" bIns="27432">
            <a:spAutoFit/>
          </a:bodyPr>
          <a:lstStyle/>
          <a:p>
            <a:pPr algn="l">
              <a:lnSpc>
                <a:spcPct val="100000"/>
              </a:lnSpc>
              <a:spcAft>
                <a:spcPts val="400"/>
              </a:spcAft>
            </a:pPr>
            <a:r>
              <a:rPr sz="2100" b="1" i="0">
                <a:solidFill>
                  <a:srgbClr val="FFFFFF"/>
                </a:solidFill>
                <a:latin typeface="Playfair Display"/>
              </a:rPr>
              <a:t>Columbario Mármol o Cristal</a:t>
            </a:r>
          </a:p>
        </p:txBody>
      </p:sp>
      <p:sp>
        <p:nvSpPr>
          <p:cNvPr id="6" name="TextBox 5"/>
          <p:cNvSpPr txBox="1"/>
          <p:nvPr/>
        </p:nvSpPr>
        <p:spPr>
          <a:xfrm>
            <a:off x="4663440" y="228600"/>
            <a:ext cx="2395728" cy="274320"/>
          </a:xfrm>
          <a:prstGeom prst="rect">
            <a:avLst/>
          </a:prstGeom>
          <a:noFill/>
        </p:spPr>
        <p:txBody>
          <a:bodyPr wrap="square" anchor="t" lIns="45720" rIns="45720" tIns="27432" bIns="27432">
            <a:spAutoFit/>
          </a:bodyPr>
          <a:lstStyle/>
          <a:p>
            <a:pPr algn="r">
              <a:lnSpc>
                <a:spcPct val="115000"/>
              </a:lnSpc>
              <a:spcAft>
                <a:spcPts val="400"/>
              </a:spcAft>
            </a:pPr>
            <a:r>
              <a:rPr sz="950" b="1" i="0">
                <a:solidFill>
                  <a:srgbClr val="C9A86A"/>
                </a:solidFill>
                <a:latin typeface="Montserrat"/>
              </a:rPr>
              <a:t>PRECIO SEGÚN UBICACIÓN</a:t>
            </a:r>
          </a:p>
        </p:txBody>
      </p:sp>
      <p:sp>
        <p:nvSpPr>
          <p:cNvPr id="7" name="TextBox 6"/>
          <p:cNvSpPr txBox="1"/>
          <p:nvPr/>
        </p:nvSpPr>
        <p:spPr>
          <a:xfrm>
            <a:off x="4663440" y="502920"/>
            <a:ext cx="2395728" cy="868680"/>
          </a:xfrm>
          <a:prstGeom prst="rect">
            <a:avLst/>
          </a:prstGeom>
          <a:noFill/>
        </p:spPr>
        <p:txBody>
          <a:bodyPr wrap="square" anchor="ctr" lIns="45720" rIns="45720" tIns="27432" bIns="27432">
            <a:spAutoFit/>
          </a:bodyPr>
          <a:lstStyle/>
          <a:p>
            <a:pPr algn="r">
              <a:lnSpc>
                <a:spcPct val="115000"/>
              </a:lnSpc>
              <a:spcAft>
                <a:spcPts val="400"/>
              </a:spcAft>
            </a:pPr>
            <a:r>
              <a:rPr sz="1900" b="1" i="0">
                <a:solidFill>
                  <a:srgbClr val="FFFFFF"/>
                </a:solidFill>
                <a:latin typeface="Montserrat"/>
              </a:rPr>
              <a:t>US$ 1.200 – 2.600</a:t>
            </a:r>
          </a:p>
        </p:txBody>
      </p:sp>
      <p:sp>
        <p:nvSpPr>
          <p:cNvPr id="8" name="TextBox 7"/>
          <p:cNvSpPr txBox="1"/>
          <p:nvPr/>
        </p:nvSpPr>
        <p:spPr>
          <a:xfrm>
            <a:off x="502920" y="1627632"/>
            <a:ext cx="6556248" cy="320040"/>
          </a:xfrm>
          <a:prstGeom prst="rect">
            <a:avLst/>
          </a:prstGeom>
          <a:noFill/>
        </p:spPr>
        <p:txBody>
          <a:bodyPr wrap="square" anchor="t" lIns="45720" rIns="45720" tIns="27432" bIns="27432">
            <a:spAutoFit/>
          </a:bodyPr>
          <a:lstStyle/>
          <a:p>
            <a:pPr algn="l">
              <a:lnSpc>
                <a:spcPct val="115000"/>
              </a:lnSpc>
              <a:spcAft>
                <a:spcPts val="400"/>
              </a:spcAft>
            </a:pPr>
            <a:r>
              <a:rPr sz="1000" b="0" i="1">
                <a:solidFill>
                  <a:srgbClr val="7D7887"/>
                </a:solidFill>
                <a:latin typeface="Montserrat"/>
              </a:rPr>
              <a:t>Finados y noviembre (−15%): desde US$ 1.020 · Pago único o hasta 120 meses, con intereses</a:t>
            </a:r>
          </a:p>
        </p:txBody>
      </p:sp>
      <p:sp>
        <p:nvSpPr>
          <p:cNvPr id="9" name="TextBox 8"/>
          <p:cNvSpPr txBox="1"/>
          <p:nvPr/>
        </p:nvSpPr>
        <p:spPr>
          <a:xfrm>
            <a:off x="502920" y="1993392"/>
            <a:ext cx="6556248" cy="10515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Qué es.  </a:t>
            </a:r>
            <a:r>
              <a:rPr sz="1100" b="0" i="0">
                <a:solidFill>
                  <a:srgbClr val="2E2A36"/>
                </a:solidFill>
                <a:latin typeface="Montserrat"/>
              </a:rPr>
              <a:t>Ideal para las cenizas de la familia: columbario permanente de mármol o cristal en El Hogar de las Memorias, elegante, sereno y de diseño atemporal.</a:t>
            </a:r>
          </a:p>
          <a:p>
            <a:pPr algn="l">
              <a:lnSpc>
                <a:spcPct val="115000"/>
              </a:lnSpc>
              <a:spcAft>
                <a:spcPts val="400"/>
              </a:spcAft>
            </a:pPr>
            <a:r>
              <a:rPr sz="1100" b="1" i="0">
                <a:solidFill>
                  <a:srgbClr val="5B3F80"/>
                </a:solidFill>
                <a:latin typeface="Montserrat"/>
              </a:rPr>
              <a:t>Para quién.  </a:t>
            </a:r>
            <a:r>
              <a:rPr sz="1100" b="0" i="0">
                <a:solidFill>
                  <a:srgbClr val="2E2A36"/>
                </a:solidFill>
                <a:latin typeface="Montserrat"/>
              </a:rPr>
              <a:t>Familias que ya tienen la cremación resuelta y buscan un lugar permanente y elegante para las cenizas.</a:t>
            </a:r>
          </a:p>
        </p:txBody>
      </p:sp>
      <p:sp>
        <p:nvSpPr>
          <p:cNvPr id="10" name="Rectangle 9"/>
          <p:cNvSpPr/>
          <p:nvPr/>
        </p:nvSpPr>
        <p:spPr>
          <a:xfrm>
            <a:off x="502920" y="3108960"/>
            <a:ext cx="3186684" cy="242316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108960"/>
            <a:ext cx="3186684" cy="64008"/>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218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QUÉ INCLUYE</a:t>
            </a:r>
          </a:p>
        </p:txBody>
      </p:sp>
      <p:sp>
        <p:nvSpPr>
          <p:cNvPr id="13" name="TextBox 12"/>
          <p:cNvSpPr txBox="1"/>
          <p:nvPr/>
        </p:nvSpPr>
        <p:spPr>
          <a:xfrm>
            <a:off x="640080" y="3493008"/>
            <a:ext cx="2912364" cy="1965960"/>
          </a:xfrm>
          <a:prstGeom prst="rect">
            <a:avLst/>
          </a:prstGeom>
          <a:noFill/>
        </p:spPr>
        <p:txBody>
          <a:bodyPr wrap="square" anchor="t" lIns="45720" rIns="45720" tIns="27432" bIns="27432">
            <a:spAutoFit/>
          </a:bodyPr>
          <a:lstStyle/>
          <a:p>
            <a:pPr algn="l">
              <a:lnSpc>
                <a:spcPct val="115000"/>
              </a:lnSpc>
              <a:spcAft>
                <a:spcPts val="300"/>
              </a:spcAft>
            </a:pPr>
            <a:r>
              <a:rPr sz="750" b="1" i="0">
                <a:solidFill>
                  <a:srgbClr val="5E9A3C"/>
                </a:solidFill>
                <a:latin typeface="Montserrat"/>
              </a:rPr>
              <a:t>✓  </a:t>
            </a:r>
            <a:r>
              <a:rPr sz="1050" b="0" i="0">
                <a:solidFill>
                  <a:srgbClr val="2E2A36"/>
                </a:solidFill>
                <a:latin typeface="Montserrat"/>
              </a:rPr>
              <a:t>Incluye espacio permanente en columbario de mármol o cristal</a:t>
            </a:r>
          </a:p>
          <a:p>
            <a:pPr algn="l">
              <a:lnSpc>
                <a:spcPct val="115000"/>
              </a:lnSpc>
              <a:spcAft>
                <a:spcPts val="300"/>
              </a:spcAft>
            </a:pPr>
            <a:r>
              <a:rPr sz="750" b="1" i="0">
                <a:solidFill>
                  <a:srgbClr val="5E9A3C"/>
                </a:solidFill>
                <a:latin typeface="Montserrat"/>
              </a:rPr>
              <a:t>✓  </a:t>
            </a:r>
            <a:r>
              <a:rPr sz="1050" b="0" i="0">
                <a:solidFill>
                  <a:srgbClr val="2E2A36"/>
                </a:solidFill>
                <a:latin typeface="Montserrat"/>
              </a:rPr>
              <a:t>Tamaño estándar: hasta 2 urnas</a:t>
            </a:r>
          </a:p>
          <a:p>
            <a:pPr algn="l">
              <a:lnSpc>
                <a:spcPct val="115000"/>
              </a:lnSpc>
              <a:spcAft>
                <a:spcPts val="300"/>
              </a:spcAft>
            </a:pPr>
            <a:r>
              <a:rPr sz="750" b="1" i="0">
                <a:solidFill>
                  <a:srgbClr val="5E9A3C"/>
                </a:solidFill>
                <a:latin typeface="Montserrat"/>
              </a:rPr>
              <a:t>✓  </a:t>
            </a:r>
            <a:r>
              <a:rPr sz="1050" b="0" i="0">
                <a:solidFill>
                  <a:srgbClr val="2E2A36"/>
                </a:solidFill>
                <a:latin typeface="Montserrat"/>
              </a:rPr>
              <a:t>Ubicación definida o a futuro, según la opción contratada</a:t>
            </a:r>
          </a:p>
        </p:txBody>
      </p:sp>
      <p:sp>
        <p:nvSpPr>
          <p:cNvPr id="14" name="Rectangle 13"/>
          <p:cNvSpPr/>
          <p:nvPr/>
        </p:nvSpPr>
        <p:spPr>
          <a:xfrm>
            <a:off x="3872484" y="3108960"/>
            <a:ext cx="3186684" cy="242316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872484" y="3108960"/>
            <a:ext cx="3186684"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09644" y="3218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REGLAS DEL PRODUCTO</a:t>
            </a:r>
          </a:p>
        </p:txBody>
      </p:sp>
      <p:sp>
        <p:nvSpPr>
          <p:cNvPr id="17" name="TextBox 16"/>
          <p:cNvSpPr txBox="1"/>
          <p:nvPr/>
        </p:nvSpPr>
        <p:spPr>
          <a:xfrm>
            <a:off x="4009644" y="3493008"/>
            <a:ext cx="2912364" cy="1965960"/>
          </a:xfrm>
          <a:prstGeom prst="rect">
            <a:avLst/>
          </a:prstGeom>
          <a:noFill/>
        </p:spPr>
        <p:txBody>
          <a:bodyPr wrap="square" anchor="t" lIns="45720" rIns="45720" tIns="27432" bIns="27432">
            <a:spAutoFit/>
          </a:bodyPr>
          <a:lstStyle/>
          <a:p>
            <a:pPr algn="l">
              <a:lnSpc>
                <a:spcPct val="115000"/>
              </a:lnSpc>
              <a:spcAft>
                <a:spcPts val="300"/>
              </a:spcAft>
            </a:pPr>
            <a:r>
              <a:rPr sz="750" b="1" i="0">
                <a:solidFill>
                  <a:srgbClr val="C9A86A"/>
                </a:solidFill>
                <a:latin typeface="Montserrat"/>
              </a:rPr>
              <a:t>■  </a:t>
            </a:r>
            <a:r>
              <a:rPr sz="1050" b="0" i="0">
                <a:solidFill>
                  <a:srgbClr val="2E2A36"/>
                </a:solidFill>
                <a:latin typeface="Montserrat"/>
              </a:rPr>
              <a:t>Cremación no incluida: se contrata aparte (por ejemplo, con la Solución Modular).</a:t>
            </a:r>
          </a:p>
          <a:p>
            <a:pPr algn="l">
              <a:lnSpc>
                <a:spcPct val="115000"/>
              </a:lnSpc>
              <a:spcAft>
                <a:spcPts val="300"/>
              </a:spcAft>
            </a:pPr>
            <a:r>
              <a:rPr sz="750" b="1" i="0">
                <a:solidFill>
                  <a:srgbClr val="C9A86A"/>
                </a:solidFill>
                <a:latin typeface="Montserrat"/>
              </a:rPr>
              <a:t>■  </a:t>
            </a:r>
            <a:r>
              <a:rPr sz="1050" b="0" i="0">
                <a:solidFill>
                  <a:srgbClr val="2E2A36"/>
                </a:solidFill>
                <a:latin typeface="Montserrat"/>
              </a:rPr>
              <a:t>Con ubicación definida: US$ 2.600; a futuro: US$ 1.200 – 1.900 (según fila y nivel).</a:t>
            </a:r>
          </a:p>
        </p:txBody>
      </p:sp>
      <p:sp>
        <p:nvSpPr>
          <p:cNvPr id="18" name="Rectangle 17"/>
          <p:cNvSpPr/>
          <p:nvPr/>
        </p:nvSpPr>
        <p:spPr>
          <a:xfrm>
            <a:off x="502920" y="5669280"/>
            <a:ext cx="6556248" cy="128016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5669280"/>
            <a:ext cx="73152" cy="128016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715000"/>
            <a:ext cx="6190488"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SPEECH SUGERIDO</a:t>
            </a:r>
          </a:p>
        </p:txBody>
      </p:sp>
      <p:sp>
        <p:nvSpPr>
          <p:cNvPr id="21" name="TextBox 20"/>
          <p:cNvSpPr txBox="1"/>
          <p:nvPr/>
        </p:nvSpPr>
        <p:spPr>
          <a:xfrm>
            <a:off x="731520" y="5961888"/>
            <a:ext cx="6190488" cy="960120"/>
          </a:xfrm>
          <a:prstGeom prst="rect">
            <a:avLst/>
          </a:prstGeom>
          <a:noFill/>
        </p:spPr>
        <p:txBody>
          <a:bodyPr wrap="square" anchor="t" lIns="45720" rIns="45720" tIns="27432" bIns="27432">
            <a:spAutoFit/>
          </a:bodyPr>
          <a:lstStyle/>
          <a:p>
            <a:pPr algn="l">
              <a:lnSpc>
                <a:spcPct val="115000"/>
              </a:lnSpc>
              <a:spcAft>
                <a:spcPts val="400"/>
              </a:spcAft>
            </a:pPr>
            <a:r>
              <a:rPr sz="1100" b="0" i="1">
                <a:solidFill>
                  <a:srgbClr val="3E2A5C"/>
                </a:solidFill>
                <a:latin typeface="Playfair Display"/>
              </a:rPr>
              <a:t>"Las cenizas de su ser querido merecen un lugar propio y permanente. En El Hogar de las Memorias, el columbario de mármol o cristal guarda hasta dos urnas en un espacio sereno, donde la familia siempre podrá volver."</a:t>
            </a:r>
          </a:p>
        </p:txBody>
      </p:sp>
      <p:sp>
        <p:nvSpPr>
          <p:cNvPr id="22" name="Rectangle 21"/>
          <p:cNvSpPr/>
          <p:nvPr/>
        </p:nvSpPr>
        <p:spPr>
          <a:xfrm>
            <a:off x="502920" y="7086600"/>
            <a:ext cx="3186684" cy="16002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7086600"/>
            <a:ext cx="3186684"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719632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PREGUNTAS DE DESCUBRIMIENTO</a:t>
            </a:r>
          </a:p>
        </p:txBody>
      </p:sp>
      <p:sp>
        <p:nvSpPr>
          <p:cNvPr id="25" name="TextBox 24"/>
          <p:cNvSpPr txBox="1"/>
          <p:nvPr/>
        </p:nvSpPr>
        <p:spPr>
          <a:xfrm>
            <a:off x="640080" y="7470648"/>
            <a:ext cx="2912364" cy="1143000"/>
          </a:xfrm>
          <a:prstGeom prst="rect">
            <a:avLst/>
          </a:prstGeom>
          <a:noFill/>
        </p:spPr>
        <p:txBody>
          <a:bodyPr wrap="square" anchor="t" lIns="45720" rIns="45720" tIns="27432" bIns="27432">
            <a:spAutoFit/>
          </a:bodyPr>
          <a:lstStyle/>
          <a:p>
            <a:pPr algn="l">
              <a:lnSpc>
                <a:spcPct val="115000"/>
              </a:lnSpc>
              <a:spcAft>
                <a:spcPts val="300"/>
              </a:spcAft>
            </a:pPr>
            <a:r>
              <a:rPr sz="650" b="1" i="0">
                <a:solidFill>
                  <a:srgbClr val="C9A86A"/>
                </a:solidFill>
                <a:latin typeface="Montserrat"/>
              </a:rPr>
              <a:t>?  </a:t>
            </a:r>
            <a:r>
              <a:rPr sz="950" b="0" i="0">
                <a:solidFill>
                  <a:srgbClr val="2E2A36"/>
                </a:solidFill>
                <a:latin typeface="Montserrat"/>
              </a:rPr>
              <a:t>¿Las cenizas están hoy en casa o en un columbario temporal?</a:t>
            </a:r>
          </a:p>
          <a:p>
            <a:pPr algn="l">
              <a:lnSpc>
                <a:spcPct val="115000"/>
              </a:lnSpc>
              <a:spcAft>
                <a:spcPts val="300"/>
              </a:spcAft>
            </a:pPr>
            <a:r>
              <a:rPr sz="650" b="1" i="0">
                <a:solidFill>
                  <a:srgbClr val="C9A86A"/>
                </a:solidFill>
                <a:latin typeface="Montserrat"/>
              </a:rPr>
              <a:t>?  </a:t>
            </a:r>
            <a:r>
              <a:rPr sz="950" b="0" i="0">
                <a:solidFill>
                  <a:srgbClr val="2E2A36"/>
                </a:solidFill>
                <a:latin typeface="Montserrat"/>
              </a:rPr>
              <a:t>¿Prefieren el mármol o el cristal?</a:t>
            </a:r>
          </a:p>
          <a:p>
            <a:pPr algn="l">
              <a:lnSpc>
                <a:spcPct val="115000"/>
              </a:lnSpc>
              <a:spcAft>
                <a:spcPts val="300"/>
              </a:spcAft>
            </a:pPr>
            <a:r>
              <a:rPr sz="650" b="1" i="0">
                <a:solidFill>
                  <a:srgbClr val="C9A86A"/>
                </a:solidFill>
                <a:latin typeface="Montserrat"/>
              </a:rPr>
              <a:t>?  </a:t>
            </a:r>
            <a:r>
              <a:rPr sz="950" b="0" i="0">
                <a:solidFill>
                  <a:srgbClr val="2E2A36"/>
                </a:solidFill>
                <a:latin typeface="Montserrat"/>
              </a:rPr>
              <a:t>¿Pensarían en un espacio para dos personas de la familia?</a:t>
            </a:r>
          </a:p>
        </p:txBody>
      </p:sp>
      <p:sp>
        <p:nvSpPr>
          <p:cNvPr id="26" name="Rectangle 25"/>
          <p:cNvSpPr/>
          <p:nvPr/>
        </p:nvSpPr>
        <p:spPr>
          <a:xfrm>
            <a:off x="3872484" y="7086600"/>
            <a:ext cx="3186684" cy="1600200"/>
          </a:xfrm>
          <a:prstGeom prst="rect">
            <a:avLst/>
          </a:prstGeom>
          <a:solidFill>
            <a:srgbClr val="EE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72484" y="7086600"/>
            <a:ext cx="3186684" cy="64008"/>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09644" y="719632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FRASE DE CIERRE</a:t>
            </a:r>
          </a:p>
        </p:txBody>
      </p:sp>
      <p:sp>
        <p:nvSpPr>
          <p:cNvPr id="29" name="TextBox 28"/>
          <p:cNvSpPr txBox="1"/>
          <p:nvPr/>
        </p:nvSpPr>
        <p:spPr>
          <a:xfrm>
            <a:off x="4009644" y="7470648"/>
            <a:ext cx="2912364" cy="1143000"/>
          </a:xfrm>
          <a:prstGeom prst="rect">
            <a:avLst/>
          </a:prstGeom>
          <a:noFill/>
        </p:spPr>
        <p:txBody>
          <a:bodyPr wrap="square" anchor="t" lIns="45720" rIns="45720" tIns="27432" bIns="27432">
            <a:spAutoFit/>
          </a:bodyPr>
          <a:lstStyle/>
          <a:p>
            <a:pPr algn="l">
              <a:lnSpc>
                <a:spcPct val="115000"/>
              </a:lnSpc>
              <a:spcAft>
                <a:spcPts val="300"/>
              </a:spcAft>
            </a:pPr>
            <a:r>
              <a:rPr sz="1050" b="0" i="0">
                <a:solidFill>
                  <a:srgbClr val="2E2A36"/>
                </a:solidFill>
                <a:latin typeface="Montserrat"/>
              </a:rPr>
              <a:t>"¿Visitamos El Hogar de las Memorias para que elija la fila y el nivel?"</a:t>
            </a:r>
          </a:p>
        </p:txBody>
      </p:sp>
      <p:sp>
        <p:nvSpPr>
          <p:cNvPr id="30" name="Rectangle 29"/>
          <p:cNvSpPr/>
          <p:nvPr/>
        </p:nvSpPr>
        <p:spPr>
          <a:xfrm>
            <a:off x="502920" y="8823960"/>
            <a:ext cx="3186684" cy="1325880"/>
          </a:xfrm>
          <a:prstGeom prst="rect">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2920" y="8823960"/>
            <a:ext cx="3186684" cy="6400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8933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OBJECIÓN TÍPICA</a:t>
            </a:r>
          </a:p>
        </p:txBody>
      </p:sp>
      <p:sp>
        <p:nvSpPr>
          <p:cNvPr id="33" name="TextBox 32"/>
          <p:cNvSpPr txBox="1"/>
          <p:nvPr/>
        </p:nvSpPr>
        <p:spPr>
          <a:xfrm>
            <a:off x="640080" y="9208008"/>
            <a:ext cx="2912364" cy="868680"/>
          </a:xfrm>
          <a:prstGeom prst="rect">
            <a:avLst/>
          </a:prstGeom>
          <a:noFill/>
        </p:spPr>
        <p:txBody>
          <a:bodyPr wrap="square" anchor="t" lIns="45720" rIns="45720" tIns="27432" bIns="27432">
            <a:spAutoFit/>
          </a:bodyPr>
          <a:lstStyle/>
          <a:p>
            <a:pPr algn="l">
              <a:lnSpc>
                <a:spcPct val="115000"/>
              </a:lnSpc>
              <a:spcAft>
                <a:spcPts val="300"/>
              </a:spcAft>
            </a:pPr>
            <a:r>
              <a:rPr sz="900" b="0" i="0">
                <a:solidFill>
                  <a:srgbClr val="2E2A36"/>
                </a:solidFill>
                <a:latin typeface="Montserrat"/>
              </a:rPr>
              <a:t>"Ya tengo las cenizas en casa." → "Es natural tenerlas cerca. En el columbario quedan protegidas para siempre y toda la familia puede visitarlas."</a:t>
            </a:r>
          </a:p>
        </p:txBody>
      </p:sp>
      <p:sp>
        <p:nvSpPr>
          <p:cNvPr id="34" name="Rectangle 33"/>
          <p:cNvSpPr/>
          <p:nvPr/>
        </p:nvSpPr>
        <p:spPr>
          <a:xfrm>
            <a:off x="3872484" y="8823960"/>
            <a:ext cx="3186684" cy="1325880"/>
          </a:xfrm>
          <a:prstGeom prst="rect">
            <a:avLst/>
          </a:prstGeom>
          <a:solidFill>
            <a:srgbClr val="ED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872484" y="8823960"/>
            <a:ext cx="3186684" cy="64008"/>
          </a:xfrm>
          <a:prstGeom prst="rect">
            <a:avLst/>
          </a:prstGeom>
          <a:solidFill>
            <a:srgbClr val="6F8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09644" y="8933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TIP DEL ASESOR</a:t>
            </a:r>
          </a:p>
        </p:txBody>
      </p:sp>
      <p:sp>
        <p:nvSpPr>
          <p:cNvPr id="37" name="TextBox 36"/>
          <p:cNvSpPr txBox="1"/>
          <p:nvPr/>
        </p:nvSpPr>
        <p:spPr>
          <a:xfrm>
            <a:off x="4009644" y="9208008"/>
            <a:ext cx="2912364" cy="868680"/>
          </a:xfrm>
          <a:prstGeom prst="rect">
            <a:avLst/>
          </a:prstGeom>
          <a:noFill/>
        </p:spPr>
        <p:txBody>
          <a:bodyPr wrap="square" anchor="t" lIns="45720" rIns="45720" tIns="27432" bIns="27432">
            <a:spAutoFit/>
          </a:bodyPr>
          <a:lstStyle/>
          <a:p>
            <a:pPr algn="l">
              <a:lnSpc>
                <a:spcPct val="115000"/>
              </a:lnSpc>
              <a:spcAft>
                <a:spcPts val="300"/>
              </a:spcAft>
            </a:pPr>
            <a:r>
              <a:rPr sz="1050" b="0" i="0">
                <a:solidFill>
                  <a:srgbClr val="2E2A36"/>
                </a:solidFill>
                <a:latin typeface="Montserrat"/>
              </a:rPr>
              <a:t>Es el destino natural al terminar los 12 meses de columbario temporal de la Solución Modular.</a:t>
            </a:r>
          </a:p>
        </p:txBody>
      </p:sp>
      <p:sp>
        <p:nvSpPr>
          <p:cNvPr id="38" name="TextBox 37"/>
          <p:cNvSpPr txBox="1"/>
          <p:nvPr/>
        </p:nvSpPr>
        <p:spPr>
          <a:xfrm>
            <a:off x="502920" y="10277856"/>
            <a:ext cx="5641848"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39" name="TextBox 38"/>
          <p:cNvSpPr txBox="1"/>
          <p:nvPr/>
        </p:nvSpPr>
        <p:spPr>
          <a:xfrm>
            <a:off x="6144768" y="10277856"/>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562088" cy="146304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0"/>
            <a:ext cx="7562088"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4206240"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C9A86A"/>
                </a:solidFill>
                <a:latin typeface="Montserrat"/>
              </a:rPr>
              <a:t>HOGAR DE LAS MEMORIAS · COLUMBARIO PREMIUM</a:t>
            </a:r>
          </a:p>
        </p:txBody>
      </p:sp>
      <p:sp>
        <p:nvSpPr>
          <p:cNvPr id="5" name="TextBox 4"/>
          <p:cNvSpPr txBox="1"/>
          <p:nvPr/>
        </p:nvSpPr>
        <p:spPr>
          <a:xfrm>
            <a:off x="502920" y="502920"/>
            <a:ext cx="4206240" cy="868680"/>
          </a:xfrm>
          <a:prstGeom prst="rect">
            <a:avLst/>
          </a:prstGeom>
          <a:noFill/>
        </p:spPr>
        <p:txBody>
          <a:bodyPr wrap="square" anchor="t" lIns="45720" rIns="45720" tIns="27432" bIns="27432">
            <a:spAutoFit/>
          </a:bodyPr>
          <a:lstStyle/>
          <a:p>
            <a:pPr algn="l">
              <a:lnSpc>
                <a:spcPct val="100000"/>
              </a:lnSpc>
              <a:spcAft>
                <a:spcPts val="400"/>
              </a:spcAft>
            </a:pPr>
            <a:r>
              <a:rPr sz="2100" b="1" i="0">
                <a:solidFill>
                  <a:srgbClr val="FFFFFF"/>
                </a:solidFill>
                <a:latin typeface="Playfair Display"/>
              </a:rPr>
              <a:t>Columbario Ónix</a:t>
            </a:r>
          </a:p>
        </p:txBody>
      </p:sp>
      <p:sp>
        <p:nvSpPr>
          <p:cNvPr id="6" name="TextBox 5"/>
          <p:cNvSpPr txBox="1"/>
          <p:nvPr/>
        </p:nvSpPr>
        <p:spPr>
          <a:xfrm>
            <a:off x="4663440" y="228600"/>
            <a:ext cx="2395728" cy="274320"/>
          </a:xfrm>
          <a:prstGeom prst="rect">
            <a:avLst/>
          </a:prstGeom>
          <a:noFill/>
        </p:spPr>
        <p:txBody>
          <a:bodyPr wrap="square" anchor="t" lIns="45720" rIns="45720" tIns="27432" bIns="27432">
            <a:spAutoFit/>
          </a:bodyPr>
          <a:lstStyle/>
          <a:p>
            <a:pPr algn="r">
              <a:lnSpc>
                <a:spcPct val="115000"/>
              </a:lnSpc>
              <a:spcAft>
                <a:spcPts val="400"/>
              </a:spcAft>
            </a:pPr>
            <a:r>
              <a:rPr sz="950" b="1" i="0">
                <a:solidFill>
                  <a:srgbClr val="C9A86A"/>
                </a:solidFill>
                <a:latin typeface="Montserrat"/>
              </a:rPr>
              <a:t>PRECIO SEGÚN MODALIDAD</a:t>
            </a:r>
          </a:p>
        </p:txBody>
      </p:sp>
      <p:sp>
        <p:nvSpPr>
          <p:cNvPr id="7" name="TextBox 6"/>
          <p:cNvSpPr txBox="1"/>
          <p:nvPr/>
        </p:nvSpPr>
        <p:spPr>
          <a:xfrm>
            <a:off x="4663440" y="502920"/>
            <a:ext cx="2395728" cy="868680"/>
          </a:xfrm>
          <a:prstGeom prst="rect">
            <a:avLst/>
          </a:prstGeom>
          <a:noFill/>
        </p:spPr>
        <p:txBody>
          <a:bodyPr wrap="square" anchor="ctr" lIns="45720" rIns="45720" tIns="27432" bIns="27432">
            <a:spAutoFit/>
          </a:bodyPr>
          <a:lstStyle/>
          <a:p>
            <a:pPr algn="r">
              <a:lnSpc>
                <a:spcPct val="115000"/>
              </a:lnSpc>
              <a:spcAft>
                <a:spcPts val="400"/>
              </a:spcAft>
            </a:pPr>
            <a:r>
              <a:rPr sz="1900" b="1" i="0">
                <a:solidFill>
                  <a:srgbClr val="FFFFFF"/>
                </a:solidFill>
                <a:latin typeface="Montserrat"/>
              </a:rPr>
              <a:t>US$ 3.100 / 5.000</a:t>
            </a:r>
          </a:p>
        </p:txBody>
      </p:sp>
      <p:sp>
        <p:nvSpPr>
          <p:cNvPr id="8" name="TextBox 7"/>
          <p:cNvSpPr txBox="1"/>
          <p:nvPr/>
        </p:nvSpPr>
        <p:spPr>
          <a:xfrm>
            <a:off x="502920" y="1627632"/>
            <a:ext cx="6556248" cy="320040"/>
          </a:xfrm>
          <a:prstGeom prst="rect">
            <a:avLst/>
          </a:prstGeom>
          <a:noFill/>
        </p:spPr>
        <p:txBody>
          <a:bodyPr wrap="square" anchor="t" lIns="45720" rIns="45720" tIns="27432" bIns="27432">
            <a:spAutoFit/>
          </a:bodyPr>
          <a:lstStyle/>
          <a:p>
            <a:pPr algn="l">
              <a:lnSpc>
                <a:spcPct val="115000"/>
              </a:lnSpc>
              <a:spcAft>
                <a:spcPts val="400"/>
              </a:spcAft>
            </a:pPr>
            <a:r>
              <a:rPr sz="1000" b="0" i="1">
                <a:solidFill>
                  <a:srgbClr val="7D7887"/>
                </a:solidFill>
                <a:latin typeface="Montserrat"/>
              </a:rPr>
              <a:t>Finados y noviembre (−15%): US$ 2.635 / 4.250 · Único o hasta 120 meses, con intereses</a:t>
            </a:r>
          </a:p>
        </p:txBody>
      </p:sp>
      <p:sp>
        <p:nvSpPr>
          <p:cNvPr id="9" name="TextBox 8"/>
          <p:cNvSpPr txBox="1"/>
          <p:nvPr/>
        </p:nvSpPr>
        <p:spPr>
          <a:xfrm>
            <a:off x="502920" y="1993392"/>
            <a:ext cx="6556248" cy="10515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Qué es.  </a:t>
            </a:r>
            <a:r>
              <a:rPr sz="1100" b="0" i="0">
                <a:solidFill>
                  <a:srgbClr val="2E2A36"/>
                </a:solidFill>
                <a:latin typeface="Montserrat"/>
              </a:rPr>
              <a:t>Inspirado en la belleza del ónix natural, de tonos cálidos y apariencia luminosa: un columbario exclusivo para un homenaje perdurable.</a:t>
            </a:r>
          </a:p>
          <a:p>
            <a:pPr algn="l">
              <a:lnSpc>
                <a:spcPct val="115000"/>
              </a:lnSpc>
              <a:spcAft>
                <a:spcPts val="400"/>
              </a:spcAft>
            </a:pPr>
            <a:r>
              <a:rPr sz="1100" b="1" i="0">
                <a:solidFill>
                  <a:srgbClr val="5B3F80"/>
                </a:solidFill>
                <a:latin typeface="Montserrat"/>
              </a:rPr>
              <a:t>Para quién.  </a:t>
            </a:r>
            <a:r>
              <a:rPr sz="1100" b="0" i="0">
                <a:solidFill>
                  <a:srgbClr val="2E2A36"/>
                </a:solidFill>
                <a:latin typeface="Montserrat"/>
              </a:rPr>
              <a:t>Familias que buscan exclusividad y una piedra natural de alta gama para el homenaje.</a:t>
            </a:r>
          </a:p>
        </p:txBody>
      </p:sp>
      <p:sp>
        <p:nvSpPr>
          <p:cNvPr id="10" name="Rectangle 9"/>
          <p:cNvSpPr/>
          <p:nvPr/>
        </p:nvSpPr>
        <p:spPr>
          <a:xfrm>
            <a:off x="502920" y="3108960"/>
            <a:ext cx="3186684" cy="242316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108960"/>
            <a:ext cx="3186684" cy="64008"/>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218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QUÉ INCLUYE</a:t>
            </a:r>
          </a:p>
        </p:txBody>
      </p:sp>
      <p:sp>
        <p:nvSpPr>
          <p:cNvPr id="13" name="TextBox 12"/>
          <p:cNvSpPr txBox="1"/>
          <p:nvPr/>
        </p:nvSpPr>
        <p:spPr>
          <a:xfrm>
            <a:off x="640080" y="3493008"/>
            <a:ext cx="2912364" cy="1965960"/>
          </a:xfrm>
          <a:prstGeom prst="rect">
            <a:avLst/>
          </a:prstGeom>
          <a:noFill/>
        </p:spPr>
        <p:txBody>
          <a:bodyPr wrap="square" anchor="t" lIns="45720" rIns="45720" tIns="27432" bIns="27432">
            <a:spAutoFit/>
          </a:bodyPr>
          <a:lstStyle/>
          <a:p>
            <a:pPr algn="l">
              <a:lnSpc>
                <a:spcPct val="115000"/>
              </a:lnSpc>
              <a:spcAft>
                <a:spcPts val="300"/>
              </a:spcAft>
            </a:pPr>
            <a:r>
              <a:rPr sz="750" b="1" i="0">
                <a:solidFill>
                  <a:srgbClr val="5E9A3C"/>
                </a:solidFill>
                <a:latin typeface="Montserrat"/>
              </a:rPr>
              <a:t>✓  </a:t>
            </a:r>
            <a:r>
              <a:rPr sz="1050" b="0" i="0">
                <a:solidFill>
                  <a:srgbClr val="2E2A36"/>
                </a:solidFill>
                <a:latin typeface="Montserrat"/>
              </a:rPr>
              <a:t>Incluye espacio permanente en columbario de ónix natural</a:t>
            </a:r>
          </a:p>
          <a:p>
            <a:pPr algn="l">
              <a:lnSpc>
                <a:spcPct val="115000"/>
              </a:lnSpc>
              <a:spcAft>
                <a:spcPts val="300"/>
              </a:spcAft>
            </a:pPr>
            <a:r>
              <a:rPr sz="750" b="1" i="0">
                <a:solidFill>
                  <a:srgbClr val="5E9A3C"/>
                </a:solidFill>
                <a:latin typeface="Montserrat"/>
              </a:rPr>
              <a:t>✓  </a:t>
            </a:r>
            <a:r>
              <a:rPr sz="1050" b="0" i="0">
                <a:solidFill>
                  <a:srgbClr val="2E2A36"/>
                </a:solidFill>
                <a:latin typeface="Montserrat"/>
              </a:rPr>
              <a:t>Tamaño estándar: hasta 2 urnas, con ubicación definida (US$ 3.100)</a:t>
            </a:r>
          </a:p>
          <a:p>
            <a:pPr algn="l">
              <a:lnSpc>
                <a:spcPct val="115000"/>
              </a:lnSpc>
              <a:spcAft>
                <a:spcPts val="300"/>
              </a:spcAft>
            </a:pPr>
            <a:r>
              <a:rPr sz="750" b="1" i="0">
                <a:solidFill>
                  <a:srgbClr val="5E9A3C"/>
                </a:solidFill>
                <a:latin typeface="Montserrat"/>
              </a:rPr>
              <a:t>✓  </a:t>
            </a:r>
            <a:r>
              <a:rPr sz="1050" b="0" i="0">
                <a:solidFill>
                  <a:srgbClr val="2E2A36"/>
                </a:solidFill>
                <a:latin typeface="Montserrat"/>
              </a:rPr>
              <a:t>Una opción familiar: hasta 4 urnas, con ubicación a futuro (US$ 5.000)</a:t>
            </a:r>
          </a:p>
        </p:txBody>
      </p:sp>
      <p:sp>
        <p:nvSpPr>
          <p:cNvPr id="14" name="Rectangle 13"/>
          <p:cNvSpPr/>
          <p:nvPr/>
        </p:nvSpPr>
        <p:spPr>
          <a:xfrm>
            <a:off x="3872484" y="3108960"/>
            <a:ext cx="3186684" cy="242316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872484" y="3108960"/>
            <a:ext cx="3186684"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09644" y="3218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REGLAS DEL PRODUCTO</a:t>
            </a:r>
          </a:p>
        </p:txBody>
      </p:sp>
      <p:sp>
        <p:nvSpPr>
          <p:cNvPr id="17" name="TextBox 16"/>
          <p:cNvSpPr txBox="1"/>
          <p:nvPr/>
        </p:nvSpPr>
        <p:spPr>
          <a:xfrm>
            <a:off x="4009644" y="3493008"/>
            <a:ext cx="2912364" cy="1965960"/>
          </a:xfrm>
          <a:prstGeom prst="rect">
            <a:avLst/>
          </a:prstGeom>
          <a:noFill/>
        </p:spPr>
        <p:txBody>
          <a:bodyPr wrap="square" anchor="t" lIns="45720" rIns="45720" tIns="27432" bIns="27432">
            <a:spAutoFit/>
          </a:bodyPr>
          <a:lstStyle/>
          <a:p>
            <a:pPr algn="l">
              <a:lnSpc>
                <a:spcPct val="115000"/>
              </a:lnSpc>
              <a:spcAft>
                <a:spcPts val="300"/>
              </a:spcAft>
            </a:pPr>
            <a:r>
              <a:rPr sz="750" b="1" i="0">
                <a:solidFill>
                  <a:srgbClr val="C9A86A"/>
                </a:solidFill>
                <a:latin typeface="Montserrat"/>
              </a:rPr>
              <a:t>■  </a:t>
            </a:r>
            <a:r>
              <a:rPr sz="1050" b="0" i="0">
                <a:solidFill>
                  <a:srgbClr val="2E2A36"/>
                </a:solidFill>
                <a:latin typeface="Montserrat"/>
              </a:rPr>
              <a:t>Cremación no incluida: se contrata aparte.</a:t>
            </a:r>
          </a:p>
          <a:p>
            <a:pPr algn="l">
              <a:lnSpc>
                <a:spcPct val="115000"/>
              </a:lnSpc>
              <a:spcAft>
                <a:spcPts val="300"/>
              </a:spcAft>
            </a:pPr>
            <a:r>
              <a:rPr sz="750" b="1" i="0">
                <a:solidFill>
                  <a:srgbClr val="C9A86A"/>
                </a:solidFill>
                <a:latin typeface="Montserrat"/>
              </a:rPr>
              <a:t>■  </a:t>
            </a:r>
            <a:r>
              <a:rPr sz="1050" b="0" i="0">
                <a:solidFill>
                  <a:srgbClr val="2E2A36"/>
                </a:solidFill>
                <a:latin typeface="Montserrat"/>
              </a:rPr>
              <a:t>Con la modalidad estándar la ubicación es definida; con la familiar, a futuro.</a:t>
            </a:r>
          </a:p>
        </p:txBody>
      </p:sp>
      <p:sp>
        <p:nvSpPr>
          <p:cNvPr id="18" name="Rectangle 17"/>
          <p:cNvSpPr/>
          <p:nvPr/>
        </p:nvSpPr>
        <p:spPr>
          <a:xfrm>
            <a:off x="502920" y="5669280"/>
            <a:ext cx="6556248" cy="128016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5669280"/>
            <a:ext cx="73152" cy="128016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715000"/>
            <a:ext cx="6190488"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SPEECH SUGERIDO</a:t>
            </a:r>
          </a:p>
        </p:txBody>
      </p:sp>
      <p:sp>
        <p:nvSpPr>
          <p:cNvPr id="21" name="TextBox 20"/>
          <p:cNvSpPr txBox="1"/>
          <p:nvPr/>
        </p:nvSpPr>
        <p:spPr>
          <a:xfrm>
            <a:off x="731520" y="5961888"/>
            <a:ext cx="6190488" cy="960120"/>
          </a:xfrm>
          <a:prstGeom prst="rect">
            <a:avLst/>
          </a:prstGeom>
          <a:noFill/>
        </p:spPr>
        <p:txBody>
          <a:bodyPr wrap="square" anchor="t" lIns="45720" rIns="45720" tIns="27432" bIns="27432">
            <a:spAutoFit/>
          </a:bodyPr>
          <a:lstStyle/>
          <a:p>
            <a:pPr algn="l">
              <a:lnSpc>
                <a:spcPct val="115000"/>
              </a:lnSpc>
              <a:spcAft>
                <a:spcPts val="400"/>
              </a:spcAft>
            </a:pPr>
            <a:r>
              <a:rPr sz="1100" b="0" i="1">
                <a:solidFill>
                  <a:srgbClr val="3E2A5C"/>
                </a:solidFill>
                <a:latin typeface="Playfair Display"/>
              </a:rPr>
              <a:t>"El ónix es una piedra natural única: su luz y sus tonos cálidos hacen de cada espacio un lugar de paz. Es un homenaje distinto, a la altura de quien usted ama."</a:t>
            </a:r>
          </a:p>
        </p:txBody>
      </p:sp>
      <p:sp>
        <p:nvSpPr>
          <p:cNvPr id="22" name="Rectangle 21"/>
          <p:cNvSpPr/>
          <p:nvPr/>
        </p:nvSpPr>
        <p:spPr>
          <a:xfrm>
            <a:off x="502920" y="7086600"/>
            <a:ext cx="3186684" cy="16002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7086600"/>
            <a:ext cx="3186684"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719632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PREGUNTAS DE DESCUBRIMIENTO</a:t>
            </a:r>
          </a:p>
        </p:txBody>
      </p:sp>
      <p:sp>
        <p:nvSpPr>
          <p:cNvPr id="25" name="TextBox 24"/>
          <p:cNvSpPr txBox="1"/>
          <p:nvPr/>
        </p:nvSpPr>
        <p:spPr>
          <a:xfrm>
            <a:off x="640080" y="7470648"/>
            <a:ext cx="2912364" cy="1143000"/>
          </a:xfrm>
          <a:prstGeom prst="rect">
            <a:avLst/>
          </a:prstGeom>
          <a:noFill/>
        </p:spPr>
        <p:txBody>
          <a:bodyPr wrap="square" anchor="t" lIns="45720" rIns="45720" tIns="27432" bIns="27432">
            <a:spAutoFit/>
          </a:bodyPr>
          <a:lstStyle/>
          <a:p>
            <a:pPr algn="l">
              <a:lnSpc>
                <a:spcPct val="115000"/>
              </a:lnSpc>
              <a:spcAft>
                <a:spcPts val="300"/>
              </a:spcAft>
            </a:pPr>
            <a:r>
              <a:rPr sz="650" b="1" i="0">
                <a:solidFill>
                  <a:srgbClr val="C9A86A"/>
                </a:solidFill>
                <a:latin typeface="Montserrat"/>
              </a:rPr>
              <a:t>?  </a:t>
            </a:r>
            <a:r>
              <a:rPr sz="950" b="0" i="0">
                <a:solidFill>
                  <a:srgbClr val="2E2A36"/>
                </a:solidFill>
                <a:latin typeface="Montserrat"/>
              </a:rPr>
              <a:t>¿Qué tipo de homenaje imagina para su familia?</a:t>
            </a:r>
          </a:p>
          <a:p>
            <a:pPr algn="l">
              <a:lnSpc>
                <a:spcPct val="115000"/>
              </a:lnSpc>
              <a:spcAft>
                <a:spcPts val="300"/>
              </a:spcAft>
            </a:pPr>
            <a:r>
              <a:rPr sz="650" b="1" i="0">
                <a:solidFill>
                  <a:srgbClr val="C9A86A"/>
                </a:solidFill>
                <a:latin typeface="Montserrat"/>
              </a:rPr>
              <a:t>?  </a:t>
            </a:r>
            <a:r>
              <a:rPr sz="950" b="0" i="0">
                <a:solidFill>
                  <a:srgbClr val="2E2A36"/>
                </a:solidFill>
                <a:latin typeface="Montserrat"/>
              </a:rPr>
              <a:t>¿Sería para dos personas o para la familia completa?</a:t>
            </a:r>
          </a:p>
        </p:txBody>
      </p:sp>
      <p:sp>
        <p:nvSpPr>
          <p:cNvPr id="26" name="Rectangle 25"/>
          <p:cNvSpPr/>
          <p:nvPr/>
        </p:nvSpPr>
        <p:spPr>
          <a:xfrm>
            <a:off x="3872484" y="7086600"/>
            <a:ext cx="3186684" cy="1600200"/>
          </a:xfrm>
          <a:prstGeom prst="rect">
            <a:avLst/>
          </a:prstGeom>
          <a:solidFill>
            <a:srgbClr val="EE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72484" y="7086600"/>
            <a:ext cx="3186684" cy="64008"/>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09644" y="719632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FRASE DE CIERRE</a:t>
            </a:r>
          </a:p>
        </p:txBody>
      </p:sp>
      <p:sp>
        <p:nvSpPr>
          <p:cNvPr id="29" name="TextBox 28"/>
          <p:cNvSpPr txBox="1"/>
          <p:nvPr/>
        </p:nvSpPr>
        <p:spPr>
          <a:xfrm>
            <a:off x="4009644" y="7470648"/>
            <a:ext cx="2912364" cy="1143000"/>
          </a:xfrm>
          <a:prstGeom prst="rect">
            <a:avLst/>
          </a:prstGeom>
          <a:noFill/>
        </p:spPr>
        <p:txBody>
          <a:bodyPr wrap="square" anchor="t" lIns="45720" rIns="45720" tIns="27432" bIns="27432">
            <a:spAutoFit/>
          </a:bodyPr>
          <a:lstStyle/>
          <a:p>
            <a:pPr algn="l">
              <a:lnSpc>
                <a:spcPct val="115000"/>
              </a:lnSpc>
              <a:spcAft>
                <a:spcPts val="300"/>
              </a:spcAft>
            </a:pPr>
            <a:r>
              <a:rPr sz="1050" b="0" i="0">
                <a:solidFill>
                  <a:srgbClr val="2E2A36"/>
                </a:solidFill>
                <a:latin typeface="Montserrat"/>
              </a:rPr>
              <a:t>"¿Le muestro el columbario de ónix para que vea la piedra en persona?"</a:t>
            </a:r>
          </a:p>
        </p:txBody>
      </p:sp>
      <p:sp>
        <p:nvSpPr>
          <p:cNvPr id="30" name="Rectangle 29"/>
          <p:cNvSpPr/>
          <p:nvPr/>
        </p:nvSpPr>
        <p:spPr>
          <a:xfrm>
            <a:off x="502920" y="8823960"/>
            <a:ext cx="3186684" cy="1325880"/>
          </a:xfrm>
          <a:prstGeom prst="rect">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2920" y="8823960"/>
            <a:ext cx="3186684" cy="6400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8933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OBJECIÓN TÍPICA</a:t>
            </a:r>
          </a:p>
        </p:txBody>
      </p:sp>
      <p:sp>
        <p:nvSpPr>
          <p:cNvPr id="33" name="TextBox 32"/>
          <p:cNvSpPr txBox="1"/>
          <p:nvPr/>
        </p:nvSpPr>
        <p:spPr>
          <a:xfrm>
            <a:off x="640080" y="9208008"/>
            <a:ext cx="2912364" cy="868680"/>
          </a:xfrm>
          <a:prstGeom prst="rect">
            <a:avLst/>
          </a:prstGeom>
          <a:noFill/>
        </p:spPr>
        <p:txBody>
          <a:bodyPr wrap="square" anchor="t" lIns="45720" rIns="45720" tIns="27432" bIns="27432">
            <a:spAutoFit/>
          </a:bodyPr>
          <a:lstStyle/>
          <a:p>
            <a:pPr algn="l">
              <a:lnSpc>
                <a:spcPct val="115000"/>
              </a:lnSpc>
              <a:spcAft>
                <a:spcPts val="300"/>
              </a:spcAft>
            </a:pPr>
            <a:r>
              <a:rPr sz="900" b="0" i="0">
                <a:solidFill>
                  <a:srgbClr val="2E2A36"/>
                </a:solidFill>
                <a:latin typeface="Montserrat"/>
              </a:rPr>
              <a:t>"Hay opciones más baratas." → "Sí, y con gusto se las muestro. El ónix es para quien busca algo único: una piedra natural que no se repite."</a:t>
            </a:r>
          </a:p>
        </p:txBody>
      </p:sp>
      <p:sp>
        <p:nvSpPr>
          <p:cNvPr id="34" name="Rectangle 33"/>
          <p:cNvSpPr/>
          <p:nvPr/>
        </p:nvSpPr>
        <p:spPr>
          <a:xfrm>
            <a:off x="3872484" y="8823960"/>
            <a:ext cx="3186684" cy="1325880"/>
          </a:xfrm>
          <a:prstGeom prst="rect">
            <a:avLst/>
          </a:prstGeom>
          <a:solidFill>
            <a:srgbClr val="ED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872484" y="8823960"/>
            <a:ext cx="3186684" cy="64008"/>
          </a:xfrm>
          <a:prstGeom prst="rect">
            <a:avLst/>
          </a:prstGeom>
          <a:solidFill>
            <a:srgbClr val="6F8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09644" y="8933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TIP DEL ASESOR</a:t>
            </a:r>
          </a:p>
        </p:txBody>
      </p:sp>
      <p:sp>
        <p:nvSpPr>
          <p:cNvPr id="37" name="TextBox 36"/>
          <p:cNvSpPr txBox="1"/>
          <p:nvPr/>
        </p:nvSpPr>
        <p:spPr>
          <a:xfrm>
            <a:off x="4009644" y="9208008"/>
            <a:ext cx="2912364" cy="868680"/>
          </a:xfrm>
          <a:prstGeom prst="rect">
            <a:avLst/>
          </a:prstGeom>
          <a:noFill/>
        </p:spPr>
        <p:txBody>
          <a:bodyPr wrap="square" anchor="t" lIns="45720" rIns="45720" tIns="27432" bIns="27432">
            <a:spAutoFit/>
          </a:bodyPr>
          <a:lstStyle/>
          <a:p>
            <a:pPr algn="l">
              <a:lnSpc>
                <a:spcPct val="115000"/>
              </a:lnSpc>
              <a:spcAft>
                <a:spcPts val="300"/>
              </a:spcAft>
            </a:pPr>
            <a:r>
              <a:rPr sz="1050" b="0" i="0">
                <a:solidFill>
                  <a:srgbClr val="2E2A36"/>
                </a:solidFill>
                <a:latin typeface="Montserrat"/>
              </a:rPr>
              <a:t>Muestre la piedra en persona: la luz del ónix se aprecia mejor que en cualquier foto.</a:t>
            </a:r>
          </a:p>
        </p:txBody>
      </p:sp>
      <p:sp>
        <p:nvSpPr>
          <p:cNvPr id="38" name="TextBox 37"/>
          <p:cNvSpPr txBox="1"/>
          <p:nvPr/>
        </p:nvSpPr>
        <p:spPr>
          <a:xfrm>
            <a:off x="502920" y="10277856"/>
            <a:ext cx="5641848"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39" name="TextBox 38"/>
          <p:cNvSpPr txBox="1"/>
          <p:nvPr/>
        </p:nvSpPr>
        <p:spPr>
          <a:xfrm>
            <a:off x="6144768" y="10277856"/>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562088" cy="146304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0"/>
            <a:ext cx="7562088"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4206240"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C9A86A"/>
                </a:solidFill>
                <a:latin typeface="Montserrat"/>
              </a:rPr>
              <a:t>HOGAR DE LAS MEMORIAS · COLUMBARIO FAMILIAR</a:t>
            </a:r>
          </a:p>
        </p:txBody>
      </p:sp>
      <p:sp>
        <p:nvSpPr>
          <p:cNvPr id="5" name="TextBox 4"/>
          <p:cNvSpPr txBox="1"/>
          <p:nvPr/>
        </p:nvSpPr>
        <p:spPr>
          <a:xfrm>
            <a:off x="502920" y="502920"/>
            <a:ext cx="4206240" cy="868680"/>
          </a:xfrm>
          <a:prstGeom prst="rect">
            <a:avLst/>
          </a:prstGeom>
          <a:noFill/>
        </p:spPr>
        <p:txBody>
          <a:bodyPr wrap="square" anchor="t" lIns="45720" rIns="45720" tIns="27432" bIns="27432">
            <a:spAutoFit/>
          </a:bodyPr>
          <a:lstStyle/>
          <a:p>
            <a:pPr algn="l">
              <a:lnSpc>
                <a:spcPct val="100000"/>
              </a:lnSpc>
              <a:spcAft>
                <a:spcPts val="400"/>
              </a:spcAft>
            </a:pPr>
            <a:r>
              <a:rPr sz="2100" b="1" i="0">
                <a:solidFill>
                  <a:srgbClr val="FFFFFF"/>
                </a:solidFill>
                <a:latin typeface="Playfair Display"/>
              </a:rPr>
              <a:t>Columbario Obra de Arte</a:t>
            </a:r>
          </a:p>
        </p:txBody>
      </p:sp>
      <p:sp>
        <p:nvSpPr>
          <p:cNvPr id="6" name="TextBox 5"/>
          <p:cNvSpPr txBox="1"/>
          <p:nvPr/>
        </p:nvSpPr>
        <p:spPr>
          <a:xfrm>
            <a:off x="4663440" y="228600"/>
            <a:ext cx="2395728" cy="274320"/>
          </a:xfrm>
          <a:prstGeom prst="rect">
            <a:avLst/>
          </a:prstGeom>
          <a:noFill/>
        </p:spPr>
        <p:txBody>
          <a:bodyPr wrap="square" anchor="t" lIns="45720" rIns="45720" tIns="27432" bIns="27432">
            <a:spAutoFit/>
          </a:bodyPr>
          <a:lstStyle/>
          <a:p>
            <a:pPr algn="r">
              <a:lnSpc>
                <a:spcPct val="115000"/>
              </a:lnSpc>
              <a:spcAft>
                <a:spcPts val="400"/>
              </a:spcAft>
            </a:pPr>
            <a:r>
              <a:rPr sz="950" b="1" i="0">
                <a:solidFill>
                  <a:srgbClr val="C9A86A"/>
                </a:solidFill>
                <a:latin typeface="Montserrat"/>
              </a:rPr>
              <a:t>PRECIO</a:t>
            </a:r>
          </a:p>
        </p:txBody>
      </p:sp>
      <p:sp>
        <p:nvSpPr>
          <p:cNvPr id="7" name="TextBox 6"/>
          <p:cNvSpPr txBox="1"/>
          <p:nvPr/>
        </p:nvSpPr>
        <p:spPr>
          <a:xfrm>
            <a:off x="4663440" y="502920"/>
            <a:ext cx="2395728" cy="868680"/>
          </a:xfrm>
          <a:prstGeom prst="rect">
            <a:avLst/>
          </a:prstGeom>
          <a:noFill/>
        </p:spPr>
        <p:txBody>
          <a:bodyPr wrap="square" anchor="ctr" lIns="45720" rIns="45720" tIns="27432" bIns="27432">
            <a:spAutoFit/>
          </a:bodyPr>
          <a:lstStyle/>
          <a:p>
            <a:pPr algn="r">
              <a:lnSpc>
                <a:spcPct val="115000"/>
              </a:lnSpc>
              <a:spcAft>
                <a:spcPts val="400"/>
              </a:spcAft>
            </a:pPr>
            <a:r>
              <a:rPr sz="2600" b="1" i="0">
                <a:solidFill>
                  <a:srgbClr val="FFFFFF"/>
                </a:solidFill>
                <a:latin typeface="Montserrat"/>
              </a:rPr>
              <a:t>US$ 12.500</a:t>
            </a:r>
          </a:p>
        </p:txBody>
      </p:sp>
      <p:sp>
        <p:nvSpPr>
          <p:cNvPr id="8" name="TextBox 7"/>
          <p:cNvSpPr txBox="1"/>
          <p:nvPr/>
        </p:nvSpPr>
        <p:spPr>
          <a:xfrm>
            <a:off x="502920" y="1627632"/>
            <a:ext cx="6556248" cy="320040"/>
          </a:xfrm>
          <a:prstGeom prst="rect">
            <a:avLst/>
          </a:prstGeom>
          <a:noFill/>
        </p:spPr>
        <p:txBody>
          <a:bodyPr wrap="square" anchor="t" lIns="45720" rIns="45720" tIns="27432" bIns="27432">
            <a:spAutoFit/>
          </a:bodyPr>
          <a:lstStyle/>
          <a:p>
            <a:pPr algn="l">
              <a:lnSpc>
                <a:spcPct val="115000"/>
              </a:lnSpc>
              <a:spcAft>
                <a:spcPts val="400"/>
              </a:spcAft>
            </a:pPr>
            <a:r>
              <a:rPr sz="1100" b="0" i="1">
                <a:solidFill>
                  <a:srgbClr val="7D7887"/>
                </a:solidFill>
                <a:latin typeface="Montserrat"/>
              </a:rPr>
              <a:t>Finados y noviembre (−15%): US$ 10.625 · Pago único o hasta 120 meses, con intereses</a:t>
            </a:r>
          </a:p>
        </p:txBody>
      </p:sp>
      <p:sp>
        <p:nvSpPr>
          <p:cNvPr id="9" name="TextBox 8"/>
          <p:cNvSpPr txBox="1"/>
          <p:nvPr/>
        </p:nvSpPr>
        <p:spPr>
          <a:xfrm>
            <a:off x="502920" y="1993392"/>
            <a:ext cx="6556248" cy="10515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Qué es.  </a:t>
            </a:r>
            <a:r>
              <a:rPr sz="1100" b="0" i="0">
                <a:solidFill>
                  <a:srgbClr val="2E2A36"/>
                </a:solidFill>
                <a:latin typeface="Montserrat"/>
              </a:rPr>
              <a:t>Imagen religiosa sobre tapa de ónix: un columbario familiar que es una expresión única de fe, memoria y belleza.</a:t>
            </a:r>
          </a:p>
          <a:p>
            <a:pPr algn="l">
              <a:lnSpc>
                <a:spcPct val="115000"/>
              </a:lnSpc>
              <a:spcAft>
                <a:spcPts val="400"/>
              </a:spcAft>
            </a:pPr>
            <a:r>
              <a:rPr sz="1100" b="1" i="0">
                <a:solidFill>
                  <a:srgbClr val="5B3F80"/>
                </a:solidFill>
                <a:latin typeface="Montserrat"/>
              </a:rPr>
              <a:t>Para quién.  </a:t>
            </a:r>
            <a:r>
              <a:rPr sz="1100" b="0" i="0">
                <a:solidFill>
                  <a:srgbClr val="2E2A36"/>
                </a:solidFill>
                <a:latin typeface="Montserrat"/>
              </a:rPr>
              <a:t>Familias de fe que desean un legado único y de máxima exclusividad.</a:t>
            </a:r>
          </a:p>
        </p:txBody>
      </p:sp>
      <p:sp>
        <p:nvSpPr>
          <p:cNvPr id="10" name="Rectangle 9"/>
          <p:cNvSpPr/>
          <p:nvPr/>
        </p:nvSpPr>
        <p:spPr>
          <a:xfrm>
            <a:off x="502920" y="3108960"/>
            <a:ext cx="3186684" cy="242316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108960"/>
            <a:ext cx="3186684" cy="64008"/>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218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QUÉ INCLUYE</a:t>
            </a:r>
          </a:p>
        </p:txBody>
      </p:sp>
      <p:sp>
        <p:nvSpPr>
          <p:cNvPr id="13" name="TextBox 12"/>
          <p:cNvSpPr txBox="1"/>
          <p:nvPr/>
        </p:nvSpPr>
        <p:spPr>
          <a:xfrm>
            <a:off x="640080" y="3493008"/>
            <a:ext cx="2912364" cy="1965960"/>
          </a:xfrm>
          <a:prstGeom prst="rect">
            <a:avLst/>
          </a:prstGeom>
          <a:noFill/>
        </p:spPr>
        <p:txBody>
          <a:bodyPr wrap="square" anchor="t" lIns="45720" rIns="45720" tIns="27432" bIns="27432">
            <a:spAutoFit/>
          </a:bodyPr>
          <a:lstStyle/>
          <a:p>
            <a:pPr algn="l">
              <a:lnSpc>
                <a:spcPct val="115000"/>
              </a:lnSpc>
              <a:spcAft>
                <a:spcPts val="300"/>
              </a:spcAft>
            </a:pPr>
            <a:r>
              <a:rPr sz="750" b="1" i="0">
                <a:solidFill>
                  <a:srgbClr val="5E9A3C"/>
                </a:solidFill>
                <a:latin typeface="Montserrat"/>
              </a:rPr>
              <a:t>✓  </a:t>
            </a:r>
            <a:r>
              <a:rPr sz="1050" b="0" i="0">
                <a:solidFill>
                  <a:srgbClr val="2E2A36"/>
                </a:solidFill>
                <a:latin typeface="Montserrat"/>
              </a:rPr>
              <a:t>Incluye columbario familiar permanente para hasta 4 urnas</a:t>
            </a:r>
          </a:p>
          <a:p>
            <a:pPr algn="l">
              <a:lnSpc>
                <a:spcPct val="115000"/>
              </a:lnSpc>
              <a:spcAft>
                <a:spcPts val="300"/>
              </a:spcAft>
            </a:pPr>
            <a:r>
              <a:rPr sz="750" b="1" i="0">
                <a:solidFill>
                  <a:srgbClr val="5E9A3C"/>
                </a:solidFill>
                <a:latin typeface="Montserrat"/>
              </a:rPr>
              <a:t>✓  </a:t>
            </a:r>
            <a:r>
              <a:rPr sz="1050" b="0" i="0">
                <a:solidFill>
                  <a:srgbClr val="2E2A36"/>
                </a:solidFill>
                <a:latin typeface="Montserrat"/>
              </a:rPr>
              <a:t>Tapa exclusiva de ónix con obra de arte religiosa</a:t>
            </a:r>
          </a:p>
          <a:p>
            <a:pPr algn="l">
              <a:lnSpc>
                <a:spcPct val="115000"/>
              </a:lnSpc>
              <a:spcAft>
                <a:spcPts val="300"/>
              </a:spcAft>
            </a:pPr>
            <a:r>
              <a:rPr sz="750" b="1" i="0">
                <a:solidFill>
                  <a:srgbClr val="5E9A3C"/>
                </a:solidFill>
                <a:latin typeface="Montserrat"/>
              </a:rPr>
              <a:t>✓  </a:t>
            </a:r>
            <a:r>
              <a:rPr sz="1050" b="0" i="0">
                <a:solidFill>
                  <a:srgbClr val="2E2A36"/>
                </a:solidFill>
                <a:latin typeface="Montserrat"/>
              </a:rPr>
              <a:t>Ubicación definida</a:t>
            </a:r>
          </a:p>
        </p:txBody>
      </p:sp>
      <p:sp>
        <p:nvSpPr>
          <p:cNvPr id="14" name="Rectangle 13"/>
          <p:cNvSpPr/>
          <p:nvPr/>
        </p:nvSpPr>
        <p:spPr>
          <a:xfrm>
            <a:off x="3872484" y="3108960"/>
            <a:ext cx="3186684" cy="242316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872484" y="3108960"/>
            <a:ext cx="3186684"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09644" y="3218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REGLAS DEL PRODUCTO</a:t>
            </a:r>
          </a:p>
        </p:txBody>
      </p:sp>
      <p:sp>
        <p:nvSpPr>
          <p:cNvPr id="17" name="TextBox 16"/>
          <p:cNvSpPr txBox="1"/>
          <p:nvPr/>
        </p:nvSpPr>
        <p:spPr>
          <a:xfrm>
            <a:off x="4009644" y="3493008"/>
            <a:ext cx="2912364" cy="1965960"/>
          </a:xfrm>
          <a:prstGeom prst="rect">
            <a:avLst/>
          </a:prstGeom>
          <a:noFill/>
        </p:spPr>
        <p:txBody>
          <a:bodyPr wrap="square" anchor="t" lIns="45720" rIns="45720" tIns="27432" bIns="27432">
            <a:spAutoFit/>
          </a:bodyPr>
          <a:lstStyle/>
          <a:p>
            <a:pPr algn="l">
              <a:lnSpc>
                <a:spcPct val="115000"/>
              </a:lnSpc>
              <a:spcAft>
                <a:spcPts val="300"/>
              </a:spcAft>
            </a:pPr>
            <a:r>
              <a:rPr sz="750" b="1" i="0">
                <a:solidFill>
                  <a:srgbClr val="C9A86A"/>
                </a:solidFill>
                <a:latin typeface="Montserrat"/>
              </a:rPr>
              <a:t>■  </a:t>
            </a:r>
            <a:r>
              <a:rPr sz="1050" b="0" i="0">
                <a:solidFill>
                  <a:srgbClr val="2E2A36"/>
                </a:solidFill>
                <a:latin typeface="Montserrat"/>
              </a:rPr>
              <a:t>Capacidad: hasta 4 urnas (familiar).</a:t>
            </a:r>
          </a:p>
          <a:p>
            <a:pPr algn="l">
              <a:lnSpc>
                <a:spcPct val="115000"/>
              </a:lnSpc>
              <a:spcAft>
                <a:spcPts val="300"/>
              </a:spcAft>
            </a:pPr>
            <a:r>
              <a:rPr sz="750" b="1" i="0">
                <a:solidFill>
                  <a:srgbClr val="C9A86A"/>
                </a:solidFill>
                <a:latin typeface="Montserrat"/>
              </a:rPr>
              <a:t>■  </a:t>
            </a:r>
            <a:r>
              <a:rPr sz="1050" b="0" i="0">
                <a:solidFill>
                  <a:srgbClr val="2E2A36"/>
                </a:solidFill>
                <a:latin typeface="Montserrat"/>
              </a:rPr>
              <a:t>Cremación no incluida: se contrata aparte.</a:t>
            </a:r>
          </a:p>
        </p:txBody>
      </p:sp>
      <p:sp>
        <p:nvSpPr>
          <p:cNvPr id="18" name="Rectangle 17"/>
          <p:cNvSpPr/>
          <p:nvPr/>
        </p:nvSpPr>
        <p:spPr>
          <a:xfrm>
            <a:off x="502920" y="5669280"/>
            <a:ext cx="6556248" cy="128016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5669280"/>
            <a:ext cx="73152" cy="128016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715000"/>
            <a:ext cx="6190488"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SPEECH SUGERIDO</a:t>
            </a:r>
          </a:p>
        </p:txBody>
      </p:sp>
      <p:sp>
        <p:nvSpPr>
          <p:cNvPr id="21" name="TextBox 20"/>
          <p:cNvSpPr txBox="1"/>
          <p:nvPr/>
        </p:nvSpPr>
        <p:spPr>
          <a:xfrm>
            <a:off x="731520" y="5961888"/>
            <a:ext cx="6190488" cy="960120"/>
          </a:xfrm>
          <a:prstGeom prst="rect">
            <a:avLst/>
          </a:prstGeom>
          <a:noFill/>
        </p:spPr>
        <p:txBody>
          <a:bodyPr wrap="square" anchor="t" lIns="45720" rIns="45720" tIns="27432" bIns="27432">
            <a:spAutoFit/>
          </a:bodyPr>
          <a:lstStyle/>
          <a:p>
            <a:pPr algn="l">
              <a:lnSpc>
                <a:spcPct val="115000"/>
              </a:lnSpc>
              <a:spcAft>
                <a:spcPts val="400"/>
              </a:spcAft>
            </a:pPr>
            <a:r>
              <a:rPr sz="1100" b="0" i="1">
                <a:solidFill>
                  <a:srgbClr val="3E2A5C"/>
                </a:solidFill>
                <a:latin typeface="Playfair Display"/>
              </a:rPr>
              <a:t>"Este columbario es una obra de arte de fe: la tapa de ónix con imagen religiosa convierte el lugar de descanso de su familia en un espacio de oración y contemplación, para generaciones."</a:t>
            </a:r>
          </a:p>
        </p:txBody>
      </p:sp>
      <p:sp>
        <p:nvSpPr>
          <p:cNvPr id="22" name="Rectangle 21"/>
          <p:cNvSpPr/>
          <p:nvPr/>
        </p:nvSpPr>
        <p:spPr>
          <a:xfrm>
            <a:off x="502920" y="7086600"/>
            <a:ext cx="3186684" cy="16002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7086600"/>
            <a:ext cx="3186684"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719632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PREGUNTAS DE DESCUBRIMIENTO</a:t>
            </a:r>
          </a:p>
        </p:txBody>
      </p:sp>
      <p:sp>
        <p:nvSpPr>
          <p:cNvPr id="25" name="TextBox 24"/>
          <p:cNvSpPr txBox="1"/>
          <p:nvPr/>
        </p:nvSpPr>
        <p:spPr>
          <a:xfrm>
            <a:off x="640080" y="7470648"/>
            <a:ext cx="2912364" cy="1143000"/>
          </a:xfrm>
          <a:prstGeom prst="rect">
            <a:avLst/>
          </a:prstGeom>
          <a:noFill/>
        </p:spPr>
        <p:txBody>
          <a:bodyPr wrap="square" anchor="t" lIns="45720" rIns="45720" tIns="27432" bIns="27432">
            <a:spAutoFit/>
          </a:bodyPr>
          <a:lstStyle/>
          <a:p>
            <a:pPr algn="l">
              <a:lnSpc>
                <a:spcPct val="115000"/>
              </a:lnSpc>
              <a:spcAft>
                <a:spcPts val="300"/>
              </a:spcAft>
            </a:pPr>
            <a:r>
              <a:rPr sz="650" b="1" i="0">
                <a:solidFill>
                  <a:srgbClr val="C9A86A"/>
                </a:solidFill>
                <a:latin typeface="Montserrat"/>
              </a:rPr>
              <a:t>?  </a:t>
            </a:r>
            <a:r>
              <a:rPr sz="950" b="0" i="0">
                <a:solidFill>
                  <a:srgbClr val="2E2A36"/>
                </a:solidFill>
                <a:latin typeface="Montserrat"/>
              </a:rPr>
              <a:t>¿Qué lugar tiene la fe en la forma en que su familia recuerda?</a:t>
            </a:r>
          </a:p>
          <a:p>
            <a:pPr algn="l">
              <a:lnSpc>
                <a:spcPct val="115000"/>
              </a:lnSpc>
              <a:spcAft>
                <a:spcPts val="300"/>
              </a:spcAft>
            </a:pPr>
            <a:r>
              <a:rPr sz="650" b="1" i="0">
                <a:solidFill>
                  <a:srgbClr val="C9A86A"/>
                </a:solidFill>
                <a:latin typeface="Montserrat"/>
              </a:rPr>
              <a:t>?  </a:t>
            </a:r>
            <a:r>
              <a:rPr sz="950" b="0" i="0">
                <a:solidFill>
                  <a:srgbClr val="2E2A36"/>
                </a:solidFill>
                <a:latin typeface="Montserrat"/>
              </a:rPr>
              <a:t>¿Cuántos miembros de la familia lo considerarían?</a:t>
            </a:r>
          </a:p>
        </p:txBody>
      </p:sp>
      <p:sp>
        <p:nvSpPr>
          <p:cNvPr id="26" name="Rectangle 25"/>
          <p:cNvSpPr/>
          <p:nvPr/>
        </p:nvSpPr>
        <p:spPr>
          <a:xfrm>
            <a:off x="3872484" y="7086600"/>
            <a:ext cx="3186684" cy="1600200"/>
          </a:xfrm>
          <a:prstGeom prst="rect">
            <a:avLst/>
          </a:prstGeom>
          <a:solidFill>
            <a:srgbClr val="EE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72484" y="7086600"/>
            <a:ext cx="3186684" cy="64008"/>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09644" y="719632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FRASE DE CIERRE</a:t>
            </a:r>
          </a:p>
        </p:txBody>
      </p:sp>
      <p:sp>
        <p:nvSpPr>
          <p:cNvPr id="29" name="TextBox 28"/>
          <p:cNvSpPr txBox="1"/>
          <p:nvPr/>
        </p:nvSpPr>
        <p:spPr>
          <a:xfrm>
            <a:off x="4009644" y="7470648"/>
            <a:ext cx="2912364" cy="1143000"/>
          </a:xfrm>
          <a:prstGeom prst="rect">
            <a:avLst/>
          </a:prstGeom>
          <a:noFill/>
        </p:spPr>
        <p:txBody>
          <a:bodyPr wrap="square" anchor="t" lIns="45720" rIns="45720" tIns="27432" bIns="27432">
            <a:spAutoFit/>
          </a:bodyPr>
          <a:lstStyle/>
          <a:p>
            <a:pPr algn="l">
              <a:lnSpc>
                <a:spcPct val="115000"/>
              </a:lnSpc>
              <a:spcAft>
                <a:spcPts val="300"/>
              </a:spcAft>
            </a:pPr>
            <a:r>
              <a:rPr sz="1050" b="0" i="0">
                <a:solidFill>
                  <a:srgbClr val="2E2A36"/>
                </a:solidFill>
                <a:latin typeface="Montserrat"/>
              </a:rPr>
              <a:t>"¿Reservamos hoy el espacio familiar con el precio de noviembre?"</a:t>
            </a:r>
          </a:p>
        </p:txBody>
      </p:sp>
      <p:sp>
        <p:nvSpPr>
          <p:cNvPr id="30" name="Rectangle 29"/>
          <p:cNvSpPr/>
          <p:nvPr/>
        </p:nvSpPr>
        <p:spPr>
          <a:xfrm>
            <a:off x="502920" y="8823960"/>
            <a:ext cx="3186684" cy="1325880"/>
          </a:xfrm>
          <a:prstGeom prst="rect">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2920" y="8823960"/>
            <a:ext cx="3186684" cy="6400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8933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OBJECIÓN TÍPICA</a:t>
            </a:r>
          </a:p>
        </p:txBody>
      </p:sp>
      <p:sp>
        <p:nvSpPr>
          <p:cNvPr id="33" name="TextBox 32"/>
          <p:cNvSpPr txBox="1"/>
          <p:nvPr/>
        </p:nvSpPr>
        <p:spPr>
          <a:xfrm>
            <a:off x="640080" y="9208008"/>
            <a:ext cx="2912364" cy="868680"/>
          </a:xfrm>
          <a:prstGeom prst="rect">
            <a:avLst/>
          </a:prstGeom>
          <a:noFill/>
        </p:spPr>
        <p:txBody>
          <a:bodyPr wrap="square" anchor="t" lIns="45720" rIns="45720" tIns="27432" bIns="27432">
            <a:spAutoFit/>
          </a:bodyPr>
          <a:lstStyle/>
          <a:p>
            <a:pPr algn="l">
              <a:lnSpc>
                <a:spcPct val="115000"/>
              </a:lnSpc>
              <a:spcAft>
                <a:spcPts val="300"/>
              </a:spcAft>
            </a:pPr>
            <a:r>
              <a:rPr sz="900" b="0" i="0">
                <a:solidFill>
                  <a:srgbClr val="2E2A36"/>
                </a:solidFill>
                <a:latin typeface="Montserrat"/>
              </a:rPr>
              <a:t>"Es muy caro." → "Es un legado para cuatro personas, para siempre, y puede pagarse en hasta 120 meses. Es la opción más exclusiva del portafolio."</a:t>
            </a:r>
          </a:p>
        </p:txBody>
      </p:sp>
      <p:sp>
        <p:nvSpPr>
          <p:cNvPr id="34" name="Rectangle 33"/>
          <p:cNvSpPr/>
          <p:nvPr/>
        </p:nvSpPr>
        <p:spPr>
          <a:xfrm>
            <a:off x="3872484" y="8823960"/>
            <a:ext cx="3186684" cy="1325880"/>
          </a:xfrm>
          <a:prstGeom prst="rect">
            <a:avLst/>
          </a:prstGeom>
          <a:solidFill>
            <a:srgbClr val="ED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872484" y="8823960"/>
            <a:ext cx="3186684" cy="64008"/>
          </a:xfrm>
          <a:prstGeom prst="rect">
            <a:avLst/>
          </a:prstGeom>
          <a:solidFill>
            <a:srgbClr val="6F8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09644" y="8933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TIP DEL ASESOR</a:t>
            </a:r>
          </a:p>
        </p:txBody>
      </p:sp>
      <p:sp>
        <p:nvSpPr>
          <p:cNvPr id="37" name="TextBox 36"/>
          <p:cNvSpPr txBox="1"/>
          <p:nvPr/>
        </p:nvSpPr>
        <p:spPr>
          <a:xfrm>
            <a:off x="4009644" y="9208008"/>
            <a:ext cx="2912364" cy="868680"/>
          </a:xfrm>
          <a:prstGeom prst="rect">
            <a:avLst/>
          </a:prstGeom>
          <a:noFill/>
        </p:spPr>
        <p:txBody>
          <a:bodyPr wrap="square" anchor="t" lIns="45720" rIns="45720" tIns="27432" bIns="27432">
            <a:spAutoFit/>
          </a:bodyPr>
          <a:lstStyle/>
          <a:p>
            <a:pPr algn="l">
              <a:lnSpc>
                <a:spcPct val="115000"/>
              </a:lnSpc>
              <a:spcAft>
                <a:spcPts val="300"/>
              </a:spcAft>
            </a:pPr>
            <a:r>
              <a:rPr sz="1050" b="0" i="0">
                <a:solidFill>
                  <a:srgbClr val="2E2A36"/>
                </a:solidFill>
                <a:latin typeface="Montserrat"/>
              </a:rPr>
              <a:t>Preséntelo con calma y en persona; no lo ofrezca a quien busca la opción más económica.</a:t>
            </a:r>
          </a:p>
        </p:txBody>
      </p:sp>
      <p:sp>
        <p:nvSpPr>
          <p:cNvPr id="38" name="TextBox 37"/>
          <p:cNvSpPr txBox="1"/>
          <p:nvPr/>
        </p:nvSpPr>
        <p:spPr>
          <a:xfrm>
            <a:off x="502920" y="10277856"/>
            <a:ext cx="5641848"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39" name="TextBox 38"/>
          <p:cNvSpPr txBox="1"/>
          <p:nvPr/>
        </p:nvSpPr>
        <p:spPr>
          <a:xfrm>
            <a:off x="6144768" y="10277856"/>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562088" cy="146304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0"/>
            <a:ext cx="7562088"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4206240"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C9A86A"/>
                </a:solidFill>
                <a:latin typeface="Montserrat"/>
              </a:rPr>
              <a:t>MAUSOLEO BELLA VISTA · CREMACIÓN + COLUMBARIO</a:t>
            </a:r>
          </a:p>
        </p:txBody>
      </p:sp>
      <p:sp>
        <p:nvSpPr>
          <p:cNvPr id="5" name="TextBox 4"/>
          <p:cNvSpPr txBox="1"/>
          <p:nvPr/>
        </p:nvSpPr>
        <p:spPr>
          <a:xfrm>
            <a:off x="502920" y="502920"/>
            <a:ext cx="4206240" cy="868680"/>
          </a:xfrm>
          <a:prstGeom prst="rect">
            <a:avLst/>
          </a:prstGeom>
          <a:noFill/>
        </p:spPr>
        <p:txBody>
          <a:bodyPr wrap="square" anchor="t" lIns="45720" rIns="45720" tIns="27432" bIns="27432">
            <a:spAutoFit/>
          </a:bodyPr>
          <a:lstStyle/>
          <a:p>
            <a:pPr algn="l">
              <a:lnSpc>
                <a:spcPct val="100000"/>
              </a:lnSpc>
              <a:spcAft>
                <a:spcPts val="400"/>
              </a:spcAft>
            </a:pPr>
            <a:r>
              <a:rPr sz="2100" b="1" i="0">
                <a:solidFill>
                  <a:srgbClr val="FFFFFF"/>
                </a:solidFill>
                <a:latin typeface="Playfair Display"/>
              </a:rPr>
              <a:t>Columbario Cristal · Bella Vista</a:t>
            </a:r>
          </a:p>
        </p:txBody>
      </p:sp>
      <p:sp>
        <p:nvSpPr>
          <p:cNvPr id="6" name="TextBox 5"/>
          <p:cNvSpPr txBox="1"/>
          <p:nvPr/>
        </p:nvSpPr>
        <p:spPr>
          <a:xfrm>
            <a:off x="4663440" y="228600"/>
            <a:ext cx="2395728" cy="274320"/>
          </a:xfrm>
          <a:prstGeom prst="rect">
            <a:avLst/>
          </a:prstGeom>
          <a:noFill/>
        </p:spPr>
        <p:txBody>
          <a:bodyPr wrap="square" anchor="t" lIns="45720" rIns="45720" tIns="27432" bIns="27432">
            <a:spAutoFit/>
          </a:bodyPr>
          <a:lstStyle/>
          <a:p>
            <a:pPr algn="r">
              <a:lnSpc>
                <a:spcPct val="115000"/>
              </a:lnSpc>
              <a:spcAft>
                <a:spcPts val="400"/>
              </a:spcAft>
            </a:pPr>
            <a:r>
              <a:rPr sz="950" b="1" i="0">
                <a:solidFill>
                  <a:srgbClr val="C9A86A"/>
                </a:solidFill>
                <a:latin typeface="Montserrat"/>
              </a:rPr>
              <a:t>PRECIO SEGÚN UBICACIÓN</a:t>
            </a:r>
          </a:p>
        </p:txBody>
      </p:sp>
      <p:sp>
        <p:nvSpPr>
          <p:cNvPr id="7" name="TextBox 6"/>
          <p:cNvSpPr txBox="1"/>
          <p:nvPr/>
        </p:nvSpPr>
        <p:spPr>
          <a:xfrm>
            <a:off x="4663440" y="502920"/>
            <a:ext cx="2395728" cy="868680"/>
          </a:xfrm>
          <a:prstGeom prst="rect">
            <a:avLst/>
          </a:prstGeom>
          <a:noFill/>
        </p:spPr>
        <p:txBody>
          <a:bodyPr wrap="square" anchor="ctr" lIns="45720" rIns="45720" tIns="27432" bIns="27432">
            <a:spAutoFit/>
          </a:bodyPr>
          <a:lstStyle/>
          <a:p>
            <a:pPr algn="r">
              <a:lnSpc>
                <a:spcPct val="115000"/>
              </a:lnSpc>
              <a:spcAft>
                <a:spcPts val="400"/>
              </a:spcAft>
            </a:pPr>
            <a:r>
              <a:rPr sz="1900" b="1" i="0">
                <a:solidFill>
                  <a:srgbClr val="FFFFFF"/>
                </a:solidFill>
                <a:latin typeface="Montserrat"/>
              </a:rPr>
              <a:t>US$ 1.300 – 2.900</a:t>
            </a:r>
          </a:p>
        </p:txBody>
      </p:sp>
      <p:sp>
        <p:nvSpPr>
          <p:cNvPr id="8" name="TextBox 7"/>
          <p:cNvSpPr txBox="1"/>
          <p:nvPr/>
        </p:nvSpPr>
        <p:spPr>
          <a:xfrm>
            <a:off x="502920" y="1627632"/>
            <a:ext cx="6556248" cy="320040"/>
          </a:xfrm>
          <a:prstGeom prst="rect">
            <a:avLst/>
          </a:prstGeom>
          <a:noFill/>
        </p:spPr>
        <p:txBody>
          <a:bodyPr wrap="square" anchor="t" lIns="45720" rIns="45720" tIns="27432" bIns="27432">
            <a:spAutoFit/>
          </a:bodyPr>
          <a:lstStyle/>
          <a:p>
            <a:pPr algn="l">
              <a:lnSpc>
                <a:spcPct val="115000"/>
              </a:lnSpc>
              <a:spcAft>
                <a:spcPts val="400"/>
              </a:spcAft>
            </a:pPr>
            <a:r>
              <a:rPr sz="1000" b="0" i="1">
                <a:solidFill>
                  <a:srgbClr val="7D7887"/>
                </a:solidFill>
                <a:latin typeface="Montserrat"/>
              </a:rPr>
              <a:t>Finados y noviembre (−15%): desde US$ 1.105 · Pago único o hasta 120 meses, con intereses</a:t>
            </a:r>
          </a:p>
        </p:txBody>
      </p:sp>
      <p:sp>
        <p:nvSpPr>
          <p:cNvPr id="9" name="TextBox 8"/>
          <p:cNvSpPr txBox="1"/>
          <p:nvPr/>
        </p:nvSpPr>
        <p:spPr>
          <a:xfrm>
            <a:off x="502920" y="1993392"/>
            <a:ext cx="6556248" cy="105156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5B3F80"/>
                </a:solidFill>
                <a:latin typeface="Montserrat"/>
              </a:rPr>
              <a:t>Qué es.  </a:t>
            </a:r>
            <a:r>
              <a:rPr sz="1100" b="0" i="0">
                <a:solidFill>
                  <a:srgbClr val="2E2A36"/>
                </a:solidFill>
                <a:latin typeface="Montserrat"/>
              </a:rPr>
              <a:t>Incluye el proceso completo de cremación y un columbario de cristal en el mausoleo vertical Bella Vista, dentro del cementerio.</a:t>
            </a:r>
          </a:p>
          <a:p>
            <a:pPr algn="l">
              <a:lnSpc>
                <a:spcPct val="115000"/>
              </a:lnSpc>
              <a:spcAft>
                <a:spcPts val="400"/>
              </a:spcAft>
            </a:pPr>
            <a:r>
              <a:rPr sz="1100" b="1" i="0">
                <a:solidFill>
                  <a:srgbClr val="5B3F80"/>
                </a:solidFill>
                <a:latin typeface="Montserrat"/>
              </a:rPr>
              <a:t>Para quién.  </a:t>
            </a:r>
            <a:r>
              <a:rPr sz="1100" b="0" i="0">
                <a:solidFill>
                  <a:srgbClr val="2E2A36"/>
                </a:solidFill>
                <a:latin typeface="Montserrat"/>
              </a:rPr>
              <a:t>Familias que buscan la opción más accesible de cremación con columbario permanente, para 2 o 4 personas.</a:t>
            </a:r>
          </a:p>
        </p:txBody>
      </p:sp>
      <p:sp>
        <p:nvSpPr>
          <p:cNvPr id="10" name="Rectangle 9"/>
          <p:cNvSpPr/>
          <p:nvPr/>
        </p:nvSpPr>
        <p:spPr>
          <a:xfrm>
            <a:off x="502920" y="3108960"/>
            <a:ext cx="3186684" cy="242316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108960"/>
            <a:ext cx="3186684" cy="64008"/>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218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QUÉ INCLUYE</a:t>
            </a:r>
          </a:p>
        </p:txBody>
      </p:sp>
      <p:sp>
        <p:nvSpPr>
          <p:cNvPr id="13" name="TextBox 12"/>
          <p:cNvSpPr txBox="1"/>
          <p:nvPr/>
        </p:nvSpPr>
        <p:spPr>
          <a:xfrm>
            <a:off x="640080" y="3493008"/>
            <a:ext cx="2912364" cy="1965960"/>
          </a:xfrm>
          <a:prstGeom prst="rect">
            <a:avLst/>
          </a:prstGeom>
          <a:noFill/>
        </p:spPr>
        <p:txBody>
          <a:bodyPr wrap="square" anchor="t" lIns="45720" rIns="45720" tIns="27432" bIns="27432">
            <a:spAutoFit/>
          </a:bodyPr>
          <a:lstStyle/>
          <a:p>
            <a:pPr algn="l">
              <a:lnSpc>
                <a:spcPct val="115000"/>
              </a:lnSpc>
              <a:spcAft>
                <a:spcPts val="300"/>
              </a:spcAft>
            </a:pPr>
            <a:r>
              <a:rPr sz="750" b="1" i="0">
                <a:solidFill>
                  <a:srgbClr val="5E9A3C"/>
                </a:solidFill>
                <a:latin typeface="Montserrat"/>
              </a:rPr>
              <a:t>✓  </a:t>
            </a:r>
            <a:r>
              <a:rPr sz="1050" b="0" i="0">
                <a:solidFill>
                  <a:srgbClr val="2E2A36"/>
                </a:solidFill>
                <a:latin typeface="Montserrat"/>
              </a:rPr>
              <a:t>Incluye columbario de cristal permanente (30 × 30 × 30 cm)</a:t>
            </a:r>
          </a:p>
          <a:p>
            <a:pPr algn="l">
              <a:lnSpc>
                <a:spcPct val="115000"/>
              </a:lnSpc>
              <a:spcAft>
                <a:spcPts val="300"/>
              </a:spcAft>
            </a:pPr>
            <a:r>
              <a:rPr sz="750" b="1" i="0">
                <a:solidFill>
                  <a:srgbClr val="5E9A3C"/>
                </a:solidFill>
                <a:latin typeface="Montserrat"/>
              </a:rPr>
              <a:t>✓  </a:t>
            </a:r>
            <a:r>
              <a:rPr sz="1050" b="0" i="0">
                <a:solidFill>
                  <a:srgbClr val="2E2A36"/>
                </a:solidFill>
                <a:latin typeface="Montserrat"/>
              </a:rPr>
              <a:t>Traslados, preparación y resguardo hasta 5 días</a:t>
            </a:r>
          </a:p>
          <a:p>
            <a:pPr algn="l">
              <a:lnSpc>
                <a:spcPct val="115000"/>
              </a:lnSpc>
              <a:spcAft>
                <a:spcPts val="300"/>
              </a:spcAft>
            </a:pPr>
            <a:r>
              <a:rPr sz="750" b="1" i="0">
                <a:solidFill>
                  <a:srgbClr val="5E9A3C"/>
                </a:solidFill>
                <a:latin typeface="Montserrat"/>
              </a:rPr>
              <a:t>✓  </a:t>
            </a:r>
            <a:r>
              <a:rPr sz="1050" b="0" i="0">
                <a:solidFill>
                  <a:srgbClr val="2E2A36"/>
                </a:solidFill>
                <a:latin typeface="Montserrat"/>
              </a:rPr>
              <a:t>Urnas y cremaciones: 2 en la modalidad estándar, 4 en la familiar</a:t>
            </a:r>
          </a:p>
          <a:p>
            <a:pPr algn="l">
              <a:lnSpc>
                <a:spcPct val="115000"/>
              </a:lnSpc>
              <a:spcAft>
                <a:spcPts val="300"/>
              </a:spcAft>
            </a:pPr>
            <a:r>
              <a:rPr sz="750" b="1" i="0">
                <a:solidFill>
                  <a:srgbClr val="5E9A3C"/>
                </a:solidFill>
                <a:latin typeface="Montserrat"/>
              </a:rPr>
              <a:t>✓  </a:t>
            </a:r>
            <a:r>
              <a:rPr sz="1050" b="0" i="0">
                <a:solidFill>
                  <a:srgbClr val="2E2A36"/>
                </a:solidFill>
                <a:latin typeface="Montserrat"/>
              </a:rPr>
              <a:t>Certificado de cremación y ceremonia privada de colocación</a:t>
            </a:r>
          </a:p>
        </p:txBody>
      </p:sp>
      <p:sp>
        <p:nvSpPr>
          <p:cNvPr id="14" name="Rectangle 13"/>
          <p:cNvSpPr/>
          <p:nvPr/>
        </p:nvSpPr>
        <p:spPr>
          <a:xfrm>
            <a:off x="3872484" y="3108960"/>
            <a:ext cx="3186684" cy="242316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872484" y="3108960"/>
            <a:ext cx="3186684"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09644" y="3218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REGLAS DEL PRODUCTO</a:t>
            </a:r>
          </a:p>
        </p:txBody>
      </p:sp>
      <p:sp>
        <p:nvSpPr>
          <p:cNvPr id="17" name="TextBox 16"/>
          <p:cNvSpPr txBox="1"/>
          <p:nvPr/>
        </p:nvSpPr>
        <p:spPr>
          <a:xfrm>
            <a:off x="4009644" y="3493008"/>
            <a:ext cx="2912364" cy="1965960"/>
          </a:xfrm>
          <a:prstGeom prst="rect">
            <a:avLst/>
          </a:prstGeom>
          <a:noFill/>
        </p:spPr>
        <p:txBody>
          <a:bodyPr wrap="square" anchor="t" lIns="45720" rIns="45720" tIns="27432" bIns="27432">
            <a:spAutoFit/>
          </a:bodyPr>
          <a:lstStyle/>
          <a:p>
            <a:pPr algn="l">
              <a:lnSpc>
                <a:spcPct val="115000"/>
              </a:lnSpc>
              <a:spcAft>
                <a:spcPts val="300"/>
              </a:spcAft>
            </a:pPr>
            <a:r>
              <a:rPr sz="750" b="1" i="0">
                <a:solidFill>
                  <a:srgbClr val="C9A86A"/>
                </a:solidFill>
                <a:latin typeface="Montserrat"/>
              </a:rPr>
              <a:t>■  </a:t>
            </a:r>
            <a:r>
              <a:rPr sz="1050" b="0" i="0">
                <a:solidFill>
                  <a:srgbClr val="2E2A36"/>
                </a:solidFill>
                <a:latin typeface="Montserrat"/>
              </a:rPr>
              <a:t>Con modalidad estándar: definida US$ 1.800 · a futuro US$ 1.300.</a:t>
            </a:r>
          </a:p>
          <a:p>
            <a:pPr algn="l">
              <a:lnSpc>
                <a:spcPct val="115000"/>
              </a:lnSpc>
              <a:spcAft>
                <a:spcPts val="300"/>
              </a:spcAft>
            </a:pPr>
            <a:r>
              <a:rPr sz="750" b="1" i="0">
                <a:solidFill>
                  <a:srgbClr val="C9A86A"/>
                </a:solidFill>
                <a:latin typeface="Montserrat"/>
              </a:rPr>
              <a:t>■  </a:t>
            </a:r>
            <a:r>
              <a:rPr sz="1050" b="0" i="0">
                <a:solidFill>
                  <a:srgbClr val="2E2A36"/>
                </a:solidFill>
                <a:latin typeface="Montserrat"/>
              </a:rPr>
              <a:t>Con modalidad familiar: definida US$ 2.900 · a futuro US$ 2.300.</a:t>
            </a:r>
          </a:p>
          <a:p>
            <a:pPr algn="l">
              <a:lnSpc>
                <a:spcPct val="115000"/>
              </a:lnSpc>
              <a:spcAft>
                <a:spcPts val="300"/>
              </a:spcAft>
            </a:pPr>
            <a:r>
              <a:rPr sz="750" b="1" i="0">
                <a:solidFill>
                  <a:srgbClr val="C9A86A"/>
                </a:solidFill>
                <a:latin typeface="Montserrat"/>
              </a:rPr>
              <a:t>■  </a:t>
            </a:r>
            <a:r>
              <a:rPr sz="1050" b="0" i="0">
                <a:solidFill>
                  <a:srgbClr val="2E2A36"/>
                </a:solidFill>
                <a:latin typeface="Montserrat"/>
              </a:rPr>
              <a:t>En este producto la cremación está incluida: no hace falta contratarla aparte.</a:t>
            </a:r>
          </a:p>
        </p:txBody>
      </p:sp>
      <p:sp>
        <p:nvSpPr>
          <p:cNvPr id="18" name="Rectangle 17"/>
          <p:cNvSpPr/>
          <p:nvPr/>
        </p:nvSpPr>
        <p:spPr>
          <a:xfrm>
            <a:off x="502920" y="5669280"/>
            <a:ext cx="6556248" cy="128016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5669280"/>
            <a:ext cx="73152" cy="128016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715000"/>
            <a:ext cx="6190488"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SPEECH SUGERIDO</a:t>
            </a:r>
          </a:p>
        </p:txBody>
      </p:sp>
      <p:sp>
        <p:nvSpPr>
          <p:cNvPr id="21" name="TextBox 20"/>
          <p:cNvSpPr txBox="1"/>
          <p:nvPr/>
        </p:nvSpPr>
        <p:spPr>
          <a:xfrm>
            <a:off x="731520" y="5961888"/>
            <a:ext cx="6190488" cy="960120"/>
          </a:xfrm>
          <a:prstGeom prst="rect">
            <a:avLst/>
          </a:prstGeom>
          <a:noFill/>
        </p:spPr>
        <p:txBody>
          <a:bodyPr wrap="square" anchor="t" lIns="45720" rIns="45720" tIns="27432" bIns="27432">
            <a:spAutoFit/>
          </a:bodyPr>
          <a:lstStyle/>
          <a:p>
            <a:pPr algn="l">
              <a:lnSpc>
                <a:spcPct val="115000"/>
              </a:lnSpc>
              <a:spcAft>
                <a:spcPts val="400"/>
              </a:spcAft>
            </a:pPr>
            <a:r>
              <a:rPr sz="1100" b="0" i="1">
                <a:solidFill>
                  <a:srgbClr val="3E2A5C"/>
                </a:solidFill>
                <a:latin typeface="Playfair Display"/>
              </a:rPr>
              <a:t>"Bella Vista resuelve en un solo paso la cremación y el lugar de descanso: un columbario de cristal en nuestro mausoleo vertical, para dos o cuatro personas, con todo el proceso incluido."</a:t>
            </a:r>
          </a:p>
        </p:txBody>
      </p:sp>
      <p:sp>
        <p:nvSpPr>
          <p:cNvPr id="22" name="Rectangle 21"/>
          <p:cNvSpPr/>
          <p:nvPr/>
        </p:nvSpPr>
        <p:spPr>
          <a:xfrm>
            <a:off x="502920" y="7086600"/>
            <a:ext cx="3186684" cy="16002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7086600"/>
            <a:ext cx="3186684" cy="64008"/>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719632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PREGUNTAS DE DESCUBRIMIENTO</a:t>
            </a:r>
          </a:p>
        </p:txBody>
      </p:sp>
      <p:sp>
        <p:nvSpPr>
          <p:cNvPr id="25" name="TextBox 24"/>
          <p:cNvSpPr txBox="1"/>
          <p:nvPr/>
        </p:nvSpPr>
        <p:spPr>
          <a:xfrm>
            <a:off x="640080" y="7470648"/>
            <a:ext cx="2912364" cy="1143000"/>
          </a:xfrm>
          <a:prstGeom prst="rect">
            <a:avLst/>
          </a:prstGeom>
          <a:noFill/>
        </p:spPr>
        <p:txBody>
          <a:bodyPr wrap="square" anchor="t" lIns="45720" rIns="45720" tIns="27432" bIns="27432">
            <a:spAutoFit/>
          </a:bodyPr>
          <a:lstStyle/>
          <a:p>
            <a:pPr algn="l">
              <a:lnSpc>
                <a:spcPct val="115000"/>
              </a:lnSpc>
              <a:spcAft>
                <a:spcPts val="300"/>
              </a:spcAft>
            </a:pPr>
            <a:r>
              <a:rPr sz="650" b="1" i="0">
                <a:solidFill>
                  <a:srgbClr val="C9A86A"/>
                </a:solidFill>
                <a:latin typeface="Montserrat"/>
              </a:rPr>
              <a:t>?  </a:t>
            </a:r>
            <a:r>
              <a:rPr sz="950" b="0" i="0">
                <a:solidFill>
                  <a:srgbClr val="2E2A36"/>
                </a:solidFill>
                <a:latin typeface="Montserrat"/>
              </a:rPr>
              <a:t>¿Lo considera para dos personas o para la familia?</a:t>
            </a:r>
          </a:p>
          <a:p>
            <a:pPr algn="l">
              <a:lnSpc>
                <a:spcPct val="115000"/>
              </a:lnSpc>
              <a:spcAft>
                <a:spcPts val="300"/>
              </a:spcAft>
            </a:pPr>
            <a:r>
              <a:rPr sz="650" b="1" i="0">
                <a:solidFill>
                  <a:srgbClr val="C9A86A"/>
                </a:solidFill>
                <a:latin typeface="Montserrat"/>
              </a:rPr>
              <a:t>?  </a:t>
            </a:r>
            <a:r>
              <a:rPr sz="950" b="0" i="0">
                <a:solidFill>
                  <a:srgbClr val="2E2A36"/>
                </a:solidFill>
                <a:latin typeface="Montserrat"/>
              </a:rPr>
              <a:t>¿Prefieren elegir ya la ubicación o dejarla a futuro?</a:t>
            </a:r>
          </a:p>
        </p:txBody>
      </p:sp>
      <p:sp>
        <p:nvSpPr>
          <p:cNvPr id="26" name="Rectangle 25"/>
          <p:cNvSpPr/>
          <p:nvPr/>
        </p:nvSpPr>
        <p:spPr>
          <a:xfrm>
            <a:off x="3872484" y="7086600"/>
            <a:ext cx="3186684" cy="1600200"/>
          </a:xfrm>
          <a:prstGeom prst="rect">
            <a:avLst/>
          </a:prstGeom>
          <a:solidFill>
            <a:srgbClr val="EE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72484" y="7086600"/>
            <a:ext cx="3186684" cy="64008"/>
          </a:xfrm>
          <a:prstGeom prst="rect">
            <a:avLst/>
          </a:prstGeom>
          <a:solidFill>
            <a:srgbClr val="5E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09644" y="719632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FRASE DE CIERRE</a:t>
            </a:r>
          </a:p>
        </p:txBody>
      </p:sp>
      <p:sp>
        <p:nvSpPr>
          <p:cNvPr id="29" name="TextBox 28"/>
          <p:cNvSpPr txBox="1"/>
          <p:nvPr/>
        </p:nvSpPr>
        <p:spPr>
          <a:xfrm>
            <a:off x="4009644" y="7470648"/>
            <a:ext cx="2912364" cy="1143000"/>
          </a:xfrm>
          <a:prstGeom prst="rect">
            <a:avLst/>
          </a:prstGeom>
          <a:noFill/>
        </p:spPr>
        <p:txBody>
          <a:bodyPr wrap="square" anchor="t" lIns="45720" rIns="45720" tIns="27432" bIns="27432">
            <a:spAutoFit/>
          </a:bodyPr>
          <a:lstStyle/>
          <a:p>
            <a:pPr algn="l">
              <a:lnSpc>
                <a:spcPct val="115000"/>
              </a:lnSpc>
              <a:spcAft>
                <a:spcPts val="300"/>
              </a:spcAft>
            </a:pPr>
            <a:r>
              <a:rPr sz="1050" b="0" i="0">
                <a:solidFill>
                  <a:srgbClr val="2E2A36"/>
                </a:solidFill>
                <a:latin typeface="Montserrat"/>
              </a:rPr>
              <a:t>"¿Aprovechamos el precio de noviembre y lo dejamos resuelto hoy?"</a:t>
            </a:r>
          </a:p>
        </p:txBody>
      </p:sp>
      <p:sp>
        <p:nvSpPr>
          <p:cNvPr id="30" name="Rectangle 29"/>
          <p:cNvSpPr/>
          <p:nvPr/>
        </p:nvSpPr>
        <p:spPr>
          <a:xfrm>
            <a:off x="502920" y="8823960"/>
            <a:ext cx="3186684" cy="1325880"/>
          </a:xfrm>
          <a:prstGeom prst="rect">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2920" y="8823960"/>
            <a:ext cx="3186684" cy="6400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8933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OBJECIÓN TÍPICA</a:t>
            </a:r>
          </a:p>
        </p:txBody>
      </p:sp>
      <p:sp>
        <p:nvSpPr>
          <p:cNvPr id="33" name="TextBox 32"/>
          <p:cNvSpPr txBox="1"/>
          <p:nvPr/>
        </p:nvSpPr>
        <p:spPr>
          <a:xfrm>
            <a:off x="640080" y="9208008"/>
            <a:ext cx="2912364" cy="868680"/>
          </a:xfrm>
          <a:prstGeom prst="rect">
            <a:avLst/>
          </a:prstGeom>
          <a:noFill/>
        </p:spPr>
        <p:txBody>
          <a:bodyPr wrap="square" anchor="t" lIns="45720" rIns="45720" tIns="27432" bIns="27432">
            <a:spAutoFit/>
          </a:bodyPr>
          <a:lstStyle/>
          <a:p>
            <a:pPr algn="l">
              <a:lnSpc>
                <a:spcPct val="115000"/>
              </a:lnSpc>
              <a:spcAft>
                <a:spcPts val="300"/>
              </a:spcAft>
            </a:pPr>
            <a:r>
              <a:rPr sz="900" b="0" i="0">
                <a:solidFill>
                  <a:srgbClr val="2E2A36"/>
                </a:solidFill>
                <a:latin typeface="Montserrat"/>
              </a:rPr>
              <a:t>"Prefiero un jardín." → "Perfecto, también tenemos los Jardines de Cenizas. Bella Vista es para quien prefiere un columbario, con la cremación ya incluida."</a:t>
            </a:r>
          </a:p>
        </p:txBody>
      </p:sp>
      <p:sp>
        <p:nvSpPr>
          <p:cNvPr id="34" name="Rectangle 33"/>
          <p:cNvSpPr/>
          <p:nvPr/>
        </p:nvSpPr>
        <p:spPr>
          <a:xfrm>
            <a:off x="3872484" y="8823960"/>
            <a:ext cx="3186684" cy="1325880"/>
          </a:xfrm>
          <a:prstGeom prst="rect">
            <a:avLst/>
          </a:prstGeom>
          <a:solidFill>
            <a:srgbClr val="ED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872484" y="8823960"/>
            <a:ext cx="3186684" cy="64008"/>
          </a:xfrm>
          <a:prstGeom prst="rect">
            <a:avLst/>
          </a:prstGeom>
          <a:solidFill>
            <a:srgbClr val="6F8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09644" y="8933688"/>
            <a:ext cx="2912364" cy="274320"/>
          </a:xfrm>
          <a:prstGeom prst="rect">
            <a:avLst/>
          </a:prstGeom>
          <a:noFill/>
        </p:spPr>
        <p:txBody>
          <a:bodyPr wrap="square" anchor="t" lIns="45720" rIns="45720" tIns="27432" bIns="27432">
            <a:spAutoFit/>
          </a:bodyPr>
          <a:lstStyle/>
          <a:p>
            <a:pPr algn="l">
              <a:lnSpc>
                <a:spcPct val="115000"/>
              </a:lnSpc>
              <a:spcAft>
                <a:spcPts val="400"/>
              </a:spcAft>
            </a:pPr>
            <a:r>
              <a:rPr sz="950" b="1" i="0">
                <a:solidFill>
                  <a:srgbClr val="5B3F80"/>
                </a:solidFill>
                <a:latin typeface="Montserrat"/>
              </a:rPr>
              <a:t>TIP DEL ASESOR</a:t>
            </a:r>
          </a:p>
        </p:txBody>
      </p:sp>
      <p:sp>
        <p:nvSpPr>
          <p:cNvPr id="37" name="TextBox 36"/>
          <p:cNvSpPr txBox="1"/>
          <p:nvPr/>
        </p:nvSpPr>
        <p:spPr>
          <a:xfrm>
            <a:off x="4009644" y="9208008"/>
            <a:ext cx="2912364" cy="868680"/>
          </a:xfrm>
          <a:prstGeom prst="rect">
            <a:avLst/>
          </a:prstGeom>
          <a:noFill/>
        </p:spPr>
        <p:txBody>
          <a:bodyPr wrap="square" anchor="t" lIns="45720" rIns="45720" tIns="27432" bIns="27432">
            <a:spAutoFit/>
          </a:bodyPr>
          <a:lstStyle/>
          <a:p>
            <a:pPr algn="l">
              <a:lnSpc>
                <a:spcPct val="115000"/>
              </a:lnSpc>
              <a:spcAft>
                <a:spcPts val="300"/>
              </a:spcAft>
            </a:pPr>
            <a:r>
              <a:rPr sz="1050" b="0" i="0">
                <a:solidFill>
                  <a:srgbClr val="2E2A36"/>
                </a:solidFill>
                <a:latin typeface="Montserrat"/>
              </a:rPr>
              <a:t>Es la puerta de entrada a los columbarios: cremación y destino final desde US$ 1.105 en noviembre.</a:t>
            </a:r>
          </a:p>
        </p:txBody>
      </p:sp>
      <p:sp>
        <p:nvSpPr>
          <p:cNvPr id="38" name="TextBox 37"/>
          <p:cNvSpPr txBox="1"/>
          <p:nvPr/>
        </p:nvSpPr>
        <p:spPr>
          <a:xfrm>
            <a:off x="502920" y="10277856"/>
            <a:ext cx="5641848"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39" name="TextBox 38"/>
          <p:cNvSpPr txBox="1"/>
          <p:nvPr/>
        </p:nvSpPr>
        <p:spPr>
          <a:xfrm>
            <a:off x="6144768" y="10277856"/>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10689336"/>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05 · MANEJO DE OBJECIONES</a:t>
            </a:r>
          </a:p>
        </p:txBody>
      </p:sp>
      <p:sp>
        <p:nvSpPr>
          <p:cNvPr id="4" name="TextBox 3"/>
          <p:cNvSpPr txBox="1"/>
          <p:nvPr/>
        </p:nvSpPr>
        <p:spPr>
          <a:xfrm>
            <a:off x="502920" y="621792"/>
            <a:ext cx="6556248"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El método V·R·A</a:t>
            </a:r>
          </a:p>
        </p:txBody>
      </p:sp>
      <p:sp>
        <p:nvSpPr>
          <p:cNvPr id="5" name="Rectangle 4"/>
          <p:cNvSpPr/>
          <p:nvPr/>
        </p:nvSpPr>
        <p:spPr>
          <a:xfrm>
            <a:off x="50292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4_objeciones.png"/>
          <p:cNvPicPr>
            <a:picLocks noChangeAspect="1"/>
          </p:cNvPicPr>
          <p:nvPr/>
        </p:nvPicPr>
        <p:blipFill>
          <a:blip r:embed="rId2"/>
          <a:stretch>
            <a:fillRect/>
          </a:stretch>
        </p:blipFill>
        <p:spPr>
          <a:xfrm>
            <a:off x="502920" y="1623267"/>
            <a:ext cx="6556248" cy="2011265"/>
          </a:xfrm>
          <a:prstGeom prst="rect">
            <a:avLst/>
          </a:prstGeom>
        </p:spPr>
      </p:pic>
      <p:sp>
        <p:nvSpPr>
          <p:cNvPr id="7" name="Rectangle 6"/>
          <p:cNvSpPr/>
          <p:nvPr/>
        </p:nvSpPr>
        <p:spPr>
          <a:xfrm>
            <a:off x="502920" y="3840480"/>
            <a:ext cx="6556248" cy="41148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840480"/>
            <a:ext cx="6281928" cy="411480"/>
          </a:xfrm>
          <a:prstGeom prst="rect">
            <a:avLst/>
          </a:prstGeom>
          <a:noFill/>
        </p:spPr>
        <p:txBody>
          <a:bodyPr wrap="square" anchor="ctr" lIns="45720" rIns="45720" tIns="27432" bIns="27432">
            <a:spAutoFit/>
          </a:bodyPr>
          <a:lstStyle/>
          <a:p>
            <a:pPr algn="l">
              <a:lnSpc>
                <a:spcPct val="115000"/>
              </a:lnSpc>
              <a:spcAft>
                <a:spcPts val="400"/>
              </a:spcAft>
            </a:pPr>
            <a:r>
              <a:rPr sz="1200" b="1" i="0">
                <a:solidFill>
                  <a:srgbClr val="FFFFFF"/>
                </a:solidFill>
                <a:latin typeface="Montserrat"/>
              </a:rPr>
              <a:t>1.  "No quiero pensar en eso, es de mala suerte."</a:t>
            </a:r>
          </a:p>
        </p:txBody>
      </p:sp>
      <p:sp>
        <p:nvSpPr>
          <p:cNvPr id="9" name="Rectangle 8"/>
          <p:cNvSpPr/>
          <p:nvPr/>
        </p:nvSpPr>
        <p:spPr>
          <a:xfrm>
            <a:off x="502920" y="4297680"/>
            <a:ext cx="1828800" cy="16002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4343400"/>
            <a:ext cx="1645920" cy="1536192"/>
          </a:xfrm>
          <a:prstGeom prst="rect">
            <a:avLst/>
          </a:prstGeom>
          <a:noFill/>
        </p:spPr>
        <p:txBody>
          <a:bodyPr wrap="square" anchor="t" lIns="45720" rIns="45720" tIns="27432" bIns="27432">
            <a:spAutoFit/>
          </a:bodyPr>
          <a:lstStyle/>
          <a:p>
            <a:pPr algn="l">
              <a:lnSpc>
                <a:spcPct val="115000"/>
              </a:lnSpc>
              <a:spcAft>
                <a:spcPts val="200"/>
              </a:spcAft>
            </a:pPr>
            <a:r>
              <a:rPr sz="1400" b="1" i="0">
                <a:solidFill>
                  <a:srgbClr val="C9A86A"/>
                </a:solidFill>
                <a:latin typeface="Playfair Display"/>
              </a:rPr>
              <a:t>V  </a:t>
            </a:r>
            <a:r>
              <a:rPr sz="900" b="1" i="0">
                <a:solidFill>
                  <a:srgbClr val="5B3F80"/>
                </a:solidFill>
                <a:latin typeface="Montserrat"/>
              </a:rPr>
              <a:t>VALIDAR</a:t>
            </a:r>
          </a:p>
          <a:p>
            <a:pPr algn="l">
              <a:lnSpc>
                <a:spcPct val="115000"/>
              </a:lnSpc>
              <a:spcAft>
                <a:spcPts val="200"/>
              </a:spcAft>
            </a:pPr>
            <a:r>
              <a:rPr sz="1000" b="0" i="1">
                <a:solidFill>
                  <a:srgbClr val="2E2A36"/>
                </a:solidFill>
                <a:latin typeface="Montserrat"/>
              </a:rPr>
              <a:t>"Entiendo, a nadie le gusta hablar de este tema."</a:t>
            </a:r>
          </a:p>
        </p:txBody>
      </p:sp>
      <p:sp>
        <p:nvSpPr>
          <p:cNvPr id="11" name="Rectangle 10"/>
          <p:cNvSpPr/>
          <p:nvPr/>
        </p:nvSpPr>
        <p:spPr>
          <a:xfrm>
            <a:off x="2423160" y="4297680"/>
            <a:ext cx="2715768" cy="16002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4600" y="4343400"/>
            <a:ext cx="2532888" cy="1536192"/>
          </a:xfrm>
          <a:prstGeom prst="rect">
            <a:avLst/>
          </a:prstGeom>
          <a:noFill/>
        </p:spPr>
        <p:txBody>
          <a:bodyPr wrap="square" anchor="t" lIns="45720" rIns="45720" tIns="27432" bIns="27432">
            <a:spAutoFit/>
          </a:bodyPr>
          <a:lstStyle/>
          <a:p>
            <a:pPr algn="l">
              <a:lnSpc>
                <a:spcPct val="115000"/>
              </a:lnSpc>
              <a:spcAft>
                <a:spcPts val="200"/>
              </a:spcAft>
            </a:pPr>
            <a:r>
              <a:rPr sz="1400" b="1" i="0">
                <a:solidFill>
                  <a:srgbClr val="C9A86A"/>
                </a:solidFill>
                <a:latin typeface="Playfair Display"/>
              </a:rPr>
              <a:t>R  </a:t>
            </a:r>
            <a:r>
              <a:rPr sz="900" b="1" i="0">
                <a:solidFill>
                  <a:srgbClr val="5B3F80"/>
                </a:solidFill>
                <a:latin typeface="Montserrat"/>
              </a:rPr>
              <a:t>REPOSICIONAR</a:t>
            </a:r>
          </a:p>
          <a:p>
            <a:pPr algn="l">
              <a:lnSpc>
                <a:spcPct val="115000"/>
              </a:lnSpc>
              <a:spcAft>
                <a:spcPts val="200"/>
              </a:spcAft>
            </a:pPr>
            <a:r>
              <a:rPr sz="1000" b="0" i="0">
                <a:solidFill>
                  <a:srgbClr val="2E2A36"/>
                </a:solidFill>
                <a:latin typeface="Montserrat"/>
              </a:rPr>
              <a:t>Planificar con calma es justamente lo que evita que su familia tenga que decidir en el peor momento. Es un acto de cuidado, no de pesimismo.</a:t>
            </a:r>
          </a:p>
        </p:txBody>
      </p:sp>
      <p:sp>
        <p:nvSpPr>
          <p:cNvPr id="13" name="Rectangle 12"/>
          <p:cNvSpPr/>
          <p:nvPr/>
        </p:nvSpPr>
        <p:spPr>
          <a:xfrm>
            <a:off x="5230368" y="4297680"/>
            <a:ext cx="1828800" cy="16002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21808" y="4343400"/>
            <a:ext cx="1645920" cy="1536192"/>
          </a:xfrm>
          <a:prstGeom prst="rect">
            <a:avLst/>
          </a:prstGeom>
          <a:noFill/>
        </p:spPr>
        <p:txBody>
          <a:bodyPr wrap="square" anchor="t" lIns="45720" rIns="45720" tIns="27432" bIns="27432">
            <a:spAutoFit/>
          </a:bodyPr>
          <a:lstStyle/>
          <a:p>
            <a:pPr algn="l">
              <a:lnSpc>
                <a:spcPct val="115000"/>
              </a:lnSpc>
              <a:spcAft>
                <a:spcPts val="200"/>
              </a:spcAft>
            </a:pPr>
            <a:r>
              <a:rPr sz="1400" b="1" i="0">
                <a:solidFill>
                  <a:srgbClr val="C9A86A"/>
                </a:solidFill>
                <a:latin typeface="Playfair Display"/>
              </a:rPr>
              <a:t>A  </a:t>
            </a:r>
            <a:r>
              <a:rPr sz="900" b="1" i="0">
                <a:solidFill>
                  <a:srgbClr val="5B3F80"/>
                </a:solidFill>
                <a:latin typeface="Montserrat"/>
              </a:rPr>
              <a:t>AVANZAR</a:t>
            </a:r>
          </a:p>
          <a:p>
            <a:pPr algn="l">
              <a:lnSpc>
                <a:spcPct val="115000"/>
              </a:lnSpc>
              <a:spcAft>
                <a:spcPts val="200"/>
              </a:spcAft>
            </a:pPr>
            <a:r>
              <a:rPr sz="1000" b="0" i="1">
                <a:solidFill>
                  <a:srgbClr val="2E2A36"/>
                </a:solidFill>
                <a:latin typeface="Montserrat"/>
              </a:rPr>
              <a:t>"¿Le dejo la información para que la conversen en casa?"</a:t>
            </a:r>
          </a:p>
        </p:txBody>
      </p:sp>
      <p:sp>
        <p:nvSpPr>
          <p:cNvPr id="15" name="Rectangle 14"/>
          <p:cNvSpPr/>
          <p:nvPr/>
        </p:nvSpPr>
        <p:spPr>
          <a:xfrm>
            <a:off x="502920" y="6035040"/>
            <a:ext cx="6556248" cy="41148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6035040"/>
            <a:ext cx="6281928" cy="411480"/>
          </a:xfrm>
          <a:prstGeom prst="rect">
            <a:avLst/>
          </a:prstGeom>
          <a:noFill/>
        </p:spPr>
        <p:txBody>
          <a:bodyPr wrap="square" anchor="ctr" lIns="45720" rIns="45720" tIns="27432" bIns="27432">
            <a:spAutoFit/>
          </a:bodyPr>
          <a:lstStyle/>
          <a:p>
            <a:pPr algn="l">
              <a:lnSpc>
                <a:spcPct val="115000"/>
              </a:lnSpc>
              <a:spcAft>
                <a:spcPts val="400"/>
              </a:spcAft>
            </a:pPr>
            <a:r>
              <a:rPr sz="1200" b="1" i="0">
                <a:solidFill>
                  <a:srgbClr val="FFFFFF"/>
                </a:solidFill>
                <a:latin typeface="Montserrat"/>
              </a:rPr>
              <a:t>2.  "Soy católico, la cremación no está permitida."</a:t>
            </a:r>
          </a:p>
        </p:txBody>
      </p:sp>
      <p:sp>
        <p:nvSpPr>
          <p:cNvPr id="17" name="Rectangle 16"/>
          <p:cNvSpPr/>
          <p:nvPr/>
        </p:nvSpPr>
        <p:spPr>
          <a:xfrm>
            <a:off x="502920" y="6492240"/>
            <a:ext cx="1828800" cy="16002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537960"/>
            <a:ext cx="1645920" cy="1536192"/>
          </a:xfrm>
          <a:prstGeom prst="rect">
            <a:avLst/>
          </a:prstGeom>
          <a:noFill/>
        </p:spPr>
        <p:txBody>
          <a:bodyPr wrap="square" anchor="t" lIns="45720" rIns="45720" tIns="27432" bIns="27432">
            <a:spAutoFit/>
          </a:bodyPr>
          <a:lstStyle/>
          <a:p>
            <a:pPr algn="l">
              <a:lnSpc>
                <a:spcPct val="115000"/>
              </a:lnSpc>
              <a:spcAft>
                <a:spcPts val="200"/>
              </a:spcAft>
            </a:pPr>
            <a:r>
              <a:rPr sz="1400" b="1" i="0">
                <a:solidFill>
                  <a:srgbClr val="C9A86A"/>
                </a:solidFill>
                <a:latin typeface="Playfair Display"/>
              </a:rPr>
              <a:t>V  </a:t>
            </a:r>
            <a:r>
              <a:rPr sz="900" b="1" i="0">
                <a:solidFill>
                  <a:srgbClr val="5B3F80"/>
                </a:solidFill>
                <a:latin typeface="Montserrat"/>
              </a:rPr>
              <a:t>VALIDAR</a:t>
            </a:r>
          </a:p>
          <a:p>
            <a:pPr algn="l">
              <a:lnSpc>
                <a:spcPct val="115000"/>
              </a:lnSpc>
              <a:spcAft>
                <a:spcPts val="200"/>
              </a:spcAft>
            </a:pPr>
            <a:r>
              <a:rPr sz="1000" b="0" i="1">
                <a:solidFill>
                  <a:srgbClr val="2E2A36"/>
                </a:solidFill>
                <a:latin typeface="Montserrat"/>
              </a:rPr>
              <a:t>"Su fe es muy importante y la respetamos."</a:t>
            </a:r>
          </a:p>
        </p:txBody>
      </p:sp>
      <p:sp>
        <p:nvSpPr>
          <p:cNvPr id="19" name="Rectangle 18"/>
          <p:cNvSpPr/>
          <p:nvPr/>
        </p:nvSpPr>
        <p:spPr>
          <a:xfrm>
            <a:off x="2423160" y="6492240"/>
            <a:ext cx="2715768" cy="16002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14600" y="6537960"/>
            <a:ext cx="2532888" cy="1536192"/>
          </a:xfrm>
          <a:prstGeom prst="rect">
            <a:avLst/>
          </a:prstGeom>
          <a:noFill/>
        </p:spPr>
        <p:txBody>
          <a:bodyPr wrap="square" anchor="t" lIns="45720" rIns="45720" tIns="27432" bIns="27432">
            <a:spAutoFit/>
          </a:bodyPr>
          <a:lstStyle/>
          <a:p>
            <a:pPr algn="l">
              <a:lnSpc>
                <a:spcPct val="115000"/>
              </a:lnSpc>
              <a:spcAft>
                <a:spcPts val="200"/>
              </a:spcAft>
            </a:pPr>
            <a:r>
              <a:rPr sz="1400" b="1" i="0">
                <a:solidFill>
                  <a:srgbClr val="C9A86A"/>
                </a:solidFill>
                <a:latin typeface="Playfair Display"/>
              </a:rPr>
              <a:t>R  </a:t>
            </a:r>
            <a:r>
              <a:rPr sz="900" b="1" i="0">
                <a:solidFill>
                  <a:srgbClr val="5B3F80"/>
                </a:solidFill>
                <a:latin typeface="Montserrat"/>
              </a:rPr>
              <a:t>REPOSICIONAR</a:t>
            </a:r>
          </a:p>
          <a:p>
            <a:pPr algn="l">
              <a:lnSpc>
                <a:spcPct val="115000"/>
              </a:lnSpc>
              <a:spcAft>
                <a:spcPts val="200"/>
              </a:spcAft>
            </a:pPr>
            <a:r>
              <a:rPr sz="1000" b="0" i="0">
                <a:solidFill>
                  <a:srgbClr val="2E2A36"/>
                </a:solidFill>
                <a:latin typeface="Montserrat"/>
              </a:rPr>
              <a:t>La Iglesia Católica permite la cremación desde 1963. Lo que pide es que las cenizas reposen en un lugar dedicado, como el cementerio, y no en casa ni dispersas. Nuestros jardines cumplen exactamente con eso.</a:t>
            </a:r>
          </a:p>
        </p:txBody>
      </p:sp>
      <p:sp>
        <p:nvSpPr>
          <p:cNvPr id="21" name="Rectangle 20"/>
          <p:cNvSpPr/>
          <p:nvPr/>
        </p:nvSpPr>
        <p:spPr>
          <a:xfrm>
            <a:off x="5230368" y="6492240"/>
            <a:ext cx="1828800" cy="16002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21808" y="6537960"/>
            <a:ext cx="1645920" cy="1536192"/>
          </a:xfrm>
          <a:prstGeom prst="rect">
            <a:avLst/>
          </a:prstGeom>
          <a:noFill/>
        </p:spPr>
        <p:txBody>
          <a:bodyPr wrap="square" anchor="t" lIns="45720" rIns="45720" tIns="27432" bIns="27432">
            <a:spAutoFit/>
          </a:bodyPr>
          <a:lstStyle/>
          <a:p>
            <a:pPr algn="l">
              <a:lnSpc>
                <a:spcPct val="115000"/>
              </a:lnSpc>
              <a:spcAft>
                <a:spcPts val="200"/>
              </a:spcAft>
            </a:pPr>
            <a:r>
              <a:rPr sz="1400" b="1" i="0">
                <a:solidFill>
                  <a:srgbClr val="C9A86A"/>
                </a:solidFill>
                <a:latin typeface="Playfair Display"/>
              </a:rPr>
              <a:t>A  </a:t>
            </a:r>
            <a:r>
              <a:rPr sz="900" b="1" i="0">
                <a:solidFill>
                  <a:srgbClr val="5B3F80"/>
                </a:solidFill>
                <a:latin typeface="Montserrat"/>
              </a:rPr>
              <a:t>AVANZAR</a:t>
            </a:r>
          </a:p>
          <a:p>
            <a:pPr algn="l">
              <a:lnSpc>
                <a:spcPct val="115000"/>
              </a:lnSpc>
              <a:spcAft>
                <a:spcPts val="200"/>
              </a:spcAft>
            </a:pPr>
            <a:r>
              <a:rPr sz="1000" b="0" i="1">
                <a:solidFill>
                  <a:srgbClr val="2E2A36"/>
                </a:solidFill>
                <a:latin typeface="Montserrat"/>
              </a:rPr>
              <a:t>"¿Le gustaría conocer el jardín y ver cómo es el lugar?"</a:t>
            </a:r>
          </a:p>
        </p:txBody>
      </p:sp>
      <p:sp>
        <p:nvSpPr>
          <p:cNvPr id="23" name="TextBox 22"/>
          <p:cNvSpPr txBox="1"/>
          <p:nvPr/>
        </p:nvSpPr>
        <p:spPr>
          <a:xfrm>
            <a:off x="502920" y="10277856"/>
            <a:ext cx="5641848"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24" name="TextBox 23"/>
          <p:cNvSpPr txBox="1"/>
          <p:nvPr/>
        </p:nvSpPr>
        <p:spPr>
          <a:xfrm>
            <a:off x="6144768" y="10277856"/>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10689336"/>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05 · MANEJO DE OBJECIONES</a:t>
            </a:r>
          </a:p>
        </p:txBody>
      </p:sp>
      <p:sp>
        <p:nvSpPr>
          <p:cNvPr id="4" name="TextBox 3"/>
          <p:cNvSpPr txBox="1"/>
          <p:nvPr/>
        </p:nvSpPr>
        <p:spPr>
          <a:xfrm>
            <a:off x="502920" y="621792"/>
            <a:ext cx="6556248"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Objeciones frecuentes</a:t>
            </a:r>
          </a:p>
        </p:txBody>
      </p:sp>
      <p:sp>
        <p:nvSpPr>
          <p:cNvPr id="5" name="Rectangle 4"/>
          <p:cNvSpPr/>
          <p:nvPr/>
        </p:nvSpPr>
        <p:spPr>
          <a:xfrm>
            <a:off x="50292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600200"/>
            <a:ext cx="6556248" cy="41148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00200"/>
            <a:ext cx="6281928" cy="411480"/>
          </a:xfrm>
          <a:prstGeom prst="rect">
            <a:avLst/>
          </a:prstGeom>
          <a:noFill/>
        </p:spPr>
        <p:txBody>
          <a:bodyPr wrap="square" anchor="ctr" lIns="45720" rIns="45720" tIns="27432" bIns="27432">
            <a:spAutoFit/>
          </a:bodyPr>
          <a:lstStyle/>
          <a:p>
            <a:pPr algn="l">
              <a:lnSpc>
                <a:spcPct val="115000"/>
              </a:lnSpc>
              <a:spcAft>
                <a:spcPts val="400"/>
              </a:spcAft>
            </a:pPr>
            <a:r>
              <a:rPr sz="1200" b="1" i="0">
                <a:solidFill>
                  <a:srgbClr val="FFFFFF"/>
                </a:solidFill>
                <a:latin typeface="Montserrat"/>
              </a:rPr>
              <a:t>3.  "Prefiero la sepultura tradicional."</a:t>
            </a:r>
          </a:p>
        </p:txBody>
      </p:sp>
      <p:sp>
        <p:nvSpPr>
          <p:cNvPr id="8" name="Rectangle 7"/>
          <p:cNvSpPr/>
          <p:nvPr/>
        </p:nvSpPr>
        <p:spPr>
          <a:xfrm>
            <a:off x="502920" y="2057400"/>
            <a:ext cx="1828800" cy="16002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103120"/>
            <a:ext cx="1645920" cy="1536192"/>
          </a:xfrm>
          <a:prstGeom prst="rect">
            <a:avLst/>
          </a:prstGeom>
          <a:noFill/>
        </p:spPr>
        <p:txBody>
          <a:bodyPr wrap="square" anchor="t" lIns="45720" rIns="45720" tIns="27432" bIns="27432">
            <a:spAutoFit/>
          </a:bodyPr>
          <a:lstStyle/>
          <a:p>
            <a:pPr algn="l">
              <a:lnSpc>
                <a:spcPct val="115000"/>
              </a:lnSpc>
              <a:spcAft>
                <a:spcPts val="200"/>
              </a:spcAft>
            </a:pPr>
            <a:r>
              <a:rPr sz="1400" b="1" i="0">
                <a:solidFill>
                  <a:srgbClr val="C9A86A"/>
                </a:solidFill>
                <a:latin typeface="Playfair Display"/>
              </a:rPr>
              <a:t>V  </a:t>
            </a:r>
            <a:r>
              <a:rPr sz="900" b="1" i="0">
                <a:solidFill>
                  <a:srgbClr val="5B3F80"/>
                </a:solidFill>
                <a:latin typeface="Montserrat"/>
              </a:rPr>
              <a:t>VALIDAR</a:t>
            </a:r>
          </a:p>
          <a:p>
            <a:pPr algn="l">
              <a:lnSpc>
                <a:spcPct val="115000"/>
              </a:lnSpc>
              <a:spcAft>
                <a:spcPts val="200"/>
              </a:spcAft>
            </a:pPr>
            <a:r>
              <a:rPr sz="1000" b="0" i="1">
                <a:solidFill>
                  <a:srgbClr val="2E2A36"/>
                </a:solidFill>
                <a:latin typeface="Montserrat"/>
              </a:rPr>
              <a:t>"Es una tradición muy valiosa."</a:t>
            </a:r>
          </a:p>
        </p:txBody>
      </p:sp>
      <p:sp>
        <p:nvSpPr>
          <p:cNvPr id="10" name="Rectangle 9"/>
          <p:cNvSpPr/>
          <p:nvPr/>
        </p:nvSpPr>
        <p:spPr>
          <a:xfrm>
            <a:off x="2423160" y="2057400"/>
            <a:ext cx="2715768" cy="16002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14600" y="2103120"/>
            <a:ext cx="2532888" cy="1536192"/>
          </a:xfrm>
          <a:prstGeom prst="rect">
            <a:avLst/>
          </a:prstGeom>
          <a:noFill/>
        </p:spPr>
        <p:txBody>
          <a:bodyPr wrap="square" anchor="t" lIns="45720" rIns="45720" tIns="27432" bIns="27432">
            <a:spAutoFit/>
          </a:bodyPr>
          <a:lstStyle/>
          <a:p>
            <a:pPr algn="l">
              <a:lnSpc>
                <a:spcPct val="115000"/>
              </a:lnSpc>
              <a:spcAft>
                <a:spcPts val="200"/>
              </a:spcAft>
            </a:pPr>
            <a:r>
              <a:rPr sz="1400" b="1" i="0">
                <a:solidFill>
                  <a:srgbClr val="C9A86A"/>
                </a:solidFill>
                <a:latin typeface="Playfair Display"/>
              </a:rPr>
              <a:t>R  </a:t>
            </a:r>
            <a:r>
              <a:rPr sz="900" b="1" i="0">
                <a:solidFill>
                  <a:srgbClr val="5B3F80"/>
                </a:solidFill>
                <a:latin typeface="Montserrat"/>
              </a:rPr>
              <a:t>REPOSICIONAR</a:t>
            </a:r>
          </a:p>
          <a:p>
            <a:pPr algn="l">
              <a:lnSpc>
                <a:spcPct val="115000"/>
              </a:lnSpc>
              <a:spcAft>
                <a:spcPts val="200"/>
              </a:spcAft>
            </a:pPr>
            <a:r>
              <a:rPr sz="1000" b="0" i="0">
                <a:solidFill>
                  <a:srgbClr val="2E2A36"/>
                </a:solidFill>
                <a:latin typeface="Montserrat"/>
              </a:rPr>
              <a:t>El jardín conserva lo esencial de la sepultura: un lugar con nombre para visitar, con un costo mucho menor y en un entorno natural.</a:t>
            </a:r>
          </a:p>
        </p:txBody>
      </p:sp>
      <p:sp>
        <p:nvSpPr>
          <p:cNvPr id="12" name="Rectangle 11"/>
          <p:cNvSpPr/>
          <p:nvPr/>
        </p:nvSpPr>
        <p:spPr>
          <a:xfrm>
            <a:off x="5230368" y="2057400"/>
            <a:ext cx="1828800" cy="16002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21808" y="2103120"/>
            <a:ext cx="1645920" cy="1536192"/>
          </a:xfrm>
          <a:prstGeom prst="rect">
            <a:avLst/>
          </a:prstGeom>
          <a:noFill/>
        </p:spPr>
        <p:txBody>
          <a:bodyPr wrap="square" anchor="t" lIns="45720" rIns="45720" tIns="27432" bIns="27432">
            <a:spAutoFit/>
          </a:bodyPr>
          <a:lstStyle/>
          <a:p>
            <a:pPr algn="l">
              <a:lnSpc>
                <a:spcPct val="115000"/>
              </a:lnSpc>
              <a:spcAft>
                <a:spcPts val="200"/>
              </a:spcAft>
            </a:pPr>
            <a:r>
              <a:rPr sz="1400" b="1" i="0">
                <a:solidFill>
                  <a:srgbClr val="C9A86A"/>
                </a:solidFill>
                <a:latin typeface="Playfair Display"/>
              </a:rPr>
              <a:t>A  </a:t>
            </a:r>
            <a:r>
              <a:rPr sz="900" b="1" i="0">
                <a:solidFill>
                  <a:srgbClr val="5B3F80"/>
                </a:solidFill>
                <a:latin typeface="Montserrat"/>
              </a:rPr>
              <a:t>AVANZAR</a:t>
            </a:r>
          </a:p>
          <a:p>
            <a:pPr algn="l">
              <a:lnSpc>
                <a:spcPct val="115000"/>
              </a:lnSpc>
              <a:spcAft>
                <a:spcPts val="200"/>
              </a:spcAft>
            </a:pPr>
            <a:r>
              <a:rPr sz="1000" b="0" i="1">
                <a:solidFill>
                  <a:srgbClr val="2E2A36"/>
                </a:solidFill>
                <a:latin typeface="Montserrat"/>
              </a:rPr>
              <a:t>"¿Le muestro la diferencia de inversión entre ambas opciones?"</a:t>
            </a:r>
          </a:p>
        </p:txBody>
      </p:sp>
      <p:sp>
        <p:nvSpPr>
          <p:cNvPr id="14" name="Rectangle 13"/>
          <p:cNvSpPr/>
          <p:nvPr/>
        </p:nvSpPr>
        <p:spPr>
          <a:xfrm>
            <a:off x="502920" y="3794760"/>
            <a:ext cx="6556248" cy="41148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794760"/>
            <a:ext cx="6281928" cy="411480"/>
          </a:xfrm>
          <a:prstGeom prst="rect">
            <a:avLst/>
          </a:prstGeom>
          <a:noFill/>
        </p:spPr>
        <p:txBody>
          <a:bodyPr wrap="square" anchor="ctr" lIns="45720" rIns="45720" tIns="27432" bIns="27432">
            <a:spAutoFit/>
          </a:bodyPr>
          <a:lstStyle/>
          <a:p>
            <a:pPr algn="l">
              <a:lnSpc>
                <a:spcPct val="115000"/>
              </a:lnSpc>
              <a:spcAft>
                <a:spcPts val="400"/>
              </a:spcAft>
            </a:pPr>
            <a:r>
              <a:rPr sz="1200" b="1" i="0">
                <a:solidFill>
                  <a:srgbClr val="FFFFFF"/>
                </a:solidFill>
                <a:latin typeface="Montserrat"/>
              </a:rPr>
              <a:t>4.  "Está caro."</a:t>
            </a:r>
          </a:p>
        </p:txBody>
      </p:sp>
      <p:sp>
        <p:nvSpPr>
          <p:cNvPr id="16" name="Rectangle 15"/>
          <p:cNvSpPr/>
          <p:nvPr/>
        </p:nvSpPr>
        <p:spPr>
          <a:xfrm>
            <a:off x="502920" y="4251960"/>
            <a:ext cx="1828800" cy="16002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4297680"/>
            <a:ext cx="1645920" cy="1536192"/>
          </a:xfrm>
          <a:prstGeom prst="rect">
            <a:avLst/>
          </a:prstGeom>
          <a:noFill/>
        </p:spPr>
        <p:txBody>
          <a:bodyPr wrap="square" anchor="t" lIns="45720" rIns="45720" tIns="27432" bIns="27432">
            <a:spAutoFit/>
          </a:bodyPr>
          <a:lstStyle/>
          <a:p>
            <a:pPr algn="l">
              <a:lnSpc>
                <a:spcPct val="115000"/>
              </a:lnSpc>
              <a:spcAft>
                <a:spcPts val="200"/>
              </a:spcAft>
            </a:pPr>
            <a:r>
              <a:rPr sz="1400" b="1" i="0">
                <a:solidFill>
                  <a:srgbClr val="C9A86A"/>
                </a:solidFill>
                <a:latin typeface="Playfair Display"/>
              </a:rPr>
              <a:t>V  </a:t>
            </a:r>
            <a:r>
              <a:rPr sz="900" b="1" i="0">
                <a:solidFill>
                  <a:srgbClr val="5B3F80"/>
                </a:solidFill>
                <a:latin typeface="Montserrat"/>
              </a:rPr>
              <a:t>VALIDAR</a:t>
            </a:r>
          </a:p>
          <a:p>
            <a:pPr algn="l">
              <a:lnSpc>
                <a:spcPct val="115000"/>
              </a:lnSpc>
              <a:spcAft>
                <a:spcPts val="200"/>
              </a:spcAft>
            </a:pPr>
            <a:r>
              <a:rPr sz="1000" b="0" i="1">
                <a:solidFill>
                  <a:srgbClr val="2E2A36"/>
                </a:solidFill>
                <a:latin typeface="Montserrat"/>
              </a:rPr>
              <a:t>"Comprendo, es una inversión."</a:t>
            </a:r>
          </a:p>
        </p:txBody>
      </p:sp>
      <p:sp>
        <p:nvSpPr>
          <p:cNvPr id="18" name="Rectangle 17"/>
          <p:cNvSpPr/>
          <p:nvPr/>
        </p:nvSpPr>
        <p:spPr>
          <a:xfrm>
            <a:off x="2423160" y="4251960"/>
            <a:ext cx="2715768" cy="16002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4600" y="4297680"/>
            <a:ext cx="2532888" cy="1536192"/>
          </a:xfrm>
          <a:prstGeom prst="rect">
            <a:avLst/>
          </a:prstGeom>
          <a:noFill/>
        </p:spPr>
        <p:txBody>
          <a:bodyPr wrap="square" anchor="t" lIns="45720" rIns="45720" tIns="27432" bIns="27432">
            <a:spAutoFit/>
          </a:bodyPr>
          <a:lstStyle/>
          <a:p>
            <a:pPr algn="l">
              <a:lnSpc>
                <a:spcPct val="115000"/>
              </a:lnSpc>
              <a:spcAft>
                <a:spcPts val="200"/>
              </a:spcAft>
            </a:pPr>
            <a:r>
              <a:rPr sz="1400" b="1" i="0">
                <a:solidFill>
                  <a:srgbClr val="C9A86A"/>
                </a:solidFill>
                <a:latin typeface="Playfair Display"/>
              </a:rPr>
              <a:t>R  </a:t>
            </a:r>
            <a:r>
              <a:rPr sz="900" b="1" i="0">
                <a:solidFill>
                  <a:srgbClr val="5B3F80"/>
                </a:solidFill>
                <a:latin typeface="Montserrat"/>
              </a:rPr>
              <a:t>REPOSICIONAR</a:t>
            </a:r>
          </a:p>
          <a:p>
            <a:pPr algn="l">
              <a:lnSpc>
                <a:spcPct val="115000"/>
              </a:lnSpc>
              <a:spcAft>
                <a:spcPts val="200"/>
              </a:spcAft>
            </a:pPr>
            <a:r>
              <a:rPr sz="1000" b="0" i="0">
                <a:solidFill>
                  <a:srgbClr val="2E2A36"/>
                </a:solidFill>
                <a:latin typeface="Montserrat"/>
              </a:rPr>
              <a:t>En la urgencia los costos son mayores y se pagan de golpe. Hoy fija el precio y lo paga en cuotas: la Solución Modular se paga en hasta 120 meses.</a:t>
            </a:r>
          </a:p>
        </p:txBody>
      </p:sp>
      <p:sp>
        <p:nvSpPr>
          <p:cNvPr id="20" name="Rectangle 19"/>
          <p:cNvSpPr/>
          <p:nvPr/>
        </p:nvSpPr>
        <p:spPr>
          <a:xfrm>
            <a:off x="5230368" y="4251960"/>
            <a:ext cx="1828800" cy="16002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21808" y="4297680"/>
            <a:ext cx="1645920" cy="1536192"/>
          </a:xfrm>
          <a:prstGeom prst="rect">
            <a:avLst/>
          </a:prstGeom>
          <a:noFill/>
        </p:spPr>
        <p:txBody>
          <a:bodyPr wrap="square" anchor="t" lIns="45720" rIns="45720" tIns="27432" bIns="27432">
            <a:spAutoFit/>
          </a:bodyPr>
          <a:lstStyle/>
          <a:p>
            <a:pPr algn="l">
              <a:lnSpc>
                <a:spcPct val="115000"/>
              </a:lnSpc>
              <a:spcAft>
                <a:spcPts val="200"/>
              </a:spcAft>
            </a:pPr>
            <a:r>
              <a:rPr sz="1400" b="1" i="0">
                <a:solidFill>
                  <a:srgbClr val="C9A86A"/>
                </a:solidFill>
                <a:latin typeface="Playfair Display"/>
              </a:rPr>
              <a:t>A  </a:t>
            </a:r>
            <a:r>
              <a:rPr sz="900" b="1" i="0">
                <a:solidFill>
                  <a:srgbClr val="5B3F80"/>
                </a:solidFill>
                <a:latin typeface="Montserrat"/>
              </a:rPr>
              <a:t>AVANZAR</a:t>
            </a:r>
          </a:p>
          <a:p>
            <a:pPr algn="l">
              <a:lnSpc>
                <a:spcPct val="115000"/>
              </a:lnSpc>
              <a:spcAft>
                <a:spcPts val="200"/>
              </a:spcAft>
            </a:pPr>
            <a:r>
              <a:rPr sz="1000" b="0" i="1">
                <a:solidFill>
                  <a:srgbClr val="2E2A36"/>
                </a:solidFill>
                <a:latin typeface="Montserrat"/>
              </a:rPr>
              <a:t>"¿Le resulta más cómodo pagarlo en cuotas mensuales?"</a:t>
            </a:r>
          </a:p>
        </p:txBody>
      </p:sp>
      <p:sp>
        <p:nvSpPr>
          <p:cNvPr id="22" name="Rectangle 21"/>
          <p:cNvSpPr/>
          <p:nvPr/>
        </p:nvSpPr>
        <p:spPr>
          <a:xfrm>
            <a:off x="502920" y="5989320"/>
            <a:ext cx="6556248" cy="41148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5989320"/>
            <a:ext cx="6281928" cy="411480"/>
          </a:xfrm>
          <a:prstGeom prst="rect">
            <a:avLst/>
          </a:prstGeom>
          <a:noFill/>
        </p:spPr>
        <p:txBody>
          <a:bodyPr wrap="square" anchor="ctr" lIns="45720" rIns="45720" tIns="27432" bIns="27432">
            <a:spAutoFit/>
          </a:bodyPr>
          <a:lstStyle/>
          <a:p>
            <a:pPr algn="l">
              <a:lnSpc>
                <a:spcPct val="115000"/>
              </a:lnSpc>
              <a:spcAft>
                <a:spcPts val="400"/>
              </a:spcAft>
            </a:pPr>
            <a:r>
              <a:rPr sz="1200" b="1" i="0">
                <a:solidFill>
                  <a:srgbClr val="FFFFFF"/>
                </a:solidFill>
                <a:latin typeface="Montserrat"/>
              </a:rPr>
              <a:t>5.  "Tengo que hablarlo con mi familia."</a:t>
            </a:r>
          </a:p>
        </p:txBody>
      </p:sp>
      <p:sp>
        <p:nvSpPr>
          <p:cNvPr id="24" name="Rectangle 23"/>
          <p:cNvSpPr/>
          <p:nvPr/>
        </p:nvSpPr>
        <p:spPr>
          <a:xfrm>
            <a:off x="502920" y="6446520"/>
            <a:ext cx="1828800" cy="16002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6492240"/>
            <a:ext cx="1645920" cy="1536192"/>
          </a:xfrm>
          <a:prstGeom prst="rect">
            <a:avLst/>
          </a:prstGeom>
          <a:noFill/>
        </p:spPr>
        <p:txBody>
          <a:bodyPr wrap="square" anchor="t" lIns="45720" rIns="45720" tIns="27432" bIns="27432">
            <a:spAutoFit/>
          </a:bodyPr>
          <a:lstStyle/>
          <a:p>
            <a:pPr algn="l">
              <a:lnSpc>
                <a:spcPct val="115000"/>
              </a:lnSpc>
              <a:spcAft>
                <a:spcPts val="200"/>
              </a:spcAft>
            </a:pPr>
            <a:r>
              <a:rPr sz="1400" b="1" i="0">
                <a:solidFill>
                  <a:srgbClr val="C9A86A"/>
                </a:solidFill>
                <a:latin typeface="Playfair Display"/>
              </a:rPr>
              <a:t>V  </a:t>
            </a:r>
            <a:r>
              <a:rPr sz="900" b="1" i="0">
                <a:solidFill>
                  <a:srgbClr val="5B3F80"/>
                </a:solidFill>
                <a:latin typeface="Montserrat"/>
              </a:rPr>
              <a:t>VALIDAR</a:t>
            </a:r>
          </a:p>
          <a:p>
            <a:pPr algn="l">
              <a:lnSpc>
                <a:spcPct val="115000"/>
              </a:lnSpc>
              <a:spcAft>
                <a:spcPts val="200"/>
              </a:spcAft>
            </a:pPr>
            <a:r>
              <a:rPr sz="1000" b="0" i="1">
                <a:solidFill>
                  <a:srgbClr val="2E2A36"/>
                </a:solidFill>
                <a:latin typeface="Montserrat"/>
              </a:rPr>
              <a:t>"Claro, es una decisión de familia."</a:t>
            </a:r>
          </a:p>
        </p:txBody>
      </p:sp>
      <p:sp>
        <p:nvSpPr>
          <p:cNvPr id="26" name="Rectangle 25"/>
          <p:cNvSpPr/>
          <p:nvPr/>
        </p:nvSpPr>
        <p:spPr>
          <a:xfrm>
            <a:off x="2423160" y="6446520"/>
            <a:ext cx="2715768" cy="16002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14600" y="6492240"/>
            <a:ext cx="2532888" cy="1536192"/>
          </a:xfrm>
          <a:prstGeom prst="rect">
            <a:avLst/>
          </a:prstGeom>
          <a:noFill/>
        </p:spPr>
        <p:txBody>
          <a:bodyPr wrap="square" anchor="t" lIns="45720" rIns="45720" tIns="27432" bIns="27432">
            <a:spAutoFit/>
          </a:bodyPr>
          <a:lstStyle/>
          <a:p>
            <a:pPr algn="l">
              <a:lnSpc>
                <a:spcPct val="115000"/>
              </a:lnSpc>
              <a:spcAft>
                <a:spcPts val="200"/>
              </a:spcAft>
            </a:pPr>
            <a:r>
              <a:rPr sz="1400" b="1" i="0">
                <a:solidFill>
                  <a:srgbClr val="C9A86A"/>
                </a:solidFill>
                <a:latin typeface="Playfair Display"/>
              </a:rPr>
              <a:t>R  </a:t>
            </a:r>
            <a:r>
              <a:rPr sz="900" b="1" i="0">
                <a:solidFill>
                  <a:srgbClr val="5B3F80"/>
                </a:solidFill>
                <a:latin typeface="Montserrat"/>
              </a:rPr>
              <a:t>REPOSICIONAR</a:t>
            </a:r>
          </a:p>
          <a:p>
            <a:pPr algn="l">
              <a:lnSpc>
                <a:spcPct val="115000"/>
              </a:lnSpc>
              <a:spcAft>
                <a:spcPts val="200"/>
              </a:spcAft>
            </a:pPr>
            <a:r>
              <a:rPr sz="1000" b="0" i="0">
                <a:solidFill>
                  <a:srgbClr val="2E2A36"/>
                </a:solidFill>
                <a:latin typeface="Montserrat"/>
              </a:rPr>
              <a:t>Facilite esa conversación: ofrezca un resumen simple y quedar disponible para resolver dudas de todos juntos.</a:t>
            </a:r>
          </a:p>
        </p:txBody>
      </p:sp>
      <p:sp>
        <p:nvSpPr>
          <p:cNvPr id="28" name="Rectangle 27"/>
          <p:cNvSpPr/>
          <p:nvPr/>
        </p:nvSpPr>
        <p:spPr>
          <a:xfrm>
            <a:off x="5230368" y="6446520"/>
            <a:ext cx="1828800" cy="16002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21808" y="6492240"/>
            <a:ext cx="1645920" cy="1536192"/>
          </a:xfrm>
          <a:prstGeom prst="rect">
            <a:avLst/>
          </a:prstGeom>
          <a:noFill/>
        </p:spPr>
        <p:txBody>
          <a:bodyPr wrap="square" anchor="t" lIns="45720" rIns="45720" tIns="27432" bIns="27432">
            <a:spAutoFit/>
          </a:bodyPr>
          <a:lstStyle/>
          <a:p>
            <a:pPr algn="l">
              <a:lnSpc>
                <a:spcPct val="115000"/>
              </a:lnSpc>
              <a:spcAft>
                <a:spcPts val="200"/>
              </a:spcAft>
            </a:pPr>
            <a:r>
              <a:rPr sz="1400" b="1" i="0">
                <a:solidFill>
                  <a:srgbClr val="C9A86A"/>
                </a:solidFill>
                <a:latin typeface="Playfair Display"/>
              </a:rPr>
              <a:t>A  </a:t>
            </a:r>
            <a:r>
              <a:rPr sz="900" b="1" i="0">
                <a:solidFill>
                  <a:srgbClr val="5B3F80"/>
                </a:solidFill>
                <a:latin typeface="Montserrat"/>
              </a:rPr>
              <a:t>AVANZAR</a:t>
            </a:r>
          </a:p>
          <a:p>
            <a:pPr algn="l">
              <a:lnSpc>
                <a:spcPct val="115000"/>
              </a:lnSpc>
              <a:spcAft>
                <a:spcPts val="200"/>
              </a:spcAft>
            </a:pPr>
            <a:r>
              <a:rPr sz="1000" b="0" i="1">
                <a:solidFill>
                  <a:srgbClr val="2E2A36"/>
                </a:solidFill>
                <a:latin typeface="Montserrat"/>
              </a:rPr>
              <a:t>"¿Puedo llamarle el [día] para ver si quedó alguna pregunta?"</a:t>
            </a:r>
          </a:p>
        </p:txBody>
      </p:sp>
      <p:sp>
        <p:nvSpPr>
          <p:cNvPr id="30" name="TextBox 29"/>
          <p:cNvSpPr txBox="1"/>
          <p:nvPr/>
        </p:nvSpPr>
        <p:spPr>
          <a:xfrm>
            <a:off x="502920" y="10277856"/>
            <a:ext cx="5641848"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31" name="TextBox 30"/>
          <p:cNvSpPr txBox="1"/>
          <p:nvPr/>
        </p:nvSpPr>
        <p:spPr>
          <a:xfrm>
            <a:off x="6144768" y="10277856"/>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10689336"/>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05 · MANEJO DE OBJECIONES</a:t>
            </a:r>
          </a:p>
        </p:txBody>
      </p:sp>
      <p:sp>
        <p:nvSpPr>
          <p:cNvPr id="4" name="TextBox 3"/>
          <p:cNvSpPr txBox="1"/>
          <p:nvPr/>
        </p:nvSpPr>
        <p:spPr>
          <a:xfrm>
            <a:off x="502920" y="621792"/>
            <a:ext cx="6556248"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Objeciones frecuentes</a:t>
            </a:r>
          </a:p>
        </p:txBody>
      </p:sp>
      <p:sp>
        <p:nvSpPr>
          <p:cNvPr id="5" name="Rectangle 4"/>
          <p:cNvSpPr/>
          <p:nvPr/>
        </p:nvSpPr>
        <p:spPr>
          <a:xfrm>
            <a:off x="50292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600200"/>
            <a:ext cx="6556248" cy="41148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00200"/>
            <a:ext cx="6281928" cy="411480"/>
          </a:xfrm>
          <a:prstGeom prst="rect">
            <a:avLst/>
          </a:prstGeom>
          <a:noFill/>
        </p:spPr>
        <p:txBody>
          <a:bodyPr wrap="square" anchor="ctr" lIns="45720" rIns="45720" tIns="27432" bIns="27432">
            <a:spAutoFit/>
          </a:bodyPr>
          <a:lstStyle/>
          <a:p>
            <a:pPr algn="l">
              <a:lnSpc>
                <a:spcPct val="115000"/>
              </a:lnSpc>
              <a:spcAft>
                <a:spcPts val="400"/>
              </a:spcAft>
            </a:pPr>
            <a:r>
              <a:rPr sz="1200" b="1" i="0">
                <a:solidFill>
                  <a:srgbClr val="FFFFFF"/>
                </a:solidFill>
                <a:latin typeface="Montserrat"/>
              </a:rPr>
              <a:t>6.  "Prefiero tener las cenizas en casa."</a:t>
            </a:r>
          </a:p>
        </p:txBody>
      </p:sp>
      <p:sp>
        <p:nvSpPr>
          <p:cNvPr id="8" name="Rectangle 7"/>
          <p:cNvSpPr/>
          <p:nvPr/>
        </p:nvSpPr>
        <p:spPr>
          <a:xfrm>
            <a:off x="502920" y="2057400"/>
            <a:ext cx="1828800" cy="16002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103120"/>
            <a:ext cx="1645920" cy="1536192"/>
          </a:xfrm>
          <a:prstGeom prst="rect">
            <a:avLst/>
          </a:prstGeom>
          <a:noFill/>
        </p:spPr>
        <p:txBody>
          <a:bodyPr wrap="square" anchor="t" lIns="45720" rIns="45720" tIns="27432" bIns="27432">
            <a:spAutoFit/>
          </a:bodyPr>
          <a:lstStyle/>
          <a:p>
            <a:pPr algn="l">
              <a:lnSpc>
                <a:spcPct val="115000"/>
              </a:lnSpc>
              <a:spcAft>
                <a:spcPts val="200"/>
              </a:spcAft>
            </a:pPr>
            <a:r>
              <a:rPr sz="1400" b="1" i="0">
                <a:solidFill>
                  <a:srgbClr val="C9A86A"/>
                </a:solidFill>
                <a:latin typeface="Playfair Display"/>
              </a:rPr>
              <a:t>V  </a:t>
            </a:r>
            <a:r>
              <a:rPr sz="900" b="1" i="0">
                <a:solidFill>
                  <a:srgbClr val="5B3F80"/>
                </a:solidFill>
                <a:latin typeface="Montserrat"/>
              </a:rPr>
              <a:t>VALIDAR</a:t>
            </a:r>
          </a:p>
          <a:p>
            <a:pPr algn="l">
              <a:lnSpc>
                <a:spcPct val="115000"/>
              </a:lnSpc>
              <a:spcAft>
                <a:spcPts val="200"/>
              </a:spcAft>
            </a:pPr>
            <a:r>
              <a:rPr sz="1000" b="0" i="1">
                <a:solidFill>
                  <a:srgbClr val="2E2A36"/>
                </a:solidFill>
                <a:latin typeface="Montserrat"/>
              </a:rPr>
              <a:t>"Es natural querer tenerlas cerca."</a:t>
            </a:r>
          </a:p>
        </p:txBody>
      </p:sp>
      <p:sp>
        <p:nvSpPr>
          <p:cNvPr id="10" name="Rectangle 9"/>
          <p:cNvSpPr/>
          <p:nvPr/>
        </p:nvSpPr>
        <p:spPr>
          <a:xfrm>
            <a:off x="2423160" y="2057400"/>
            <a:ext cx="2715768" cy="16002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14600" y="2103120"/>
            <a:ext cx="2532888" cy="1536192"/>
          </a:xfrm>
          <a:prstGeom prst="rect">
            <a:avLst/>
          </a:prstGeom>
          <a:noFill/>
        </p:spPr>
        <p:txBody>
          <a:bodyPr wrap="square" anchor="t" lIns="45720" rIns="45720" tIns="27432" bIns="27432">
            <a:spAutoFit/>
          </a:bodyPr>
          <a:lstStyle/>
          <a:p>
            <a:pPr algn="l">
              <a:lnSpc>
                <a:spcPct val="115000"/>
              </a:lnSpc>
              <a:spcAft>
                <a:spcPts val="200"/>
              </a:spcAft>
            </a:pPr>
            <a:r>
              <a:rPr sz="1400" b="1" i="0">
                <a:solidFill>
                  <a:srgbClr val="C9A86A"/>
                </a:solidFill>
                <a:latin typeface="Playfair Display"/>
              </a:rPr>
              <a:t>R  </a:t>
            </a:r>
            <a:r>
              <a:rPr sz="900" b="1" i="0">
                <a:solidFill>
                  <a:srgbClr val="5B3F80"/>
                </a:solidFill>
                <a:latin typeface="Montserrat"/>
              </a:rPr>
              <a:t>REPOSICIONAR</a:t>
            </a:r>
          </a:p>
          <a:p>
            <a:pPr algn="l">
              <a:lnSpc>
                <a:spcPct val="115000"/>
              </a:lnSpc>
              <a:spcAft>
                <a:spcPts val="200"/>
              </a:spcAft>
            </a:pPr>
            <a:r>
              <a:rPr sz="1000" b="0" i="0">
                <a:solidFill>
                  <a:srgbClr val="2E2A36"/>
                </a:solidFill>
                <a:latin typeface="Montserrat"/>
              </a:rPr>
              <a:t>En el jardín toda la familia puede visitarlas, quedan protegidas ante mudanzas o cambios, y tienen un lugar con su nombre.</a:t>
            </a:r>
          </a:p>
        </p:txBody>
      </p:sp>
      <p:sp>
        <p:nvSpPr>
          <p:cNvPr id="12" name="Rectangle 11"/>
          <p:cNvSpPr/>
          <p:nvPr/>
        </p:nvSpPr>
        <p:spPr>
          <a:xfrm>
            <a:off x="5230368" y="2057400"/>
            <a:ext cx="1828800" cy="16002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21808" y="2103120"/>
            <a:ext cx="1645920" cy="1536192"/>
          </a:xfrm>
          <a:prstGeom prst="rect">
            <a:avLst/>
          </a:prstGeom>
          <a:noFill/>
        </p:spPr>
        <p:txBody>
          <a:bodyPr wrap="square" anchor="t" lIns="45720" rIns="45720" tIns="27432" bIns="27432">
            <a:spAutoFit/>
          </a:bodyPr>
          <a:lstStyle/>
          <a:p>
            <a:pPr algn="l">
              <a:lnSpc>
                <a:spcPct val="115000"/>
              </a:lnSpc>
              <a:spcAft>
                <a:spcPts val="200"/>
              </a:spcAft>
            </a:pPr>
            <a:r>
              <a:rPr sz="1400" b="1" i="0">
                <a:solidFill>
                  <a:srgbClr val="C9A86A"/>
                </a:solidFill>
                <a:latin typeface="Playfair Display"/>
              </a:rPr>
              <a:t>A  </a:t>
            </a:r>
            <a:r>
              <a:rPr sz="900" b="1" i="0">
                <a:solidFill>
                  <a:srgbClr val="5B3F80"/>
                </a:solidFill>
                <a:latin typeface="Montserrat"/>
              </a:rPr>
              <a:t>AVANZAR</a:t>
            </a:r>
          </a:p>
          <a:p>
            <a:pPr algn="l">
              <a:lnSpc>
                <a:spcPct val="115000"/>
              </a:lnSpc>
              <a:spcAft>
                <a:spcPts val="200"/>
              </a:spcAft>
            </a:pPr>
            <a:r>
              <a:rPr sz="1000" b="0" i="1">
                <a:solidFill>
                  <a:srgbClr val="2E2A36"/>
                </a:solidFill>
                <a:latin typeface="Montserrat"/>
              </a:rPr>
              <a:t>"¿Le gustaría visitar el jardín antes de decidir?"</a:t>
            </a:r>
          </a:p>
        </p:txBody>
      </p:sp>
      <p:sp>
        <p:nvSpPr>
          <p:cNvPr id="14" name="Rectangle 13"/>
          <p:cNvSpPr/>
          <p:nvPr/>
        </p:nvSpPr>
        <p:spPr>
          <a:xfrm>
            <a:off x="502920" y="3794760"/>
            <a:ext cx="6556248" cy="41148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794760"/>
            <a:ext cx="6281928" cy="411480"/>
          </a:xfrm>
          <a:prstGeom prst="rect">
            <a:avLst/>
          </a:prstGeom>
          <a:noFill/>
        </p:spPr>
        <p:txBody>
          <a:bodyPr wrap="square" anchor="ctr" lIns="45720" rIns="45720" tIns="27432" bIns="27432">
            <a:spAutoFit/>
          </a:bodyPr>
          <a:lstStyle/>
          <a:p>
            <a:pPr algn="l">
              <a:lnSpc>
                <a:spcPct val="115000"/>
              </a:lnSpc>
              <a:spcAft>
                <a:spcPts val="400"/>
              </a:spcAft>
            </a:pPr>
            <a:r>
              <a:rPr sz="1200" b="1" i="0">
                <a:solidFill>
                  <a:srgbClr val="FFFFFF"/>
                </a:solidFill>
                <a:latin typeface="Montserrat"/>
              </a:rPr>
              <a:t>7.  "¿Por qué pagar mantenimiento cada año?"</a:t>
            </a:r>
          </a:p>
        </p:txBody>
      </p:sp>
      <p:sp>
        <p:nvSpPr>
          <p:cNvPr id="16" name="Rectangle 15"/>
          <p:cNvSpPr/>
          <p:nvPr/>
        </p:nvSpPr>
        <p:spPr>
          <a:xfrm>
            <a:off x="502920" y="4251960"/>
            <a:ext cx="1828800" cy="16002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4297680"/>
            <a:ext cx="1645920" cy="1536192"/>
          </a:xfrm>
          <a:prstGeom prst="rect">
            <a:avLst/>
          </a:prstGeom>
          <a:noFill/>
        </p:spPr>
        <p:txBody>
          <a:bodyPr wrap="square" anchor="t" lIns="45720" rIns="45720" tIns="27432" bIns="27432">
            <a:spAutoFit/>
          </a:bodyPr>
          <a:lstStyle/>
          <a:p>
            <a:pPr algn="l">
              <a:lnSpc>
                <a:spcPct val="115000"/>
              </a:lnSpc>
              <a:spcAft>
                <a:spcPts val="200"/>
              </a:spcAft>
            </a:pPr>
            <a:r>
              <a:rPr sz="1400" b="1" i="0">
                <a:solidFill>
                  <a:srgbClr val="C9A86A"/>
                </a:solidFill>
                <a:latin typeface="Playfair Display"/>
              </a:rPr>
              <a:t>V  </a:t>
            </a:r>
            <a:r>
              <a:rPr sz="900" b="1" i="0">
                <a:solidFill>
                  <a:srgbClr val="5B3F80"/>
                </a:solidFill>
                <a:latin typeface="Montserrat"/>
              </a:rPr>
              <a:t>VALIDAR</a:t>
            </a:r>
          </a:p>
          <a:p>
            <a:pPr algn="l">
              <a:lnSpc>
                <a:spcPct val="115000"/>
              </a:lnSpc>
              <a:spcAft>
                <a:spcPts val="200"/>
              </a:spcAft>
            </a:pPr>
            <a:r>
              <a:rPr sz="1000" b="0" i="1">
                <a:solidFill>
                  <a:srgbClr val="2E2A36"/>
                </a:solidFill>
                <a:latin typeface="Montserrat"/>
              </a:rPr>
              <a:t>"Es una pregunta muy válida."</a:t>
            </a:r>
          </a:p>
        </p:txBody>
      </p:sp>
      <p:sp>
        <p:nvSpPr>
          <p:cNvPr id="18" name="Rectangle 17"/>
          <p:cNvSpPr/>
          <p:nvPr/>
        </p:nvSpPr>
        <p:spPr>
          <a:xfrm>
            <a:off x="2423160" y="4251960"/>
            <a:ext cx="2715768" cy="16002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4600" y="4297680"/>
            <a:ext cx="2532888" cy="1536192"/>
          </a:xfrm>
          <a:prstGeom prst="rect">
            <a:avLst/>
          </a:prstGeom>
          <a:noFill/>
        </p:spPr>
        <p:txBody>
          <a:bodyPr wrap="square" anchor="t" lIns="45720" rIns="45720" tIns="27432" bIns="27432">
            <a:spAutoFit/>
          </a:bodyPr>
          <a:lstStyle/>
          <a:p>
            <a:pPr algn="l">
              <a:lnSpc>
                <a:spcPct val="115000"/>
              </a:lnSpc>
              <a:spcAft>
                <a:spcPts val="200"/>
              </a:spcAft>
            </a:pPr>
            <a:r>
              <a:rPr sz="1400" b="1" i="0">
                <a:solidFill>
                  <a:srgbClr val="C9A86A"/>
                </a:solidFill>
                <a:latin typeface="Playfair Display"/>
              </a:rPr>
              <a:t>R  </a:t>
            </a:r>
            <a:r>
              <a:rPr sz="900" b="1" i="0">
                <a:solidFill>
                  <a:srgbClr val="5B3F80"/>
                </a:solidFill>
                <a:latin typeface="Montserrat"/>
              </a:rPr>
              <a:t>REPOSICIONAR</a:t>
            </a:r>
          </a:p>
          <a:p>
            <a:pPr algn="l">
              <a:lnSpc>
                <a:spcPct val="115000"/>
              </a:lnSpc>
              <a:spcAft>
                <a:spcPts val="200"/>
              </a:spcAft>
            </a:pPr>
            <a:r>
              <a:rPr sz="1000" b="0" i="0">
                <a:solidFill>
                  <a:srgbClr val="2E2A36"/>
                </a:solidFill>
                <a:latin typeface="Montserrat"/>
              </a:rPr>
              <a:t>La cuota (US$ 15 o US$ 24 al año) mantiene el jardín siempre cuidado: poda, riego y limpieza. Es lo que garantiza que el lugar luzca digno en cada visita.</a:t>
            </a:r>
          </a:p>
        </p:txBody>
      </p:sp>
      <p:sp>
        <p:nvSpPr>
          <p:cNvPr id="20" name="Rectangle 19"/>
          <p:cNvSpPr/>
          <p:nvPr/>
        </p:nvSpPr>
        <p:spPr>
          <a:xfrm>
            <a:off x="5230368" y="4251960"/>
            <a:ext cx="1828800" cy="16002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21808" y="4297680"/>
            <a:ext cx="1645920" cy="1536192"/>
          </a:xfrm>
          <a:prstGeom prst="rect">
            <a:avLst/>
          </a:prstGeom>
          <a:noFill/>
        </p:spPr>
        <p:txBody>
          <a:bodyPr wrap="square" anchor="t" lIns="45720" rIns="45720" tIns="27432" bIns="27432">
            <a:spAutoFit/>
          </a:bodyPr>
          <a:lstStyle/>
          <a:p>
            <a:pPr algn="l">
              <a:lnSpc>
                <a:spcPct val="115000"/>
              </a:lnSpc>
              <a:spcAft>
                <a:spcPts val="200"/>
              </a:spcAft>
            </a:pPr>
            <a:r>
              <a:rPr sz="1400" b="1" i="0">
                <a:solidFill>
                  <a:srgbClr val="C9A86A"/>
                </a:solidFill>
                <a:latin typeface="Playfair Display"/>
              </a:rPr>
              <a:t>A  </a:t>
            </a:r>
            <a:r>
              <a:rPr sz="900" b="1" i="0">
                <a:solidFill>
                  <a:srgbClr val="5B3F80"/>
                </a:solidFill>
                <a:latin typeface="Montserrat"/>
              </a:rPr>
              <a:t>AVANZAR</a:t>
            </a:r>
          </a:p>
          <a:p>
            <a:pPr algn="l">
              <a:lnSpc>
                <a:spcPct val="115000"/>
              </a:lnSpc>
              <a:spcAft>
                <a:spcPts val="200"/>
              </a:spcAft>
            </a:pPr>
            <a:r>
              <a:rPr sz="1000" b="0" i="1">
                <a:solidFill>
                  <a:srgbClr val="2E2A36"/>
                </a:solidFill>
                <a:latin typeface="Montserrat"/>
              </a:rPr>
              <a:t>"¿Le explico qué incluye el cuidado del jardín?"</a:t>
            </a:r>
          </a:p>
        </p:txBody>
      </p:sp>
      <p:sp>
        <p:nvSpPr>
          <p:cNvPr id="22" name="Rectangle 21"/>
          <p:cNvSpPr/>
          <p:nvPr/>
        </p:nvSpPr>
        <p:spPr>
          <a:xfrm>
            <a:off x="502920" y="5989320"/>
            <a:ext cx="6556248" cy="41148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5989320"/>
            <a:ext cx="6281928" cy="411480"/>
          </a:xfrm>
          <a:prstGeom prst="rect">
            <a:avLst/>
          </a:prstGeom>
          <a:noFill/>
        </p:spPr>
        <p:txBody>
          <a:bodyPr wrap="square" anchor="ctr" lIns="45720" rIns="45720" tIns="27432" bIns="27432">
            <a:spAutoFit/>
          </a:bodyPr>
          <a:lstStyle/>
          <a:p>
            <a:pPr algn="l">
              <a:lnSpc>
                <a:spcPct val="115000"/>
              </a:lnSpc>
              <a:spcAft>
                <a:spcPts val="400"/>
              </a:spcAft>
            </a:pPr>
            <a:r>
              <a:rPr sz="1200" b="1" i="0">
                <a:solidFill>
                  <a:srgbClr val="FFFFFF"/>
                </a:solidFill>
                <a:latin typeface="Montserrat"/>
              </a:rPr>
              <a:t>8.  "No confío en estos planes."</a:t>
            </a:r>
          </a:p>
        </p:txBody>
      </p:sp>
      <p:sp>
        <p:nvSpPr>
          <p:cNvPr id="24" name="Rectangle 23"/>
          <p:cNvSpPr/>
          <p:nvPr/>
        </p:nvSpPr>
        <p:spPr>
          <a:xfrm>
            <a:off x="502920" y="6446520"/>
            <a:ext cx="1828800" cy="16002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6492240"/>
            <a:ext cx="1645920" cy="1536192"/>
          </a:xfrm>
          <a:prstGeom prst="rect">
            <a:avLst/>
          </a:prstGeom>
          <a:noFill/>
        </p:spPr>
        <p:txBody>
          <a:bodyPr wrap="square" anchor="t" lIns="45720" rIns="45720" tIns="27432" bIns="27432">
            <a:spAutoFit/>
          </a:bodyPr>
          <a:lstStyle/>
          <a:p>
            <a:pPr algn="l">
              <a:lnSpc>
                <a:spcPct val="115000"/>
              </a:lnSpc>
              <a:spcAft>
                <a:spcPts val="200"/>
              </a:spcAft>
            </a:pPr>
            <a:r>
              <a:rPr sz="1400" b="1" i="0">
                <a:solidFill>
                  <a:srgbClr val="C9A86A"/>
                </a:solidFill>
                <a:latin typeface="Playfair Display"/>
              </a:rPr>
              <a:t>V  </a:t>
            </a:r>
            <a:r>
              <a:rPr sz="900" b="1" i="0">
                <a:solidFill>
                  <a:srgbClr val="5B3F80"/>
                </a:solidFill>
                <a:latin typeface="Montserrat"/>
              </a:rPr>
              <a:t>VALIDAR</a:t>
            </a:r>
          </a:p>
          <a:p>
            <a:pPr algn="l">
              <a:lnSpc>
                <a:spcPct val="115000"/>
              </a:lnSpc>
              <a:spcAft>
                <a:spcPts val="200"/>
              </a:spcAft>
            </a:pPr>
            <a:r>
              <a:rPr sz="1000" b="0" i="1">
                <a:solidFill>
                  <a:srgbClr val="2E2A36"/>
                </a:solidFill>
                <a:latin typeface="Montserrat"/>
              </a:rPr>
              <a:t>"Es una preocupación válida."</a:t>
            </a:r>
          </a:p>
        </p:txBody>
      </p:sp>
      <p:sp>
        <p:nvSpPr>
          <p:cNvPr id="26" name="Rectangle 25"/>
          <p:cNvSpPr/>
          <p:nvPr/>
        </p:nvSpPr>
        <p:spPr>
          <a:xfrm>
            <a:off x="2423160" y="6446520"/>
            <a:ext cx="2715768" cy="16002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14600" y="6492240"/>
            <a:ext cx="2532888" cy="1536192"/>
          </a:xfrm>
          <a:prstGeom prst="rect">
            <a:avLst/>
          </a:prstGeom>
          <a:noFill/>
        </p:spPr>
        <p:txBody>
          <a:bodyPr wrap="square" anchor="t" lIns="45720" rIns="45720" tIns="27432" bIns="27432">
            <a:spAutoFit/>
          </a:bodyPr>
          <a:lstStyle/>
          <a:p>
            <a:pPr algn="l">
              <a:lnSpc>
                <a:spcPct val="115000"/>
              </a:lnSpc>
              <a:spcAft>
                <a:spcPts val="200"/>
              </a:spcAft>
            </a:pPr>
            <a:r>
              <a:rPr sz="1400" b="1" i="0">
                <a:solidFill>
                  <a:srgbClr val="C9A86A"/>
                </a:solidFill>
                <a:latin typeface="Playfair Display"/>
              </a:rPr>
              <a:t>R  </a:t>
            </a:r>
            <a:r>
              <a:rPr sz="900" b="1" i="0">
                <a:solidFill>
                  <a:srgbClr val="5B3F80"/>
                </a:solidFill>
                <a:latin typeface="Montserrat"/>
              </a:rPr>
              <a:t>REPOSICIONAR</a:t>
            </a:r>
          </a:p>
          <a:p>
            <a:pPr algn="l">
              <a:lnSpc>
                <a:spcPct val="115000"/>
              </a:lnSpc>
              <a:spcAft>
                <a:spcPts val="200"/>
              </a:spcAft>
            </a:pPr>
            <a:r>
              <a:rPr sz="1000" b="0" i="0">
                <a:solidFill>
                  <a:srgbClr val="2E2A36"/>
                </a:solidFill>
                <a:latin typeface="Montserrat"/>
              </a:rPr>
              <a:t>Somos La Auxiliadora, Hogar de las Memorias y Las Colinas, empresas de Vangrupo con trayectoria en El Salvador. El contrato es transparente y puede visitar el jardín cuando quiera.</a:t>
            </a:r>
          </a:p>
        </p:txBody>
      </p:sp>
      <p:sp>
        <p:nvSpPr>
          <p:cNvPr id="28" name="Rectangle 27"/>
          <p:cNvSpPr/>
          <p:nvPr/>
        </p:nvSpPr>
        <p:spPr>
          <a:xfrm>
            <a:off x="5230368" y="6446520"/>
            <a:ext cx="1828800" cy="1600200"/>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21808" y="6492240"/>
            <a:ext cx="1645920" cy="1536192"/>
          </a:xfrm>
          <a:prstGeom prst="rect">
            <a:avLst/>
          </a:prstGeom>
          <a:noFill/>
        </p:spPr>
        <p:txBody>
          <a:bodyPr wrap="square" anchor="t" lIns="45720" rIns="45720" tIns="27432" bIns="27432">
            <a:spAutoFit/>
          </a:bodyPr>
          <a:lstStyle/>
          <a:p>
            <a:pPr algn="l">
              <a:lnSpc>
                <a:spcPct val="115000"/>
              </a:lnSpc>
              <a:spcAft>
                <a:spcPts val="200"/>
              </a:spcAft>
            </a:pPr>
            <a:r>
              <a:rPr sz="1400" b="1" i="0">
                <a:solidFill>
                  <a:srgbClr val="C9A86A"/>
                </a:solidFill>
                <a:latin typeface="Playfair Display"/>
              </a:rPr>
              <a:t>A  </a:t>
            </a:r>
            <a:r>
              <a:rPr sz="900" b="1" i="0">
                <a:solidFill>
                  <a:srgbClr val="5B3F80"/>
                </a:solidFill>
                <a:latin typeface="Montserrat"/>
              </a:rPr>
              <a:t>AVANZAR</a:t>
            </a:r>
          </a:p>
          <a:p>
            <a:pPr algn="l">
              <a:lnSpc>
                <a:spcPct val="115000"/>
              </a:lnSpc>
              <a:spcAft>
                <a:spcPts val="200"/>
              </a:spcAft>
            </a:pPr>
            <a:r>
              <a:rPr sz="1000" b="0" i="1">
                <a:solidFill>
                  <a:srgbClr val="2E2A36"/>
                </a:solidFill>
                <a:latin typeface="Montserrat"/>
              </a:rPr>
              <a:t>"¿Agendamos una visita sin compromiso?"</a:t>
            </a:r>
          </a:p>
        </p:txBody>
      </p:sp>
      <p:sp>
        <p:nvSpPr>
          <p:cNvPr id="30" name="TextBox 29"/>
          <p:cNvSpPr txBox="1"/>
          <p:nvPr/>
        </p:nvSpPr>
        <p:spPr>
          <a:xfrm>
            <a:off x="502920" y="10277856"/>
            <a:ext cx="5641848"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31" name="TextBox 30"/>
          <p:cNvSpPr txBox="1"/>
          <p:nvPr/>
        </p:nvSpPr>
        <p:spPr>
          <a:xfrm>
            <a:off x="6144768" y="10277856"/>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10689336"/>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06 · PRECIOS, REGLAS Y CONDICIONES</a:t>
            </a:r>
          </a:p>
        </p:txBody>
      </p:sp>
      <p:sp>
        <p:nvSpPr>
          <p:cNvPr id="4" name="TextBox 3"/>
          <p:cNvSpPr txBox="1"/>
          <p:nvPr/>
        </p:nvSpPr>
        <p:spPr>
          <a:xfrm>
            <a:off x="502920" y="621792"/>
            <a:ext cx="6556248"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Tabla de precios</a:t>
            </a:r>
          </a:p>
        </p:txBody>
      </p:sp>
      <p:sp>
        <p:nvSpPr>
          <p:cNvPr id="5" name="Rectangle 4"/>
          <p:cNvSpPr/>
          <p:nvPr/>
        </p:nvSpPr>
        <p:spPr>
          <a:xfrm>
            <a:off x="50292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44752"/>
            <a:ext cx="6556248" cy="411480"/>
          </a:xfrm>
          <a:prstGeom prst="rect">
            <a:avLst/>
          </a:prstGeom>
          <a:noFill/>
        </p:spPr>
        <p:txBody>
          <a:bodyPr wrap="square" anchor="t" lIns="45720" rIns="45720" tIns="27432" bIns="27432">
            <a:spAutoFit/>
          </a:bodyPr>
          <a:lstStyle/>
          <a:p>
            <a:pPr algn="l">
              <a:lnSpc>
                <a:spcPct val="115000"/>
              </a:lnSpc>
              <a:spcAft>
                <a:spcPts val="400"/>
              </a:spcAft>
            </a:pPr>
            <a:r>
              <a:rPr sz="1300" b="0" i="1">
                <a:solidFill>
                  <a:srgbClr val="7D7887"/>
                </a:solidFill>
                <a:latin typeface="Montserrat"/>
              </a:rPr>
              <a:t>Fuente oficial: Ficha Técnica vigente. Precios sugeridos en US$, IVA incluido.</a:t>
            </a:r>
          </a:p>
        </p:txBody>
      </p:sp>
      <p:graphicFrame>
        <p:nvGraphicFramePr>
          <p:cNvPr id="7" name="Table 6"/>
          <p:cNvGraphicFramePr>
            <a:graphicFrameLocks noGrp="1"/>
          </p:cNvGraphicFramePr>
          <p:nvPr/>
        </p:nvGraphicFramePr>
        <p:xfrm>
          <a:off x="502920" y="2011680"/>
          <a:ext cx="6556245" cy="3968496"/>
        </p:xfrm>
        <a:graphic>
          <a:graphicData uri="http://schemas.openxmlformats.org/drawingml/2006/table">
            <a:tbl>
              <a:tblPr firstRow="1" bandRow="1">
                <a:tableStyleId>{5C22544A-7EE6-4342-B048-85BDC9FD1C3A}</a:tableStyleId>
              </a:tblPr>
              <a:tblGrid>
                <a:gridCol w="1440933"/>
                <a:gridCol w="1008653"/>
                <a:gridCol w="1440933"/>
                <a:gridCol w="792513"/>
                <a:gridCol w="1873213"/>
              </a:tblGrid>
              <a:tr h="566928">
                <a:tc>
                  <a:txBody>
                    <a:bodyPr wrap="square"/>
                    <a:lstStyle/>
                    <a:p>
                      <a:r>
                        <a:rPr sz="1000" b="1">
                          <a:solidFill>
                            <a:srgbClr val="FFFFFF"/>
                          </a:solidFill>
                          <a:latin typeface="Montserrat"/>
                        </a:rPr>
                        <a:t>Producto</a:t>
                      </a:r>
                    </a:p>
                  </a:txBody>
                  <a:tcPr marL="73152" marR="73152" marT="36576" marB="36576" anchor="ctr">
                    <a:solidFill>
                      <a:srgbClr val="5B3F80"/>
                    </a:solidFill>
                  </a:tcPr>
                </a:tc>
                <a:tc>
                  <a:txBody>
                    <a:bodyPr wrap="square"/>
                    <a:lstStyle/>
                    <a:p>
                      <a:r>
                        <a:rPr sz="1000" b="1">
                          <a:solidFill>
                            <a:srgbClr val="FFFFFF"/>
                          </a:solidFill>
                          <a:latin typeface="Montserrat"/>
                        </a:rPr>
                        <a:t>Precio</a:t>
                      </a:r>
                    </a:p>
                  </a:txBody>
                  <a:tcPr marL="73152" marR="73152" marT="36576" marB="36576" anchor="ctr">
                    <a:solidFill>
                      <a:srgbClr val="5B3F80"/>
                    </a:solidFill>
                  </a:tcPr>
                </a:tc>
                <a:tc>
                  <a:txBody>
                    <a:bodyPr wrap="square"/>
                    <a:lstStyle/>
                    <a:p>
                      <a:r>
                        <a:rPr sz="1000" b="1">
                          <a:solidFill>
                            <a:srgbClr val="FFFFFF"/>
                          </a:solidFill>
                          <a:latin typeface="Montserrat"/>
                        </a:rPr>
                        <a:t>Pago</a:t>
                      </a:r>
                    </a:p>
                  </a:txBody>
                  <a:tcPr marL="73152" marR="73152" marT="36576" marB="36576" anchor="ctr">
                    <a:solidFill>
                      <a:srgbClr val="5B3F80"/>
                    </a:solidFill>
                  </a:tcPr>
                </a:tc>
                <a:tc>
                  <a:txBody>
                    <a:bodyPr wrap="square"/>
                    <a:lstStyle/>
                    <a:p>
                      <a:r>
                        <a:rPr sz="1000" b="1">
                          <a:solidFill>
                            <a:srgbClr val="FFFFFF"/>
                          </a:solidFill>
                          <a:latin typeface="Montserrat"/>
                        </a:rPr>
                        <a:t>Mant.</a:t>
                      </a:r>
                    </a:p>
                  </a:txBody>
                  <a:tcPr marL="73152" marR="73152" marT="36576" marB="36576" anchor="ctr">
                    <a:solidFill>
                      <a:srgbClr val="5B3F80"/>
                    </a:solidFill>
                  </a:tcPr>
                </a:tc>
                <a:tc>
                  <a:txBody>
                    <a:bodyPr wrap="square"/>
                    <a:lstStyle/>
                    <a:p>
                      <a:r>
                        <a:rPr sz="1000" b="1">
                          <a:solidFill>
                            <a:srgbClr val="FFFFFF"/>
                          </a:solidFill>
                          <a:latin typeface="Montserrat"/>
                        </a:rPr>
                        <a:t>Plazo / condición</a:t>
                      </a:r>
                    </a:p>
                  </a:txBody>
                  <a:tcPr marL="73152" marR="73152" marT="36576" marB="36576" anchor="ctr">
                    <a:solidFill>
                      <a:srgbClr val="5B3F80"/>
                    </a:solidFill>
                  </a:tcPr>
                </a:tc>
              </a:tr>
              <a:tr h="566928">
                <a:tc>
                  <a:txBody>
                    <a:bodyPr wrap="square"/>
                    <a:lstStyle/>
                    <a:p>
                      <a:r>
                        <a:rPr sz="1000" b="1">
                          <a:solidFill>
                            <a:srgbClr val="5B3F80"/>
                          </a:solidFill>
                          <a:latin typeface="Montserrat"/>
                        </a:rPr>
                        <a:t>Solución Modular</a:t>
                      </a:r>
                    </a:p>
                  </a:txBody>
                  <a:tcPr marL="73152" marR="73152" marT="36576" marB="36576" anchor="ctr">
                    <a:solidFill>
                      <a:srgbClr val="FFFFFF"/>
                    </a:solidFill>
                  </a:tcPr>
                </a:tc>
                <a:tc>
                  <a:txBody>
                    <a:bodyPr wrap="square"/>
                    <a:lstStyle/>
                    <a:p>
                      <a:r>
                        <a:rPr sz="1000" b="0">
                          <a:solidFill>
                            <a:srgbClr val="2E2A36"/>
                          </a:solidFill>
                          <a:latin typeface="Montserrat"/>
                        </a:rPr>
                        <a:t>US$ 1.000 · lanz. US$ 800</a:t>
                      </a:r>
                    </a:p>
                  </a:txBody>
                  <a:tcPr marL="73152" marR="73152" marT="36576" marB="36576" anchor="ctr">
                    <a:solidFill>
                      <a:srgbClr val="FFFFFF"/>
                    </a:solidFill>
                  </a:tcPr>
                </a:tc>
                <a:tc>
                  <a:txBody>
                    <a:bodyPr wrap="square"/>
                    <a:lstStyle/>
                    <a:p>
                      <a:r>
                        <a:rPr sz="1000" b="0">
                          <a:solidFill>
                            <a:srgbClr val="2E2A36"/>
                          </a:solidFill>
                          <a:latin typeface="Montserrat"/>
                        </a:rPr>
                        <a:t>Hasta 120 meses, con intereses</a:t>
                      </a:r>
                    </a:p>
                  </a:txBody>
                  <a:tcPr marL="73152" marR="73152" marT="36576" marB="36576" anchor="ctr">
                    <a:solidFill>
                      <a:srgbClr val="FFFFFF"/>
                    </a:solidFill>
                  </a:tcPr>
                </a:tc>
                <a:tc>
                  <a:txBody>
                    <a:bodyPr wrap="square"/>
                    <a:lstStyle/>
                    <a:p>
                      <a:r>
                        <a:rPr sz="1000" b="0">
                          <a:solidFill>
                            <a:srgbClr val="2E2A36"/>
                          </a:solidFill>
                          <a:latin typeface="Montserrat"/>
                        </a:rPr>
                        <a:t>—</a:t>
                      </a:r>
                    </a:p>
                  </a:txBody>
                  <a:tcPr marL="73152" marR="73152" marT="36576" marB="36576" anchor="ctr">
                    <a:solidFill>
                      <a:srgbClr val="FFFFFF"/>
                    </a:solidFill>
                  </a:tcPr>
                </a:tc>
                <a:tc>
                  <a:txBody>
                    <a:bodyPr wrap="square"/>
                    <a:lstStyle/>
                    <a:p>
                      <a:r>
                        <a:rPr sz="1000" b="0">
                          <a:solidFill>
                            <a:srgbClr val="2E2A36"/>
                          </a:solidFill>
                          <a:latin typeface="Montserrat"/>
                        </a:rPr>
                        <a:t>Columbario 1 año incluido</a:t>
                      </a:r>
                    </a:p>
                  </a:txBody>
                  <a:tcPr marL="73152" marR="73152" marT="36576" marB="36576" anchor="ctr">
                    <a:solidFill>
                      <a:srgbClr val="FFFFFF"/>
                    </a:solidFill>
                  </a:tcPr>
                </a:tc>
              </a:tr>
              <a:tr h="566928">
                <a:tc>
                  <a:txBody>
                    <a:bodyPr wrap="square"/>
                    <a:lstStyle/>
                    <a:p>
                      <a:r>
                        <a:rPr sz="1000" b="1">
                          <a:solidFill>
                            <a:srgbClr val="5B3F80"/>
                          </a:solidFill>
                          <a:latin typeface="Montserrat"/>
                        </a:rPr>
                        <a:t>Jardín Individual</a:t>
                      </a:r>
                    </a:p>
                  </a:txBody>
                  <a:tcPr marL="73152" marR="73152" marT="36576" marB="36576" anchor="ctr">
                    <a:solidFill>
                      <a:srgbClr val="F5F2F8"/>
                    </a:solidFill>
                  </a:tcPr>
                </a:tc>
                <a:tc>
                  <a:txBody>
                    <a:bodyPr wrap="square"/>
                    <a:lstStyle/>
                    <a:p>
                      <a:r>
                        <a:rPr sz="1000" b="0">
                          <a:solidFill>
                            <a:srgbClr val="2E2A36"/>
                          </a:solidFill>
                          <a:latin typeface="Montserrat"/>
                        </a:rPr>
                        <a:t>US$ 600 · lanz. US$ 480</a:t>
                      </a:r>
                    </a:p>
                  </a:txBody>
                  <a:tcPr marL="73152" marR="73152" marT="36576" marB="36576" anchor="ctr">
                    <a:solidFill>
                      <a:srgbClr val="F5F2F8"/>
                    </a:solidFill>
                  </a:tcPr>
                </a:tc>
                <a:tc>
                  <a:txBody>
                    <a:bodyPr wrap="square"/>
                    <a:lstStyle/>
                    <a:p>
                      <a:r>
                        <a:rPr sz="1000" b="0">
                          <a:solidFill>
                            <a:srgbClr val="2E2A36"/>
                          </a:solidFill>
                          <a:latin typeface="Montserrat"/>
                        </a:rPr>
                        <a:t>Único o financiado</a:t>
                      </a:r>
                    </a:p>
                  </a:txBody>
                  <a:tcPr marL="73152" marR="73152" marT="36576" marB="36576" anchor="ctr">
                    <a:solidFill>
                      <a:srgbClr val="F5F2F8"/>
                    </a:solidFill>
                  </a:tcPr>
                </a:tc>
                <a:tc>
                  <a:txBody>
                    <a:bodyPr wrap="square"/>
                    <a:lstStyle/>
                    <a:p>
                      <a:r>
                        <a:rPr sz="1000" b="0">
                          <a:solidFill>
                            <a:srgbClr val="2E2A36"/>
                          </a:solidFill>
                          <a:latin typeface="Montserrat"/>
                        </a:rPr>
                        <a:t>US$ 15/año</a:t>
                      </a:r>
                    </a:p>
                  </a:txBody>
                  <a:tcPr marL="73152" marR="73152" marT="36576" marB="36576" anchor="ctr">
                    <a:solidFill>
                      <a:srgbClr val="F5F2F8"/>
                    </a:solidFill>
                  </a:tcPr>
                </a:tc>
                <a:tc>
                  <a:txBody>
                    <a:bodyPr wrap="square"/>
                    <a:lstStyle/>
                    <a:p>
                      <a:r>
                        <a:rPr sz="1000" b="0">
                          <a:solidFill>
                            <a:srgbClr val="2E2A36"/>
                          </a:solidFill>
                          <a:latin typeface="Montserrat"/>
                        </a:rPr>
                        <a:t>30 años, renovable</a:t>
                      </a:r>
                    </a:p>
                  </a:txBody>
                  <a:tcPr marL="73152" marR="73152" marT="36576" marB="36576" anchor="ctr">
                    <a:solidFill>
                      <a:srgbClr val="F5F2F8"/>
                    </a:solidFill>
                  </a:tcPr>
                </a:tc>
              </a:tr>
              <a:tr h="566928">
                <a:tc>
                  <a:txBody>
                    <a:bodyPr wrap="square"/>
                    <a:lstStyle/>
                    <a:p>
                      <a:r>
                        <a:rPr sz="1000" b="1">
                          <a:solidFill>
                            <a:srgbClr val="5B3F80"/>
                          </a:solidFill>
                          <a:latin typeface="Montserrat"/>
                        </a:rPr>
                        <a:t>Jardín Familiar</a:t>
                      </a:r>
                    </a:p>
                  </a:txBody>
                  <a:tcPr marL="73152" marR="73152" marT="36576" marB="36576" anchor="ctr">
                    <a:solidFill>
                      <a:srgbClr val="FFFFFF"/>
                    </a:solidFill>
                  </a:tcPr>
                </a:tc>
                <a:tc>
                  <a:txBody>
                    <a:bodyPr wrap="square"/>
                    <a:lstStyle/>
                    <a:p>
                      <a:r>
                        <a:rPr sz="1000" b="0">
                          <a:solidFill>
                            <a:srgbClr val="2E2A36"/>
                          </a:solidFill>
                          <a:latin typeface="Montserrat"/>
                        </a:rPr>
                        <a:t>US$ 2.000 · lanz. US$ 1.600</a:t>
                      </a:r>
                    </a:p>
                  </a:txBody>
                  <a:tcPr marL="73152" marR="73152" marT="36576" marB="36576" anchor="ctr">
                    <a:solidFill>
                      <a:srgbClr val="FFFFFF"/>
                    </a:solidFill>
                  </a:tcPr>
                </a:tc>
                <a:tc>
                  <a:txBody>
                    <a:bodyPr wrap="square"/>
                    <a:lstStyle/>
                    <a:p>
                      <a:r>
                        <a:rPr sz="1000" b="0">
                          <a:solidFill>
                            <a:srgbClr val="2E2A36"/>
                          </a:solidFill>
                          <a:latin typeface="Montserrat"/>
                        </a:rPr>
                        <a:t>Único o financiado</a:t>
                      </a:r>
                    </a:p>
                  </a:txBody>
                  <a:tcPr marL="73152" marR="73152" marT="36576" marB="36576" anchor="ctr">
                    <a:solidFill>
                      <a:srgbClr val="FFFFFF"/>
                    </a:solidFill>
                  </a:tcPr>
                </a:tc>
                <a:tc>
                  <a:txBody>
                    <a:bodyPr wrap="square"/>
                    <a:lstStyle/>
                    <a:p>
                      <a:r>
                        <a:rPr sz="1000" b="0">
                          <a:solidFill>
                            <a:srgbClr val="2E2A36"/>
                          </a:solidFill>
                          <a:latin typeface="Montserrat"/>
                        </a:rPr>
                        <a:t>US$ 24/año</a:t>
                      </a:r>
                    </a:p>
                  </a:txBody>
                  <a:tcPr marL="73152" marR="73152" marT="36576" marB="36576" anchor="ctr">
                    <a:solidFill>
                      <a:srgbClr val="FFFFFF"/>
                    </a:solidFill>
                  </a:tcPr>
                </a:tc>
                <a:tc>
                  <a:txBody>
                    <a:bodyPr wrap="square"/>
                    <a:lstStyle/>
                    <a:p>
                      <a:r>
                        <a:rPr sz="1000" b="0">
                          <a:solidFill>
                            <a:srgbClr val="2E2A36"/>
                          </a:solidFill>
                          <a:latin typeface="Montserrat"/>
                        </a:rPr>
                        <a:t>Hasta 4 espacios · 30 años, renovable</a:t>
                      </a:r>
                    </a:p>
                  </a:txBody>
                  <a:tcPr marL="73152" marR="73152" marT="36576" marB="36576" anchor="ctr">
                    <a:solidFill>
                      <a:srgbClr val="FFFFFF"/>
                    </a:solidFill>
                  </a:tcPr>
                </a:tc>
              </a:tr>
              <a:tr h="566928">
                <a:tc>
                  <a:txBody>
                    <a:bodyPr wrap="square"/>
                    <a:lstStyle/>
                    <a:p>
                      <a:r>
                        <a:rPr sz="1000" b="1">
                          <a:solidFill>
                            <a:srgbClr val="5B3F80"/>
                          </a:solidFill>
                          <a:latin typeface="Montserrat"/>
                        </a:rPr>
                        <a:t>Jardín Ecológico</a:t>
                      </a:r>
                    </a:p>
                  </a:txBody>
                  <a:tcPr marL="73152" marR="73152" marT="36576" marB="36576" anchor="ctr">
                    <a:solidFill>
                      <a:srgbClr val="F5F2F8"/>
                    </a:solidFill>
                  </a:tcPr>
                </a:tc>
                <a:tc>
                  <a:txBody>
                    <a:bodyPr wrap="square"/>
                    <a:lstStyle/>
                    <a:p>
                      <a:r>
                        <a:rPr sz="1000" b="0">
                          <a:solidFill>
                            <a:srgbClr val="2E2A36"/>
                          </a:solidFill>
                          <a:latin typeface="Montserrat"/>
                        </a:rPr>
                        <a:t>US$ 750 · lanz. US$ 600</a:t>
                      </a:r>
                    </a:p>
                  </a:txBody>
                  <a:tcPr marL="73152" marR="73152" marT="36576" marB="36576" anchor="ctr">
                    <a:solidFill>
                      <a:srgbClr val="F5F2F8"/>
                    </a:solidFill>
                  </a:tcPr>
                </a:tc>
                <a:tc>
                  <a:txBody>
                    <a:bodyPr wrap="square"/>
                    <a:lstStyle/>
                    <a:p>
                      <a:r>
                        <a:rPr sz="1000" b="0">
                          <a:solidFill>
                            <a:srgbClr val="2E2A36"/>
                          </a:solidFill>
                          <a:latin typeface="Montserrat"/>
                        </a:rPr>
                        <a:t>Único o financiado</a:t>
                      </a:r>
                    </a:p>
                  </a:txBody>
                  <a:tcPr marL="73152" marR="73152" marT="36576" marB="36576" anchor="ctr">
                    <a:solidFill>
                      <a:srgbClr val="F5F2F8"/>
                    </a:solidFill>
                  </a:tcPr>
                </a:tc>
                <a:tc>
                  <a:txBody>
                    <a:bodyPr wrap="square"/>
                    <a:lstStyle/>
                    <a:p>
                      <a:r>
                        <a:rPr sz="1000" b="0">
                          <a:solidFill>
                            <a:srgbClr val="2E2A36"/>
                          </a:solidFill>
                          <a:latin typeface="Montserrat"/>
                        </a:rPr>
                        <a:t>—</a:t>
                      </a:r>
                    </a:p>
                  </a:txBody>
                  <a:tcPr marL="73152" marR="73152" marT="36576" marB="36576" anchor="ctr">
                    <a:solidFill>
                      <a:srgbClr val="F5F2F8"/>
                    </a:solidFill>
                  </a:tcPr>
                </a:tc>
                <a:tc>
                  <a:txBody>
                    <a:bodyPr wrap="square"/>
                    <a:lstStyle/>
                    <a:p>
                      <a:r>
                        <a:rPr sz="1000" b="0">
                          <a:solidFill>
                            <a:srgbClr val="2E2A36"/>
                          </a:solidFill>
                          <a:latin typeface="Montserrat"/>
                        </a:rPr>
                        <a:t>3 años · placa memorial incluida</a:t>
                      </a:r>
                    </a:p>
                  </a:txBody>
                  <a:tcPr marL="73152" marR="73152" marT="36576" marB="36576" anchor="ctr">
                    <a:solidFill>
                      <a:srgbClr val="F5F2F8"/>
                    </a:solidFill>
                  </a:tcPr>
                </a:tc>
              </a:tr>
              <a:tr h="566928">
                <a:tc>
                  <a:txBody>
                    <a:bodyPr wrap="square"/>
                    <a:lstStyle/>
                    <a:p>
                      <a:r>
                        <a:rPr sz="1000" b="1">
                          <a:solidFill>
                            <a:srgbClr val="5B3F80"/>
                          </a:solidFill>
                          <a:latin typeface="Montserrat"/>
                        </a:rPr>
                        <a:t>Jardín de Mascotas</a:t>
                      </a:r>
                    </a:p>
                  </a:txBody>
                  <a:tcPr marL="73152" marR="73152" marT="36576" marB="36576" anchor="ctr">
                    <a:solidFill>
                      <a:srgbClr val="FFFFFF"/>
                    </a:solidFill>
                  </a:tcPr>
                </a:tc>
                <a:tc>
                  <a:txBody>
                    <a:bodyPr wrap="square"/>
                    <a:lstStyle/>
                    <a:p>
                      <a:r>
                        <a:rPr sz="1000" b="0">
                          <a:solidFill>
                            <a:srgbClr val="2E2A36"/>
                          </a:solidFill>
                          <a:latin typeface="Montserrat"/>
                        </a:rPr>
                        <a:t>US$ 400 / 550 · lanz. US$ 320 / 440</a:t>
                      </a:r>
                    </a:p>
                  </a:txBody>
                  <a:tcPr marL="73152" marR="73152" marT="36576" marB="36576" anchor="ctr">
                    <a:solidFill>
                      <a:srgbClr val="FFFFFF"/>
                    </a:solidFill>
                  </a:tcPr>
                </a:tc>
                <a:tc>
                  <a:txBody>
                    <a:bodyPr wrap="square"/>
                    <a:lstStyle/>
                    <a:p>
                      <a:r>
                        <a:rPr sz="1000" b="0">
                          <a:solidFill>
                            <a:srgbClr val="2E2A36"/>
                          </a:solidFill>
                          <a:latin typeface="Montserrat"/>
                        </a:rPr>
                        <a:t>Pago único</a:t>
                      </a:r>
                    </a:p>
                  </a:txBody>
                  <a:tcPr marL="73152" marR="73152" marT="36576" marB="36576" anchor="ctr">
                    <a:solidFill>
                      <a:srgbClr val="FFFFFF"/>
                    </a:solidFill>
                  </a:tcPr>
                </a:tc>
                <a:tc>
                  <a:txBody>
                    <a:bodyPr wrap="square"/>
                    <a:lstStyle/>
                    <a:p>
                      <a:r>
                        <a:rPr sz="1000" b="0">
                          <a:solidFill>
                            <a:srgbClr val="2E2A36"/>
                          </a:solidFill>
                          <a:latin typeface="Montserrat"/>
                        </a:rPr>
                        <a:t>—</a:t>
                      </a:r>
                    </a:p>
                  </a:txBody>
                  <a:tcPr marL="73152" marR="73152" marT="36576" marB="36576" anchor="ctr">
                    <a:solidFill>
                      <a:srgbClr val="FFFFFF"/>
                    </a:solidFill>
                  </a:tcPr>
                </a:tc>
                <a:tc>
                  <a:txBody>
                    <a:bodyPr wrap="square"/>
                    <a:lstStyle/>
                    <a:p>
                      <a:r>
                        <a:rPr sz="1000" b="0">
                          <a:solidFill>
                            <a:srgbClr val="2E2A36"/>
                          </a:solidFill>
                          <a:latin typeface="Montserrat"/>
                        </a:rPr>
                        <a:t>3 años · placa incluida · cremación y urna en la opción de US$ 550</a:t>
                      </a:r>
                    </a:p>
                  </a:txBody>
                  <a:tcPr marL="73152" marR="73152" marT="36576" marB="36576" anchor="ctr">
                    <a:solidFill>
                      <a:srgbClr val="FFFFFF"/>
                    </a:solidFill>
                  </a:tcPr>
                </a:tc>
              </a:tr>
              <a:tr h="566928">
                <a:tc>
                  <a:txBody>
                    <a:bodyPr wrap="square"/>
                    <a:lstStyle/>
                    <a:p>
                      <a:r>
                        <a:rPr sz="1000" b="1">
                          <a:solidFill>
                            <a:srgbClr val="5B3F80"/>
                          </a:solidFill>
                          <a:latin typeface="Montserrat"/>
                        </a:rPr>
                        <a:t>Jardín Ceremonial</a:t>
                      </a:r>
                    </a:p>
                  </a:txBody>
                  <a:tcPr marL="73152" marR="73152" marT="36576" marB="36576" anchor="ctr">
                    <a:solidFill>
                      <a:srgbClr val="FBF6EC"/>
                    </a:solidFill>
                  </a:tcPr>
                </a:tc>
                <a:tc>
                  <a:txBody>
                    <a:bodyPr wrap="square"/>
                    <a:lstStyle/>
                    <a:p>
                      <a:r>
                        <a:rPr sz="1000" b="0">
                          <a:solidFill>
                            <a:srgbClr val="2E2A36"/>
                          </a:solidFill>
                          <a:latin typeface="Montserrat"/>
                        </a:rPr>
                        <a:t>A definir</a:t>
                      </a:r>
                    </a:p>
                  </a:txBody>
                  <a:tcPr marL="73152" marR="73152" marT="36576" marB="36576" anchor="ctr">
                    <a:solidFill>
                      <a:srgbClr val="FBF6EC"/>
                    </a:solidFill>
                  </a:tcPr>
                </a:tc>
                <a:tc>
                  <a:txBody>
                    <a:bodyPr wrap="square"/>
                    <a:lstStyle/>
                    <a:p>
                      <a:r>
                        <a:rPr sz="1000" b="0">
                          <a:solidFill>
                            <a:srgbClr val="2E2A36"/>
                          </a:solidFill>
                          <a:latin typeface="Montserrat"/>
                        </a:rPr>
                        <a:t>A definir</a:t>
                      </a:r>
                    </a:p>
                  </a:txBody>
                  <a:tcPr marL="73152" marR="73152" marT="36576" marB="36576" anchor="ctr">
                    <a:solidFill>
                      <a:srgbClr val="FBF6EC"/>
                    </a:solidFill>
                  </a:tcPr>
                </a:tc>
                <a:tc>
                  <a:txBody>
                    <a:bodyPr wrap="square"/>
                    <a:lstStyle/>
                    <a:p>
                      <a:r>
                        <a:rPr sz="1000" b="0">
                          <a:solidFill>
                            <a:srgbClr val="2E2A36"/>
                          </a:solidFill>
                          <a:latin typeface="Montserrat"/>
                        </a:rPr>
                        <a:t>A definir</a:t>
                      </a:r>
                    </a:p>
                  </a:txBody>
                  <a:tcPr marL="73152" marR="73152" marT="36576" marB="36576" anchor="ctr">
                    <a:solidFill>
                      <a:srgbClr val="FBF6EC"/>
                    </a:solidFill>
                  </a:tcPr>
                </a:tc>
                <a:tc>
                  <a:txBody>
                    <a:bodyPr wrap="square"/>
                    <a:lstStyle/>
                    <a:p>
                      <a:r>
                        <a:rPr sz="1000" b="0">
                          <a:solidFill>
                            <a:srgbClr val="2E2A36"/>
                          </a:solidFill>
                          <a:latin typeface="Montserrat"/>
                        </a:rPr>
                        <a:t>Próximo lanzamiento</a:t>
                      </a:r>
                    </a:p>
                  </a:txBody>
                  <a:tcPr marL="73152" marR="73152" marT="36576" marB="36576" anchor="ctr">
                    <a:solidFill>
                      <a:srgbClr val="FBF6EC"/>
                    </a:solidFill>
                  </a:tcPr>
                </a:tc>
              </a:tr>
            </a:tbl>
          </a:graphicData>
        </a:graphic>
      </p:graphicFrame>
      <p:sp>
        <p:nvSpPr>
          <p:cNvPr id="8" name="Rectangle 7"/>
          <p:cNvSpPr/>
          <p:nvPr/>
        </p:nvSpPr>
        <p:spPr>
          <a:xfrm>
            <a:off x="502920" y="6263640"/>
            <a:ext cx="6556248" cy="118872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6263640"/>
            <a:ext cx="73152" cy="1188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6263640"/>
            <a:ext cx="6099048" cy="1188720"/>
          </a:xfrm>
          <a:prstGeom prst="rect">
            <a:avLst/>
          </a:prstGeom>
          <a:noFill/>
        </p:spPr>
        <p:txBody>
          <a:bodyPr wrap="square" anchor="ctr" lIns="45720" rIns="45720" tIns="27432" bIns="27432">
            <a:spAutoFit/>
          </a:bodyPr>
          <a:lstStyle/>
          <a:p>
            <a:pPr algn="l">
              <a:lnSpc>
                <a:spcPct val="115000"/>
              </a:lnSpc>
              <a:spcAft>
                <a:spcPts val="400"/>
              </a:spcAft>
            </a:pPr>
            <a:r>
              <a:rPr sz="1000" b="1" i="0">
                <a:solidFill>
                  <a:srgbClr val="5B3F80"/>
                </a:solidFill>
                <a:latin typeface="Montserrat"/>
              </a:rPr>
              <a:t>EL DESCUENTO NO ES LA SALIDA   </a:t>
            </a:r>
            <a:r>
              <a:rPr sz="1100" b="0" i="0">
                <a:solidFill>
                  <a:srgbClr val="2E2A36"/>
                </a:solidFill>
                <a:latin typeface="Montserrat"/>
              </a:rPr>
              <a:t>Competimos por valor, no por precio. Antes de ofrecer un descuento, refuerce lo que está incluido y la calidad del jardín. Un descuento fácil enseña al cliente a dudar del valor.</a:t>
            </a:r>
          </a:p>
        </p:txBody>
      </p:sp>
      <p:sp>
        <p:nvSpPr>
          <p:cNvPr id="11" name="TextBox 10"/>
          <p:cNvSpPr txBox="1"/>
          <p:nvPr/>
        </p:nvSpPr>
        <p:spPr>
          <a:xfrm>
            <a:off x="502920" y="10277856"/>
            <a:ext cx="5641848"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12" name="TextBox 11"/>
          <p:cNvSpPr txBox="1"/>
          <p:nvPr/>
        </p:nvSpPr>
        <p:spPr>
          <a:xfrm>
            <a:off x="6144768" y="10277856"/>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10689336"/>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06 · PRECIOS, REGLAS Y CONDICIONES</a:t>
            </a:r>
          </a:p>
        </p:txBody>
      </p:sp>
      <p:sp>
        <p:nvSpPr>
          <p:cNvPr id="4" name="TextBox 3"/>
          <p:cNvSpPr txBox="1"/>
          <p:nvPr/>
        </p:nvSpPr>
        <p:spPr>
          <a:xfrm>
            <a:off x="502920" y="621792"/>
            <a:ext cx="6556248"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Portafolio existente: columbarios</a:t>
            </a:r>
          </a:p>
        </p:txBody>
      </p:sp>
      <p:sp>
        <p:nvSpPr>
          <p:cNvPr id="5" name="Rectangle 4"/>
          <p:cNvSpPr/>
          <p:nvPr/>
        </p:nvSpPr>
        <p:spPr>
          <a:xfrm>
            <a:off x="50292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44752"/>
            <a:ext cx="6556248" cy="411480"/>
          </a:xfrm>
          <a:prstGeom prst="rect">
            <a:avLst/>
          </a:prstGeom>
          <a:noFill/>
        </p:spPr>
        <p:txBody>
          <a:bodyPr wrap="square" anchor="t" lIns="45720" rIns="45720" tIns="27432" bIns="27432">
            <a:spAutoFit/>
          </a:bodyPr>
          <a:lstStyle/>
          <a:p>
            <a:pPr algn="l">
              <a:lnSpc>
                <a:spcPct val="115000"/>
              </a:lnSpc>
              <a:spcAft>
                <a:spcPts val="400"/>
              </a:spcAft>
            </a:pPr>
            <a:r>
              <a:rPr sz="1300" b="0" i="1">
                <a:solidFill>
                  <a:srgbClr val="7D7887"/>
                </a:solidFill>
                <a:latin typeface="Montserrat"/>
              </a:rPr>
              <a:t>Descuento de 15% válido en Finados y durante noviembre.</a:t>
            </a:r>
          </a:p>
        </p:txBody>
      </p:sp>
      <p:sp>
        <p:nvSpPr>
          <p:cNvPr id="7" name="TextBox 6"/>
          <p:cNvSpPr txBox="1"/>
          <p:nvPr/>
        </p:nvSpPr>
        <p:spPr>
          <a:xfrm>
            <a:off x="502920" y="1965960"/>
            <a:ext cx="6556248" cy="1097280"/>
          </a:xfrm>
          <a:prstGeom prst="rect">
            <a:avLst/>
          </a:prstGeom>
          <a:noFill/>
        </p:spPr>
        <p:txBody>
          <a:bodyPr wrap="square" anchor="t" lIns="45720" rIns="45720" tIns="27432" bIns="27432">
            <a:spAutoFit/>
          </a:bodyPr>
          <a:lstStyle/>
          <a:p>
            <a:pPr algn="l">
              <a:lnSpc>
                <a:spcPct val="115000"/>
              </a:lnSpc>
              <a:spcAft>
                <a:spcPts val="400"/>
              </a:spcAft>
            </a:pPr>
            <a:r>
              <a:rPr sz="1150" b="0" i="0">
                <a:solidFill>
                  <a:srgbClr val="2E2A36"/>
                </a:solidFill>
                <a:latin typeface="Montserrat"/>
              </a:rPr>
              <a:t>Además de los lanzamientos, el portafolio de cremación incluye los columbarios que ya vendemos en El Hogar de las Memorias y en el mausoleo vertical Bella Vista. En Finados y durante noviembre tienen 15% de descuento. Se pagan al contado o financiados en hasta 120 meses, con intereses.</a:t>
            </a:r>
          </a:p>
        </p:txBody>
      </p:sp>
      <p:graphicFrame>
        <p:nvGraphicFramePr>
          <p:cNvPr id="8" name="Table 7"/>
          <p:cNvGraphicFramePr>
            <a:graphicFrameLocks noGrp="1"/>
          </p:cNvGraphicFramePr>
          <p:nvPr/>
        </p:nvGraphicFramePr>
        <p:xfrm>
          <a:off x="502920" y="3108960"/>
          <a:ext cx="6556247" cy="4389120"/>
        </p:xfrm>
        <a:graphic>
          <a:graphicData uri="http://schemas.openxmlformats.org/drawingml/2006/table">
            <a:tbl>
              <a:tblPr firstRow="1" bandRow="1">
                <a:tableStyleId>{5C22544A-7EE6-4342-B048-85BDC9FD1C3A}</a:tableStyleId>
              </a:tblPr>
              <a:tblGrid>
                <a:gridCol w="1214120"/>
                <a:gridCol w="1780709"/>
                <a:gridCol w="1537885"/>
                <a:gridCol w="728472"/>
                <a:gridCol w="1295061"/>
              </a:tblGrid>
              <a:tr h="731520">
                <a:tc>
                  <a:txBody>
                    <a:bodyPr wrap="square"/>
                    <a:lstStyle/>
                    <a:p>
                      <a:r>
                        <a:rPr sz="950" b="1">
                          <a:solidFill>
                            <a:srgbClr val="FFFFFF"/>
                          </a:solidFill>
                          <a:latin typeface="Montserrat"/>
                        </a:rPr>
                        <a:t>Producto</a:t>
                      </a:r>
                    </a:p>
                  </a:txBody>
                  <a:tcPr marL="73152" marR="73152" marT="36576" marB="36576" anchor="ctr">
                    <a:solidFill>
                      <a:srgbClr val="5B3F80"/>
                    </a:solidFill>
                  </a:tcPr>
                </a:tc>
                <a:tc>
                  <a:txBody>
                    <a:bodyPr wrap="square"/>
                    <a:lstStyle/>
                    <a:p>
                      <a:r>
                        <a:rPr sz="950" b="1">
                          <a:solidFill>
                            <a:srgbClr val="FFFFFF"/>
                          </a:solidFill>
                          <a:latin typeface="Montserrat"/>
                        </a:rPr>
                        <a:t>Precio</a:t>
                      </a:r>
                    </a:p>
                  </a:txBody>
                  <a:tcPr marL="73152" marR="73152" marT="36576" marB="36576" anchor="ctr">
                    <a:solidFill>
                      <a:srgbClr val="5B3F80"/>
                    </a:solidFill>
                  </a:tcPr>
                </a:tc>
                <a:tc>
                  <a:txBody>
                    <a:bodyPr wrap="square"/>
                    <a:lstStyle/>
                    <a:p>
                      <a:r>
                        <a:rPr sz="950" b="1">
                          <a:solidFill>
                            <a:srgbClr val="FFFFFF"/>
                          </a:solidFill>
                          <a:latin typeface="Montserrat"/>
                        </a:rPr>
                        <a:t>Finados y nov. (−15%)</a:t>
                      </a:r>
                    </a:p>
                  </a:txBody>
                  <a:tcPr marL="73152" marR="73152" marT="36576" marB="36576" anchor="ctr">
                    <a:solidFill>
                      <a:srgbClr val="5B3F80"/>
                    </a:solidFill>
                  </a:tcPr>
                </a:tc>
                <a:tc>
                  <a:txBody>
                    <a:bodyPr wrap="square"/>
                    <a:lstStyle/>
                    <a:p>
                      <a:r>
                        <a:rPr sz="950" b="1">
                          <a:solidFill>
                            <a:srgbClr val="FFFFFF"/>
                          </a:solidFill>
                          <a:latin typeface="Montserrat"/>
                        </a:rPr>
                        <a:t>Capac.</a:t>
                      </a:r>
                    </a:p>
                  </a:txBody>
                  <a:tcPr marL="73152" marR="73152" marT="36576" marB="36576" anchor="ctr">
                    <a:solidFill>
                      <a:srgbClr val="5B3F80"/>
                    </a:solidFill>
                  </a:tcPr>
                </a:tc>
                <a:tc>
                  <a:txBody>
                    <a:bodyPr wrap="square"/>
                    <a:lstStyle/>
                    <a:p>
                      <a:r>
                        <a:rPr sz="950" b="1">
                          <a:solidFill>
                            <a:srgbClr val="FFFFFF"/>
                          </a:solidFill>
                          <a:latin typeface="Montserrat"/>
                        </a:rPr>
                        <a:t>Incluye</a:t>
                      </a:r>
                    </a:p>
                  </a:txBody>
                  <a:tcPr marL="73152" marR="73152" marT="36576" marB="36576" anchor="ctr">
                    <a:solidFill>
                      <a:srgbClr val="5B3F80"/>
                    </a:solidFill>
                  </a:tcPr>
                </a:tc>
              </a:tr>
              <a:tr h="731520">
                <a:tc>
                  <a:txBody>
                    <a:bodyPr wrap="square"/>
                    <a:lstStyle/>
                    <a:p>
                      <a:r>
                        <a:rPr sz="950" b="1">
                          <a:solidFill>
                            <a:srgbClr val="5B3F80"/>
                          </a:solidFill>
                          <a:latin typeface="Montserrat"/>
                        </a:rPr>
                        <a:t>Supremo Plus</a:t>
                      </a:r>
                    </a:p>
                  </a:txBody>
                  <a:tcPr marL="73152" marR="73152" marT="36576" marB="36576" anchor="ctr">
                    <a:solidFill>
                      <a:srgbClr val="FFFFFF"/>
                    </a:solidFill>
                  </a:tcPr>
                </a:tc>
                <a:tc>
                  <a:txBody>
                    <a:bodyPr wrap="square"/>
                    <a:lstStyle/>
                    <a:p>
                      <a:r>
                        <a:rPr sz="950" b="0">
                          <a:solidFill>
                            <a:srgbClr val="2E2A36"/>
                          </a:solidFill>
                          <a:latin typeface="Montserrat"/>
                        </a:rPr>
                        <a:t>Definida US$ 3.400–3.900 · Futuro US$ 2.700–3.200</a:t>
                      </a:r>
                    </a:p>
                  </a:txBody>
                  <a:tcPr marL="73152" marR="73152" marT="36576" marB="36576" anchor="ctr">
                    <a:solidFill>
                      <a:srgbClr val="FFFFFF"/>
                    </a:solidFill>
                  </a:tcPr>
                </a:tc>
                <a:tc>
                  <a:txBody>
                    <a:bodyPr wrap="square"/>
                    <a:lstStyle/>
                    <a:p>
                      <a:r>
                        <a:rPr sz="950" b="0">
                          <a:solidFill>
                            <a:srgbClr val="2E2A36"/>
                          </a:solidFill>
                          <a:latin typeface="Montserrat"/>
                        </a:rPr>
                        <a:t>US$ 2.890–3.315 · US$ 2.295–2.720</a:t>
                      </a:r>
                    </a:p>
                  </a:txBody>
                  <a:tcPr marL="73152" marR="73152" marT="36576" marB="36576" anchor="ctr">
                    <a:solidFill>
                      <a:srgbClr val="FFFFFF"/>
                    </a:solidFill>
                  </a:tcPr>
                </a:tc>
                <a:tc>
                  <a:txBody>
                    <a:bodyPr wrap="square"/>
                    <a:lstStyle/>
                    <a:p>
                      <a:r>
                        <a:rPr sz="950" b="0">
                          <a:solidFill>
                            <a:srgbClr val="2E2A36"/>
                          </a:solidFill>
                          <a:latin typeface="Montserrat"/>
                        </a:rPr>
                        <a:t>2 urnas</a:t>
                      </a:r>
                    </a:p>
                  </a:txBody>
                  <a:tcPr marL="73152" marR="73152" marT="36576" marB="36576" anchor="ctr">
                    <a:solidFill>
                      <a:srgbClr val="FFFFFF"/>
                    </a:solidFill>
                  </a:tcPr>
                </a:tc>
                <a:tc>
                  <a:txBody>
                    <a:bodyPr wrap="square"/>
                    <a:lstStyle/>
                    <a:p>
                      <a:r>
                        <a:rPr sz="950" b="0">
                          <a:solidFill>
                            <a:srgbClr val="2E2A36"/>
                          </a:solidFill>
                          <a:latin typeface="Montserrat"/>
                        </a:rPr>
                        <a:t>Funeral + 2 cremaciones + columbario</a:t>
                      </a:r>
                    </a:p>
                  </a:txBody>
                  <a:tcPr marL="73152" marR="73152" marT="36576" marB="36576" anchor="ctr">
                    <a:solidFill>
                      <a:srgbClr val="FFFFFF"/>
                    </a:solidFill>
                  </a:tcPr>
                </a:tc>
              </a:tr>
              <a:tr h="731520">
                <a:tc>
                  <a:txBody>
                    <a:bodyPr wrap="square"/>
                    <a:lstStyle/>
                    <a:p>
                      <a:r>
                        <a:rPr sz="950" b="1">
                          <a:solidFill>
                            <a:srgbClr val="5B3F80"/>
                          </a:solidFill>
                          <a:latin typeface="Montserrat"/>
                        </a:rPr>
                        <a:t>Mármol o Cristal</a:t>
                      </a:r>
                    </a:p>
                  </a:txBody>
                  <a:tcPr marL="73152" marR="73152" marT="36576" marB="36576" anchor="ctr">
                    <a:solidFill>
                      <a:srgbClr val="F5F2F8"/>
                    </a:solidFill>
                  </a:tcPr>
                </a:tc>
                <a:tc>
                  <a:txBody>
                    <a:bodyPr wrap="square"/>
                    <a:lstStyle/>
                    <a:p>
                      <a:r>
                        <a:rPr sz="950" b="0">
                          <a:solidFill>
                            <a:srgbClr val="2E2A36"/>
                          </a:solidFill>
                          <a:latin typeface="Montserrat"/>
                        </a:rPr>
                        <a:t>Definida US$ 2.600 · Futuro US$ 1.200–1.900</a:t>
                      </a:r>
                    </a:p>
                  </a:txBody>
                  <a:tcPr marL="73152" marR="73152" marT="36576" marB="36576" anchor="ctr">
                    <a:solidFill>
                      <a:srgbClr val="F5F2F8"/>
                    </a:solidFill>
                  </a:tcPr>
                </a:tc>
                <a:tc>
                  <a:txBody>
                    <a:bodyPr wrap="square"/>
                    <a:lstStyle/>
                    <a:p>
                      <a:r>
                        <a:rPr sz="950" b="0">
                          <a:solidFill>
                            <a:srgbClr val="2E2A36"/>
                          </a:solidFill>
                          <a:latin typeface="Montserrat"/>
                        </a:rPr>
                        <a:t>US$ 2.210 · US$ 1.020–1.615</a:t>
                      </a:r>
                    </a:p>
                  </a:txBody>
                  <a:tcPr marL="73152" marR="73152" marT="36576" marB="36576" anchor="ctr">
                    <a:solidFill>
                      <a:srgbClr val="F5F2F8"/>
                    </a:solidFill>
                  </a:tcPr>
                </a:tc>
                <a:tc>
                  <a:txBody>
                    <a:bodyPr wrap="square"/>
                    <a:lstStyle/>
                    <a:p>
                      <a:r>
                        <a:rPr sz="950" b="0">
                          <a:solidFill>
                            <a:srgbClr val="2E2A36"/>
                          </a:solidFill>
                          <a:latin typeface="Montserrat"/>
                        </a:rPr>
                        <a:t>2 urnas</a:t>
                      </a:r>
                    </a:p>
                  </a:txBody>
                  <a:tcPr marL="73152" marR="73152" marT="36576" marB="36576" anchor="ctr">
                    <a:solidFill>
                      <a:srgbClr val="F5F2F8"/>
                    </a:solidFill>
                  </a:tcPr>
                </a:tc>
                <a:tc>
                  <a:txBody>
                    <a:bodyPr wrap="square"/>
                    <a:lstStyle/>
                    <a:p>
                      <a:r>
                        <a:rPr sz="950" b="0">
                          <a:solidFill>
                            <a:srgbClr val="2E2A36"/>
                          </a:solidFill>
                          <a:latin typeface="Montserrat"/>
                        </a:rPr>
                        <a:t>Solo columbario</a:t>
                      </a:r>
                    </a:p>
                  </a:txBody>
                  <a:tcPr marL="73152" marR="73152" marT="36576" marB="36576" anchor="ctr">
                    <a:solidFill>
                      <a:srgbClr val="F5F2F8"/>
                    </a:solidFill>
                  </a:tcPr>
                </a:tc>
              </a:tr>
              <a:tr h="731520">
                <a:tc>
                  <a:txBody>
                    <a:bodyPr wrap="square"/>
                    <a:lstStyle/>
                    <a:p>
                      <a:r>
                        <a:rPr sz="950" b="1">
                          <a:solidFill>
                            <a:srgbClr val="5B3F80"/>
                          </a:solidFill>
                          <a:latin typeface="Montserrat"/>
                        </a:rPr>
                        <a:t>Columbario Ónix</a:t>
                      </a:r>
                    </a:p>
                  </a:txBody>
                  <a:tcPr marL="73152" marR="73152" marT="36576" marB="36576" anchor="ctr">
                    <a:solidFill>
                      <a:srgbClr val="FFFFFF"/>
                    </a:solidFill>
                  </a:tcPr>
                </a:tc>
                <a:tc>
                  <a:txBody>
                    <a:bodyPr wrap="square"/>
                    <a:lstStyle/>
                    <a:p>
                      <a:r>
                        <a:rPr sz="950" b="0">
                          <a:solidFill>
                            <a:srgbClr val="2E2A36"/>
                          </a:solidFill>
                          <a:latin typeface="Montserrat"/>
                        </a:rPr>
                        <a:t>Estándar US$ 3.100 · Familiar US$ 5.000</a:t>
                      </a:r>
                    </a:p>
                  </a:txBody>
                  <a:tcPr marL="73152" marR="73152" marT="36576" marB="36576" anchor="ctr">
                    <a:solidFill>
                      <a:srgbClr val="FFFFFF"/>
                    </a:solidFill>
                  </a:tcPr>
                </a:tc>
                <a:tc>
                  <a:txBody>
                    <a:bodyPr wrap="square"/>
                    <a:lstStyle/>
                    <a:p>
                      <a:r>
                        <a:rPr sz="950" b="0">
                          <a:solidFill>
                            <a:srgbClr val="2E2A36"/>
                          </a:solidFill>
                          <a:latin typeface="Montserrat"/>
                        </a:rPr>
                        <a:t>US$ 2.635 · US$ 4.250</a:t>
                      </a:r>
                    </a:p>
                  </a:txBody>
                  <a:tcPr marL="73152" marR="73152" marT="36576" marB="36576" anchor="ctr">
                    <a:solidFill>
                      <a:srgbClr val="FFFFFF"/>
                    </a:solidFill>
                  </a:tcPr>
                </a:tc>
                <a:tc>
                  <a:txBody>
                    <a:bodyPr wrap="square"/>
                    <a:lstStyle/>
                    <a:p>
                      <a:r>
                        <a:rPr sz="950" b="0">
                          <a:solidFill>
                            <a:srgbClr val="2E2A36"/>
                          </a:solidFill>
                          <a:latin typeface="Montserrat"/>
                        </a:rPr>
                        <a:t>2 o 4 urnas</a:t>
                      </a:r>
                    </a:p>
                  </a:txBody>
                  <a:tcPr marL="73152" marR="73152" marT="36576" marB="36576" anchor="ctr">
                    <a:solidFill>
                      <a:srgbClr val="FFFFFF"/>
                    </a:solidFill>
                  </a:tcPr>
                </a:tc>
                <a:tc>
                  <a:txBody>
                    <a:bodyPr wrap="square"/>
                    <a:lstStyle/>
                    <a:p>
                      <a:r>
                        <a:rPr sz="950" b="0">
                          <a:solidFill>
                            <a:srgbClr val="2E2A36"/>
                          </a:solidFill>
                          <a:latin typeface="Montserrat"/>
                        </a:rPr>
                        <a:t>Solo columbario</a:t>
                      </a:r>
                    </a:p>
                  </a:txBody>
                  <a:tcPr marL="73152" marR="73152" marT="36576" marB="36576" anchor="ctr">
                    <a:solidFill>
                      <a:srgbClr val="FFFFFF"/>
                    </a:solidFill>
                  </a:tcPr>
                </a:tc>
              </a:tr>
              <a:tr h="731520">
                <a:tc>
                  <a:txBody>
                    <a:bodyPr wrap="square"/>
                    <a:lstStyle/>
                    <a:p>
                      <a:r>
                        <a:rPr sz="950" b="1">
                          <a:solidFill>
                            <a:srgbClr val="5B3F80"/>
                          </a:solidFill>
                          <a:latin typeface="Montserrat"/>
                        </a:rPr>
                        <a:t>Obra de Arte</a:t>
                      </a:r>
                    </a:p>
                  </a:txBody>
                  <a:tcPr marL="73152" marR="73152" marT="36576" marB="36576" anchor="ctr">
                    <a:solidFill>
                      <a:srgbClr val="F5F2F8"/>
                    </a:solidFill>
                  </a:tcPr>
                </a:tc>
                <a:tc>
                  <a:txBody>
                    <a:bodyPr wrap="square"/>
                    <a:lstStyle/>
                    <a:p>
                      <a:r>
                        <a:rPr sz="950" b="0">
                          <a:solidFill>
                            <a:srgbClr val="2E2A36"/>
                          </a:solidFill>
                          <a:latin typeface="Montserrat"/>
                        </a:rPr>
                        <a:t>Familiar US$ 12.500</a:t>
                      </a:r>
                    </a:p>
                  </a:txBody>
                  <a:tcPr marL="73152" marR="73152" marT="36576" marB="36576" anchor="ctr">
                    <a:solidFill>
                      <a:srgbClr val="F5F2F8"/>
                    </a:solidFill>
                  </a:tcPr>
                </a:tc>
                <a:tc>
                  <a:txBody>
                    <a:bodyPr wrap="square"/>
                    <a:lstStyle/>
                    <a:p>
                      <a:r>
                        <a:rPr sz="950" b="0">
                          <a:solidFill>
                            <a:srgbClr val="2E2A36"/>
                          </a:solidFill>
                          <a:latin typeface="Montserrat"/>
                        </a:rPr>
                        <a:t>US$ 10.625</a:t>
                      </a:r>
                    </a:p>
                  </a:txBody>
                  <a:tcPr marL="73152" marR="73152" marT="36576" marB="36576" anchor="ctr">
                    <a:solidFill>
                      <a:srgbClr val="F5F2F8"/>
                    </a:solidFill>
                  </a:tcPr>
                </a:tc>
                <a:tc>
                  <a:txBody>
                    <a:bodyPr wrap="square"/>
                    <a:lstStyle/>
                    <a:p>
                      <a:r>
                        <a:rPr sz="950" b="0">
                          <a:solidFill>
                            <a:srgbClr val="2E2A36"/>
                          </a:solidFill>
                          <a:latin typeface="Montserrat"/>
                        </a:rPr>
                        <a:t>4 urnas</a:t>
                      </a:r>
                    </a:p>
                  </a:txBody>
                  <a:tcPr marL="73152" marR="73152" marT="36576" marB="36576" anchor="ctr">
                    <a:solidFill>
                      <a:srgbClr val="F5F2F8"/>
                    </a:solidFill>
                  </a:tcPr>
                </a:tc>
                <a:tc>
                  <a:txBody>
                    <a:bodyPr wrap="square"/>
                    <a:lstStyle/>
                    <a:p>
                      <a:r>
                        <a:rPr sz="950" b="0">
                          <a:solidFill>
                            <a:srgbClr val="2E2A36"/>
                          </a:solidFill>
                          <a:latin typeface="Montserrat"/>
                        </a:rPr>
                        <a:t>Solo columbario</a:t>
                      </a:r>
                    </a:p>
                  </a:txBody>
                  <a:tcPr marL="73152" marR="73152" marT="36576" marB="36576" anchor="ctr">
                    <a:solidFill>
                      <a:srgbClr val="F5F2F8"/>
                    </a:solidFill>
                  </a:tcPr>
                </a:tc>
              </a:tr>
              <a:tr h="731520">
                <a:tc>
                  <a:txBody>
                    <a:bodyPr wrap="square"/>
                    <a:lstStyle/>
                    <a:p>
                      <a:r>
                        <a:rPr sz="950" b="1">
                          <a:solidFill>
                            <a:srgbClr val="5B3F80"/>
                          </a:solidFill>
                          <a:latin typeface="Montserrat"/>
                        </a:rPr>
                        <a:t>Bella Vista</a:t>
                      </a:r>
                    </a:p>
                  </a:txBody>
                  <a:tcPr marL="73152" marR="73152" marT="36576" marB="36576" anchor="ctr">
                    <a:solidFill>
                      <a:srgbClr val="FFFFFF"/>
                    </a:solidFill>
                  </a:tcPr>
                </a:tc>
                <a:tc>
                  <a:txBody>
                    <a:bodyPr wrap="square"/>
                    <a:lstStyle/>
                    <a:p>
                      <a:r>
                        <a:rPr sz="950" b="0">
                          <a:solidFill>
                            <a:srgbClr val="2E2A36"/>
                          </a:solidFill>
                          <a:latin typeface="Montserrat"/>
                        </a:rPr>
                        <a:t>Estándar US$ 1.800 / 1.300 · Familiar US$ 2.900 / 2.300</a:t>
                      </a:r>
                    </a:p>
                  </a:txBody>
                  <a:tcPr marL="73152" marR="73152" marT="36576" marB="36576" anchor="ctr">
                    <a:solidFill>
                      <a:srgbClr val="FFFFFF"/>
                    </a:solidFill>
                  </a:tcPr>
                </a:tc>
                <a:tc>
                  <a:txBody>
                    <a:bodyPr wrap="square"/>
                    <a:lstStyle/>
                    <a:p>
                      <a:r>
                        <a:rPr sz="950" b="0">
                          <a:solidFill>
                            <a:srgbClr val="2E2A36"/>
                          </a:solidFill>
                          <a:latin typeface="Montserrat"/>
                        </a:rPr>
                        <a:t>US$ 1.530 / 1.105 · US$ 2.465 / 1.955</a:t>
                      </a:r>
                    </a:p>
                  </a:txBody>
                  <a:tcPr marL="73152" marR="73152" marT="36576" marB="36576" anchor="ctr">
                    <a:solidFill>
                      <a:srgbClr val="FFFFFF"/>
                    </a:solidFill>
                  </a:tcPr>
                </a:tc>
                <a:tc>
                  <a:txBody>
                    <a:bodyPr wrap="square"/>
                    <a:lstStyle/>
                    <a:p>
                      <a:r>
                        <a:rPr sz="950" b="0">
                          <a:solidFill>
                            <a:srgbClr val="2E2A36"/>
                          </a:solidFill>
                          <a:latin typeface="Montserrat"/>
                        </a:rPr>
                        <a:t>2 o 4 urnas</a:t>
                      </a:r>
                    </a:p>
                  </a:txBody>
                  <a:tcPr marL="73152" marR="73152" marT="36576" marB="36576" anchor="ctr">
                    <a:solidFill>
                      <a:srgbClr val="FFFFFF"/>
                    </a:solidFill>
                  </a:tcPr>
                </a:tc>
                <a:tc>
                  <a:txBody>
                    <a:bodyPr wrap="square"/>
                    <a:lstStyle/>
                    <a:p>
                      <a:r>
                        <a:rPr sz="950" b="0">
                          <a:solidFill>
                            <a:srgbClr val="2E2A36"/>
                          </a:solidFill>
                          <a:latin typeface="Montserrat"/>
                        </a:rPr>
                        <a:t>Cremación + columbario</a:t>
                      </a:r>
                    </a:p>
                  </a:txBody>
                  <a:tcPr marL="73152" marR="73152" marT="36576" marB="36576" anchor="ctr">
                    <a:solidFill>
                      <a:srgbClr val="FFFFFF"/>
                    </a:solidFill>
                  </a:tcPr>
                </a:tc>
              </a:tr>
            </a:tbl>
          </a:graphicData>
        </a:graphic>
      </p:graphicFrame>
      <p:sp>
        <p:nvSpPr>
          <p:cNvPr id="9" name="Rectangle 8"/>
          <p:cNvSpPr/>
          <p:nvPr/>
        </p:nvSpPr>
        <p:spPr>
          <a:xfrm>
            <a:off x="502920" y="7726679"/>
            <a:ext cx="6556248" cy="13716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7726679"/>
            <a:ext cx="73152" cy="137160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7726679"/>
            <a:ext cx="6099048" cy="1371600"/>
          </a:xfrm>
          <a:prstGeom prst="rect">
            <a:avLst/>
          </a:prstGeom>
          <a:noFill/>
        </p:spPr>
        <p:txBody>
          <a:bodyPr wrap="square" anchor="ctr" lIns="45720" rIns="45720" tIns="27432" bIns="27432">
            <a:spAutoFit/>
          </a:bodyPr>
          <a:lstStyle/>
          <a:p>
            <a:pPr algn="l">
              <a:lnSpc>
                <a:spcPct val="115000"/>
              </a:lnSpc>
              <a:spcAft>
                <a:spcPts val="600"/>
              </a:spcAft>
            </a:pPr>
            <a:r>
              <a:rPr sz="1000" b="1" i="0">
                <a:solidFill>
                  <a:srgbClr val="5B3F80"/>
                </a:solidFill>
                <a:latin typeface="Montserrat"/>
              </a:rPr>
              <a:t>UBICACIÓN DEFINIDA O A FUTURO   </a:t>
            </a:r>
            <a:r>
              <a:rPr sz="1100" b="0" i="0">
                <a:solidFill>
                  <a:srgbClr val="2E2A36"/>
                </a:solidFill>
                <a:latin typeface="Montserrat"/>
              </a:rPr>
              <a:t>Ubicación definida: el nicho se elige al contratar. Ubicación a futuro: se compra hoy y el nicho se asigna más adelante. El precio varía según la fila y el nivel.</a:t>
            </a:r>
          </a:p>
          <a:p>
            <a:pPr algn="l">
              <a:lnSpc>
                <a:spcPct val="115000"/>
              </a:lnSpc>
              <a:spcAft>
                <a:spcPts val="600"/>
              </a:spcAft>
            </a:pPr>
            <a:r>
              <a:rPr sz="1000" b="0" i="1">
                <a:solidFill>
                  <a:srgbClr val="7D7887"/>
                </a:solidFill>
                <a:latin typeface="Montserrat"/>
              </a:rPr>
              <a:t>Precios según fila y nivel (Bella Vista: definida / a futuro). Pago único o financiado en hasta 120 meses, con intereses. El 15% vale solo en Finados y durante noviembre.</a:t>
            </a:r>
          </a:p>
        </p:txBody>
      </p:sp>
      <p:sp>
        <p:nvSpPr>
          <p:cNvPr id="12" name="TextBox 11"/>
          <p:cNvSpPr txBox="1"/>
          <p:nvPr/>
        </p:nvSpPr>
        <p:spPr>
          <a:xfrm>
            <a:off x="502920" y="10277856"/>
            <a:ext cx="5641848"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13" name="TextBox 12"/>
          <p:cNvSpPr txBox="1"/>
          <p:nvPr/>
        </p:nvSpPr>
        <p:spPr>
          <a:xfrm>
            <a:off x="6144768" y="10277856"/>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10689336"/>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06 · PRECIOS, REGLAS Y CONDICIONES</a:t>
            </a:r>
          </a:p>
        </p:txBody>
      </p:sp>
      <p:sp>
        <p:nvSpPr>
          <p:cNvPr id="4" name="TextBox 3"/>
          <p:cNvSpPr txBox="1"/>
          <p:nvPr/>
        </p:nvSpPr>
        <p:spPr>
          <a:xfrm>
            <a:off x="502920" y="621792"/>
            <a:ext cx="6556248"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Reglas comerciales</a:t>
            </a:r>
          </a:p>
        </p:txBody>
      </p:sp>
      <p:sp>
        <p:nvSpPr>
          <p:cNvPr id="5" name="Rectangle 4"/>
          <p:cNvSpPr/>
          <p:nvPr/>
        </p:nvSpPr>
        <p:spPr>
          <a:xfrm>
            <a:off x="50292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02920" y="1645920"/>
          <a:ext cx="6556248" cy="6949440"/>
        </p:xfrm>
        <a:graphic>
          <a:graphicData uri="http://schemas.openxmlformats.org/drawingml/2006/table">
            <a:tbl>
              <a:tblPr firstRow="1" bandRow="1">
                <a:tableStyleId>{5C22544A-7EE6-4342-B048-85BDC9FD1C3A}</a:tableStyleId>
              </a:tblPr>
              <a:tblGrid>
                <a:gridCol w="1821180"/>
                <a:gridCol w="4735068"/>
              </a:tblGrid>
              <a:tr h="868680">
                <a:tc>
                  <a:txBody>
                    <a:bodyPr wrap="square"/>
                    <a:lstStyle/>
                    <a:p>
                      <a:r>
                        <a:rPr sz="1100" b="1">
                          <a:solidFill>
                            <a:srgbClr val="FFFFFF"/>
                          </a:solidFill>
                          <a:latin typeface="Montserrat"/>
                        </a:rPr>
                        <a:t>Tema</a:t>
                      </a:r>
                    </a:p>
                  </a:txBody>
                  <a:tcPr marL="73152" marR="73152" marT="36576" marB="36576" anchor="ctr">
                    <a:solidFill>
                      <a:srgbClr val="5B3F80"/>
                    </a:solidFill>
                  </a:tcPr>
                </a:tc>
                <a:tc>
                  <a:txBody>
                    <a:bodyPr wrap="square"/>
                    <a:lstStyle/>
                    <a:p>
                      <a:r>
                        <a:rPr sz="1100" b="1">
                          <a:solidFill>
                            <a:srgbClr val="FFFFFF"/>
                          </a:solidFill>
                          <a:latin typeface="Montserrat"/>
                        </a:rPr>
                        <a:t>Regla</a:t>
                      </a:r>
                    </a:p>
                  </a:txBody>
                  <a:tcPr marL="73152" marR="73152" marT="36576" marB="36576" anchor="ctr">
                    <a:solidFill>
                      <a:srgbClr val="5B3F80"/>
                    </a:solidFill>
                  </a:tcPr>
                </a:tc>
              </a:tr>
              <a:tr h="868680">
                <a:tc>
                  <a:txBody>
                    <a:bodyPr wrap="square"/>
                    <a:lstStyle/>
                    <a:p>
                      <a:r>
                        <a:rPr sz="1100" b="1">
                          <a:solidFill>
                            <a:srgbClr val="5B3F80"/>
                          </a:solidFill>
                          <a:latin typeface="Montserrat"/>
                        </a:rPr>
                        <a:t>Precios</a:t>
                      </a:r>
                    </a:p>
                  </a:txBody>
                  <a:tcPr marL="73152" marR="73152" marT="36576" marB="36576" anchor="ctr">
                    <a:solidFill>
                      <a:srgbClr val="FFFFFF"/>
                    </a:solidFill>
                  </a:tcPr>
                </a:tc>
                <a:tc>
                  <a:txBody>
                    <a:bodyPr wrap="square"/>
                    <a:lstStyle/>
                    <a:p>
                      <a:r>
                        <a:rPr sz="1100" b="0">
                          <a:solidFill>
                            <a:srgbClr val="2E2A36"/>
                          </a:solidFill>
                          <a:latin typeface="Montserrat"/>
                        </a:rPr>
                        <a:t>Precios sugeridos en US$ con IVA incluido. Consulte siempre la Ficha Técnica vigente.</a:t>
                      </a:r>
                    </a:p>
                  </a:txBody>
                  <a:tcPr marL="73152" marR="73152" marT="36576" marB="36576" anchor="ctr">
                    <a:solidFill>
                      <a:srgbClr val="FFFFFF"/>
                    </a:solidFill>
                  </a:tcPr>
                </a:tc>
              </a:tr>
              <a:tr h="868680">
                <a:tc>
                  <a:txBody>
                    <a:bodyPr wrap="square"/>
                    <a:lstStyle/>
                    <a:p>
                      <a:r>
                        <a:rPr sz="1100" b="1">
                          <a:solidFill>
                            <a:srgbClr val="5B3F80"/>
                          </a:solidFill>
                          <a:latin typeface="Montserrat"/>
                        </a:rPr>
                        <a:t>Descuentos</a:t>
                      </a:r>
                    </a:p>
                  </a:txBody>
                  <a:tcPr marL="73152" marR="73152" marT="36576" marB="36576" anchor="ctr">
                    <a:solidFill>
                      <a:srgbClr val="F5F2F8"/>
                    </a:solidFill>
                  </a:tcPr>
                </a:tc>
                <a:tc>
                  <a:txBody>
                    <a:bodyPr wrap="square"/>
                    <a:lstStyle/>
                    <a:p>
                      <a:r>
                        <a:rPr sz="1100" b="0">
                          <a:solidFill>
                            <a:srgbClr val="2E2A36"/>
                          </a:solidFill>
                          <a:latin typeface="Montserrat"/>
                        </a:rPr>
                        <a:t>Productos de lanzamiento (ver Ficha Técnica): 20%. Portafolio existente de columbarios: 15%. Ambos descuentos valen solo en Finados y durante noviembre. Cualquier otro descuento, solo con autorización del supervisor (emergencia: máximo 5%).</a:t>
                      </a:r>
                    </a:p>
                  </a:txBody>
                  <a:tcPr marL="73152" marR="73152" marT="36576" marB="36576" anchor="ctr">
                    <a:solidFill>
                      <a:srgbClr val="F5F2F8"/>
                    </a:solidFill>
                  </a:tcPr>
                </a:tc>
              </a:tr>
              <a:tr h="868680">
                <a:tc>
                  <a:txBody>
                    <a:bodyPr wrap="square"/>
                    <a:lstStyle/>
                    <a:p>
                      <a:r>
                        <a:rPr sz="1100" b="1">
                          <a:solidFill>
                            <a:srgbClr val="5B3F80"/>
                          </a:solidFill>
                          <a:latin typeface="Montserrat"/>
                        </a:rPr>
                        <a:t>Mantenimiento</a:t>
                      </a:r>
                    </a:p>
                  </a:txBody>
                  <a:tcPr marL="73152" marR="73152" marT="36576" marB="36576" anchor="ctr">
                    <a:solidFill>
                      <a:srgbClr val="FFFFFF"/>
                    </a:solidFill>
                  </a:tcPr>
                </a:tc>
                <a:tc>
                  <a:txBody>
                    <a:bodyPr wrap="square"/>
                    <a:lstStyle/>
                    <a:p>
                      <a:r>
                        <a:rPr sz="1100" b="0">
                          <a:solidFill>
                            <a:srgbClr val="2E2A36"/>
                          </a:solidFill>
                          <a:latin typeface="Montserrat"/>
                        </a:rPr>
                        <a:t>Individual US$ 15/año y Familiar US$ 24/año. No es opcional: se explica antes de firmar.</a:t>
                      </a:r>
                    </a:p>
                  </a:txBody>
                  <a:tcPr marL="73152" marR="73152" marT="36576" marB="36576" anchor="ctr">
                    <a:solidFill>
                      <a:srgbClr val="FFFFFF"/>
                    </a:solidFill>
                  </a:tcPr>
                </a:tc>
              </a:tr>
              <a:tr h="868680">
                <a:tc>
                  <a:txBody>
                    <a:bodyPr wrap="square"/>
                    <a:lstStyle/>
                    <a:p>
                      <a:r>
                        <a:rPr sz="1100" b="1">
                          <a:solidFill>
                            <a:srgbClr val="5B3F80"/>
                          </a:solidFill>
                          <a:latin typeface="Montserrat"/>
                        </a:rPr>
                        <a:t>Plazos</a:t>
                      </a:r>
                    </a:p>
                  </a:txBody>
                  <a:tcPr marL="73152" marR="73152" marT="36576" marB="36576" anchor="ctr">
                    <a:solidFill>
                      <a:srgbClr val="F5F2F8"/>
                    </a:solidFill>
                  </a:tcPr>
                </a:tc>
                <a:tc>
                  <a:txBody>
                    <a:bodyPr wrap="square"/>
                    <a:lstStyle/>
                    <a:p>
                      <a:r>
                        <a:rPr sz="1100" b="0">
                          <a:solidFill>
                            <a:srgbClr val="2E2A36"/>
                          </a:solidFill>
                          <a:latin typeface="Montserrat"/>
                        </a:rPr>
                        <a:t>Individual y Familiar: 30 años desde la primera inhumación, renovables. Ecológico y Mascotas: 3 años. Se explica con total transparencia en la primera conversación.</a:t>
                      </a:r>
                    </a:p>
                  </a:txBody>
                  <a:tcPr marL="73152" marR="73152" marT="36576" marB="36576" anchor="ctr">
                    <a:solidFill>
                      <a:srgbClr val="F5F2F8"/>
                    </a:solidFill>
                  </a:tcPr>
                </a:tc>
              </a:tr>
              <a:tr h="868680">
                <a:tc>
                  <a:txBody>
                    <a:bodyPr wrap="square"/>
                    <a:lstStyle/>
                    <a:p>
                      <a:r>
                        <a:rPr sz="1100" b="1">
                          <a:solidFill>
                            <a:srgbClr val="5B3F80"/>
                          </a:solidFill>
                          <a:latin typeface="Montserrat"/>
                        </a:rPr>
                        <a:t>Placas memoriales</a:t>
                      </a:r>
                    </a:p>
                  </a:txBody>
                  <a:tcPr marL="73152" marR="73152" marT="36576" marB="36576" anchor="ctr">
                    <a:solidFill>
                      <a:srgbClr val="FFFFFF"/>
                    </a:solidFill>
                  </a:tcPr>
                </a:tc>
                <a:tc>
                  <a:txBody>
                    <a:bodyPr wrap="square"/>
                    <a:lstStyle/>
                    <a:p>
                      <a:r>
                        <a:rPr sz="1100" b="0">
                          <a:solidFill>
                            <a:srgbClr val="2E2A36"/>
                          </a:solidFill>
                          <a:latin typeface="Montserrat"/>
                        </a:rPr>
                        <a:t>Incluida en el Jardín Ecológico y en el Jardín de Mascotas.</a:t>
                      </a:r>
                    </a:p>
                  </a:txBody>
                  <a:tcPr marL="73152" marR="73152" marT="36576" marB="36576" anchor="ctr">
                    <a:solidFill>
                      <a:srgbClr val="FFFFFF"/>
                    </a:solidFill>
                  </a:tcPr>
                </a:tc>
              </a:tr>
              <a:tr h="868680">
                <a:tc>
                  <a:txBody>
                    <a:bodyPr wrap="square"/>
                    <a:lstStyle/>
                    <a:p>
                      <a:r>
                        <a:rPr sz="1100" b="1">
                          <a:solidFill>
                            <a:srgbClr val="5B3F80"/>
                          </a:solidFill>
                          <a:latin typeface="Montserrat"/>
                        </a:rPr>
                        <a:t>Dueño del contacto</a:t>
                      </a:r>
                    </a:p>
                  </a:txBody>
                  <a:tcPr marL="73152" marR="73152" marT="36576" marB="36576" anchor="ctr">
                    <a:solidFill>
                      <a:srgbClr val="F5F2F8"/>
                    </a:solidFill>
                  </a:tcPr>
                </a:tc>
                <a:tc>
                  <a:txBody>
                    <a:bodyPr wrap="square"/>
                    <a:lstStyle/>
                    <a:p>
                      <a:r>
                        <a:rPr sz="1100" b="0">
                          <a:solidFill>
                            <a:srgbClr val="2E2A36"/>
                          </a:solidFill>
                          <a:latin typeface="Montserrat"/>
                        </a:rPr>
                        <a:t>Quien registra primero. Sin interacción en 15 días, el contacto puede reasignarse.</a:t>
                      </a:r>
                    </a:p>
                  </a:txBody>
                  <a:tcPr marL="73152" marR="73152" marT="36576" marB="36576" anchor="ctr">
                    <a:solidFill>
                      <a:srgbClr val="F5F2F8"/>
                    </a:solidFill>
                  </a:tcPr>
                </a:tc>
              </a:tr>
              <a:tr h="868680">
                <a:tc>
                  <a:txBody>
                    <a:bodyPr wrap="square"/>
                    <a:lstStyle/>
                    <a:p>
                      <a:r>
                        <a:rPr sz="1100" b="1">
                          <a:solidFill>
                            <a:srgbClr val="5B3F80"/>
                          </a:solidFill>
                          <a:latin typeface="Montserrat"/>
                        </a:rPr>
                        <a:t>Lo que NO se promete</a:t>
                      </a:r>
                    </a:p>
                  </a:txBody>
                  <a:tcPr marL="73152" marR="73152" marT="36576" marB="36576" anchor="ctr">
                    <a:solidFill>
                      <a:srgbClr val="FFFFFF"/>
                    </a:solidFill>
                  </a:tcPr>
                </a:tc>
                <a:tc>
                  <a:txBody>
                    <a:bodyPr wrap="square"/>
                    <a:lstStyle/>
                    <a:p>
                      <a:r>
                        <a:rPr sz="1100" b="0">
                          <a:solidFill>
                            <a:srgbClr val="2E2A36"/>
                          </a:solidFill>
                          <a:latin typeface="Montserrat"/>
                        </a:rPr>
                        <a:t>Fechas o precios del Jardín Ceremonial; descuentos fuera de política; ubicaciones específicas sin confirmar disponibilidad.</a:t>
                      </a:r>
                    </a:p>
                  </a:txBody>
                  <a:tcPr marL="73152" marR="73152" marT="36576" marB="36576" anchor="ctr">
                    <a:solidFill>
                      <a:srgbClr val="FFFFFF"/>
                    </a:solidFill>
                  </a:tcPr>
                </a:tc>
              </a:tr>
            </a:tbl>
          </a:graphicData>
        </a:graphic>
      </p:graphicFrame>
      <p:sp>
        <p:nvSpPr>
          <p:cNvPr id="7" name="TextBox 6"/>
          <p:cNvSpPr txBox="1"/>
          <p:nvPr/>
        </p:nvSpPr>
        <p:spPr>
          <a:xfrm>
            <a:off x="502920" y="10277856"/>
            <a:ext cx="5641848"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8" name="TextBox 7"/>
          <p:cNvSpPr txBox="1"/>
          <p:nvPr/>
        </p:nvSpPr>
        <p:spPr>
          <a:xfrm>
            <a:off x="6144768" y="10277856"/>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10689336"/>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07 · COMISIONES · PRODUCTOS DE CREMACIÓN</a:t>
            </a:r>
          </a:p>
        </p:txBody>
      </p:sp>
      <p:sp>
        <p:nvSpPr>
          <p:cNvPr id="4" name="TextBox 3"/>
          <p:cNvSpPr txBox="1"/>
          <p:nvPr/>
        </p:nvSpPr>
        <p:spPr>
          <a:xfrm>
            <a:off x="502920" y="621792"/>
            <a:ext cx="6556248"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Comisión por cantidad de ventas: 8% · 10% · 12%</a:t>
            </a:r>
          </a:p>
        </p:txBody>
      </p:sp>
      <p:sp>
        <p:nvSpPr>
          <p:cNvPr id="5" name="Rectangle 4"/>
          <p:cNvSpPr/>
          <p:nvPr/>
        </p:nvSpPr>
        <p:spPr>
          <a:xfrm>
            <a:off x="50292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44752"/>
            <a:ext cx="6556248" cy="411480"/>
          </a:xfrm>
          <a:prstGeom prst="rect">
            <a:avLst/>
          </a:prstGeom>
          <a:noFill/>
        </p:spPr>
        <p:txBody>
          <a:bodyPr wrap="square" anchor="t" lIns="45720" rIns="45720" tIns="27432" bIns="27432">
            <a:spAutoFit/>
          </a:bodyPr>
          <a:lstStyle/>
          <a:p>
            <a:pPr algn="l">
              <a:lnSpc>
                <a:spcPct val="115000"/>
              </a:lnSpc>
              <a:spcAft>
                <a:spcPts val="400"/>
              </a:spcAft>
            </a:pPr>
            <a:r>
              <a:rPr sz="1300" b="0" i="1">
                <a:solidFill>
                  <a:srgbClr val="7D7887"/>
                </a:solidFill>
                <a:latin typeface="Montserrat"/>
              </a:rPr>
              <a:t>Según la cantidad de ventas del mes, sobre toda la facturación sin IVA.</a:t>
            </a:r>
          </a:p>
        </p:txBody>
      </p:sp>
      <p:graphicFrame>
        <p:nvGraphicFramePr>
          <p:cNvPr id="7" name="Table 6"/>
          <p:cNvGraphicFramePr>
            <a:graphicFrameLocks noGrp="1"/>
          </p:cNvGraphicFramePr>
          <p:nvPr/>
        </p:nvGraphicFramePr>
        <p:xfrm>
          <a:off x="502920" y="1965960"/>
          <a:ext cx="6556247" cy="2194560"/>
        </p:xfrm>
        <a:graphic>
          <a:graphicData uri="http://schemas.openxmlformats.org/drawingml/2006/table">
            <a:tbl>
              <a:tblPr firstRow="1" bandRow="1">
                <a:tableStyleId>{5C22544A-7EE6-4342-B048-85BDC9FD1C3A}</a:tableStyleId>
              </a:tblPr>
              <a:tblGrid>
                <a:gridCol w="1849198"/>
                <a:gridCol w="1008653"/>
                <a:gridCol w="1849198"/>
                <a:gridCol w="1849198"/>
              </a:tblGrid>
              <a:tr h="548640">
                <a:tc>
                  <a:txBody>
                    <a:bodyPr wrap="square"/>
                    <a:lstStyle/>
                    <a:p>
                      <a:r>
                        <a:rPr sz="1100" b="1">
                          <a:solidFill>
                            <a:srgbClr val="FFFFFF"/>
                          </a:solidFill>
                          <a:latin typeface="Montserrat"/>
                        </a:rPr>
                        <a:t>Ventas en el mes</a:t>
                      </a:r>
                    </a:p>
                  </a:txBody>
                  <a:tcPr marL="73152" marR="73152" marT="36576" marB="36576" anchor="ctr">
                    <a:solidFill>
                      <a:srgbClr val="5B3F80"/>
                    </a:solidFill>
                  </a:tcPr>
                </a:tc>
                <a:tc>
                  <a:txBody>
                    <a:bodyPr wrap="square"/>
                    <a:lstStyle/>
                    <a:p>
                      <a:r>
                        <a:rPr sz="1100" b="1">
                          <a:solidFill>
                            <a:srgbClr val="FFFFFF"/>
                          </a:solidFill>
                          <a:latin typeface="Montserrat"/>
                        </a:rPr>
                        <a:t>%</a:t>
                      </a:r>
                    </a:p>
                  </a:txBody>
                  <a:tcPr marL="73152" marR="73152" marT="36576" marB="36576" anchor="ctr">
                    <a:solidFill>
                      <a:srgbClr val="5B3F80"/>
                    </a:solidFill>
                  </a:tcPr>
                </a:tc>
                <a:tc>
                  <a:txBody>
                    <a:bodyPr wrap="square"/>
                    <a:lstStyle/>
                    <a:p>
                      <a:r>
                        <a:rPr sz="1100" b="1">
                          <a:solidFill>
                            <a:srgbClr val="FFFFFF"/>
                          </a:solidFill>
                          <a:latin typeface="Montserrat"/>
                        </a:rPr>
                        <a:t>Ejemplo: facturación</a:t>
                      </a:r>
                    </a:p>
                  </a:txBody>
                  <a:tcPr marL="73152" marR="73152" marT="36576" marB="36576" anchor="ctr">
                    <a:solidFill>
                      <a:srgbClr val="5B3F80"/>
                    </a:solidFill>
                  </a:tcPr>
                </a:tc>
                <a:tc>
                  <a:txBody>
                    <a:bodyPr wrap="square"/>
                    <a:lstStyle/>
                    <a:p>
                      <a:r>
                        <a:rPr sz="1100" b="1">
                          <a:solidFill>
                            <a:srgbClr val="FFFFFF"/>
                          </a:solidFill>
                          <a:latin typeface="Montserrat"/>
                        </a:rPr>
                        <a:t>Comisión</a:t>
                      </a:r>
                    </a:p>
                  </a:txBody>
                  <a:tcPr marL="73152" marR="73152" marT="36576" marB="36576" anchor="ctr">
                    <a:solidFill>
                      <a:srgbClr val="5B3F80"/>
                    </a:solidFill>
                  </a:tcPr>
                </a:tc>
              </a:tr>
              <a:tr h="548640">
                <a:tc>
                  <a:txBody>
                    <a:bodyPr wrap="square"/>
                    <a:lstStyle/>
                    <a:p>
                      <a:r>
                        <a:rPr sz="1100" b="1">
                          <a:solidFill>
                            <a:srgbClr val="5B3F80"/>
                          </a:solidFill>
                          <a:latin typeface="Montserrat"/>
                        </a:rPr>
                        <a:t>1 venta</a:t>
                      </a:r>
                    </a:p>
                  </a:txBody>
                  <a:tcPr marL="73152" marR="73152" marT="36576" marB="36576" anchor="ctr">
                    <a:solidFill>
                      <a:srgbClr val="FFFFFF"/>
                    </a:solidFill>
                  </a:tcPr>
                </a:tc>
                <a:tc>
                  <a:txBody>
                    <a:bodyPr wrap="square"/>
                    <a:lstStyle/>
                    <a:p>
                      <a:r>
                        <a:rPr sz="1100" b="0">
                          <a:solidFill>
                            <a:srgbClr val="2E2A36"/>
                          </a:solidFill>
                          <a:latin typeface="Montserrat"/>
                        </a:rPr>
                        <a:t>8%</a:t>
                      </a:r>
                    </a:p>
                  </a:txBody>
                  <a:tcPr marL="73152" marR="73152" marT="36576" marB="36576" anchor="ctr">
                    <a:solidFill>
                      <a:srgbClr val="FFFFFF"/>
                    </a:solidFill>
                  </a:tcPr>
                </a:tc>
                <a:tc>
                  <a:txBody>
                    <a:bodyPr wrap="square"/>
                    <a:lstStyle/>
                    <a:p>
                      <a:r>
                        <a:rPr sz="1100" b="0">
                          <a:solidFill>
                            <a:srgbClr val="2E2A36"/>
                          </a:solidFill>
                          <a:latin typeface="Montserrat"/>
                        </a:rPr>
                        <a:t>US$ 885</a:t>
                      </a:r>
                    </a:p>
                  </a:txBody>
                  <a:tcPr marL="73152" marR="73152" marT="36576" marB="36576" anchor="ctr">
                    <a:solidFill>
                      <a:srgbClr val="FFFFFF"/>
                    </a:solidFill>
                  </a:tcPr>
                </a:tc>
                <a:tc>
                  <a:txBody>
                    <a:bodyPr wrap="square"/>
                    <a:lstStyle/>
                    <a:p>
                      <a:r>
                        <a:rPr sz="1100" b="0">
                          <a:solidFill>
                            <a:srgbClr val="2E2A36"/>
                          </a:solidFill>
                          <a:latin typeface="Montserrat"/>
                        </a:rPr>
                        <a:t>US$ 70,80</a:t>
                      </a:r>
                    </a:p>
                  </a:txBody>
                  <a:tcPr marL="73152" marR="73152" marT="36576" marB="36576" anchor="ctr">
                    <a:solidFill>
                      <a:srgbClr val="FFFFFF"/>
                    </a:solidFill>
                  </a:tcPr>
                </a:tc>
              </a:tr>
              <a:tr h="548640">
                <a:tc>
                  <a:txBody>
                    <a:bodyPr wrap="square"/>
                    <a:lstStyle/>
                    <a:p>
                      <a:r>
                        <a:rPr sz="1100" b="1">
                          <a:solidFill>
                            <a:srgbClr val="5B3F80"/>
                          </a:solidFill>
                          <a:latin typeface="Montserrat"/>
                        </a:rPr>
                        <a:t>2 ventas</a:t>
                      </a:r>
                    </a:p>
                  </a:txBody>
                  <a:tcPr marL="73152" marR="73152" marT="36576" marB="36576" anchor="ctr">
                    <a:solidFill>
                      <a:srgbClr val="F5F2F8"/>
                    </a:solidFill>
                  </a:tcPr>
                </a:tc>
                <a:tc>
                  <a:txBody>
                    <a:bodyPr wrap="square"/>
                    <a:lstStyle/>
                    <a:p>
                      <a:r>
                        <a:rPr sz="1100" b="0">
                          <a:solidFill>
                            <a:srgbClr val="2E2A36"/>
                          </a:solidFill>
                          <a:latin typeface="Montserrat"/>
                        </a:rPr>
                        <a:t>10%</a:t>
                      </a:r>
                    </a:p>
                  </a:txBody>
                  <a:tcPr marL="73152" marR="73152" marT="36576" marB="36576" anchor="ctr">
                    <a:solidFill>
                      <a:srgbClr val="F5F2F8"/>
                    </a:solidFill>
                  </a:tcPr>
                </a:tc>
                <a:tc>
                  <a:txBody>
                    <a:bodyPr wrap="square"/>
                    <a:lstStyle/>
                    <a:p>
                      <a:r>
                        <a:rPr sz="1100" b="0">
                          <a:solidFill>
                            <a:srgbClr val="2E2A36"/>
                          </a:solidFill>
                          <a:latin typeface="Montserrat"/>
                        </a:rPr>
                        <a:t>US$ 1.770</a:t>
                      </a:r>
                    </a:p>
                  </a:txBody>
                  <a:tcPr marL="73152" marR="73152" marT="36576" marB="36576" anchor="ctr">
                    <a:solidFill>
                      <a:srgbClr val="F5F2F8"/>
                    </a:solidFill>
                  </a:tcPr>
                </a:tc>
                <a:tc>
                  <a:txBody>
                    <a:bodyPr wrap="square"/>
                    <a:lstStyle/>
                    <a:p>
                      <a:r>
                        <a:rPr sz="1100" b="0">
                          <a:solidFill>
                            <a:srgbClr val="2E2A36"/>
                          </a:solidFill>
                          <a:latin typeface="Montserrat"/>
                        </a:rPr>
                        <a:t>US$ 177,00</a:t>
                      </a:r>
                    </a:p>
                  </a:txBody>
                  <a:tcPr marL="73152" marR="73152" marT="36576" marB="36576" anchor="ctr">
                    <a:solidFill>
                      <a:srgbClr val="F5F2F8"/>
                    </a:solidFill>
                  </a:tcPr>
                </a:tc>
              </a:tr>
              <a:tr h="548640">
                <a:tc>
                  <a:txBody>
                    <a:bodyPr wrap="square"/>
                    <a:lstStyle/>
                    <a:p>
                      <a:r>
                        <a:rPr sz="1100" b="1">
                          <a:solidFill>
                            <a:srgbClr val="5B3F80"/>
                          </a:solidFill>
                          <a:latin typeface="Montserrat"/>
                        </a:rPr>
                        <a:t>3 ventas o más</a:t>
                      </a:r>
                    </a:p>
                  </a:txBody>
                  <a:tcPr marL="73152" marR="73152" marT="36576" marB="36576" anchor="ctr">
                    <a:solidFill>
                      <a:srgbClr val="FFFFFF"/>
                    </a:solidFill>
                  </a:tcPr>
                </a:tc>
                <a:tc>
                  <a:txBody>
                    <a:bodyPr wrap="square"/>
                    <a:lstStyle/>
                    <a:p>
                      <a:r>
                        <a:rPr sz="1100" b="0">
                          <a:solidFill>
                            <a:srgbClr val="2E2A36"/>
                          </a:solidFill>
                          <a:latin typeface="Montserrat"/>
                        </a:rPr>
                        <a:t>12%</a:t>
                      </a:r>
                    </a:p>
                  </a:txBody>
                  <a:tcPr marL="73152" marR="73152" marT="36576" marB="36576" anchor="ctr">
                    <a:solidFill>
                      <a:srgbClr val="FFFFFF"/>
                    </a:solidFill>
                  </a:tcPr>
                </a:tc>
                <a:tc>
                  <a:txBody>
                    <a:bodyPr wrap="square"/>
                    <a:lstStyle/>
                    <a:p>
                      <a:r>
                        <a:rPr sz="1100" b="0">
                          <a:solidFill>
                            <a:srgbClr val="2E2A36"/>
                          </a:solidFill>
                          <a:latin typeface="Montserrat"/>
                        </a:rPr>
                        <a:t>US$ 2.655</a:t>
                      </a:r>
                    </a:p>
                  </a:txBody>
                  <a:tcPr marL="73152" marR="73152" marT="36576" marB="36576" anchor="ctr">
                    <a:solidFill>
                      <a:srgbClr val="FFFFFF"/>
                    </a:solidFill>
                  </a:tcPr>
                </a:tc>
                <a:tc>
                  <a:txBody>
                    <a:bodyPr wrap="square"/>
                    <a:lstStyle/>
                    <a:p>
                      <a:r>
                        <a:rPr sz="1100" b="0">
                          <a:solidFill>
                            <a:srgbClr val="2E2A36"/>
                          </a:solidFill>
                          <a:latin typeface="Montserrat"/>
                        </a:rPr>
                        <a:t>US$ 318,60</a:t>
                      </a:r>
                    </a:p>
                  </a:txBody>
                  <a:tcPr marL="73152" marR="73152" marT="36576" marB="36576" anchor="ctr">
                    <a:solidFill>
                      <a:srgbClr val="FFFFFF"/>
                    </a:solidFill>
                  </a:tcPr>
                </a:tc>
              </a:tr>
            </a:tbl>
          </a:graphicData>
        </a:graphic>
      </p:graphicFrame>
      <p:pic>
        <p:nvPicPr>
          <p:cNvPr id="8" name="Picture 7" descr="05_comisiones.png"/>
          <p:cNvPicPr>
            <a:picLocks noChangeAspect="1"/>
          </p:cNvPicPr>
          <p:nvPr/>
        </p:nvPicPr>
        <p:blipFill>
          <a:blip r:embed="rId2"/>
          <a:stretch>
            <a:fillRect/>
          </a:stretch>
        </p:blipFill>
        <p:spPr>
          <a:xfrm>
            <a:off x="502920" y="4904099"/>
            <a:ext cx="6556248" cy="1393202"/>
          </a:xfrm>
          <a:prstGeom prst="rect">
            <a:avLst/>
          </a:prstGeom>
        </p:spPr>
      </p:pic>
      <p:graphicFrame>
        <p:nvGraphicFramePr>
          <p:cNvPr id="9" name="Table 8"/>
          <p:cNvGraphicFramePr>
            <a:graphicFrameLocks noGrp="1"/>
          </p:cNvGraphicFramePr>
          <p:nvPr/>
        </p:nvGraphicFramePr>
        <p:xfrm>
          <a:off x="502920" y="7086600"/>
          <a:ext cx="6556247" cy="3291840"/>
        </p:xfrm>
        <a:graphic>
          <a:graphicData uri="http://schemas.openxmlformats.org/drawingml/2006/table">
            <a:tbl>
              <a:tblPr firstRow="1" bandRow="1">
                <a:tableStyleId>{5C22544A-7EE6-4342-B048-85BDC9FD1C3A}</a:tableStyleId>
              </a:tblPr>
              <a:tblGrid>
                <a:gridCol w="2017307"/>
                <a:gridCol w="3025960"/>
                <a:gridCol w="1512980"/>
              </a:tblGrid>
              <a:tr h="658368">
                <a:tc>
                  <a:txBody>
                    <a:bodyPr wrap="square"/>
                    <a:lstStyle/>
                    <a:p>
                      <a:r>
                        <a:rPr sz="950" b="1">
                          <a:solidFill>
                            <a:srgbClr val="FFFFFF"/>
                          </a:solidFill>
                          <a:latin typeface="Montserrat"/>
                        </a:rPr>
                        <a:t>Producto</a:t>
                      </a:r>
                    </a:p>
                  </a:txBody>
                  <a:tcPr marL="73152" marR="73152" marT="36576" marB="36576" anchor="ctr">
                    <a:solidFill>
                      <a:srgbClr val="5B3F80"/>
                    </a:solidFill>
                  </a:tcPr>
                </a:tc>
                <a:tc>
                  <a:txBody>
                    <a:bodyPr wrap="square"/>
                    <a:lstStyle/>
                    <a:p>
                      <a:r>
                        <a:rPr sz="950" b="1">
                          <a:solidFill>
                            <a:srgbClr val="FFFFFF"/>
                          </a:solidFill>
                          <a:latin typeface="Montserrat"/>
                        </a:rPr>
                        <a:t>Cuándo se paga</a:t>
                      </a:r>
                    </a:p>
                  </a:txBody>
                  <a:tcPr marL="73152" marR="73152" marT="36576" marB="36576" anchor="ctr">
                    <a:solidFill>
                      <a:srgbClr val="5B3F80"/>
                    </a:solidFill>
                  </a:tcPr>
                </a:tc>
                <a:tc>
                  <a:txBody>
                    <a:bodyPr wrap="square"/>
                    <a:lstStyle/>
                    <a:p>
                      <a:r>
                        <a:rPr sz="950" b="1">
                          <a:solidFill>
                            <a:srgbClr val="FFFFFF"/>
                          </a:solidFill>
                          <a:latin typeface="Montserrat"/>
                        </a:rPr>
                        <a:t>Estorno</a:t>
                      </a:r>
                    </a:p>
                  </a:txBody>
                  <a:tcPr marL="73152" marR="73152" marT="36576" marB="36576" anchor="ctr">
                    <a:solidFill>
                      <a:srgbClr val="5B3F80"/>
                    </a:solidFill>
                  </a:tcPr>
                </a:tc>
              </a:tr>
              <a:tr h="658368">
                <a:tc>
                  <a:txBody>
                    <a:bodyPr wrap="square"/>
                    <a:lstStyle/>
                    <a:p>
                      <a:r>
                        <a:rPr sz="950" b="1">
                          <a:solidFill>
                            <a:srgbClr val="5B3F80"/>
                          </a:solidFill>
                          <a:latin typeface="Montserrat"/>
                        </a:rPr>
                        <a:t>Solución Modular</a:t>
                      </a:r>
                    </a:p>
                  </a:txBody>
                  <a:tcPr marL="73152" marR="73152" marT="36576" marB="36576" anchor="ctr">
                    <a:solidFill>
                      <a:srgbClr val="FFFFFF"/>
                    </a:solidFill>
                  </a:tcPr>
                </a:tc>
                <a:tc>
                  <a:txBody>
                    <a:bodyPr wrap="square"/>
                    <a:lstStyle/>
                    <a:p>
                      <a:r>
                        <a:rPr sz="950" b="0">
                          <a:solidFill>
                            <a:srgbClr val="2E2A36"/>
                          </a:solidFill>
                          <a:latin typeface="Montserrat"/>
                        </a:rPr>
                        <a:t>Pago único al pagar el cliente la 3ª cuota</a:t>
                      </a:r>
                    </a:p>
                  </a:txBody>
                  <a:tcPr marL="73152" marR="73152" marT="36576" marB="36576" anchor="ctr">
                    <a:solidFill>
                      <a:srgbClr val="FFFFFF"/>
                    </a:solidFill>
                  </a:tcPr>
                </a:tc>
                <a:tc>
                  <a:txBody>
                    <a:bodyPr wrap="square"/>
                    <a:lstStyle/>
                    <a:p>
                      <a:r>
                        <a:rPr sz="950" b="0">
                          <a:solidFill>
                            <a:srgbClr val="2E2A36"/>
                          </a:solidFill>
                          <a:latin typeface="Montserrat"/>
                        </a:rPr>
                        <a:t>Si cancela antes de la 12ª cuota</a:t>
                      </a:r>
                    </a:p>
                  </a:txBody>
                  <a:tcPr marL="73152" marR="73152" marT="36576" marB="36576" anchor="ctr">
                    <a:solidFill>
                      <a:srgbClr val="FFFFFF"/>
                    </a:solidFill>
                  </a:tcPr>
                </a:tc>
              </a:tr>
              <a:tr h="658368">
                <a:tc>
                  <a:txBody>
                    <a:bodyPr wrap="square"/>
                    <a:lstStyle/>
                    <a:p>
                      <a:r>
                        <a:rPr sz="950" b="1">
                          <a:solidFill>
                            <a:srgbClr val="5B3F80"/>
                          </a:solidFill>
                          <a:latin typeface="Montserrat"/>
                        </a:rPr>
                        <a:t>Jardines de Cenizas</a:t>
                      </a:r>
                    </a:p>
                  </a:txBody>
                  <a:tcPr marL="73152" marR="73152" marT="36576" marB="36576" anchor="ctr">
                    <a:solidFill>
                      <a:srgbClr val="F5F2F8"/>
                    </a:solidFill>
                  </a:tcPr>
                </a:tc>
                <a:tc>
                  <a:txBody>
                    <a:bodyPr wrap="square"/>
                    <a:lstStyle/>
                    <a:p>
                      <a:r>
                        <a:rPr sz="950" b="0">
                          <a:solidFill>
                            <a:srgbClr val="2E2A36"/>
                          </a:solidFill>
                          <a:latin typeface="Montserrat"/>
                        </a:rPr>
                        <a:t>Contado: mes siguiente · Financiado: proporcional a lo cobrado</a:t>
                      </a:r>
                    </a:p>
                  </a:txBody>
                  <a:tcPr marL="73152" marR="73152" marT="36576" marB="36576" anchor="ctr">
                    <a:solidFill>
                      <a:srgbClr val="F5F2F8"/>
                    </a:solidFill>
                  </a:tcPr>
                </a:tc>
                <a:tc>
                  <a:txBody>
                    <a:bodyPr wrap="square"/>
                    <a:lstStyle/>
                    <a:p>
                      <a:r>
                        <a:rPr sz="950" b="0">
                          <a:solidFill>
                            <a:srgbClr val="2E2A36"/>
                          </a:solidFill>
                          <a:latin typeface="Montserrat"/>
                        </a:rPr>
                        <a:t>Cancelación en 90 días</a:t>
                      </a:r>
                    </a:p>
                  </a:txBody>
                  <a:tcPr marL="73152" marR="73152" marT="36576" marB="36576" anchor="ctr">
                    <a:solidFill>
                      <a:srgbClr val="F5F2F8"/>
                    </a:solidFill>
                  </a:tcPr>
                </a:tc>
              </a:tr>
              <a:tr h="658368">
                <a:tc>
                  <a:txBody>
                    <a:bodyPr wrap="square"/>
                    <a:lstStyle/>
                    <a:p>
                      <a:r>
                        <a:rPr sz="950" b="1">
                          <a:solidFill>
                            <a:srgbClr val="5B3F80"/>
                          </a:solidFill>
                          <a:latin typeface="Montserrat"/>
                        </a:rPr>
                        <a:t>Jardín de Mascotas</a:t>
                      </a:r>
                    </a:p>
                  </a:txBody>
                  <a:tcPr marL="73152" marR="73152" marT="36576" marB="36576" anchor="ctr">
                    <a:solidFill>
                      <a:srgbClr val="FFFFFF"/>
                    </a:solidFill>
                  </a:tcPr>
                </a:tc>
                <a:tc>
                  <a:txBody>
                    <a:bodyPr wrap="square"/>
                    <a:lstStyle/>
                    <a:p>
                      <a:r>
                        <a:rPr sz="950" b="0">
                          <a:solidFill>
                            <a:srgbClr val="2E2A36"/>
                          </a:solidFill>
                          <a:latin typeface="Montserrat"/>
                        </a:rPr>
                        <a:t>Mes siguiente al pago</a:t>
                      </a:r>
                    </a:p>
                  </a:txBody>
                  <a:tcPr marL="73152" marR="73152" marT="36576" marB="36576" anchor="ctr">
                    <a:solidFill>
                      <a:srgbClr val="FFFFFF"/>
                    </a:solidFill>
                  </a:tcPr>
                </a:tc>
                <a:tc>
                  <a:txBody>
                    <a:bodyPr wrap="square"/>
                    <a:lstStyle/>
                    <a:p>
                      <a:r>
                        <a:rPr sz="950" b="0">
                          <a:solidFill>
                            <a:srgbClr val="2E2A36"/>
                          </a:solidFill>
                          <a:latin typeface="Montserrat"/>
                        </a:rPr>
                        <a:t>Cancelación en 90 días</a:t>
                      </a:r>
                    </a:p>
                  </a:txBody>
                  <a:tcPr marL="73152" marR="73152" marT="36576" marB="36576" anchor="ctr">
                    <a:solidFill>
                      <a:srgbClr val="FFFFFF"/>
                    </a:solidFill>
                  </a:tcPr>
                </a:tc>
              </a:tr>
              <a:tr h="658368">
                <a:tc>
                  <a:txBody>
                    <a:bodyPr wrap="square"/>
                    <a:lstStyle/>
                    <a:p>
                      <a:r>
                        <a:rPr sz="950" b="1">
                          <a:solidFill>
                            <a:srgbClr val="5B3F80"/>
                          </a:solidFill>
                          <a:latin typeface="Montserrat"/>
                        </a:rPr>
                        <a:t>Columbarios (portafolio existente)</a:t>
                      </a:r>
                    </a:p>
                  </a:txBody>
                  <a:tcPr marL="73152" marR="73152" marT="36576" marB="36576" anchor="ctr">
                    <a:solidFill>
                      <a:srgbClr val="F5F2F8"/>
                    </a:solidFill>
                  </a:tcPr>
                </a:tc>
                <a:tc>
                  <a:txBody>
                    <a:bodyPr wrap="square"/>
                    <a:lstStyle/>
                    <a:p>
                      <a:r>
                        <a:rPr sz="950" b="0">
                          <a:solidFill>
                            <a:srgbClr val="2E2A36"/>
                          </a:solidFill>
                          <a:latin typeface="Montserrat"/>
                        </a:rPr>
                        <a:t>Contado: mes siguiente · Financiado: proporcional a lo cobrado</a:t>
                      </a:r>
                    </a:p>
                  </a:txBody>
                  <a:tcPr marL="73152" marR="73152" marT="36576" marB="36576" anchor="ctr">
                    <a:solidFill>
                      <a:srgbClr val="F5F2F8"/>
                    </a:solidFill>
                  </a:tcPr>
                </a:tc>
                <a:tc>
                  <a:txBody>
                    <a:bodyPr wrap="square"/>
                    <a:lstStyle/>
                    <a:p>
                      <a:r>
                        <a:rPr sz="950" b="0">
                          <a:solidFill>
                            <a:srgbClr val="2E2A36"/>
                          </a:solidFill>
                          <a:latin typeface="Montserrat"/>
                        </a:rPr>
                        <a:t>Cancelación en 90 días</a:t>
                      </a:r>
                    </a:p>
                  </a:txBody>
                  <a:tcPr marL="73152" marR="73152" marT="36576" marB="36576" anchor="ctr">
                    <a:solidFill>
                      <a:srgbClr val="F5F2F8"/>
                    </a:solidFill>
                  </a:tcPr>
                </a:tc>
              </a:tr>
            </a:tbl>
          </a:graphicData>
        </a:graphic>
      </p:graphicFrame>
      <p:sp>
        <p:nvSpPr>
          <p:cNvPr id="10" name="TextBox 9"/>
          <p:cNvSpPr txBox="1"/>
          <p:nvPr/>
        </p:nvSpPr>
        <p:spPr>
          <a:xfrm>
            <a:off x="502920" y="10277856"/>
            <a:ext cx="5641848"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11" name="TextBox 10"/>
          <p:cNvSpPr txBox="1"/>
          <p:nvPr/>
        </p:nvSpPr>
        <p:spPr>
          <a:xfrm>
            <a:off x="6144768" y="10277856"/>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10689336"/>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07 · COMISIONES · PRODUCTOS DE CREMACIÓN</a:t>
            </a:r>
          </a:p>
        </p:txBody>
      </p:sp>
      <p:sp>
        <p:nvSpPr>
          <p:cNvPr id="4" name="TextBox 3"/>
          <p:cNvSpPr txBox="1"/>
          <p:nvPr/>
        </p:nvSpPr>
        <p:spPr>
          <a:xfrm>
            <a:off x="502920" y="621792"/>
            <a:ext cx="6556248"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Reglas de comisión</a:t>
            </a:r>
          </a:p>
        </p:txBody>
      </p:sp>
      <p:sp>
        <p:nvSpPr>
          <p:cNvPr id="5" name="Rectangle 4"/>
          <p:cNvSpPr/>
          <p:nvPr/>
        </p:nvSpPr>
        <p:spPr>
          <a:xfrm>
            <a:off x="50292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691640"/>
            <a:ext cx="6556248" cy="4206240"/>
          </a:xfrm>
          <a:prstGeom prst="rect">
            <a:avLst/>
          </a:prstGeom>
          <a:noFill/>
        </p:spPr>
        <p:txBody>
          <a:bodyPr wrap="square" anchor="t" lIns="45720" rIns="45720" tIns="27432" bIns="27432">
            <a:spAutoFit/>
          </a:bodyPr>
          <a:lstStyle/>
          <a:p>
            <a:pPr algn="l">
              <a:lnSpc>
                <a:spcPct val="115000"/>
              </a:lnSpc>
              <a:spcAft>
                <a:spcPts val="1000"/>
              </a:spcAft>
            </a:pPr>
            <a:r>
              <a:rPr sz="1000" b="1" i="0">
                <a:solidFill>
                  <a:srgbClr val="C9A86A"/>
                </a:solidFill>
                <a:latin typeface="Montserrat"/>
              </a:rPr>
              <a:t>■  </a:t>
            </a:r>
            <a:r>
              <a:rPr sz="1300" b="0" i="0">
                <a:solidFill>
                  <a:srgbClr val="2E2A36"/>
                </a:solidFill>
                <a:latin typeface="Montserrat"/>
              </a:rPr>
              <a:t>1 venta en el mes = 8%; 2 ventas = 10%; 3 o más = 12%, sobre toda la facturación del mes.</a:t>
            </a:r>
          </a:p>
          <a:p>
            <a:pPr algn="l">
              <a:lnSpc>
                <a:spcPct val="115000"/>
              </a:lnSpc>
              <a:spcAft>
                <a:spcPts val="1000"/>
              </a:spcAft>
            </a:pPr>
            <a:r>
              <a:rPr sz="1000" b="1" i="0">
                <a:solidFill>
                  <a:srgbClr val="C9A86A"/>
                </a:solidFill>
                <a:latin typeface="Montserrat"/>
              </a:rPr>
              <a:t>■  </a:t>
            </a:r>
            <a:r>
              <a:rPr sz="1300" b="0" i="0">
                <a:solidFill>
                  <a:srgbClr val="2E2A36"/>
                </a:solidFill>
                <a:latin typeface="Montserrat"/>
              </a:rPr>
              <a:t>Cuenta cualquier producto de cremación (nuevos y columbarios): cada contrato es 1 venta.</a:t>
            </a:r>
          </a:p>
          <a:p>
            <a:pPr algn="l">
              <a:lnSpc>
                <a:spcPct val="115000"/>
              </a:lnSpc>
              <a:spcAft>
                <a:spcPts val="1000"/>
              </a:spcAft>
            </a:pPr>
            <a:r>
              <a:rPr sz="1000" b="1" i="0">
                <a:solidFill>
                  <a:srgbClr val="C9A86A"/>
                </a:solidFill>
                <a:latin typeface="Montserrat"/>
              </a:rPr>
              <a:t>■  </a:t>
            </a:r>
            <a:r>
              <a:rPr sz="1300" b="0" i="0">
                <a:solidFill>
                  <a:srgbClr val="2E2A36"/>
                </a:solidFill>
                <a:latin typeface="Montserrat"/>
              </a:rPr>
              <a:t>Base de cálculo: facturación sin IVA (13%), neta de descuentos; se paga sobre lo cobrado.</a:t>
            </a:r>
          </a:p>
          <a:p>
            <a:pPr algn="l">
              <a:lnSpc>
                <a:spcPct val="115000"/>
              </a:lnSpc>
              <a:spcAft>
                <a:spcPts val="1000"/>
              </a:spcAft>
            </a:pPr>
            <a:r>
              <a:rPr sz="1000" b="1" i="0">
                <a:solidFill>
                  <a:srgbClr val="C9A86A"/>
                </a:solidFill>
                <a:latin typeface="Montserrat"/>
              </a:rPr>
              <a:t>■  </a:t>
            </a:r>
            <a:r>
              <a:rPr sz="1300" b="0" i="0">
                <a:solidFill>
                  <a:srgbClr val="2E2A36"/>
                </a:solidFill>
                <a:latin typeface="Montserrat"/>
              </a:rPr>
              <a:t>Mismo criterio para call center, contratados y freelancers. Sin bonos adicionales.</a:t>
            </a:r>
          </a:p>
          <a:p>
            <a:pPr algn="l">
              <a:lnSpc>
                <a:spcPct val="115000"/>
              </a:lnSpc>
              <a:spcAft>
                <a:spcPts val="1000"/>
              </a:spcAft>
            </a:pPr>
            <a:r>
              <a:rPr sz="1000" b="1" i="0">
                <a:solidFill>
                  <a:srgbClr val="C9A86A"/>
                </a:solidFill>
                <a:latin typeface="Montserrat"/>
              </a:rPr>
              <a:t>■  </a:t>
            </a:r>
            <a:r>
              <a:rPr sz="1300" b="0" i="0">
                <a:solidFill>
                  <a:srgbClr val="2E2A36"/>
                </a:solidFill>
                <a:latin typeface="Montserrat"/>
              </a:rPr>
              <a:t>Venta compartida (call center agenda, otro cierra): 1 venta para ambos; comisión 30% / 70%.</a:t>
            </a:r>
          </a:p>
          <a:p>
            <a:pPr algn="l">
              <a:lnSpc>
                <a:spcPct val="115000"/>
              </a:lnSpc>
              <a:spcAft>
                <a:spcPts val="1000"/>
              </a:spcAft>
            </a:pPr>
            <a:r>
              <a:rPr sz="1000" b="1" i="0">
                <a:solidFill>
                  <a:srgbClr val="C9A86A"/>
                </a:solidFill>
                <a:latin typeface="Montserrat"/>
              </a:rPr>
              <a:t>■  </a:t>
            </a:r>
            <a:r>
              <a:rPr sz="1300" b="0" i="0">
                <a:solidFill>
                  <a:srgbClr val="2E2A36"/>
                </a:solidFill>
                <a:latin typeface="Montserrat"/>
              </a:rPr>
              <a:t>No cuentan ni comisionan: cuotas de mantenimiento anual (US$ 15 / US$ 24).</a:t>
            </a:r>
          </a:p>
          <a:p>
            <a:pPr algn="l">
              <a:lnSpc>
                <a:spcPct val="115000"/>
              </a:lnSpc>
              <a:spcAft>
                <a:spcPts val="1000"/>
              </a:spcAft>
            </a:pPr>
            <a:r>
              <a:rPr sz="1000" b="1" i="0">
                <a:solidFill>
                  <a:srgbClr val="C9A86A"/>
                </a:solidFill>
                <a:latin typeface="Montserrat"/>
              </a:rPr>
              <a:t>■  </a:t>
            </a:r>
            <a:r>
              <a:rPr sz="1300" b="0" i="0">
                <a:solidFill>
                  <a:srgbClr val="2E2A36"/>
                </a:solidFill>
                <a:latin typeface="Montserrat"/>
              </a:rPr>
              <a:t>Estorno: la comisión se descuenta de los pagos siguientes al asesor; ventas anuladas no cuentan.</a:t>
            </a:r>
          </a:p>
        </p:txBody>
      </p:sp>
      <p:sp>
        <p:nvSpPr>
          <p:cNvPr id="7" name="Rectangle 6"/>
          <p:cNvSpPr/>
          <p:nvPr/>
        </p:nvSpPr>
        <p:spPr>
          <a:xfrm>
            <a:off x="502920" y="6035040"/>
            <a:ext cx="6556248" cy="137160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035040"/>
            <a:ext cx="6007608" cy="1371600"/>
          </a:xfrm>
          <a:prstGeom prst="rect">
            <a:avLst/>
          </a:prstGeom>
          <a:noFill/>
        </p:spPr>
        <p:txBody>
          <a:bodyPr wrap="square" anchor="ctr" lIns="45720" rIns="45720" tIns="27432" bIns="27432">
            <a:spAutoFit/>
          </a:bodyPr>
          <a:lstStyle/>
          <a:p>
            <a:pPr algn="l">
              <a:lnSpc>
                <a:spcPct val="115000"/>
              </a:lnSpc>
              <a:spcAft>
                <a:spcPts val="400"/>
              </a:spcAft>
            </a:pPr>
            <a:r>
              <a:rPr sz="1300" b="0" i="1">
                <a:solidFill>
                  <a:srgbClr val="FFFFFF"/>
                </a:solidFill>
                <a:latin typeface="Playfair Display"/>
              </a:rPr>
              <a:t>La comisión premia la venta buena, no solo la venta: una familia que paga a tiempo vale más que un contrato que se cancela. Por eso el pago está ligado al cobro.</a:t>
            </a:r>
          </a:p>
        </p:txBody>
      </p:sp>
      <p:sp>
        <p:nvSpPr>
          <p:cNvPr id="9" name="TextBox 8"/>
          <p:cNvSpPr txBox="1"/>
          <p:nvPr/>
        </p:nvSpPr>
        <p:spPr>
          <a:xfrm>
            <a:off x="502920" y="10277856"/>
            <a:ext cx="5641848"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10" name="TextBox 9"/>
          <p:cNvSpPr txBox="1"/>
          <p:nvPr/>
        </p:nvSpPr>
        <p:spPr>
          <a:xfrm>
            <a:off x="6144768" y="10277856"/>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10689336"/>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7315200" cy="320040"/>
          </a:xfrm>
          <a:prstGeom prst="rect">
            <a:avLst/>
          </a:prstGeom>
          <a:noFill/>
        </p:spPr>
        <p:txBody>
          <a:bodyPr wrap="square" anchor="t" lIns="45720" rIns="45720" tIns="27432" bIns="27432">
            <a:spAutoFit/>
          </a:bodyPr>
          <a:lstStyle/>
          <a:p>
            <a:pPr algn="l">
              <a:lnSpc>
                <a:spcPct val="115000"/>
              </a:lnSpc>
              <a:spcAft>
                <a:spcPts val="400"/>
              </a:spcAft>
            </a:pPr>
            <a:r>
              <a:rPr sz="1100" b="1" i="0">
                <a:solidFill>
                  <a:srgbClr val="C9A86A"/>
                </a:solidFill>
                <a:latin typeface="Montserrat"/>
              </a:rPr>
              <a:t>08 · HERRAMIENTAS DE APOYO</a:t>
            </a:r>
          </a:p>
        </p:txBody>
      </p:sp>
      <p:sp>
        <p:nvSpPr>
          <p:cNvPr id="4" name="TextBox 3"/>
          <p:cNvSpPr txBox="1"/>
          <p:nvPr/>
        </p:nvSpPr>
        <p:spPr>
          <a:xfrm>
            <a:off x="502920" y="621792"/>
            <a:ext cx="6556248" cy="685800"/>
          </a:xfrm>
          <a:prstGeom prst="rect">
            <a:avLst/>
          </a:prstGeom>
          <a:noFill/>
        </p:spPr>
        <p:txBody>
          <a:bodyPr wrap="square" anchor="t" lIns="45720" rIns="45720" tIns="27432" bIns="27432">
            <a:spAutoFit/>
          </a:bodyPr>
          <a:lstStyle/>
          <a:p>
            <a:pPr algn="l">
              <a:lnSpc>
                <a:spcPct val="115000"/>
              </a:lnSpc>
              <a:spcAft>
                <a:spcPts val="400"/>
              </a:spcAft>
            </a:pPr>
            <a:r>
              <a:rPr sz="3000" b="1" i="0">
                <a:solidFill>
                  <a:srgbClr val="5B3F80"/>
                </a:solidFill>
                <a:latin typeface="Playfair Display"/>
              </a:rPr>
              <a:t>Lo que usted tiene a mano</a:t>
            </a:r>
          </a:p>
        </p:txBody>
      </p:sp>
      <p:sp>
        <p:nvSpPr>
          <p:cNvPr id="5" name="Rectangle 4"/>
          <p:cNvSpPr/>
          <p:nvPr/>
        </p:nvSpPr>
        <p:spPr>
          <a:xfrm>
            <a:off x="502920" y="1325880"/>
            <a:ext cx="1005840" cy="4572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645920"/>
            <a:ext cx="6556248" cy="713232"/>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64008" cy="713232"/>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82496"/>
            <a:ext cx="6281928" cy="658368"/>
          </a:xfrm>
          <a:prstGeom prst="rect">
            <a:avLst/>
          </a:prstGeom>
          <a:noFill/>
        </p:spPr>
        <p:txBody>
          <a:bodyPr wrap="square" anchor="t" lIns="45720" rIns="45720" tIns="27432" bIns="27432">
            <a:spAutoFit/>
          </a:bodyPr>
          <a:lstStyle/>
          <a:p>
            <a:pPr algn="l">
              <a:lnSpc>
                <a:spcPct val="115000"/>
              </a:lnSpc>
              <a:spcAft>
                <a:spcPts val="100"/>
              </a:spcAft>
            </a:pPr>
            <a:r>
              <a:rPr sz="1200" b="1" i="0">
                <a:solidFill>
                  <a:srgbClr val="5B3F80"/>
                </a:solidFill>
                <a:latin typeface="Montserrat"/>
              </a:rPr>
              <a:t>Ficha Técnica de Cremación</a:t>
            </a:r>
          </a:p>
          <a:p>
            <a:pPr algn="l">
              <a:lnSpc>
                <a:spcPct val="115000"/>
              </a:lnSpc>
              <a:spcAft>
                <a:spcPts val="100"/>
              </a:spcAft>
            </a:pPr>
            <a:r>
              <a:rPr sz="1050" b="0" i="0">
                <a:solidFill>
                  <a:srgbClr val="2E2A36"/>
                </a:solidFill>
                <a:latin typeface="Montserrat"/>
              </a:rPr>
              <a:t>Precios, especificaciones y condiciones vigentes de cada producto.</a:t>
            </a:r>
          </a:p>
        </p:txBody>
      </p:sp>
      <p:sp>
        <p:nvSpPr>
          <p:cNvPr id="9" name="Rectangle 8"/>
          <p:cNvSpPr/>
          <p:nvPr/>
        </p:nvSpPr>
        <p:spPr>
          <a:xfrm>
            <a:off x="502920" y="2450592"/>
            <a:ext cx="6556248" cy="713232"/>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2450592"/>
            <a:ext cx="64008" cy="713232"/>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487168"/>
            <a:ext cx="6281928" cy="658368"/>
          </a:xfrm>
          <a:prstGeom prst="rect">
            <a:avLst/>
          </a:prstGeom>
          <a:noFill/>
        </p:spPr>
        <p:txBody>
          <a:bodyPr wrap="square" anchor="t" lIns="45720" rIns="45720" tIns="27432" bIns="27432">
            <a:spAutoFit/>
          </a:bodyPr>
          <a:lstStyle/>
          <a:p>
            <a:pPr algn="l">
              <a:lnSpc>
                <a:spcPct val="115000"/>
              </a:lnSpc>
              <a:spcAft>
                <a:spcPts val="100"/>
              </a:spcAft>
            </a:pPr>
            <a:r>
              <a:rPr sz="1200" b="1" i="0">
                <a:solidFill>
                  <a:srgbClr val="5B3F80"/>
                </a:solidFill>
                <a:latin typeface="Montserrat"/>
              </a:rPr>
              <a:t>Visita al jardín</a:t>
            </a:r>
          </a:p>
          <a:p>
            <a:pPr algn="l">
              <a:lnSpc>
                <a:spcPct val="115000"/>
              </a:lnSpc>
              <a:spcAft>
                <a:spcPts val="100"/>
              </a:spcAft>
            </a:pPr>
            <a:r>
              <a:rPr sz="1050" b="0" i="0">
                <a:solidFill>
                  <a:srgbClr val="2E2A36"/>
                </a:solidFill>
                <a:latin typeface="Montserrat"/>
              </a:rPr>
              <a:t>La herramienta de venta más poderosa. Agende siempre que sea posible.</a:t>
            </a:r>
          </a:p>
        </p:txBody>
      </p:sp>
      <p:sp>
        <p:nvSpPr>
          <p:cNvPr id="12" name="Rectangle 11"/>
          <p:cNvSpPr/>
          <p:nvPr/>
        </p:nvSpPr>
        <p:spPr>
          <a:xfrm>
            <a:off x="502920" y="3255264"/>
            <a:ext cx="6556248" cy="713232"/>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3255264"/>
            <a:ext cx="64008" cy="713232"/>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291840"/>
            <a:ext cx="6281928" cy="658368"/>
          </a:xfrm>
          <a:prstGeom prst="rect">
            <a:avLst/>
          </a:prstGeom>
          <a:noFill/>
        </p:spPr>
        <p:txBody>
          <a:bodyPr wrap="square" anchor="t" lIns="45720" rIns="45720" tIns="27432" bIns="27432">
            <a:spAutoFit/>
          </a:bodyPr>
          <a:lstStyle/>
          <a:p>
            <a:pPr algn="l">
              <a:lnSpc>
                <a:spcPct val="115000"/>
              </a:lnSpc>
              <a:spcAft>
                <a:spcPts val="100"/>
              </a:spcAft>
            </a:pPr>
            <a:r>
              <a:rPr sz="1200" b="1" i="0">
                <a:solidFill>
                  <a:srgbClr val="5B3F80"/>
                </a:solidFill>
                <a:latin typeface="Montserrat"/>
              </a:rPr>
              <a:t>Presentación "Jardines de Cenizas"</a:t>
            </a:r>
          </a:p>
          <a:p>
            <a:pPr algn="l">
              <a:lnSpc>
                <a:spcPct val="115000"/>
              </a:lnSpc>
              <a:spcAft>
                <a:spcPts val="100"/>
              </a:spcAft>
            </a:pPr>
            <a:r>
              <a:rPr sz="1050" b="0" i="0">
                <a:solidFill>
                  <a:srgbClr val="2E2A36"/>
                </a:solidFill>
                <a:latin typeface="Montserrat"/>
              </a:rPr>
              <a:t>Fotos y medidas de cada jardín para mostrar en la visita o en la casa.</a:t>
            </a:r>
          </a:p>
        </p:txBody>
      </p:sp>
      <p:sp>
        <p:nvSpPr>
          <p:cNvPr id="15" name="Rectangle 14"/>
          <p:cNvSpPr/>
          <p:nvPr/>
        </p:nvSpPr>
        <p:spPr>
          <a:xfrm>
            <a:off x="502920" y="4059936"/>
            <a:ext cx="6556248" cy="713232"/>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059936"/>
            <a:ext cx="64008" cy="713232"/>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096512"/>
            <a:ext cx="6281928" cy="658368"/>
          </a:xfrm>
          <a:prstGeom prst="rect">
            <a:avLst/>
          </a:prstGeom>
          <a:noFill/>
        </p:spPr>
        <p:txBody>
          <a:bodyPr wrap="square" anchor="t" lIns="45720" rIns="45720" tIns="27432" bIns="27432">
            <a:spAutoFit/>
          </a:bodyPr>
          <a:lstStyle/>
          <a:p>
            <a:pPr algn="l">
              <a:lnSpc>
                <a:spcPct val="115000"/>
              </a:lnSpc>
              <a:spcAft>
                <a:spcPts val="100"/>
              </a:spcAft>
            </a:pPr>
            <a:r>
              <a:rPr sz="1200" b="1" i="0">
                <a:solidFill>
                  <a:srgbClr val="5B3F80"/>
                </a:solidFill>
                <a:latin typeface="Montserrat"/>
              </a:rPr>
              <a:t>Plazo de pago</a:t>
            </a:r>
          </a:p>
          <a:p>
            <a:pPr algn="l">
              <a:lnSpc>
                <a:spcPct val="115000"/>
              </a:lnSpc>
              <a:spcAft>
                <a:spcPts val="100"/>
              </a:spcAft>
            </a:pPr>
            <a:r>
              <a:rPr sz="1050" b="0" i="0">
                <a:solidFill>
                  <a:srgbClr val="2E2A36"/>
                </a:solidFill>
                <a:latin typeface="Montserrat"/>
              </a:rPr>
              <a:t>Comunique que se paga en hasta 120 meses con intereses; no prometa un valor de cuota.</a:t>
            </a:r>
          </a:p>
        </p:txBody>
      </p:sp>
      <p:sp>
        <p:nvSpPr>
          <p:cNvPr id="18" name="Rectangle 17"/>
          <p:cNvSpPr/>
          <p:nvPr/>
        </p:nvSpPr>
        <p:spPr>
          <a:xfrm>
            <a:off x="502920" y="4864608"/>
            <a:ext cx="6556248" cy="713232"/>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4864608"/>
            <a:ext cx="64008" cy="713232"/>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901184"/>
            <a:ext cx="6281928" cy="658368"/>
          </a:xfrm>
          <a:prstGeom prst="rect">
            <a:avLst/>
          </a:prstGeom>
          <a:noFill/>
        </p:spPr>
        <p:txBody>
          <a:bodyPr wrap="square" anchor="t" lIns="45720" rIns="45720" tIns="27432" bIns="27432">
            <a:spAutoFit/>
          </a:bodyPr>
          <a:lstStyle/>
          <a:p>
            <a:pPr algn="l">
              <a:lnSpc>
                <a:spcPct val="115000"/>
              </a:lnSpc>
              <a:spcAft>
                <a:spcPts val="100"/>
              </a:spcAft>
            </a:pPr>
            <a:r>
              <a:rPr sz="1200" b="1" i="0">
                <a:solidFill>
                  <a:srgbClr val="5B3F80"/>
                </a:solidFill>
                <a:latin typeface="Montserrat"/>
              </a:rPr>
              <a:t>Registro de contactos</a:t>
            </a:r>
          </a:p>
          <a:p>
            <a:pPr algn="l">
              <a:lnSpc>
                <a:spcPct val="115000"/>
              </a:lnSpc>
              <a:spcAft>
                <a:spcPts val="100"/>
              </a:spcAft>
            </a:pPr>
            <a:r>
              <a:rPr sz="1050" b="0" i="0">
                <a:solidFill>
                  <a:srgbClr val="2E2A36"/>
                </a:solidFill>
                <a:latin typeface="Montserrat"/>
              </a:rPr>
              <a:t>Un contacto no registrado no existe: sin datos no hay gestión ni comisión.</a:t>
            </a:r>
          </a:p>
        </p:txBody>
      </p:sp>
      <p:sp>
        <p:nvSpPr>
          <p:cNvPr id="21" name="Rectangle 20"/>
          <p:cNvSpPr/>
          <p:nvPr/>
        </p:nvSpPr>
        <p:spPr>
          <a:xfrm>
            <a:off x="502920" y="5806440"/>
            <a:ext cx="6556248" cy="4251960"/>
          </a:xfrm>
          <a:prstGeom prst="rect">
            <a:avLst/>
          </a:prstGeom>
          <a:solidFill>
            <a:srgbClr val="5B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5943600"/>
            <a:ext cx="5916168" cy="457200"/>
          </a:xfrm>
          <a:prstGeom prst="rect">
            <a:avLst/>
          </a:prstGeom>
          <a:noFill/>
        </p:spPr>
        <p:txBody>
          <a:bodyPr wrap="square" anchor="t" lIns="45720" rIns="45720" tIns="27432" bIns="27432">
            <a:spAutoFit/>
          </a:bodyPr>
          <a:lstStyle/>
          <a:p>
            <a:pPr algn="l">
              <a:lnSpc>
                <a:spcPct val="115000"/>
              </a:lnSpc>
              <a:spcAft>
                <a:spcPts val="400"/>
              </a:spcAft>
            </a:pPr>
            <a:r>
              <a:rPr sz="2000" b="1" i="0">
                <a:solidFill>
                  <a:srgbClr val="C9A86A"/>
                </a:solidFill>
                <a:latin typeface="Playfair Display"/>
              </a:rPr>
              <a:t>Checklist antes de cerrar</a:t>
            </a:r>
          </a:p>
        </p:txBody>
      </p:sp>
      <p:sp>
        <p:nvSpPr>
          <p:cNvPr id="23" name="TextBox 22"/>
          <p:cNvSpPr txBox="1"/>
          <p:nvPr/>
        </p:nvSpPr>
        <p:spPr>
          <a:xfrm>
            <a:off x="822960" y="6537960"/>
            <a:ext cx="5916168" cy="3474720"/>
          </a:xfrm>
          <a:prstGeom prst="rect">
            <a:avLst/>
          </a:prstGeom>
          <a:noFill/>
        </p:spPr>
        <p:txBody>
          <a:bodyPr wrap="square" anchor="t" lIns="45720" rIns="45720" tIns="27432" bIns="27432">
            <a:spAutoFit/>
          </a:bodyPr>
          <a:lstStyle/>
          <a:p>
            <a:pPr algn="l">
              <a:lnSpc>
                <a:spcPct val="115000"/>
              </a:lnSpc>
              <a:spcAft>
                <a:spcPts val="900"/>
              </a:spcAft>
            </a:pPr>
            <a:r>
              <a:rPr sz="1400" b="0" i="0">
                <a:solidFill>
                  <a:srgbClr val="C9A86A"/>
                </a:solidFill>
                <a:latin typeface="Montserrat"/>
              </a:rPr>
              <a:t>☐  </a:t>
            </a:r>
            <a:r>
              <a:rPr sz="1250" b="0" i="0">
                <a:solidFill>
                  <a:srgbClr val="FFFFFF"/>
                </a:solidFill>
                <a:latin typeface="Montserrat"/>
              </a:rPr>
              <a:t>Expliqué qué incluye el producto y qué no incluye.</a:t>
            </a:r>
          </a:p>
          <a:p>
            <a:pPr algn="l">
              <a:lnSpc>
                <a:spcPct val="115000"/>
              </a:lnSpc>
              <a:spcAft>
                <a:spcPts val="900"/>
              </a:spcAft>
            </a:pPr>
            <a:r>
              <a:rPr sz="1400" b="0" i="0">
                <a:solidFill>
                  <a:srgbClr val="C9A86A"/>
                </a:solidFill>
                <a:latin typeface="Montserrat"/>
              </a:rPr>
              <a:t>☐  </a:t>
            </a:r>
            <a:r>
              <a:rPr sz="1250" b="0" i="0">
                <a:solidFill>
                  <a:srgbClr val="FFFFFF"/>
                </a:solidFill>
                <a:latin typeface="Montserrat"/>
              </a:rPr>
              <a:t>Expliqué la cuota de mantenimiento y el plazo (30 años renovables o 3 años), según el caso.</a:t>
            </a:r>
          </a:p>
          <a:p>
            <a:pPr algn="l">
              <a:lnSpc>
                <a:spcPct val="115000"/>
              </a:lnSpc>
              <a:spcAft>
                <a:spcPts val="900"/>
              </a:spcAft>
            </a:pPr>
            <a:r>
              <a:rPr sz="1400" b="0" i="0">
                <a:solidFill>
                  <a:srgbClr val="C9A86A"/>
                </a:solidFill>
                <a:latin typeface="Montserrat"/>
              </a:rPr>
              <a:t>☐  </a:t>
            </a:r>
            <a:r>
              <a:rPr sz="1250" b="0" i="0">
                <a:solidFill>
                  <a:srgbClr val="FFFFFF"/>
                </a:solidFill>
                <a:latin typeface="Montserrat"/>
              </a:rPr>
              <a:t>Confirmé el precio y la forma de pago con la Ficha Técnica vigente.</a:t>
            </a:r>
          </a:p>
          <a:p>
            <a:pPr algn="l">
              <a:lnSpc>
                <a:spcPct val="115000"/>
              </a:lnSpc>
              <a:spcAft>
                <a:spcPts val="900"/>
              </a:spcAft>
            </a:pPr>
            <a:r>
              <a:rPr sz="1400" b="0" i="0">
                <a:solidFill>
                  <a:srgbClr val="C9A86A"/>
                </a:solidFill>
                <a:latin typeface="Montserrat"/>
              </a:rPr>
              <a:t>☐  </a:t>
            </a:r>
            <a:r>
              <a:rPr sz="1250" b="0" i="0">
                <a:solidFill>
                  <a:srgbClr val="FFFFFF"/>
                </a:solidFill>
                <a:latin typeface="Montserrat"/>
              </a:rPr>
              <a:t>El descuento, si lo hubo, está dentro de la política y autorizado.</a:t>
            </a:r>
          </a:p>
          <a:p>
            <a:pPr algn="l">
              <a:lnSpc>
                <a:spcPct val="115000"/>
              </a:lnSpc>
              <a:spcAft>
                <a:spcPts val="900"/>
              </a:spcAft>
            </a:pPr>
            <a:r>
              <a:rPr sz="1400" b="0" i="0">
                <a:solidFill>
                  <a:srgbClr val="C9A86A"/>
                </a:solidFill>
                <a:latin typeface="Montserrat"/>
              </a:rPr>
              <a:t>☐  </a:t>
            </a:r>
            <a:r>
              <a:rPr sz="1250" b="0" i="0">
                <a:solidFill>
                  <a:srgbClr val="FFFFFF"/>
                </a:solidFill>
                <a:latin typeface="Montserrat"/>
              </a:rPr>
              <a:t>El cliente recibió copia del contrato y el contacto de su asesor.</a:t>
            </a:r>
          </a:p>
          <a:p>
            <a:pPr algn="l">
              <a:lnSpc>
                <a:spcPct val="115000"/>
              </a:lnSpc>
              <a:spcAft>
                <a:spcPts val="900"/>
              </a:spcAft>
            </a:pPr>
            <a:r>
              <a:rPr sz="1400" b="0" i="0">
                <a:solidFill>
                  <a:srgbClr val="C9A86A"/>
                </a:solidFill>
                <a:latin typeface="Montserrat"/>
              </a:rPr>
              <a:t>☐  </a:t>
            </a:r>
            <a:r>
              <a:rPr sz="1250" b="0" i="0">
                <a:solidFill>
                  <a:srgbClr val="FFFFFF"/>
                </a:solidFill>
                <a:latin typeface="Montserrat"/>
              </a:rPr>
              <a:t>Registré la venta completa el mismo día.</a:t>
            </a:r>
          </a:p>
        </p:txBody>
      </p:sp>
      <p:sp>
        <p:nvSpPr>
          <p:cNvPr id="24" name="TextBox 23"/>
          <p:cNvSpPr txBox="1"/>
          <p:nvPr/>
        </p:nvSpPr>
        <p:spPr>
          <a:xfrm>
            <a:off x="502920" y="10277856"/>
            <a:ext cx="5641848" cy="274320"/>
          </a:xfrm>
          <a:prstGeom prst="rect">
            <a:avLst/>
          </a:prstGeom>
          <a:noFill/>
        </p:spPr>
        <p:txBody>
          <a:bodyPr wrap="square" anchor="t" lIns="45720" rIns="45720" tIns="27432" bIns="27432">
            <a:spAutoFit/>
          </a:bodyPr>
          <a:lstStyle/>
          <a:p>
            <a:pPr algn="l">
              <a:lnSpc>
                <a:spcPct val="115000"/>
              </a:lnSpc>
              <a:spcAft>
                <a:spcPts val="400"/>
              </a:spcAft>
            </a:pPr>
            <a:r>
              <a:rPr sz="900" b="0" i="0">
                <a:solidFill>
                  <a:srgbClr val="7D7887"/>
                </a:solidFill>
                <a:latin typeface="Montserrat"/>
              </a:rPr>
              <a:t>Playbook Comercial  ·  La Auxiliadora · Hogar de las Memorias · Las Colinas · Vangrupo</a:t>
            </a:r>
          </a:p>
        </p:txBody>
      </p:sp>
      <p:sp>
        <p:nvSpPr>
          <p:cNvPr id="25" name="TextBox 24"/>
          <p:cNvSpPr txBox="1"/>
          <p:nvPr/>
        </p:nvSpPr>
        <p:spPr>
          <a:xfrm>
            <a:off x="6144768" y="10277856"/>
            <a:ext cx="914400" cy="274320"/>
          </a:xfrm>
          <a:prstGeom prst="rect">
            <a:avLst/>
          </a:prstGeom>
          <a:noFill/>
        </p:spPr>
        <p:txBody>
          <a:bodyPr wrap="square" anchor="t" lIns="45720" rIns="45720" tIns="27432" bIns="27432">
            <a:spAutoFit/>
          </a:bodyPr>
          <a:lstStyle/>
          <a:p>
            <a:pPr algn="r">
              <a:lnSpc>
                <a:spcPct val="115000"/>
              </a:lnSpc>
              <a:spcAft>
                <a:spcPts val="400"/>
              </a:spcAft>
            </a:pPr>
            <a:r>
              <a:rPr sz="900" b="0" i="0">
                <a:solidFill>
                  <a:srgbClr val="7D7887"/>
                </a:solidFill>
                <a:latin typeface="Montserrat"/>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5B3F80"/>
        </a:solidFill>
        <a:effectLst/>
      </p:bgPr>
    </p:bg>
    <p:spTree>
      <p:nvGrpSpPr>
        <p:cNvPr id="1" name=""/>
        <p:cNvGrpSpPr/>
        <p:nvPr/>
      </p:nvGrpSpPr>
      <p:grpSpPr/>
      <p:sp>
        <p:nvSpPr>
          <p:cNvPr id="2" name="TextBox 1"/>
          <p:cNvSpPr txBox="1"/>
          <p:nvPr/>
        </p:nvSpPr>
        <p:spPr>
          <a:xfrm>
            <a:off x="731520" y="2194560"/>
            <a:ext cx="6099048" cy="3291840"/>
          </a:xfrm>
          <a:prstGeom prst="rect">
            <a:avLst/>
          </a:prstGeom>
          <a:noFill/>
        </p:spPr>
        <p:txBody>
          <a:bodyPr wrap="square" anchor="ctr" lIns="45720" rIns="45720" tIns="27432" bIns="27432">
            <a:spAutoFit/>
          </a:bodyPr>
          <a:lstStyle/>
          <a:p>
            <a:pPr algn="ctr">
              <a:lnSpc>
                <a:spcPct val="115000"/>
              </a:lnSpc>
              <a:spcAft>
                <a:spcPts val="400"/>
              </a:spcAft>
            </a:pPr>
            <a:r>
              <a:rPr sz="2600" b="0" i="1">
                <a:solidFill>
                  <a:srgbClr val="FFFFFF"/>
                </a:solidFill>
                <a:latin typeface="Playfair Display"/>
              </a:rPr>
              <a:t>"Cada familia que atendemos recordará cómo la tratamos en uno de los momentos más sensibles de su vida. Ese es nuestro verdadero producto."</a:t>
            </a:r>
          </a:p>
        </p:txBody>
      </p:sp>
      <p:sp>
        <p:nvSpPr>
          <p:cNvPr id="3" name="Rectangle 2"/>
          <p:cNvSpPr/>
          <p:nvPr/>
        </p:nvSpPr>
        <p:spPr>
          <a:xfrm>
            <a:off x="3140964" y="5760720"/>
            <a:ext cx="1280160" cy="54864"/>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035040"/>
            <a:ext cx="6556248" cy="457200"/>
          </a:xfrm>
          <a:prstGeom prst="rect">
            <a:avLst/>
          </a:prstGeom>
          <a:noFill/>
        </p:spPr>
        <p:txBody>
          <a:bodyPr wrap="square" anchor="t" lIns="45720" rIns="45720" tIns="27432" bIns="27432">
            <a:spAutoFit/>
          </a:bodyPr>
          <a:lstStyle/>
          <a:p>
            <a:pPr algn="ctr">
              <a:lnSpc>
                <a:spcPct val="115000"/>
              </a:lnSpc>
              <a:spcAft>
                <a:spcPts val="400"/>
              </a:spcAft>
            </a:pPr>
            <a:r>
              <a:rPr sz="1300" b="1" i="0">
                <a:solidFill>
                  <a:srgbClr val="C9A86A"/>
                </a:solidFill>
                <a:latin typeface="Montserrat"/>
              </a:rPr>
              <a:t>La Auxiliadora · Hogar de las Memorias · Las Colinas · Vangrupo</a:t>
            </a:r>
          </a:p>
        </p:txBody>
      </p:sp>
      <p:sp>
        <p:nvSpPr>
          <p:cNvPr id="5" name="Rounded Rectangle 4"/>
          <p:cNvSpPr/>
          <p:nvPr/>
        </p:nvSpPr>
        <p:spPr>
          <a:xfrm>
            <a:off x="502920" y="8412480"/>
            <a:ext cx="6556248" cy="11430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a_auxiliadora.png"/>
          <p:cNvPicPr>
            <a:picLocks noChangeAspect="1"/>
          </p:cNvPicPr>
          <p:nvPr/>
        </p:nvPicPr>
        <p:blipFill>
          <a:blip r:embed="rId2"/>
          <a:stretch>
            <a:fillRect/>
          </a:stretch>
        </p:blipFill>
        <p:spPr>
          <a:xfrm>
            <a:off x="640080" y="8753565"/>
            <a:ext cx="1467612" cy="460830"/>
          </a:xfrm>
          <a:prstGeom prst="rect">
            <a:avLst/>
          </a:prstGeom>
        </p:spPr>
      </p:pic>
      <p:pic>
        <p:nvPicPr>
          <p:cNvPr id="7" name="Picture 6" descr="hogar_de_las_memorias.png"/>
          <p:cNvPicPr>
            <a:picLocks noChangeAspect="1"/>
          </p:cNvPicPr>
          <p:nvPr/>
        </p:nvPicPr>
        <p:blipFill>
          <a:blip r:embed="rId3"/>
          <a:stretch>
            <a:fillRect/>
          </a:stretch>
        </p:blipFill>
        <p:spPr>
          <a:xfrm>
            <a:off x="2244852" y="8690458"/>
            <a:ext cx="1467612" cy="587044"/>
          </a:xfrm>
          <a:prstGeom prst="rect">
            <a:avLst/>
          </a:prstGeom>
        </p:spPr>
      </p:pic>
      <p:pic>
        <p:nvPicPr>
          <p:cNvPr id="8" name="Picture 7" descr="las_colinas.png"/>
          <p:cNvPicPr>
            <a:picLocks noChangeAspect="1"/>
          </p:cNvPicPr>
          <p:nvPr/>
        </p:nvPicPr>
        <p:blipFill>
          <a:blip r:embed="rId4"/>
          <a:stretch>
            <a:fillRect/>
          </a:stretch>
        </p:blipFill>
        <p:spPr>
          <a:xfrm>
            <a:off x="3890223" y="8549640"/>
            <a:ext cx="1386413" cy="868680"/>
          </a:xfrm>
          <a:prstGeom prst="rect">
            <a:avLst/>
          </a:prstGeom>
        </p:spPr>
      </p:pic>
      <p:pic>
        <p:nvPicPr>
          <p:cNvPr id="9" name="Picture 8" descr="vangrupo.png"/>
          <p:cNvPicPr>
            <a:picLocks noChangeAspect="1"/>
          </p:cNvPicPr>
          <p:nvPr/>
        </p:nvPicPr>
        <p:blipFill>
          <a:blip r:embed="rId5"/>
          <a:stretch>
            <a:fillRect/>
          </a:stretch>
        </p:blipFill>
        <p:spPr>
          <a:xfrm>
            <a:off x="5454396" y="8795938"/>
            <a:ext cx="1467612" cy="376084"/>
          </a:xfrm>
          <a:prstGeom prst="rect">
            <a:avLst/>
          </a:prstGeom>
        </p:spPr>
      </p:pic>
      <p:sp>
        <p:nvSpPr>
          <p:cNvPr id="10" name="Rectangle 9"/>
          <p:cNvSpPr/>
          <p:nvPr/>
        </p:nvSpPr>
        <p:spPr>
          <a:xfrm>
            <a:off x="0" y="10460736"/>
            <a:ext cx="7562088" cy="228600"/>
          </a:xfrm>
          <a:prstGeom prst="rect">
            <a:avLst/>
          </a:prstGeom>
          <a:solidFill>
            <a:srgbClr val="C9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