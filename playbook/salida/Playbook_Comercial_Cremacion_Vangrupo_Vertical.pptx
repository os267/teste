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F1ECF7"/>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9A86A"/>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
        <p:nvSpPr>
          <p:cNvPr id="14" name="Rectangle 13"/>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5B3F80"/>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Placas de madera: confirmar el tratamiento de la madera para contacto con el suelo.</a:t>
            </a:r>
          </a:p>
          <a:p>
            <a:pPr algn="l">
              <a:lnSpc>
                <a:spcPct val="115000"/>
              </a:lnSpc>
              <a:spcAft>
                <a:spcPts val="400"/>
              </a:spcAft>
            </a:pPr>
            <a:r>
              <a:rPr sz="850" b="1" i="0">
                <a:solidFill>
                  <a:srgbClr val="C9A86A"/>
                </a:solidFill>
                <a:latin typeface="Montserrat"/>
              </a:rPr>
              <a:t>■  </a:t>
            </a:r>
            <a:r>
              <a:rPr sz="1150" b="0" i="0">
                <a:solidFill>
                  <a:srgbClr val="2E2A36"/>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5B3F80"/>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502920" y="696772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502920" y="745236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502920" y="8421624"/>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502920" y="9390888"/>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502920" y="9875520"/>
            <a:ext cx="6556248" cy="10972"/>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Acompañamos familias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95392" y="3200400"/>
            <a:ext cx="6371303" cy="2880360"/>
          </a:xfrm>
          <a:prstGeom prst="rect">
            <a:avLst/>
          </a:prstGeom>
        </p:spPr>
      </p:pic>
      <p:sp>
        <p:nvSpPr>
          <p:cNvPr id="8" name="Rectangle 7"/>
          <p:cNvSpPr/>
          <p:nvPr/>
        </p:nvSpPr>
        <p:spPr>
          <a:xfrm>
            <a:off x="502920"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Desde US$ 320 en lanzamiento y con financiamiento: un destino final al alcance de más familias.</a:t>
            </a:r>
          </a:p>
        </p:txBody>
      </p:sp>
      <p:sp>
        <p:nvSpPr>
          <p:cNvPr id="16" name="Rectangle 15"/>
          <p:cNvSpPr/>
          <p:nvPr/>
        </p:nvSpPr>
        <p:spPr>
          <a:xfrm>
            <a:off x="502920"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9A86A"/>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5B3F80"/>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Acompaña a la familia durante el servicio y trabaja referidos.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Eventos, centros comerciales, bases de cancelaciones y telemercadeo.</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D7887"/>
                </a:solidFill>
                <a:latin typeface="Montserrat"/>
              </a:rPr>
              <a:t>Prospección sistemática en colonias.</a:t>
            </a:r>
          </a:p>
          <a:p>
            <a:pPr algn="l">
              <a:lnSpc>
                <a:spcPct val="115000"/>
              </a:lnSpc>
              <a:spcAft>
                <a:spcPts val="400"/>
              </a:spcAft>
            </a:pPr>
            <a:r>
              <a:rPr sz="1050" b="1" i="0">
                <a:solidFill>
                  <a:srgbClr val="C9A86A"/>
                </a:solidFill>
                <a:latin typeface="Montserrat"/>
              </a:rPr>
              <a:t>Producto foco: </a:t>
            </a:r>
            <a:r>
              <a:rPr sz="1050" b="1" i="0">
                <a:solidFill>
                  <a:srgbClr val="2E2A36"/>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D9CFE6"/>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D9CFE6"/>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D9CFE6"/>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D9CFE6"/>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502920" y="7452360"/>
            <a:ext cx="1920240" cy="1261872"/>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D9CFE6"/>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3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3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02920" y="886968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FILTRO N·O·A   </a:t>
            </a:r>
            <a:r>
              <a:rPr sz="10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9" name="Rectangle 8"/>
          <p:cNvSpPr/>
          <p:nvPr/>
        </p:nvSpPr>
        <p:spPr>
          <a:xfrm>
            <a:off x="502920" y="6949440"/>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E2A36"/>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US$ 800 · Pago en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Proceso completo de cremación individual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 cineraria de línea modular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Trámites legales básicos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Alquiler temporal de columbario por 1 año en Hogar de las Memorias</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Se vende como adicional a un plan funerario (actual o nuevo).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Cobertura individual: un módulo por titular o beneficiario.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Debe estar pagado en su totalidad para usar la cremación y el columbario.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columbario temporal es por 12 meses; al término, la familia elige destino final (oportunidad para ofrecer un Jardín de Cenizas o un columbario).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plan actual incluye la cremación o solo el servicio funerario?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 conversado en familia qué preferencia tiene usted?</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US$ 480 · 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un lugar propio para visitar, con una inversión moderada.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la urna en contenedor individual (Ø 32 × 40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con los datos del ser querido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US$ 15. Permanencia: 30 años desde la primera inhumación, renovable.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¿Dónde le gustaría poder visitar a su ser querido?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¿Tienen hoy las cenizas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US$ 1.600 · Pago único o financiado · Mantenimiento US$ 24/año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un espacio propio para varias generaciones.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de granito grabada para cada espacio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en el Jardín 1, con paisajismo de plantas de sombra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Lugar de homenaje familiar por 30 años, renovable por igual período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espacios.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30 años desde la primera inhumación, renovable por igual período.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Cuota de mantenimiento anual: US$ 24 por parcela.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que la familia esté reunida en un mismo lugar?</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¿Cuántas personas de la familia considerarían este destino?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US$ 600 · 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con urna biodegradable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identificación (madera en el Jardín 2 · mármol en el Bosque)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Entorno natural con agua corriente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urna. Espacio de 30 × 30 cm, 40 cm de profundidad.</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en el monumento: incluida en el precio de US$ 750.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¿Su ser querido tenía un vínculo especial con la naturaleza?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significa para ustedes «volver a la tierra»?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ciclo de 3 años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TRANSPARENCIA   </a:t>
            </a:r>
            <a:r>
              <a:rPr sz="1150" b="0" i="0">
                <a:solidFill>
                  <a:srgbClr val="2E2A36"/>
                </a:solidFill>
                <a:latin typeface="Montserrat"/>
              </a:rPr>
              <a:t>Explique el plazo de 3 años desde la primera conversación. La placa memorial está incluida en el Jardín Ecológico y en el Jardín de Mascotas.</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Lanzamiento (−20%): US$ 320 / US$ 440 · US$ 400 solo espacio · US$ 550 con cremación</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ecológica en el jardín de mascotas; cremación y urna biodegradable en la opción de US$ 550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de madera de 20 cm para identificación</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Permanencia de 3 años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Placa memorial en el monumento al término del plazo (incluida)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1 mascota por servicio.</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Permanencia: 3 años. Después, el espacio se reutiliza.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Placa memorial incluida. Urna biodegradable incluida solo con cremación (US$ 550); con solo espacio (US$ 400) se compra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¿Cómo se llamaba su compañero?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¿Ya se realizó la cremación o necesitan también ese servicio?</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«¿Prefieren la opción con cremación incluida, para resolver todo en un solo paso?»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Inhumación de urnas de cenizas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Ceremonia con agua en fuente</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PRÓXIMO LANZAMIENTO: no se vende ni se cotiza todavía.</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No aplica todavía.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SERVICIO COMPLETO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Supremo Plus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US$ 2.700 – 3.900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US$ 2.295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estándar permanente de cristal o mármol, para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 Programa Vive de acompañamiento en el duelo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cinerarias básicas (2) y 2 cremaciones con certificado</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Capilla de velación 24 h, ataúd ceremonial y carroza tradicional</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2 urnas; incluye 2 cremaciones.</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US$ 3.400 – 3.900; a futuro: US$ 2.700 – 3.200 (según fila y nivel).</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Elija velación en La Auxiliadora (Maquilishuat o Básica) o en Capillas Memoriales (Las Camelias o Básica).</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¿Han pensado dónde quedarían las cenizas después de la cremación?</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usted y su pareja, o para sus padres?</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 elegir hoy el nicho o dejar la ubicación para más adelante?</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elegimos hoy la ubicación?»</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una inversión alta.» → «Incluye todo para dos personas: funeral, dos cremaciones y el columbario permanente. Y puede pagarse en hasta 120 meses.»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Si el presupuesto no alcanza para la ubicación definida, ofrezca la ubicación a futuro: el mismo producto, a menor precio.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Mármol o Cristal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US$ 1.200 – 2.600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US$ 1.020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mármol o cristal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 según la opción contratada</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 (por ejemplo, con la Solución Modular).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US$ 2.600; a futuro: US$ 1.200 – 1.900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¿Las cenizas están hoy en casa o en un columbario temporal?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 mármol o el cristal?</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¿Pensarían en un espacio para dos personas de la familia?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«¿Visitamos El Hogar de las Memorias para que elija la fila y el nivel?»</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«Ya tengo las cenizas en casa.» → «Es natural tenerlas cerca. En el columbario quedan protegidas para siempre y toda la familia puede visitarlas.»</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el destino natural al terminar los 12 meses de columbario temporal de la Solución Modular.</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PREMIUM</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Ónix</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MODALIDAD</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US$ 3.100 / 5.000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US$ 2.635 / 4.250 ·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exclusividad y una piedra natural de alta gama para el homenaje.</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espacio permanente en columbario de ónix natural</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Tamaño estándar: hasta 2 urnas (US$ 3.100)</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Una opción familiar: hasta 4 urnas (US$ 5.000)</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ubicación definida o a futuro en ambas modalidades (según fila y nivel).</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tipo de homenaje imagina para su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¿Sería para dos personas o para la familia completa?</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«¿Le muestro el columbario de ónix para que vea la piedra en persona?»</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«Hay opciones más baratas.» → «Sí, y con gusto se las muestro. El ónix es para quien busca algo único: una piedra natural que no se repite.»</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Muestre la piedra en persona: la luz del ónix se aprecia mejor que en cualquier foto.</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HOGAR DE LAS MEMORIAS · COLUMBARIO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Obra de Arte</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US$ 12.500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D7887"/>
                </a:solidFill>
                <a:latin typeface="Montserrat"/>
              </a:rPr>
              <a:t>Finados y noviembre (−15%): US$ 10.625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Imagen religiosa sobre tapa de ónix: un columbario familiar que es una expresión única de fe, memoria y belleza.</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de fe que desean un legado único y de máxima exclusividad.</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familiar permanente para hasta 4 urnas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Tapa exclusiva de ónix con obra de arte religiosa</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Ubicación definida o a futuro</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Capacidad: hasta 4 urnas (familiar).</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Cremación no incluida: se contrata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¿Qué lugar tiene la fe en la forma en que su familia recuerda?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¿Cuántos miembros de la familia lo considerarían?</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«¿Reservamos hoy el espacio familiar con el precio de noviembre?»</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«Es muy caro.» → «Es un legado para cuatro personas, para siempre, y puede pagarse en hasta 120 meses. Es la opción más exclusiva del portafolio.»</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Preséntelo con calma y en persona; no lo ofrezca a quien busca la opción más económica.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9A86A"/>
                </a:solidFill>
                <a:latin typeface="Montserrat"/>
              </a:rPr>
              <a:t>MAUSOLEO BELLA VISTA · CREMACIÓN + COLUMBARIO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Columbario Cristal · Bella Vista</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9A86A"/>
                </a:solidFill>
                <a:latin typeface="Montserrat"/>
              </a:rPr>
              <a:t>PRECIO SEGÚN UBICACIÓN</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US$ 1.300 – 2.900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000" b="0" i="1">
                <a:solidFill>
                  <a:srgbClr val="7D7887"/>
                </a:solidFill>
                <a:latin typeface="Montserrat"/>
              </a:rPr>
              <a:t>Finados y noviembre (−15%): desde US$ 1.105 · Pago único o hasta 120 meses, con intereses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es.  </a:t>
            </a:r>
            <a:r>
              <a:rPr sz="11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400"/>
              </a:spcAft>
            </a:pPr>
            <a:r>
              <a:rPr sz="1100" b="1" i="0">
                <a:solidFill>
                  <a:srgbClr val="5B3F80"/>
                </a:solidFill>
                <a:latin typeface="Montserrat"/>
              </a:rPr>
              <a:t>Para quién.  </a:t>
            </a:r>
            <a:r>
              <a:rPr sz="11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02920"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5E9A3C"/>
                </a:solidFill>
                <a:latin typeface="Montserrat"/>
              </a:rPr>
              <a:t>✓  </a:t>
            </a:r>
            <a:r>
              <a:rPr sz="1050" b="0" i="0">
                <a:solidFill>
                  <a:srgbClr val="2E2A36"/>
                </a:solidFill>
                <a:latin typeface="Montserrat"/>
              </a:rPr>
              <a:t>Incluye columbario de cristal permanente (30 × 30 × 30 cm)</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Traslados, preparación y resguardo hasta 5 días</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Urnas y cremaciones: 2 en la modalidad estándar, 4 en la familiar</a:t>
            </a:r>
          </a:p>
          <a:p>
            <a:pPr algn="l">
              <a:lnSpc>
                <a:spcPct val="115000"/>
              </a:lnSpc>
              <a:spcAft>
                <a:spcPts val="300"/>
              </a:spcAft>
            </a:pPr>
            <a:r>
              <a:rPr sz="750" b="1" i="0">
                <a:solidFill>
                  <a:srgbClr val="5E9A3C"/>
                </a:solidFill>
                <a:latin typeface="Montserrat"/>
              </a:rPr>
              <a:t>✓  </a:t>
            </a:r>
            <a:r>
              <a:rPr sz="1050" b="0" i="0">
                <a:solidFill>
                  <a:srgbClr val="2E2A36"/>
                </a:solidFill>
                <a:latin typeface="Montserrat"/>
              </a:rPr>
              <a:t>Certificado de cremación y ceremonia privada de colocación</a:t>
            </a:r>
          </a:p>
        </p:txBody>
      </p:sp>
      <p:sp>
        <p:nvSpPr>
          <p:cNvPr id="14" name="Rectangle 13"/>
          <p:cNvSpPr/>
          <p:nvPr/>
        </p:nvSpPr>
        <p:spPr>
          <a:xfrm>
            <a:off x="3872484" y="3108960"/>
            <a:ext cx="3186684" cy="24231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estándar: definida US$ 1.800 · a futuro US$ 1.300.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Con modalidad familiar: definida US$ 2.900 · a futuro US$ 2.300.</a:t>
            </a:r>
          </a:p>
          <a:p>
            <a:pPr algn="l">
              <a:lnSpc>
                <a:spcPct val="115000"/>
              </a:lnSpc>
              <a:spcAft>
                <a:spcPts val="300"/>
              </a:spcAft>
            </a:pPr>
            <a:r>
              <a:rPr sz="750" b="1" i="0">
                <a:solidFill>
                  <a:srgbClr val="C9A86A"/>
                </a:solidFill>
                <a:latin typeface="Montserrat"/>
              </a:rPr>
              <a:t>■  </a:t>
            </a:r>
            <a:r>
              <a:rPr sz="1050" b="0" i="0">
                <a:solidFill>
                  <a:srgbClr val="2E2A36"/>
                </a:solidFill>
                <a:latin typeface="Montserrat"/>
              </a:rPr>
              <a:t>En este producto la cremación está incluida: no hace falta contratarla aparte.</a:t>
            </a:r>
          </a:p>
        </p:txBody>
      </p:sp>
      <p:sp>
        <p:nvSpPr>
          <p:cNvPr id="18" name="Rectangle 17"/>
          <p:cNvSpPr/>
          <p:nvPr/>
        </p:nvSpPr>
        <p:spPr>
          <a:xfrm>
            <a:off x="502920" y="5669280"/>
            <a:ext cx="6556248" cy="12801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22" name="Rectangle 21"/>
          <p:cNvSpPr/>
          <p:nvPr/>
        </p:nvSpPr>
        <p:spPr>
          <a:xfrm>
            <a:off x="502920" y="7086600"/>
            <a:ext cx="3186684" cy="16002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9A86A"/>
                </a:solidFill>
                <a:latin typeface="Montserrat"/>
              </a:rPr>
              <a:t>?  </a:t>
            </a:r>
            <a:r>
              <a:rPr sz="950" b="0" i="0">
                <a:solidFill>
                  <a:srgbClr val="2E2A36"/>
                </a:solidFill>
                <a:latin typeface="Montserrat"/>
              </a:rPr>
              <a:t>¿Lo considera para dos personas o para la familia?</a:t>
            </a:r>
          </a:p>
          <a:p>
            <a:pPr algn="l">
              <a:lnSpc>
                <a:spcPct val="115000"/>
              </a:lnSpc>
              <a:spcAft>
                <a:spcPts val="300"/>
              </a:spcAft>
            </a:pPr>
            <a:r>
              <a:rPr sz="650" b="1" i="0">
                <a:solidFill>
                  <a:srgbClr val="C9A86A"/>
                </a:solidFill>
                <a:latin typeface="Montserrat"/>
              </a:rPr>
              <a:t>?  </a:t>
            </a:r>
            <a:r>
              <a:rPr sz="950" b="0" i="0">
                <a:solidFill>
                  <a:srgbClr val="2E2A36"/>
                </a:solidFill>
                <a:latin typeface="Montserrat"/>
              </a:rPr>
              <a:t>¿Prefieren elegir ya la ubicación o dejarla a futuro?</a:t>
            </a:r>
          </a:p>
        </p:txBody>
      </p:sp>
      <p:sp>
        <p:nvSpPr>
          <p:cNvPr id="26" name="Rectangle 25"/>
          <p:cNvSpPr/>
          <p:nvPr/>
        </p:nvSpPr>
        <p:spPr>
          <a:xfrm>
            <a:off x="3872484" y="7086600"/>
            <a:ext cx="3186684" cy="160020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64008"/>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«¿Aprovechamos el precio de noviembre y lo dejamos resuelto hoy?»</a:t>
            </a:r>
          </a:p>
        </p:txBody>
      </p:sp>
      <p:sp>
        <p:nvSpPr>
          <p:cNvPr id="30" name="Rectangle 29"/>
          <p:cNvSpPr/>
          <p:nvPr/>
        </p:nvSpPr>
        <p:spPr>
          <a:xfrm>
            <a:off x="502920" y="8823960"/>
            <a:ext cx="3186684" cy="13258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640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E2A36"/>
                </a:solidFill>
                <a:latin typeface="Montserrat"/>
              </a:rPr>
              <a:t>«Prefiero un jardín.» → «Perfecto, también tenemos los Jardines de Cenizas. Bella Vista es para quien prefiere un columbario, con la cremación ya incluida.»</a:t>
            </a:r>
          </a:p>
        </p:txBody>
      </p:sp>
      <p:sp>
        <p:nvSpPr>
          <p:cNvPr id="34" name="Rectangle 33"/>
          <p:cNvSpPr/>
          <p:nvPr/>
        </p:nvSpPr>
        <p:spPr>
          <a:xfrm>
            <a:off x="3872484" y="8823960"/>
            <a:ext cx="3186684" cy="13258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64008"/>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5B3F80"/>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E2A36"/>
                </a:solidFill>
                <a:latin typeface="Montserrat"/>
              </a:rPr>
              <a:t>Es la puerta de entrada a los columbarios: cremación y destino final desde US$ 1.105 en noviembre.</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resulta más cómodo pagarlo en cuotas mensuales?»</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La cuota (US$ 15 o US$ 24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V  </a:t>
            </a:r>
            <a:r>
              <a:rPr sz="900" b="1" i="0">
                <a:solidFill>
                  <a:srgbClr val="5B3F80"/>
                </a:solidFill>
                <a:latin typeface="Montserrat"/>
              </a:rPr>
              <a:t>VALIDAR</a:t>
            </a:r>
          </a:p>
          <a:p>
            <a:pPr algn="l">
              <a:lnSpc>
                <a:spcPct val="115000"/>
              </a:lnSpc>
              <a:spcAft>
                <a:spcPts val="200"/>
              </a:spcAft>
            </a:pPr>
            <a:r>
              <a:rPr sz="1000" b="0" i="1">
                <a:solidFill>
                  <a:srgbClr val="2E2A36"/>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R  </a:t>
            </a:r>
            <a:r>
              <a:rPr sz="900" b="1" i="0">
                <a:solidFill>
                  <a:srgbClr val="5B3F80"/>
                </a:solidFill>
                <a:latin typeface="Montserrat"/>
              </a:rPr>
              <a:t>REPOSICIONAR</a:t>
            </a:r>
          </a:p>
          <a:p>
            <a:pPr algn="l">
              <a:lnSpc>
                <a:spcPct val="115000"/>
              </a:lnSpc>
              <a:spcAft>
                <a:spcPts val="200"/>
              </a:spcAft>
            </a:pPr>
            <a:r>
              <a:rPr sz="10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9A86A"/>
                </a:solidFill>
                <a:latin typeface="Playfair Display"/>
              </a:rPr>
              <a:t>A  </a:t>
            </a:r>
            <a:r>
              <a:rPr sz="900" b="1" i="0">
                <a:solidFill>
                  <a:srgbClr val="5B3F80"/>
                </a:solidFill>
                <a:latin typeface="Montserrat"/>
              </a:rPr>
              <a:t>AVANZAR</a:t>
            </a:r>
          </a:p>
          <a:p>
            <a:pPr algn="l">
              <a:lnSpc>
                <a:spcPct val="115000"/>
              </a:lnSpc>
              <a:spcAft>
                <a:spcPts val="200"/>
              </a:spcAft>
            </a:pPr>
            <a:r>
              <a:rPr sz="1000" b="0" i="1">
                <a:solidFill>
                  <a:srgbClr val="2E2A36"/>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5B3F80"/>
                    </a:solidFill>
                  </a:tcPr>
                </a:tc>
                <a:tc>
                  <a:txBody>
                    <a:bodyPr wrap="square"/>
                    <a:lstStyle/>
                    <a:p>
                      <a:r>
                        <a:rPr sz="1000" b="1">
                          <a:solidFill>
                            <a:srgbClr val="FFFFFF"/>
                          </a:solidFill>
                          <a:latin typeface="Montserrat"/>
                        </a:rPr>
                        <a:t>Precio</a:t>
                      </a:r>
                    </a:p>
                  </a:txBody>
                  <a:tcPr marL="73152" marR="73152" marT="36576" marB="36576" anchor="ctr">
                    <a:solidFill>
                      <a:srgbClr val="5B3F80"/>
                    </a:solidFill>
                  </a:tcPr>
                </a:tc>
                <a:tc>
                  <a:txBody>
                    <a:bodyPr wrap="square"/>
                    <a:lstStyle/>
                    <a:p>
                      <a:r>
                        <a:rPr sz="1000" b="1">
                          <a:solidFill>
                            <a:srgbClr val="FFFFFF"/>
                          </a:solidFill>
                          <a:latin typeface="Montserrat"/>
                        </a:rPr>
                        <a:t>Pago</a:t>
                      </a:r>
                    </a:p>
                  </a:txBody>
                  <a:tcPr marL="73152" marR="73152" marT="36576" marB="36576" anchor="ctr">
                    <a:solidFill>
                      <a:srgbClr val="5B3F80"/>
                    </a:solidFill>
                  </a:tcPr>
                </a:tc>
                <a:tc>
                  <a:txBody>
                    <a:bodyPr wrap="square"/>
                    <a:lstStyle/>
                    <a:p>
                      <a:r>
                        <a:rPr sz="1000" b="1">
                          <a:solidFill>
                            <a:srgbClr val="FFFFFF"/>
                          </a:solidFill>
                          <a:latin typeface="Montserrat"/>
                        </a:rPr>
                        <a:t>Mant.</a:t>
                      </a:r>
                    </a:p>
                  </a:txBody>
                  <a:tcPr marL="73152" marR="73152" marT="36576" marB="36576" anchor="ctr">
                    <a:solidFill>
                      <a:srgbClr val="5B3F80"/>
                    </a:solidFill>
                  </a:tcPr>
                </a:tc>
                <a:tc>
                  <a:txBody>
                    <a:bodyPr wrap="square"/>
                    <a:lstStyle/>
                    <a:p>
                      <a:r>
                        <a:rPr sz="1000" b="1">
                          <a:solidFill>
                            <a:srgbClr val="FFFFFF"/>
                          </a:solidFill>
                          <a:latin typeface="Montserrat"/>
                        </a:rPr>
                        <a:t>Plazo / condición</a:t>
                      </a:r>
                    </a:p>
                  </a:txBody>
                  <a:tcPr marL="73152" marR="73152" marT="36576" marB="36576" anchor="ctr">
                    <a:solidFill>
                      <a:srgbClr val="5B3F80"/>
                    </a:solidFill>
                  </a:tcPr>
                </a:tc>
              </a:tr>
              <a:tr h="566928">
                <a:tc>
                  <a:txBody>
                    <a:bodyPr wrap="square"/>
                    <a:lstStyle/>
                    <a:p>
                      <a:r>
                        <a:rPr sz="1000" b="1">
                          <a:solidFill>
                            <a:srgbClr val="5B3F80"/>
                          </a:solidFill>
                          <a:latin typeface="Montserrat"/>
                        </a:rPr>
                        <a:t>Solución Modular</a:t>
                      </a:r>
                    </a:p>
                  </a:txBody>
                  <a:tcPr marL="73152" marR="73152" marT="36576" marB="36576" anchor="ctr">
                    <a:solidFill>
                      <a:srgbClr val="FFFFFF"/>
                    </a:solidFill>
                  </a:tcPr>
                </a:tc>
                <a:tc>
                  <a:txBody>
                    <a:bodyPr wrap="square"/>
                    <a:lstStyle/>
                    <a:p>
                      <a:r>
                        <a:rPr sz="1000" b="0">
                          <a:solidFill>
                            <a:srgbClr val="2E2A36"/>
                          </a:solidFill>
                          <a:latin typeface="Montserrat"/>
                        </a:rPr>
                        <a:t>US$ 1.000 · lanz. US$ 800</a:t>
                      </a:r>
                    </a:p>
                  </a:txBody>
                  <a:tcPr marL="73152" marR="73152" marT="36576" marB="36576" anchor="ctr">
                    <a:solidFill>
                      <a:srgbClr val="FFFFFF"/>
                    </a:solidFill>
                  </a:tcPr>
                </a:tc>
                <a:tc>
                  <a:txBody>
                    <a:bodyPr wrap="square"/>
                    <a:lstStyle/>
                    <a:p>
                      <a:r>
                        <a:rPr sz="100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Individual</a:t>
                      </a:r>
                    </a:p>
                  </a:txBody>
                  <a:tcPr marL="73152" marR="73152" marT="36576" marB="36576" anchor="ctr">
                    <a:solidFill>
                      <a:srgbClr val="F5F2F8"/>
                    </a:solidFill>
                  </a:tcPr>
                </a:tc>
                <a:tc>
                  <a:txBody>
                    <a:bodyPr wrap="square"/>
                    <a:lstStyle/>
                    <a:p>
                      <a:r>
                        <a:rPr sz="1000" b="0">
                          <a:solidFill>
                            <a:srgbClr val="2E2A36"/>
                          </a:solidFill>
                          <a:latin typeface="Montserrat"/>
                        </a:rPr>
                        <a:t>US$ 600 · lanz. US$ 480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US$ 15/año</a:t>
                      </a:r>
                    </a:p>
                  </a:txBody>
                  <a:tcPr marL="73152" marR="73152" marT="36576" marB="36576" anchor="ctr">
                    <a:solidFill>
                      <a:srgbClr val="F5F2F8"/>
                    </a:solidFill>
                  </a:tcPr>
                </a:tc>
                <a:tc>
                  <a:txBody>
                    <a:bodyPr wrap="square"/>
                    <a:lstStyle/>
                    <a:p>
                      <a:r>
                        <a:rPr sz="1000" b="0">
                          <a:solidFill>
                            <a:srgbClr val="2E2A36"/>
                          </a:solidFill>
                          <a:latin typeface="Montserrat"/>
                        </a:rPr>
                        <a:t>30 años, renovable</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Familiar</a:t>
                      </a:r>
                    </a:p>
                  </a:txBody>
                  <a:tcPr marL="73152" marR="73152" marT="36576" marB="36576" anchor="ctr">
                    <a:solidFill>
                      <a:srgbClr val="FFFFFF"/>
                    </a:solidFill>
                  </a:tcPr>
                </a:tc>
                <a:tc>
                  <a:txBody>
                    <a:bodyPr wrap="square"/>
                    <a:lstStyle/>
                    <a:p>
                      <a:r>
                        <a:rPr sz="1000" b="0">
                          <a:solidFill>
                            <a:srgbClr val="2E2A36"/>
                          </a:solidFill>
                          <a:latin typeface="Montserrat"/>
                        </a:rPr>
                        <a:t>US$ 2.000 · lanz. US$ 1.600</a:t>
                      </a:r>
                    </a:p>
                  </a:txBody>
                  <a:tcPr marL="73152" marR="73152" marT="36576" marB="36576" anchor="ctr">
                    <a:solidFill>
                      <a:srgbClr val="FFFFFF"/>
                    </a:solidFill>
                  </a:tcPr>
                </a:tc>
                <a:tc>
                  <a:txBody>
                    <a:bodyPr wrap="square"/>
                    <a:lstStyle/>
                    <a:p>
                      <a:r>
                        <a:rPr sz="1000" b="0">
                          <a:solidFill>
                            <a:srgbClr val="2E2A36"/>
                          </a:solidFill>
                          <a:latin typeface="Montserrat"/>
                        </a:rPr>
                        <a:t>Único o financiado</a:t>
                      </a:r>
                    </a:p>
                  </a:txBody>
                  <a:tcPr marL="73152" marR="73152" marT="36576" marB="36576" anchor="ctr">
                    <a:solidFill>
                      <a:srgbClr val="FFFFFF"/>
                    </a:solidFill>
                  </a:tcPr>
                </a:tc>
                <a:tc>
                  <a:txBody>
                    <a:bodyPr wrap="square"/>
                    <a:lstStyle/>
                    <a:p>
                      <a:r>
                        <a:rPr sz="1000" b="0">
                          <a:solidFill>
                            <a:srgbClr val="2E2A36"/>
                          </a:solidFill>
                          <a:latin typeface="Montserrat"/>
                        </a:rPr>
                        <a:t>US$ 24/año</a:t>
                      </a:r>
                    </a:p>
                  </a:txBody>
                  <a:tcPr marL="73152" marR="73152" marT="36576" marB="36576" anchor="ctr">
                    <a:solidFill>
                      <a:srgbClr val="FFFFFF"/>
                    </a:solidFill>
                  </a:tcPr>
                </a:tc>
                <a:tc>
                  <a:txBody>
                    <a:bodyPr wrap="square"/>
                    <a:lstStyle/>
                    <a:p>
                      <a:r>
                        <a:rPr sz="1000" b="0">
                          <a:solidFill>
                            <a:srgbClr val="2E2A36"/>
                          </a:solidFill>
                          <a:latin typeface="Montserrat"/>
                        </a:rPr>
                        <a:t>Hasta 4 espacios · 30 años, renovable</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Ecológico</a:t>
                      </a:r>
                    </a:p>
                  </a:txBody>
                  <a:tcPr marL="73152" marR="73152" marT="36576" marB="36576" anchor="ctr">
                    <a:solidFill>
                      <a:srgbClr val="F5F2F8"/>
                    </a:solidFill>
                  </a:tcPr>
                </a:tc>
                <a:tc>
                  <a:txBody>
                    <a:bodyPr wrap="square"/>
                    <a:lstStyle/>
                    <a:p>
                      <a:r>
                        <a:rPr sz="1000" b="0">
                          <a:solidFill>
                            <a:srgbClr val="2E2A36"/>
                          </a:solidFill>
                          <a:latin typeface="Montserrat"/>
                        </a:rPr>
                        <a:t>US$ 750 · lanz. US$ 600</a:t>
                      </a:r>
                    </a:p>
                  </a:txBody>
                  <a:tcPr marL="73152" marR="73152" marT="36576" marB="36576" anchor="ctr">
                    <a:solidFill>
                      <a:srgbClr val="F5F2F8"/>
                    </a:solidFill>
                  </a:tcPr>
                </a:tc>
                <a:tc>
                  <a:txBody>
                    <a:bodyPr wrap="square"/>
                    <a:lstStyle/>
                    <a:p>
                      <a:r>
                        <a:rPr sz="1000" b="0">
                          <a:solidFill>
                            <a:srgbClr val="2E2A36"/>
                          </a:solidFill>
                          <a:latin typeface="Montserrat"/>
                        </a:rPr>
                        <a:t>Único o financiado</a:t>
                      </a:r>
                    </a:p>
                  </a:txBody>
                  <a:tcPr marL="73152" marR="73152" marT="36576" marB="36576" anchor="ctr">
                    <a:solidFill>
                      <a:srgbClr val="F5F2F8"/>
                    </a:solidFill>
                  </a:tcPr>
                </a:tc>
                <a:tc>
                  <a:txBody>
                    <a:bodyPr wrap="square"/>
                    <a:lstStyle/>
                    <a:p>
                      <a:r>
                        <a:rPr sz="1000" b="0">
                          <a:solidFill>
                            <a:srgbClr val="2E2A36"/>
                          </a:solidFill>
                          <a:latin typeface="Montserrat"/>
                        </a:rPr>
                        <a:t>—</a:t>
                      </a:r>
                    </a:p>
                  </a:txBody>
                  <a:tcPr marL="73152" marR="73152" marT="36576" marB="36576" anchor="ctr">
                    <a:solidFill>
                      <a:srgbClr val="F5F2F8"/>
                    </a:solidFill>
                  </a:tcPr>
                </a:tc>
                <a:tc>
                  <a:txBody>
                    <a:bodyPr wrap="square"/>
                    <a:lstStyle/>
                    <a:p>
                      <a:r>
                        <a:rPr sz="1000" b="0">
                          <a:solidFill>
                            <a:srgbClr val="2E2A36"/>
                          </a:solidFill>
                          <a:latin typeface="Montserrat"/>
                        </a:rPr>
                        <a:t>3 años · placa memorial incluida</a:t>
                      </a:r>
                    </a:p>
                  </a:txBody>
                  <a:tcPr marL="73152" marR="73152" marT="36576" marB="36576" anchor="ctr">
                    <a:solidFill>
                      <a:srgbClr val="F5F2F8"/>
                    </a:solidFill>
                  </a:tcPr>
                </a:tc>
              </a:tr>
              <a:tr h="566928">
                <a:tc>
                  <a:txBody>
                    <a:bodyPr wrap="square"/>
                    <a:lstStyle/>
                    <a:p>
                      <a:r>
                        <a:rPr sz="1000" b="1">
                          <a:solidFill>
                            <a:srgbClr val="5B3F80"/>
                          </a:solidFill>
                          <a:latin typeface="Montserrat"/>
                        </a:rPr>
                        <a:t>Jardín de Mascotas</a:t>
                      </a:r>
                    </a:p>
                  </a:txBody>
                  <a:tcPr marL="73152" marR="73152" marT="36576" marB="36576" anchor="ctr">
                    <a:solidFill>
                      <a:srgbClr val="FFFFFF"/>
                    </a:solidFill>
                  </a:tcPr>
                </a:tc>
                <a:tc>
                  <a:txBody>
                    <a:bodyPr wrap="square"/>
                    <a:lstStyle/>
                    <a:p>
                      <a:r>
                        <a:rPr sz="100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000" b="0">
                          <a:solidFill>
                            <a:srgbClr val="2E2A36"/>
                          </a:solidFill>
                          <a:latin typeface="Montserrat"/>
                        </a:rPr>
                        <a:t>Pago único</a:t>
                      </a:r>
                    </a:p>
                  </a:txBody>
                  <a:tcPr marL="73152" marR="73152" marT="36576" marB="36576" anchor="ctr">
                    <a:solidFill>
                      <a:srgbClr val="FFFFFF"/>
                    </a:solidFill>
                  </a:tcPr>
                </a:tc>
                <a:tc>
                  <a:txBody>
                    <a:bodyPr wrap="square"/>
                    <a:lstStyle/>
                    <a:p>
                      <a:r>
                        <a:rPr sz="1000" b="0">
                          <a:solidFill>
                            <a:srgbClr val="2E2A36"/>
                          </a:solidFill>
                          <a:latin typeface="Montserrat"/>
                        </a:rPr>
                        <a:t>—</a:t>
                      </a:r>
                    </a:p>
                  </a:txBody>
                  <a:tcPr marL="73152" marR="73152" marT="36576" marB="36576" anchor="ctr">
                    <a:solidFill>
                      <a:srgbClr val="FFFFFF"/>
                    </a:solidFill>
                  </a:tcPr>
                </a:tc>
                <a:tc>
                  <a:txBody>
                    <a:bodyPr wrap="square"/>
                    <a:lstStyle/>
                    <a:p>
                      <a:r>
                        <a:rPr sz="1000" b="0">
                          <a:solidFill>
                            <a:srgbClr val="2E2A36"/>
                          </a:solidFill>
                          <a:latin typeface="Montserrat"/>
                        </a:rPr>
                        <a:t>3 años · placa incluida · cremación y urna en la opción de US$ 550</a:t>
                      </a:r>
                    </a:p>
                  </a:txBody>
                  <a:tcPr marL="73152" marR="73152" marT="36576" marB="36576" anchor="ctr">
                    <a:solidFill>
                      <a:srgbClr val="FFFFFF"/>
                    </a:solidFill>
                  </a:tcPr>
                </a:tc>
              </a:tr>
              <a:tr h="566928">
                <a:tc>
                  <a:txBody>
                    <a:bodyPr wrap="square"/>
                    <a:lstStyle/>
                    <a:p>
                      <a:r>
                        <a:rPr sz="1000" b="1">
                          <a:solidFill>
                            <a:srgbClr val="5B3F80"/>
                          </a:solidFill>
                          <a:latin typeface="Montserrat"/>
                        </a:rPr>
                        <a:t>Jardín Ceremonial</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A definir</a:t>
                      </a:r>
                    </a:p>
                  </a:txBody>
                  <a:tcPr marL="73152" marR="73152" marT="36576" marB="36576" anchor="ctr">
                    <a:solidFill>
                      <a:srgbClr val="FBF6EC"/>
                    </a:solidFill>
                  </a:tcPr>
                </a:tc>
                <a:tc>
                  <a:txBody>
                    <a:bodyPr wrap="square"/>
                    <a:lstStyle/>
                    <a:p>
                      <a:r>
                        <a:rPr sz="100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02920" y="6263640"/>
            <a:ext cx="6556248" cy="11887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a:t>
            </a:r>
          </a:p>
        </p:txBody>
      </p:sp>
      <p:sp>
        <p:nvSpPr>
          <p:cNvPr id="7" name="TextBox 6"/>
          <p:cNvSpPr txBox="1"/>
          <p:nvPr/>
        </p:nvSpPr>
        <p:spPr>
          <a:xfrm>
            <a:off x="502920" y="1965960"/>
            <a:ext cx="6556248" cy="1097280"/>
          </a:xfrm>
          <a:prstGeom prst="rect">
            <a:avLst/>
          </a:prstGeom>
          <a:noFill/>
        </p:spPr>
        <p:txBody>
          <a:bodyPr wrap="square" anchor="t" lIns="45720" rIns="45720" tIns="27432" bIns="27432">
            <a:spAutoFit/>
          </a:bodyPr>
          <a:lstStyle/>
          <a:p>
            <a:pPr algn="l">
              <a:lnSpc>
                <a:spcPct val="115000"/>
              </a:lnSpc>
              <a:spcAft>
                <a:spcPts val="400"/>
              </a:spcAft>
            </a:pPr>
            <a:r>
              <a:rPr sz="1150" b="0" i="0">
                <a:solidFill>
                  <a:srgbClr val="2E2A3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graphicFrame>
        <p:nvGraphicFramePr>
          <p:cNvPr id="8" name="Table 7"/>
          <p:cNvGraphicFramePr>
            <a:graphicFrameLocks noGrp="1"/>
          </p:cNvGraphicFramePr>
          <p:nvPr/>
        </p:nvGraphicFramePr>
        <p:xfrm>
          <a:off x="502920" y="3108960"/>
          <a:ext cx="6556247" cy="4389120"/>
        </p:xfrm>
        <a:graphic>
          <a:graphicData uri="http://schemas.openxmlformats.org/drawingml/2006/table">
            <a:tbl>
              <a:tblPr firstRow="1" bandRow="1">
                <a:tableStyleId>{5C22544A-7EE6-4342-B048-85BDC9FD1C3A}</a:tableStyleId>
              </a:tblPr>
              <a:tblGrid>
                <a:gridCol w="1214120"/>
                <a:gridCol w="1780709"/>
                <a:gridCol w="1537885"/>
                <a:gridCol w="728472"/>
                <a:gridCol w="1295061"/>
              </a:tblGrid>
              <a:tr h="731520">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Precio</a:t>
                      </a:r>
                    </a:p>
                  </a:txBody>
                  <a:tcPr marL="73152" marR="73152" marT="36576" marB="36576" anchor="ctr">
                    <a:solidFill>
                      <a:srgbClr val="5B3F80"/>
                    </a:solidFill>
                  </a:tcPr>
                </a:tc>
                <a:tc>
                  <a:txBody>
                    <a:bodyPr wrap="square"/>
                    <a:lstStyle/>
                    <a:p>
                      <a:r>
                        <a:rPr sz="950" b="1">
                          <a:solidFill>
                            <a:srgbClr val="FFFFFF"/>
                          </a:solidFill>
                          <a:latin typeface="Montserrat"/>
                        </a:rPr>
                        <a:t>Finados y nov. (−15%)</a:t>
                      </a:r>
                    </a:p>
                  </a:txBody>
                  <a:tcPr marL="73152" marR="73152" marT="36576" marB="36576" anchor="ctr">
                    <a:solidFill>
                      <a:srgbClr val="5B3F80"/>
                    </a:solidFill>
                  </a:tcPr>
                </a:tc>
                <a:tc>
                  <a:txBody>
                    <a:bodyPr wrap="square"/>
                    <a:lstStyle/>
                    <a:p>
                      <a:r>
                        <a:rPr sz="950" b="1">
                          <a:solidFill>
                            <a:srgbClr val="FFFFFF"/>
                          </a:solidFill>
                          <a:latin typeface="Montserrat"/>
                        </a:rPr>
                        <a:t>Capac.</a:t>
                      </a:r>
                    </a:p>
                  </a:txBody>
                  <a:tcPr marL="73152" marR="73152" marT="36576" marB="36576" anchor="ctr">
                    <a:solidFill>
                      <a:srgbClr val="5B3F80"/>
                    </a:solidFill>
                  </a:tcPr>
                </a:tc>
                <a:tc>
                  <a:txBody>
                    <a:bodyPr wrap="square"/>
                    <a:lstStyle/>
                    <a:p>
                      <a:r>
                        <a:rPr sz="950" b="1">
                          <a:solidFill>
                            <a:srgbClr val="FFFFFF"/>
                          </a:solidFill>
                          <a:latin typeface="Montserrat"/>
                        </a:rPr>
                        <a:t>Incluye</a:t>
                      </a:r>
                    </a:p>
                  </a:txBody>
                  <a:tcPr marL="73152" marR="73152" marT="36576" marB="36576" anchor="ctr">
                    <a:solidFill>
                      <a:srgbClr val="5B3F80"/>
                    </a:solidFill>
                  </a:tcPr>
                </a:tc>
              </a:tr>
              <a:tr h="731520">
                <a:tc>
                  <a:txBody>
                    <a:bodyPr wrap="square"/>
                    <a:lstStyle/>
                    <a:p>
                      <a:r>
                        <a:rPr sz="950" b="1">
                          <a:solidFill>
                            <a:srgbClr val="5B3F80"/>
                          </a:solidFill>
                          <a:latin typeface="Montserrat"/>
                        </a:rPr>
                        <a:t>Supremo Plus</a:t>
                      </a:r>
                    </a:p>
                  </a:txBody>
                  <a:tcPr marL="73152" marR="73152" marT="36576" marB="36576" anchor="ctr">
                    <a:solidFill>
                      <a:srgbClr val="FFFFFF"/>
                    </a:solidFill>
                  </a:tcPr>
                </a:tc>
                <a:tc>
                  <a:txBody>
                    <a:bodyPr wrap="square"/>
                    <a:lstStyle/>
                    <a:p>
                      <a:r>
                        <a:rPr sz="95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95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950" b="0">
                          <a:solidFill>
                            <a:srgbClr val="2E2A36"/>
                          </a:solidFill>
                          <a:latin typeface="Montserrat"/>
                        </a:rPr>
                        <a:t>2 urnas</a:t>
                      </a:r>
                    </a:p>
                  </a:txBody>
                  <a:tcPr marL="73152" marR="73152" marT="36576" marB="36576" anchor="ctr">
                    <a:solidFill>
                      <a:srgbClr val="FFFFFF"/>
                    </a:solidFill>
                  </a:tcPr>
                </a:tc>
                <a:tc>
                  <a:txBody>
                    <a:bodyPr wrap="square"/>
                    <a:lstStyle/>
                    <a:p>
                      <a:r>
                        <a:rPr sz="950" b="0">
                          <a:solidFill>
                            <a:srgbClr val="2E2A36"/>
                          </a:solidFill>
                          <a:latin typeface="Montserrat"/>
                        </a:rPr>
                        <a:t>Funeral + 2 cremaciones +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Mármol o Cristal</a:t>
                      </a:r>
                    </a:p>
                  </a:txBody>
                  <a:tcPr marL="73152" marR="73152" marT="36576" marB="36576" anchor="ctr">
                    <a:solidFill>
                      <a:srgbClr val="F5F2F8"/>
                    </a:solidFill>
                  </a:tcPr>
                </a:tc>
                <a:tc>
                  <a:txBody>
                    <a:bodyPr wrap="square"/>
                    <a:lstStyle/>
                    <a:p>
                      <a:r>
                        <a:rPr sz="95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950" b="0">
                          <a:solidFill>
                            <a:srgbClr val="2E2A36"/>
                          </a:solidFill>
                          <a:latin typeface="Montserrat"/>
                        </a:rPr>
                        <a:t>US$ 2.210 · US$ 1.020–1.615</a:t>
                      </a:r>
                    </a:p>
                  </a:txBody>
                  <a:tcPr marL="73152" marR="73152" marT="36576" marB="36576" anchor="ctr">
                    <a:solidFill>
                      <a:srgbClr val="F5F2F8"/>
                    </a:solidFill>
                  </a:tcPr>
                </a:tc>
                <a:tc>
                  <a:txBody>
                    <a:bodyPr wrap="square"/>
                    <a:lstStyle/>
                    <a:p>
                      <a:r>
                        <a:rPr sz="950" b="0">
                          <a:solidFill>
                            <a:srgbClr val="2E2A36"/>
                          </a:solidFill>
                          <a:latin typeface="Montserrat"/>
                        </a:rPr>
                        <a:t>2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Columbario Ónix</a:t>
                      </a:r>
                    </a:p>
                  </a:txBody>
                  <a:tcPr marL="73152" marR="73152" marT="36576" marB="36576" anchor="ctr">
                    <a:solidFill>
                      <a:srgbClr val="FFFFFF"/>
                    </a:solidFill>
                  </a:tcPr>
                </a:tc>
                <a:tc>
                  <a:txBody>
                    <a:bodyPr wrap="square"/>
                    <a:lstStyle/>
                    <a:p>
                      <a:r>
                        <a:rPr sz="95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950" b="0">
                          <a:solidFill>
                            <a:srgbClr val="2E2A36"/>
                          </a:solidFill>
                          <a:latin typeface="Montserrat"/>
                        </a:rPr>
                        <a:t>US$ 2.635 · US$ 4.250</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Solo columbario</a:t>
                      </a:r>
                    </a:p>
                  </a:txBody>
                  <a:tcPr marL="73152" marR="73152" marT="36576" marB="36576" anchor="ctr">
                    <a:solidFill>
                      <a:srgbClr val="FFFFFF"/>
                    </a:solidFill>
                  </a:tcPr>
                </a:tc>
              </a:tr>
              <a:tr h="731520">
                <a:tc>
                  <a:txBody>
                    <a:bodyPr wrap="square"/>
                    <a:lstStyle/>
                    <a:p>
                      <a:r>
                        <a:rPr sz="950" b="1">
                          <a:solidFill>
                            <a:srgbClr val="5B3F80"/>
                          </a:solidFill>
                          <a:latin typeface="Montserrat"/>
                        </a:rPr>
                        <a:t>Obra de Arte</a:t>
                      </a:r>
                    </a:p>
                  </a:txBody>
                  <a:tcPr marL="73152" marR="73152" marT="36576" marB="36576" anchor="ctr">
                    <a:solidFill>
                      <a:srgbClr val="F5F2F8"/>
                    </a:solidFill>
                  </a:tcPr>
                </a:tc>
                <a:tc>
                  <a:txBody>
                    <a:bodyPr wrap="square"/>
                    <a:lstStyle/>
                    <a:p>
                      <a:r>
                        <a:rPr sz="950" b="0">
                          <a:solidFill>
                            <a:srgbClr val="2E2A36"/>
                          </a:solidFill>
                          <a:latin typeface="Montserrat"/>
                        </a:rPr>
                        <a:t>Familiar US$ 12.500</a:t>
                      </a:r>
                    </a:p>
                  </a:txBody>
                  <a:tcPr marL="73152" marR="73152" marT="36576" marB="36576" anchor="ctr">
                    <a:solidFill>
                      <a:srgbClr val="F5F2F8"/>
                    </a:solidFill>
                  </a:tcPr>
                </a:tc>
                <a:tc>
                  <a:txBody>
                    <a:bodyPr wrap="square"/>
                    <a:lstStyle/>
                    <a:p>
                      <a:r>
                        <a:rPr sz="950" b="0">
                          <a:solidFill>
                            <a:srgbClr val="2E2A36"/>
                          </a:solidFill>
                          <a:latin typeface="Montserrat"/>
                        </a:rPr>
                        <a:t>US$ 10.625</a:t>
                      </a:r>
                    </a:p>
                  </a:txBody>
                  <a:tcPr marL="73152" marR="73152" marT="36576" marB="36576" anchor="ctr">
                    <a:solidFill>
                      <a:srgbClr val="F5F2F8"/>
                    </a:solidFill>
                  </a:tcPr>
                </a:tc>
                <a:tc>
                  <a:txBody>
                    <a:bodyPr wrap="square"/>
                    <a:lstStyle/>
                    <a:p>
                      <a:r>
                        <a:rPr sz="950" b="0">
                          <a:solidFill>
                            <a:srgbClr val="2E2A36"/>
                          </a:solidFill>
                          <a:latin typeface="Montserrat"/>
                        </a:rPr>
                        <a:t>4 urnas</a:t>
                      </a:r>
                    </a:p>
                  </a:txBody>
                  <a:tcPr marL="73152" marR="73152" marT="36576" marB="36576" anchor="ctr">
                    <a:solidFill>
                      <a:srgbClr val="F5F2F8"/>
                    </a:solidFill>
                  </a:tcPr>
                </a:tc>
                <a:tc>
                  <a:txBody>
                    <a:bodyPr wrap="square"/>
                    <a:lstStyle/>
                    <a:p>
                      <a:r>
                        <a:rPr sz="950" b="0">
                          <a:solidFill>
                            <a:srgbClr val="2E2A36"/>
                          </a:solidFill>
                          <a:latin typeface="Montserrat"/>
                        </a:rPr>
                        <a:t>Solo columbario</a:t>
                      </a:r>
                    </a:p>
                  </a:txBody>
                  <a:tcPr marL="73152" marR="73152" marT="36576" marB="36576" anchor="ctr">
                    <a:solidFill>
                      <a:srgbClr val="F5F2F8"/>
                    </a:solidFill>
                  </a:tcPr>
                </a:tc>
              </a:tr>
              <a:tr h="731520">
                <a:tc>
                  <a:txBody>
                    <a:bodyPr wrap="square"/>
                    <a:lstStyle/>
                    <a:p>
                      <a:r>
                        <a:rPr sz="950" b="1">
                          <a:solidFill>
                            <a:srgbClr val="5B3F80"/>
                          </a:solidFill>
                          <a:latin typeface="Montserrat"/>
                        </a:rPr>
                        <a:t>Bella Vista</a:t>
                      </a:r>
                    </a:p>
                  </a:txBody>
                  <a:tcPr marL="73152" marR="73152" marT="36576" marB="36576" anchor="ctr">
                    <a:solidFill>
                      <a:srgbClr val="FFFFFF"/>
                    </a:solidFill>
                  </a:tcPr>
                </a:tc>
                <a:tc>
                  <a:txBody>
                    <a:bodyPr wrap="square"/>
                    <a:lstStyle/>
                    <a:p>
                      <a:r>
                        <a:rPr sz="95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95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950" b="0">
                          <a:solidFill>
                            <a:srgbClr val="2E2A36"/>
                          </a:solidFill>
                          <a:latin typeface="Montserrat"/>
                        </a:rPr>
                        <a:t>2 o 4 urnas</a:t>
                      </a:r>
                    </a:p>
                  </a:txBody>
                  <a:tcPr marL="73152" marR="73152" marT="36576" marB="36576" anchor="ctr">
                    <a:solidFill>
                      <a:srgbClr val="FFFFFF"/>
                    </a:solidFill>
                  </a:tcPr>
                </a:tc>
                <a:tc>
                  <a:txBody>
                    <a:bodyPr wrap="square"/>
                    <a:lstStyle/>
                    <a:p>
                      <a:r>
                        <a:rPr sz="95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9" name="Rectangle 8"/>
          <p:cNvSpPr/>
          <p:nvPr/>
        </p:nvSpPr>
        <p:spPr>
          <a:xfrm>
            <a:off x="502920" y="7726679"/>
            <a:ext cx="6556248" cy="137160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7726679"/>
            <a:ext cx="73152" cy="1371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7726679"/>
            <a:ext cx="6099048" cy="1371600"/>
          </a:xfrm>
          <a:prstGeom prst="rect">
            <a:avLst/>
          </a:prstGeom>
          <a:noFill/>
        </p:spPr>
        <p:txBody>
          <a:bodyPr wrap="square" anchor="ctr" lIns="45720" rIns="45720" tIns="27432" bIns="27432">
            <a:spAutoFit/>
          </a:bodyPr>
          <a:lstStyle/>
          <a:p>
            <a:pPr algn="l">
              <a:lnSpc>
                <a:spcPct val="115000"/>
              </a:lnSpc>
              <a:spcAft>
                <a:spcPts val="600"/>
              </a:spcAft>
            </a:pPr>
            <a:r>
              <a:rPr sz="100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a:p>
            <a:pPr algn="l">
              <a:lnSpc>
                <a:spcPct val="115000"/>
              </a:lnSpc>
              <a:spcAft>
                <a:spcPts val="600"/>
              </a:spcAft>
            </a:pPr>
            <a:r>
              <a:rPr sz="1000" b="0" i="1">
                <a:solidFill>
                  <a:srgbClr val="7D7887"/>
                </a:solidFill>
                <a:latin typeface="Montserrat"/>
              </a:rPr>
              <a:t>Precios según fila y nivel (Bella Vista: definida / a futuro). Pago único o financiado en hasta 120 meses, con intereses. El 15% vale solo en Finados y durante noviembre.</a:t>
            </a:r>
          </a:p>
        </p:txBody>
      </p:sp>
      <p:sp>
        <p:nvSpPr>
          <p:cNvPr id="12" name="TextBox 11"/>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5B3F80"/>
                    </a:solidFill>
                  </a:tcPr>
                </a:tc>
                <a:tc>
                  <a:txBody>
                    <a:bodyPr wrap="square"/>
                    <a:lstStyle/>
                    <a:p>
                      <a:r>
                        <a:rPr sz="1100" b="1">
                          <a:solidFill>
                            <a:srgbClr val="FFFFFF"/>
                          </a:solidFill>
                          <a:latin typeface="Montserrat"/>
                        </a:rPr>
                        <a:t>Regla</a:t>
                      </a:r>
                    </a:p>
                  </a:txBody>
                  <a:tcPr marL="73152" marR="73152" marT="36576" marB="36576" anchor="ctr">
                    <a:solidFill>
                      <a:srgbClr val="5B3F80"/>
                    </a:solidFill>
                  </a:tcPr>
                </a:tc>
              </a:tr>
              <a:tr h="868680">
                <a:tc>
                  <a:txBody>
                    <a:bodyPr wrap="square"/>
                    <a:lstStyle/>
                    <a:p>
                      <a:r>
                        <a:rPr sz="1100" b="1">
                          <a:solidFill>
                            <a:srgbClr val="5B3F80"/>
                          </a:solidFill>
                          <a:latin typeface="Montserrat"/>
                        </a:rPr>
                        <a:t>Precios</a:t>
                      </a:r>
                    </a:p>
                  </a:txBody>
                  <a:tcPr marL="73152" marR="73152" marT="36576" marB="36576" anchor="ctr">
                    <a:solidFill>
                      <a:srgbClr val="FFFFFF"/>
                    </a:solidFill>
                  </a:tcPr>
                </a:tc>
                <a:tc>
                  <a:txBody>
                    <a:bodyPr wrap="square"/>
                    <a:lstStyle/>
                    <a:p>
                      <a:r>
                        <a:rPr sz="11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5B3F80"/>
                          </a:solidFill>
                          <a:latin typeface="Montserrat"/>
                        </a:rPr>
                        <a:t>Descuentos</a:t>
                      </a:r>
                    </a:p>
                  </a:txBody>
                  <a:tcPr marL="73152" marR="73152" marT="36576" marB="36576" anchor="ctr">
                    <a:solidFill>
                      <a:srgbClr val="F5F2F8"/>
                    </a:solidFill>
                  </a:tcPr>
                </a:tc>
                <a:tc>
                  <a:txBody>
                    <a:bodyPr wrap="square"/>
                    <a:lstStyle/>
                    <a:p>
                      <a:r>
                        <a:rPr sz="11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868680">
                <a:tc>
                  <a:txBody>
                    <a:bodyPr wrap="square"/>
                    <a:lstStyle/>
                    <a:p>
                      <a:r>
                        <a:rPr sz="1100" b="1">
                          <a:solidFill>
                            <a:srgbClr val="5B3F80"/>
                          </a:solidFill>
                          <a:latin typeface="Montserrat"/>
                        </a:rPr>
                        <a:t>Mantenimiento</a:t>
                      </a:r>
                    </a:p>
                  </a:txBody>
                  <a:tcPr marL="73152" marR="73152" marT="36576" marB="36576" anchor="ctr">
                    <a:solidFill>
                      <a:srgbClr val="FFFFFF"/>
                    </a:solidFill>
                  </a:tcPr>
                </a:tc>
                <a:tc>
                  <a:txBody>
                    <a:bodyPr wrap="square"/>
                    <a:lstStyle/>
                    <a:p>
                      <a:r>
                        <a:rPr sz="11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868680">
                <a:tc>
                  <a:txBody>
                    <a:bodyPr wrap="square"/>
                    <a:lstStyle/>
                    <a:p>
                      <a:r>
                        <a:rPr sz="1100" b="1">
                          <a:solidFill>
                            <a:srgbClr val="5B3F80"/>
                          </a:solidFill>
                          <a:latin typeface="Montserrat"/>
                        </a:rPr>
                        <a:t>Plazos</a:t>
                      </a:r>
                    </a:p>
                  </a:txBody>
                  <a:tcPr marL="73152" marR="73152" marT="36576" marB="36576" anchor="ctr">
                    <a:solidFill>
                      <a:srgbClr val="F5F2F8"/>
                    </a:solidFill>
                  </a:tcPr>
                </a:tc>
                <a:tc>
                  <a:txBody>
                    <a:bodyPr wrap="square"/>
                    <a:lstStyle/>
                    <a:p>
                      <a:r>
                        <a:rPr sz="11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868680">
                <a:tc>
                  <a:txBody>
                    <a:bodyPr wrap="square"/>
                    <a:lstStyle/>
                    <a:p>
                      <a:r>
                        <a:rPr sz="1100" b="1">
                          <a:solidFill>
                            <a:srgbClr val="5B3F80"/>
                          </a:solidFill>
                          <a:latin typeface="Montserrat"/>
                        </a:rPr>
                        <a:t>Placas memoriales</a:t>
                      </a:r>
                    </a:p>
                  </a:txBody>
                  <a:tcPr marL="73152" marR="73152" marT="36576" marB="36576" anchor="ctr">
                    <a:solidFill>
                      <a:srgbClr val="FFFFFF"/>
                    </a:solidFill>
                  </a:tcPr>
                </a:tc>
                <a:tc>
                  <a:txBody>
                    <a:bodyPr wrap="square"/>
                    <a:lstStyle/>
                    <a:p>
                      <a:r>
                        <a:rPr sz="1100" b="0">
                          <a:solidFill>
                            <a:srgbClr val="2E2A36"/>
                          </a:solidFill>
                          <a:latin typeface="Montserrat"/>
                        </a:rPr>
                        <a:t>Incluida en el Jardín Ecológico y en el Jardín de Mascotas.</a:t>
                      </a:r>
                    </a:p>
                  </a:txBody>
                  <a:tcPr marL="73152" marR="73152" marT="36576" marB="36576" anchor="ctr">
                    <a:solidFill>
                      <a:srgbClr val="FFFFFF"/>
                    </a:solidFill>
                  </a:tcPr>
                </a:tc>
              </a:tr>
              <a:tr h="868680">
                <a:tc>
                  <a:txBody>
                    <a:bodyPr wrap="square"/>
                    <a:lstStyle/>
                    <a:p>
                      <a:r>
                        <a:rPr sz="1100" b="1">
                          <a:solidFill>
                            <a:srgbClr val="5B3F80"/>
                          </a:solidFill>
                          <a:latin typeface="Montserrat"/>
                        </a:rPr>
                        <a:t>Dueño del contacto</a:t>
                      </a:r>
                    </a:p>
                  </a:txBody>
                  <a:tcPr marL="73152" marR="73152" marT="36576" marB="36576" anchor="ctr">
                    <a:solidFill>
                      <a:srgbClr val="F5F2F8"/>
                    </a:solidFill>
                  </a:tcPr>
                </a:tc>
                <a:tc>
                  <a:txBody>
                    <a:bodyPr wrap="square"/>
                    <a:lstStyle/>
                    <a:p>
                      <a:r>
                        <a:rPr sz="11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868680">
                <a:tc>
                  <a:txBody>
                    <a:bodyPr wrap="square"/>
                    <a:lstStyle/>
                    <a:p>
                      <a:r>
                        <a:rPr sz="1100" b="1">
                          <a:solidFill>
                            <a:srgbClr val="5B3F80"/>
                          </a:solidFill>
                          <a:latin typeface="Montserrat"/>
                        </a:rPr>
                        <a:t>Lo que NO se promete</a:t>
                      </a:r>
                    </a:p>
                  </a:txBody>
                  <a:tcPr marL="73152" marR="73152" marT="36576" marB="36576" anchor="ctr">
                    <a:solidFill>
                      <a:srgbClr val="FFFFFF"/>
                    </a:solidFill>
                  </a:tcPr>
                </a:tc>
                <a:tc>
                  <a:txBody>
                    <a:bodyPr wrap="square"/>
                    <a:lstStyle/>
                    <a:p>
                      <a:r>
                        <a:rPr sz="11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5B3F80"/>
                    </a:solidFill>
                  </a:tcPr>
                </a:tc>
                <a:tc>
                  <a:txBody>
                    <a:bodyPr wrap="square"/>
                    <a:lstStyle/>
                    <a:p>
                      <a:r>
                        <a:rPr sz="950" b="1">
                          <a:solidFill>
                            <a:srgbClr val="FFFFFF"/>
                          </a:solidFill>
                          <a:latin typeface="Montserrat"/>
                        </a:rPr>
                        <a:t>%</a:t>
                      </a:r>
                    </a:p>
                  </a:txBody>
                  <a:tcPr marL="73152" marR="73152" marT="36576" marB="36576" anchor="ctr">
                    <a:solidFill>
                      <a:srgbClr val="5B3F80"/>
                    </a:solidFill>
                  </a:tcPr>
                </a:tc>
                <a:tc>
                  <a:txBody>
                    <a:bodyPr wrap="square"/>
                    <a:lstStyle/>
                    <a:p>
                      <a:r>
                        <a:rPr sz="950" b="1">
                          <a:solidFill>
                            <a:srgbClr val="FFFFFF"/>
                          </a:solidFill>
                          <a:latin typeface="Montserrat"/>
                        </a:rPr>
                        <a:t>Comisión</a:t>
                      </a:r>
                    </a:p>
                  </a:txBody>
                  <a:tcPr marL="73152" marR="73152" marT="36576" marB="36576" anchor="ctr">
                    <a:solidFill>
                      <a:srgbClr val="5B3F80"/>
                    </a:solidFill>
                  </a:tcPr>
                </a:tc>
                <a:tc>
                  <a:txBody>
                    <a:bodyPr wrap="square"/>
                    <a:lstStyle/>
                    <a:p>
                      <a:r>
                        <a:rPr sz="950" b="1">
                          <a:solidFill>
                            <a:srgbClr val="FFFFFF"/>
                          </a:solidFill>
                          <a:latin typeface="Montserrat"/>
                        </a:rPr>
                        <a:t>Cuándo se paga</a:t>
                      </a:r>
                    </a:p>
                  </a:txBody>
                  <a:tcPr marL="73152" marR="73152" marT="36576" marB="36576" anchor="ctr">
                    <a:solidFill>
                      <a:srgbClr val="5B3F80"/>
                    </a:solidFill>
                  </a:tcPr>
                </a:tc>
                <a:tc>
                  <a:txBody>
                    <a:bodyPr wrap="square"/>
                    <a:lstStyle/>
                    <a:p>
                      <a:r>
                        <a:rPr sz="950" b="1">
                          <a:solidFill>
                            <a:srgbClr val="FFFFFF"/>
                          </a:solidFill>
                          <a:latin typeface="Montserrat"/>
                        </a:rPr>
                        <a:t>Estorno</a:t>
                      </a:r>
                    </a:p>
                  </a:txBody>
                  <a:tcPr marL="73152" marR="73152" marT="36576" marB="36576" anchor="ctr">
                    <a:solidFill>
                      <a:srgbClr val="5B3F80"/>
                    </a:solidFill>
                  </a:tcPr>
                </a:tc>
              </a:tr>
              <a:tr h="658368">
                <a:tc>
                  <a:txBody>
                    <a:bodyPr wrap="square"/>
                    <a:lstStyle/>
                    <a:p>
                      <a:r>
                        <a:rPr sz="950" b="1">
                          <a:solidFill>
                            <a:srgbClr val="5B3F80"/>
                          </a:solidFill>
                          <a:latin typeface="Montserrat"/>
                        </a:rPr>
                        <a:t>Solución Modular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US$ 70,80</a:t>
                      </a:r>
                    </a:p>
                  </a:txBody>
                  <a:tcPr marL="73152" marR="73152" marT="36576" marB="36576" anchor="ctr">
                    <a:solidFill>
                      <a:srgbClr val="FFFFFF"/>
                    </a:solidFill>
                  </a:tcPr>
                </a:tc>
                <a:tc>
                  <a:txBody>
                    <a:bodyPr wrap="square"/>
                    <a:lstStyle/>
                    <a:p>
                      <a:r>
                        <a:rPr sz="95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E2A36"/>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Individual</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US$ 42,48</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Familiar</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US$ 141,59</a:t>
                      </a:r>
                    </a:p>
                  </a:txBody>
                  <a:tcPr marL="73152" marR="73152" marT="36576" marB="36576" anchor="ctr">
                    <a:solidFill>
                      <a:srgbClr val="FFFFFF"/>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Jardín Ecológico</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US$ 53,10</a:t>
                      </a:r>
                    </a:p>
                  </a:txBody>
                  <a:tcPr marL="73152" marR="73152" marT="36576" marB="36576" anchor="ctr">
                    <a:solidFill>
                      <a:srgbClr val="F5F2F8"/>
                    </a:solidFill>
                  </a:tcPr>
                </a:tc>
                <a:tc>
                  <a:txBody>
                    <a:bodyPr wrap="square"/>
                    <a:lstStyle/>
                    <a:p>
                      <a:r>
                        <a:rPr sz="95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Mascotas · solo espacio</a:t>
                      </a:r>
                    </a:p>
                  </a:txBody>
                  <a:tcPr marL="73152" marR="73152" marT="36576" marB="36576" anchor="ctr">
                    <a:solidFill>
                      <a:srgbClr val="FFFFFF"/>
                    </a:solidFill>
                  </a:tcPr>
                </a:tc>
                <a:tc>
                  <a:txBody>
                    <a:bodyPr wrap="square"/>
                    <a:lstStyle/>
                    <a:p>
                      <a:r>
                        <a:rPr sz="950" b="0">
                          <a:solidFill>
                            <a:srgbClr val="2E2A36"/>
                          </a:solidFill>
                          <a:latin typeface="Montserrat"/>
                        </a:rPr>
                        <a:t>8%</a:t>
                      </a:r>
                    </a:p>
                  </a:txBody>
                  <a:tcPr marL="73152" marR="73152" marT="36576" marB="36576" anchor="ctr">
                    <a:solidFill>
                      <a:srgbClr val="FFFFFF"/>
                    </a:solidFill>
                  </a:tcPr>
                </a:tc>
                <a:tc>
                  <a:txBody>
                    <a:bodyPr wrap="square"/>
                    <a:lstStyle/>
                    <a:p>
                      <a:r>
                        <a:rPr sz="950" b="0">
                          <a:solidFill>
                            <a:srgbClr val="2E2A36"/>
                          </a:solidFill>
                          <a:latin typeface="Montserrat"/>
                        </a:rPr>
                        <a:t>US$ 28,32</a:t>
                      </a:r>
                    </a:p>
                  </a:txBody>
                  <a:tcPr marL="73152" marR="73152" marT="36576" marB="36576" anchor="ctr">
                    <a:solidFill>
                      <a:srgbClr val="FFFFFF"/>
                    </a:solidFill>
                  </a:tcPr>
                </a:tc>
                <a:tc>
                  <a:txBody>
                    <a:bodyPr wrap="square"/>
                    <a:lstStyle/>
                    <a:p>
                      <a:r>
                        <a:rPr sz="950" b="0">
                          <a:solidFill>
                            <a:srgbClr val="2E2A36"/>
                          </a:solidFill>
                          <a:latin typeface="Montserrat"/>
                        </a:rPr>
                        <a:t>Mes siguiente al pago</a:t>
                      </a:r>
                    </a:p>
                  </a:txBody>
                  <a:tcPr marL="73152" marR="73152" marT="36576" marB="36576" anchor="ctr">
                    <a:solidFill>
                      <a:srgbClr val="FFFFFF"/>
                    </a:solidFill>
                  </a:tcPr>
                </a:tc>
                <a:tc>
                  <a:txBody>
                    <a:bodyPr wrap="square"/>
                    <a:lstStyle/>
                    <a:p>
                      <a:r>
                        <a:rPr sz="950" b="0">
                          <a:solidFill>
                            <a:srgbClr val="2E2A36"/>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950" b="0">
                          <a:solidFill>
                            <a:srgbClr val="2E2A36"/>
                          </a:solidFill>
                          <a:latin typeface="Montserrat"/>
                        </a:rPr>
                        <a:t>8%</a:t>
                      </a:r>
                    </a:p>
                  </a:txBody>
                  <a:tcPr marL="73152" marR="73152" marT="36576" marB="36576" anchor="ctr">
                    <a:solidFill>
                      <a:srgbClr val="F5F2F8"/>
                    </a:solidFill>
                  </a:tcPr>
                </a:tc>
                <a:tc>
                  <a:txBody>
                    <a:bodyPr wrap="square"/>
                    <a:lstStyle/>
                    <a:p>
                      <a:r>
                        <a:rPr sz="950" b="0">
                          <a:solidFill>
                            <a:srgbClr val="2E2A36"/>
                          </a:solidFill>
                          <a:latin typeface="Montserrat"/>
                        </a:rPr>
                        <a:t>US$ 38,94</a:t>
                      </a:r>
                    </a:p>
                  </a:txBody>
                  <a:tcPr marL="73152" marR="73152" marT="36576" marB="36576" anchor="ctr">
                    <a:solidFill>
                      <a:srgbClr val="F5F2F8"/>
                    </a:solidFill>
                  </a:tcPr>
                </a:tc>
                <a:tc>
                  <a:txBody>
                    <a:bodyPr wrap="square"/>
                    <a:lstStyle/>
                    <a:p>
                      <a:r>
                        <a:rPr sz="950" b="0">
                          <a:solidFill>
                            <a:srgbClr val="2E2A36"/>
                          </a:solidFill>
                          <a:latin typeface="Montserrat"/>
                        </a:rPr>
                        <a:t>Mes siguiente al pago</a:t>
                      </a:r>
                    </a:p>
                  </a:txBody>
                  <a:tcPr marL="73152" marR="73152" marT="36576" marB="36576" anchor="ctr">
                    <a:solidFill>
                      <a:srgbClr val="F5F2F8"/>
                    </a:solidFill>
                  </a:tcPr>
                </a:tc>
                <a:tc>
                  <a:txBody>
                    <a:bodyPr wrap="square"/>
                    <a:lstStyle/>
                    <a:p>
                      <a:r>
                        <a:rPr sz="950" b="0">
                          <a:solidFill>
                            <a:srgbClr val="2E2A36"/>
                          </a:solidFill>
                          <a:latin typeface="Montserrat"/>
                        </a:rPr>
                        <a:t>Cancelación en 90 días</a:t>
                      </a:r>
                    </a:p>
                  </a:txBody>
                  <a:tcPr marL="73152" marR="73152" marT="36576" marB="36576" anchor="ctr">
                    <a:solidFill>
                      <a:srgbClr val="F5F2F8"/>
                    </a:solidFill>
                  </a:tcPr>
                </a:tc>
              </a:tr>
              <a:tr h="658368">
                <a:tc>
                  <a:txBody>
                    <a:bodyPr wrap="square"/>
                    <a:lstStyle/>
                    <a:p>
                      <a:r>
                        <a:rPr sz="950" b="1">
                          <a:solidFill>
                            <a:srgbClr val="5B3F80"/>
                          </a:solidFill>
                          <a:latin typeface="Montserrat"/>
                        </a:rPr>
                        <a:t>Jardín Ceremonial</a:t>
                      </a:r>
                    </a:p>
                  </a:txBody>
                  <a:tcPr marL="73152" marR="73152" marT="36576" marB="36576" anchor="ctr">
                    <a:solidFill>
                      <a:srgbClr val="FBF6EC"/>
                    </a:solidFill>
                  </a:tcPr>
                </a:tc>
                <a:tc>
                  <a:txBody>
                    <a:bodyPr wrap="square"/>
                    <a:lstStyle/>
                    <a:p>
                      <a:r>
                        <a:rPr sz="950" b="0">
                          <a:solidFill>
                            <a:srgbClr val="2E2A36"/>
                          </a:solidFill>
                          <a:latin typeface="Montserrat"/>
                        </a:rPr>
                        <a:t>A definir</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c>
                  <a:txBody>
                    <a:bodyPr wrap="square"/>
                    <a:lstStyle/>
                    <a:p>
                      <a:r>
                        <a:rPr sz="950" b="0">
                          <a:solidFill>
                            <a:srgbClr val="2E2A36"/>
                          </a:solidFill>
                          <a:latin typeface="Montserrat"/>
                        </a:rPr>
                        <a:t>—</a:t>
                      </a:r>
                    </a:p>
                  </a:txBody>
                  <a:tcPr marL="73152" marR="73152" marT="36576" marB="36576" anchor="ctr">
                    <a:solidFill>
                      <a:srgbClr val="FBF6EC"/>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de comisión</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Base de cálculo: valor efectivamente cobrado al cliente, sin IVA (13%).</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Comisión única de 8% para todos los productos.</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No generan comisión: cuotas de mantenimiento anual (US$ 15 / US$ 24).</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Bono de venta combinada: US$ 15 al vender la Solución Modular junto con cualquier jardín.</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Acelerador Día de los Muertos (opcional): +2 pp en Individual y Ecológico hasta el 30/11/2026.</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Estorno: la comisión se descuenta de los pagos siguientes al asesor.</a:t>
            </a:r>
          </a:p>
          <a:p>
            <a:pPr algn="l">
              <a:lnSpc>
                <a:spcPct val="115000"/>
              </a:lnSpc>
              <a:spcAft>
                <a:spcPts val="1000"/>
              </a:spcAft>
            </a:pPr>
            <a:r>
              <a:rPr sz="1000" b="1" i="0">
                <a:solidFill>
                  <a:srgbClr val="C9A86A"/>
                </a:solidFill>
                <a:latin typeface="Montserrat"/>
              </a:rPr>
              <a:t>■  </a:t>
            </a:r>
            <a:r>
              <a:rPr sz="1300" b="0" i="0">
                <a:solidFill>
                  <a:srgbClr val="2E2A36"/>
                </a:solidFill>
                <a:latin typeface="Montserrat"/>
              </a:rPr>
              <a:t>Portafolio existente (columbarios): la comisión se definirá en un sistema propio, en preparación.</a:t>
            </a:r>
          </a:p>
        </p:txBody>
      </p:sp>
      <p:sp>
        <p:nvSpPr>
          <p:cNvPr id="7" name="Rectangle 6"/>
          <p:cNvSpPr/>
          <p:nvPr/>
        </p:nvSpPr>
        <p:spPr>
          <a:xfrm>
            <a:off x="502920" y="6035040"/>
            <a:ext cx="6556248" cy="13716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Ficha Técnica de Cremación</a:t>
            </a:r>
          </a:p>
          <a:p>
            <a:pPr algn="l">
              <a:lnSpc>
                <a:spcPct val="115000"/>
              </a:lnSpc>
              <a:spcAft>
                <a:spcPts val="100"/>
              </a:spcAft>
            </a:pPr>
            <a:r>
              <a:rPr sz="1050" b="0" i="0">
                <a:solidFill>
                  <a:srgbClr val="2E2A36"/>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Visita al jardín</a:t>
            </a:r>
          </a:p>
          <a:p>
            <a:pPr algn="l">
              <a:lnSpc>
                <a:spcPct val="115000"/>
              </a:lnSpc>
              <a:spcAft>
                <a:spcPts val="100"/>
              </a:spcAft>
            </a:pPr>
            <a:r>
              <a:rPr sz="1050" b="0" i="0">
                <a:solidFill>
                  <a:srgbClr val="2E2A36"/>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Presentación «Jardines de Cenizas»</a:t>
            </a:r>
          </a:p>
          <a:p>
            <a:pPr algn="l">
              <a:lnSpc>
                <a:spcPct val="115000"/>
              </a:lnSpc>
              <a:spcAft>
                <a:spcPts val="100"/>
              </a:spcAft>
            </a:pPr>
            <a:r>
              <a:rPr sz="1050" b="0" i="0">
                <a:solidFill>
                  <a:srgbClr val="2E2A36"/>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Plazo de pago</a:t>
            </a:r>
          </a:p>
          <a:p>
            <a:pPr algn="l">
              <a:lnSpc>
                <a:spcPct val="115000"/>
              </a:lnSpc>
              <a:spcAft>
                <a:spcPts val="100"/>
              </a:spcAft>
            </a:pPr>
            <a:r>
              <a:rPr sz="1050" b="0" i="0">
                <a:solidFill>
                  <a:srgbClr val="2E2A36"/>
                </a:solidFill>
                <a:latin typeface="Montserrat"/>
              </a:rPr>
              <a:t>Comunique que se paga en hasta 120 meses con intereses; no prometa un valor de cuota.</a:t>
            </a:r>
          </a:p>
        </p:txBody>
      </p:sp>
      <p:sp>
        <p:nvSpPr>
          <p:cNvPr id="18" name="Rectangle 17"/>
          <p:cNvSpPr/>
          <p:nvPr/>
        </p:nvSpPr>
        <p:spPr>
          <a:xfrm>
            <a:off x="502920" y="4864608"/>
            <a:ext cx="6556248" cy="713232"/>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5B3F80"/>
                </a:solidFill>
                <a:latin typeface="Montserrat"/>
              </a:rPr>
              <a:t>Registro de contactos</a:t>
            </a:r>
          </a:p>
          <a:p>
            <a:pPr algn="l">
              <a:lnSpc>
                <a:spcPct val="115000"/>
              </a:lnSpc>
              <a:spcAft>
                <a:spcPts val="100"/>
              </a:spcAft>
            </a:pPr>
            <a:r>
              <a:rPr sz="1050" b="0" i="0">
                <a:solidFill>
                  <a:srgbClr val="2E2A36"/>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9A86A"/>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9A86A"/>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