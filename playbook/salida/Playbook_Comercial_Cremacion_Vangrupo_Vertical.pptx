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7562088"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Rounded Rectangle 1"/>
          <p:cNvSpPr/>
          <p:nvPr/>
        </p:nvSpPr>
        <p:spPr>
          <a:xfrm>
            <a:off x="502920" y="54864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a_auxiliadora.png"/>
          <p:cNvPicPr>
            <a:picLocks noChangeAspect="1"/>
          </p:cNvPicPr>
          <p:nvPr/>
        </p:nvPicPr>
        <p:blipFill>
          <a:blip r:embed="rId2"/>
          <a:stretch>
            <a:fillRect/>
          </a:stretch>
        </p:blipFill>
        <p:spPr>
          <a:xfrm>
            <a:off x="640080" y="889725"/>
            <a:ext cx="1467612" cy="460830"/>
          </a:xfrm>
          <a:prstGeom prst="rect">
            <a:avLst/>
          </a:prstGeom>
        </p:spPr>
      </p:pic>
      <p:pic>
        <p:nvPicPr>
          <p:cNvPr id="4" name="Picture 3" descr="hogar_de_las_memorias.png"/>
          <p:cNvPicPr>
            <a:picLocks noChangeAspect="1"/>
          </p:cNvPicPr>
          <p:nvPr/>
        </p:nvPicPr>
        <p:blipFill>
          <a:blip r:embed="rId3"/>
          <a:stretch>
            <a:fillRect/>
          </a:stretch>
        </p:blipFill>
        <p:spPr>
          <a:xfrm>
            <a:off x="2244852" y="826618"/>
            <a:ext cx="1467612" cy="587044"/>
          </a:xfrm>
          <a:prstGeom prst="rect">
            <a:avLst/>
          </a:prstGeom>
        </p:spPr>
      </p:pic>
      <p:pic>
        <p:nvPicPr>
          <p:cNvPr id="5" name="Picture 4" descr="las_colinas.png"/>
          <p:cNvPicPr>
            <a:picLocks noChangeAspect="1"/>
          </p:cNvPicPr>
          <p:nvPr/>
        </p:nvPicPr>
        <p:blipFill>
          <a:blip r:embed="rId4"/>
          <a:stretch>
            <a:fillRect/>
          </a:stretch>
        </p:blipFill>
        <p:spPr>
          <a:xfrm>
            <a:off x="3890223" y="685800"/>
            <a:ext cx="1386413" cy="868680"/>
          </a:xfrm>
          <a:prstGeom prst="rect">
            <a:avLst/>
          </a:prstGeom>
        </p:spPr>
      </p:pic>
      <p:pic>
        <p:nvPicPr>
          <p:cNvPr id="6" name="Picture 5" descr="vangrupo.png"/>
          <p:cNvPicPr>
            <a:picLocks noChangeAspect="1"/>
          </p:cNvPicPr>
          <p:nvPr/>
        </p:nvPicPr>
        <p:blipFill>
          <a:blip r:embed="rId5"/>
          <a:stretch>
            <a:fillRect/>
          </a:stretch>
        </p:blipFill>
        <p:spPr>
          <a:xfrm>
            <a:off x="5454396" y="932098"/>
            <a:ext cx="1467612" cy="376084"/>
          </a:xfrm>
          <a:prstGeom prst="rect">
            <a:avLst/>
          </a:prstGeom>
        </p:spPr>
      </p:pic>
      <p:sp>
        <p:nvSpPr>
          <p:cNvPr id="7" name="TextBox 6"/>
          <p:cNvSpPr txBox="1"/>
          <p:nvPr/>
        </p:nvSpPr>
        <p:spPr>
          <a:xfrm>
            <a:off x="594360" y="30175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5A059"/>
                </a:solidFill>
                <a:latin typeface="Montserrat"/>
              </a:rPr>
              <a:t>CAMPAÑA DÍA DE LOS MUERTOS 2026</a:t>
            </a:r>
          </a:p>
        </p:txBody>
      </p:sp>
      <p:sp>
        <p:nvSpPr>
          <p:cNvPr id="8" name="TextBox 7"/>
          <p:cNvSpPr txBox="1"/>
          <p:nvPr/>
        </p:nvSpPr>
        <p:spPr>
          <a:xfrm>
            <a:off x="594360" y="3474720"/>
            <a:ext cx="6556248" cy="2011680"/>
          </a:xfrm>
          <a:prstGeom prst="rect">
            <a:avLst/>
          </a:prstGeom>
          <a:noFill/>
        </p:spPr>
        <p:txBody>
          <a:bodyPr wrap="square" anchor="t" lIns="45720" rIns="45720" tIns="27432" bIns="27432">
            <a:spAutoFit/>
          </a:bodyPr>
          <a:lstStyle/>
          <a:p>
            <a:pPr algn="l">
              <a:lnSpc>
                <a:spcPct val="95000"/>
              </a:lnSpc>
              <a:spcAft>
                <a:spcPts val="0"/>
              </a:spcAft>
            </a:pPr>
            <a:r>
              <a:rPr sz="6000" b="1" i="0">
                <a:solidFill>
                  <a:srgbClr val="FFFFFF"/>
                </a:solidFill>
                <a:latin typeface="Playfair Display"/>
              </a:rPr>
              <a:t>Playbook</a:t>
            </a:r>
          </a:p>
          <a:p>
            <a:pPr algn="l">
              <a:lnSpc>
                <a:spcPct val="95000"/>
              </a:lnSpc>
              <a:spcAft>
                <a:spcPts val="0"/>
              </a:spcAft>
            </a:pPr>
            <a:r>
              <a:rPr sz="6000" b="1" i="0">
                <a:solidFill>
                  <a:srgbClr val="FFFFFF"/>
                </a:solidFill>
                <a:latin typeface="Playfair Display"/>
              </a:rPr>
              <a:t>Comercial</a:t>
            </a:r>
          </a:p>
        </p:txBody>
      </p:sp>
      <p:sp>
        <p:nvSpPr>
          <p:cNvPr id="9" name="TextBox 8"/>
          <p:cNvSpPr txBox="1"/>
          <p:nvPr/>
        </p:nvSpPr>
        <p:spPr>
          <a:xfrm>
            <a:off x="594360" y="5532120"/>
            <a:ext cx="6556248" cy="914400"/>
          </a:xfrm>
          <a:prstGeom prst="rect">
            <a:avLst/>
          </a:prstGeom>
          <a:noFill/>
        </p:spPr>
        <p:txBody>
          <a:bodyPr wrap="square" anchor="t" lIns="45720" rIns="45720" tIns="27432" bIns="27432">
            <a:spAutoFit/>
          </a:bodyPr>
          <a:lstStyle/>
          <a:p>
            <a:pPr algn="l">
              <a:lnSpc>
                <a:spcPct val="115000"/>
              </a:lnSpc>
              <a:spcAft>
                <a:spcPts val="400"/>
              </a:spcAft>
            </a:pPr>
            <a:r>
              <a:rPr sz="2200" b="0" i="0">
                <a:solidFill>
                  <a:srgbClr val="E8EDF3"/>
                </a:solidFill>
                <a:latin typeface="Playfair Display"/>
              </a:rPr>
              <a:t>Portafolio de Cremación y Jardines de Cenizas</a:t>
            </a:r>
          </a:p>
        </p:txBody>
      </p:sp>
      <p:sp>
        <p:nvSpPr>
          <p:cNvPr id="10" name="Rectangle 9"/>
          <p:cNvSpPr/>
          <p:nvPr/>
        </p:nvSpPr>
        <p:spPr>
          <a:xfrm>
            <a:off x="640080" y="662940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6858000"/>
            <a:ext cx="6556248" cy="82296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12" name="TextBox 11"/>
          <p:cNvSpPr txBox="1"/>
          <p:nvPr/>
        </p:nvSpPr>
        <p:spPr>
          <a:xfrm>
            <a:off x="594360" y="9052560"/>
            <a:ext cx="6556248" cy="365760"/>
          </a:xfrm>
          <a:prstGeom prst="rect">
            <a:avLst/>
          </a:prstGeom>
          <a:noFill/>
        </p:spPr>
        <p:txBody>
          <a:bodyPr wrap="square" anchor="t" lIns="45720" rIns="45720" tIns="27432" bIns="27432">
            <a:spAutoFit/>
          </a:bodyPr>
          <a:lstStyle/>
          <a:p>
            <a:pPr algn="l">
              <a:lnSpc>
                <a:spcPct val="115000"/>
              </a:lnSpc>
              <a:spcAft>
                <a:spcPts val="400"/>
              </a:spcAft>
            </a:pPr>
            <a:r>
              <a:rPr sz="1200" b="1" i="0">
                <a:solidFill>
                  <a:srgbClr val="C5A059"/>
                </a:solidFill>
                <a:latin typeface="Montserrat"/>
              </a:rPr>
              <a:t>La Auxiliadora · Hogar de las Memorias · Las Colinas · Vangrupo</a:t>
            </a:r>
          </a:p>
        </p:txBody>
      </p:sp>
      <p:sp>
        <p:nvSpPr>
          <p:cNvPr id="13" name="TextBox 12"/>
          <p:cNvSpPr txBox="1"/>
          <p:nvPr/>
        </p:nvSpPr>
        <p:spPr>
          <a:xfrm>
            <a:off x="594360" y="9418320"/>
            <a:ext cx="6556248" cy="36576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9FB0C4"/>
                </a:solidFill>
                <a:latin typeface="Montserrat"/>
              </a:rPr>
              <a:t>Versión 1.0 · Octubre 2026 · Uso interno del equipo comercial</a:t>
            </a:r>
          </a:p>
        </p:txBody>
      </p:sp>
      <p:sp>
        <p:nvSpPr>
          <p:cNvPr id="14" name="Rectangle 13"/>
          <p:cNvSpPr/>
          <p:nvPr/>
        </p:nvSpPr>
        <p:spPr>
          <a:xfrm>
            <a:off x="0" y="10460736"/>
            <a:ext cx="7562088" cy="22860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ANTES DE EMPEZAR</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Cómo usar este playbook</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280160"/>
          </a:xfrm>
          <a:prstGeom prst="rect">
            <a:avLst/>
          </a:prstGeom>
          <a:noFill/>
        </p:spPr>
        <p:txBody>
          <a:bodyPr wrap="square" anchor="t" lIns="45720" rIns="45720" tIns="27432" bIns="27432">
            <a:spAutoFit/>
          </a:bodyPr>
          <a:lstStyle/>
          <a:p>
            <a:pPr algn="l">
              <a:lnSpc>
                <a:spcPct val="115000"/>
              </a:lnSpc>
              <a:spcAft>
                <a:spcPts val="400"/>
              </a:spcAft>
            </a:pPr>
            <a:r>
              <a:rPr sz="1250" b="0" i="0">
                <a:solidFill>
                  <a:srgbClr val="2C3E50"/>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02920" y="2971800"/>
            <a:ext cx="6556248" cy="233172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2971800"/>
            <a:ext cx="73152" cy="2331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108960"/>
            <a:ext cx="6099048" cy="320040"/>
          </a:xfrm>
          <a:prstGeom prst="rect">
            <a:avLst/>
          </a:prstGeom>
          <a:noFill/>
        </p:spPr>
        <p:txBody>
          <a:bodyPr wrap="square" anchor="t" lIns="45720" rIns="45720" tIns="27432" bIns="27432">
            <a:spAutoFit/>
          </a:bodyPr>
          <a:lstStyle/>
          <a:p>
            <a:pPr algn="l">
              <a:lnSpc>
                <a:spcPct val="115000"/>
              </a:lnSpc>
              <a:spcAft>
                <a:spcPts val="400"/>
              </a:spcAft>
            </a:pPr>
            <a:r>
              <a:rPr sz="1050" b="1" i="0">
                <a:solidFill>
                  <a:srgbClr val="1B365D"/>
                </a:solidFill>
                <a:latin typeface="Montserrat"/>
              </a:rPr>
              <a:t>PENDIENTES DE VALIDACIÓN</a:t>
            </a:r>
          </a:p>
        </p:txBody>
      </p:sp>
      <p:sp>
        <p:nvSpPr>
          <p:cNvPr id="10" name="TextBox 9"/>
          <p:cNvSpPr txBox="1"/>
          <p:nvPr/>
        </p:nvSpPr>
        <p:spPr>
          <a:xfrm>
            <a:off x="777240" y="3474720"/>
            <a:ext cx="6099048" cy="1783080"/>
          </a:xfrm>
          <a:prstGeom prst="rect">
            <a:avLst/>
          </a:prstGeom>
          <a:noFill/>
        </p:spPr>
        <p:txBody>
          <a:bodyPr wrap="square" anchor="t" lIns="45720" rIns="45720" tIns="27432" bIns="27432">
            <a:spAutoFit/>
          </a:bodyPr>
          <a:lstStyle/>
          <a:p>
            <a:pPr algn="l">
              <a:lnSpc>
                <a:spcPct val="115000"/>
              </a:lnSpc>
              <a:spcAft>
                <a:spcPts val="400"/>
              </a:spcAft>
            </a:pPr>
            <a:r>
              <a:rPr sz="850" b="1" i="0">
                <a:solidFill>
                  <a:srgbClr val="C5A059"/>
                </a:solidFill>
                <a:latin typeface="Montserrat"/>
              </a:rPr>
              <a:t>■  </a:t>
            </a:r>
            <a:r>
              <a:rPr sz="1150" b="0" i="0">
                <a:solidFill>
                  <a:srgbClr val="2C3E50"/>
                </a:solidFill>
                <a:latin typeface="Montserrat"/>
              </a:rPr>
              <a:t>Política de comisiones: 8% en todos los productos. Confirmar con el Gerente Comercial antes de aplicar.</a:t>
            </a:r>
          </a:p>
          <a:p>
            <a:pPr algn="l">
              <a:lnSpc>
                <a:spcPct val="115000"/>
              </a:lnSpc>
              <a:spcAft>
                <a:spcPts val="400"/>
              </a:spcAft>
            </a:pPr>
            <a:r>
              <a:rPr sz="850" b="1" i="0">
                <a:solidFill>
                  <a:srgbClr val="C5A059"/>
                </a:solidFill>
                <a:latin typeface="Montserrat"/>
              </a:rPr>
              <a:t>■  </a:t>
            </a:r>
            <a:r>
              <a:rPr sz="1150" b="0" i="0">
                <a:solidFill>
                  <a:srgbClr val="2C3E50"/>
                </a:solidFill>
                <a:latin typeface="Montserrat"/>
              </a:rPr>
              <a:t>Jardín de Mascotas: confirmar si la urna biodegradable está incluida en el precio.</a:t>
            </a:r>
          </a:p>
          <a:p>
            <a:pPr algn="l">
              <a:lnSpc>
                <a:spcPct val="115000"/>
              </a:lnSpc>
              <a:spcAft>
                <a:spcPts val="400"/>
              </a:spcAft>
            </a:pPr>
            <a:r>
              <a:rPr sz="850" b="1" i="0">
                <a:solidFill>
                  <a:srgbClr val="C5A059"/>
                </a:solidFill>
                <a:latin typeface="Montserrat"/>
              </a:rPr>
              <a:t>■  </a:t>
            </a:r>
            <a:r>
              <a:rPr sz="1150" b="0" i="0">
                <a:solidFill>
                  <a:srgbClr val="2C3E50"/>
                </a:solidFill>
                <a:latin typeface="Montserrat"/>
              </a:rPr>
              <a:t>Placas de madera: confirmar el tratamiento de la madera para contacto con el suelo.</a:t>
            </a:r>
          </a:p>
          <a:p>
            <a:pPr algn="l">
              <a:lnSpc>
                <a:spcPct val="115000"/>
              </a:lnSpc>
              <a:spcAft>
                <a:spcPts val="400"/>
              </a:spcAft>
            </a:pPr>
            <a:r>
              <a:rPr sz="850" b="1" i="0">
                <a:solidFill>
                  <a:srgbClr val="C5A059"/>
                </a:solidFill>
                <a:latin typeface="Montserrat"/>
              </a:rPr>
              <a:t>■  </a:t>
            </a:r>
            <a:r>
              <a:rPr sz="1150" b="0" i="0">
                <a:solidFill>
                  <a:srgbClr val="2C3E50"/>
                </a:solidFill>
                <a:latin typeface="Montserrat"/>
              </a:rPr>
              <a:t>Jardín Ceremonial: producto en definición. No se vende ni se cotiza todavía.</a:t>
            </a:r>
          </a:p>
        </p:txBody>
      </p:sp>
      <p:sp>
        <p:nvSpPr>
          <p:cNvPr id="11" name="TextBox 10"/>
          <p:cNvSpPr txBox="1"/>
          <p:nvPr/>
        </p:nvSpPr>
        <p:spPr>
          <a:xfrm>
            <a:off x="502920" y="5486400"/>
            <a:ext cx="6556248"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1B365D"/>
                </a:solidFill>
                <a:latin typeface="Playfair Display"/>
              </a:rPr>
              <a:t>Contenido</a:t>
            </a:r>
          </a:p>
        </p:txBody>
      </p:sp>
      <p:sp>
        <p:nvSpPr>
          <p:cNvPr id="12" name="TextBox 11"/>
          <p:cNvSpPr txBox="1"/>
          <p:nvPr/>
        </p:nvSpPr>
        <p:spPr>
          <a:xfrm>
            <a:off x="502920" y="603504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01</a:t>
            </a:r>
          </a:p>
        </p:txBody>
      </p:sp>
      <p:sp>
        <p:nvSpPr>
          <p:cNvPr id="13" name="TextBox 12"/>
          <p:cNvSpPr txBox="1"/>
          <p:nvPr/>
        </p:nvSpPr>
        <p:spPr>
          <a:xfrm>
            <a:off x="1325880" y="611733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Quiénes somos y lo que vendemos</a:t>
            </a:r>
          </a:p>
        </p:txBody>
      </p:sp>
      <p:sp>
        <p:nvSpPr>
          <p:cNvPr id="14" name="Rectangle 13"/>
          <p:cNvSpPr/>
          <p:nvPr/>
        </p:nvSpPr>
        <p:spPr>
          <a:xfrm>
            <a:off x="502920" y="6483096"/>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1967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02</a:t>
            </a:r>
          </a:p>
        </p:txBody>
      </p:sp>
      <p:sp>
        <p:nvSpPr>
          <p:cNvPr id="16" name="TextBox 15"/>
          <p:cNvSpPr txBox="1"/>
          <p:nvPr/>
        </p:nvSpPr>
        <p:spPr>
          <a:xfrm>
            <a:off x="1325880" y="660196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A quién le vendemos</a:t>
            </a:r>
          </a:p>
        </p:txBody>
      </p:sp>
      <p:sp>
        <p:nvSpPr>
          <p:cNvPr id="17" name="Rectangle 16"/>
          <p:cNvSpPr/>
          <p:nvPr/>
        </p:nvSpPr>
        <p:spPr>
          <a:xfrm>
            <a:off x="502920" y="6967728"/>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700430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03</a:t>
            </a:r>
          </a:p>
        </p:txBody>
      </p:sp>
      <p:sp>
        <p:nvSpPr>
          <p:cNvPr id="19" name="TextBox 18"/>
          <p:cNvSpPr txBox="1"/>
          <p:nvPr/>
        </p:nvSpPr>
        <p:spPr>
          <a:xfrm>
            <a:off x="1325880" y="708660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El proceso de venta</a:t>
            </a:r>
          </a:p>
        </p:txBody>
      </p:sp>
      <p:sp>
        <p:nvSpPr>
          <p:cNvPr id="20" name="Rectangle 19"/>
          <p:cNvSpPr/>
          <p:nvPr/>
        </p:nvSpPr>
        <p:spPr>
          <a:xfrm>
            <a:off x="502920" y="7452360"/>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7488936"/>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04</a:t>
            </a:r>
          </a:p>
        </p:txBody>
      </p:sp>
      <p:sp>
        <p:nvSpPr>
          <p:cNvPr id="22" name="TextBox 21"/>
          <p:cNvSpPr txBox="1"/>
          <p:nvPr/>
        </p:nvSpPr>
        <p:spPr>
          <a:xfrm>
            <a:off x="1325880" y="7571232"/>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Producto por producto: speech y reglas</a:t>
            </a:r>
          </a:p>
        </p:txBody>
      </p:sp>
      <p:sp>
        <p:nvSpPr>
          <p:cNvPr id="23" name="Rectangle 22"/>
          <p:cNvSpPr/>
          <p:nvPr/>
        </p:nvSpPr>
        <p:spPr>
          <a:xfrm>
            <a:off x="502920" y="7936992"/>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7973568"/>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05</a:t>
            </a:r>
          </a:p>
        </p:txBody>
      </p:sp>
      <p:sp>
        <p:nvSpPr>
          <p:cNvPr id="25" name="TextBox 24"/>
          <p:cNvSpPr txBox="1"/>
          <p:nvPr/>
        </p:nvSpPr>
        <p:spPr>
          <a:xfrm>
            <a:off x="1325880" y="8055864"/>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Manejo de objeciones</a:t>
            </a:r>
          </a:p>
        </p:txBody>
      </p:sp>
      <p:sp>
        <p:nvSpPr>
          <p:cNvPr id="26" name="Rectangle 25"/>
          <p:cNvSpPr/>
          <p:nvPr/>
        </p:nvSpPr>
        <p:spPr>
          <a:xfrm>
            <a:off x="502920" y="8421624"/>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8458200"/>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06</a:t>
            </a:r>
          </a:p>
        </p:txBody>
      </p:sp>
      <p:sp>
        <p:nvSpPr>
          <p:cNvPr id="28" name="TextBox 27"/>
          <p:cNvSpPr txBox="1"/>
          <p:nvPr/>
        </p:nvSpPr>
        <p:spPr>
          <a:xfrm>
            <a:off x="1325880" y="8540496"/>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Precios, reglas y condiciones</a:t>
            </a:r>
          </a:p>
        </p:txBody>
      </p:sp>
      <p:sp>
        <p:nvSpPr>
          <p:cNvPr id="29" name="Rectangle 28"/>
          <p:cNvSpPr/>
          <p:nvPr/>
        </p:nvSpPr>
        <p:spPr>
          <a:xfrm>
            <a:off x="502920" y="8906256"/>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8942832"/>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07</a:t>
            </a:r>
          </a:p>
        </p:txBody>
      </p:sp>
      <p:sp>
        <p:nvSpPr>
          <p:cNvPr id="31" name="TextBox 30"/>
          <p:cNvSpPr txBox="1"/>
          <p:nvPr/>
        </p:nvSpPr>
        <p:spPr>
          <a:xfrm>
            <a:off x="1325880" y="9025128"/>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Política de comisiones</a:t>
            </a:r>
          </a:p>
        </p:txBody>
      </p:sp>
      <p:sp>
        <p:nvSpPr>
          <p:cNvPr id="32" name="Rectangle 31"/>
          <p:cNvSpPr/>
          <p:nvPr/>
        </p:nvSpPr>
        <p:spPr>
          <a:xfrm>
            <a:off x="502920" y="9390888"/>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9427464"/>
            <a:ext cx="82296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5A059"/>
                </a:solidFill>
                <a:latin typeface="Playfair Display"/>
              </a:rPr>
              <a:t>08</a:t>
            </a:r>
          </a:p>
        </p:txBody>
      </p:sp>
      <p:sp>
        <p:nvSpPr>
          <p:cNvPr id="34" name="TextBox 33"/>
          <p:cNvSpPr txBox="1"/>
          <p:nvPr/>
        </p:nvSpPr>
        <p:spPr>
          <a:xfrm>
            <a:off x="1325880" y="9509760"/>
            <a:ext cx="5733288" cy="384048"/>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1B365D"/>
                </a:solidFill>
                <a:latin typeface="Montserrat"/>
              </a:rPr>
              <a:t>Herramientas de apoyo</a:t>
            </a:r>
          </a:p>
        </p:txBody>
      </p:sp>
      <p:sp>
        <p:nvSpPr>
          <p:cNvPr id="35" name="Rectangle 34"/>
          <p:cNvSpPr/>
          <p:nvPr/>
        </p:nvSpPr>
        <p:spPr>
          <a:xfrm>
            <a:off x="502920" y="9875520"/>
            <a:ext cx="6556248"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7" name="TextBox 3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QUIÉNES SOMOS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Acompañamos familias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00200"/>
            <a:ext cx="6556248" cy="1600200"/>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pic>
        <p:nvPicPr>
          <p:cNvPr id="7" name="Picture 6" descr="01_portafolio.png"/>
          <p:cNvPicPr>
            <a:picLocks noChangeAspect="1"/>
          </p:cNvPicPr>
          <p:nvPr/>
        </p:nvPicPr>
        <p:blipFill>
          <a:blip r:embed="rId2"/>
          <a:stretch>
            <a:fillRect/>
          </a:stretch>
        </p:blipFill>
        <p:spPr>
          <a:xfrm>
            <a:off x="502920" y="3213230"/>
            <a:ext cx="6556248" cy="2854699"/>
          </a:xfrm>
          <a:prstGeom prst="rect">
            <a:avLst/>
          </a:prstGeom>
        </p:spPr>
      </p:pic>
      <p:sp>
        <p:nvSpPr>
          <p:cNvPr id="8" name="Rectangle 7"/>
          <p:cNvSpPr/>
          <p:nvPr/>
        </p:nvSpPr>
        <p:spPr>
          <a:xfrm>
            <a:off x="502920" y="626364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UN LUGAR PARA VOLVER</a:t>
            </a:r>
          </a:p>
        </p:txBody>
      </p:sp>
      <p:sp>
        <p:nvSpPr>
          <p:cNvPr id="11" name="TextBox 10"/>
          <p:cNvSpPr txBox="1"/>
          <p:nvPr/>
        </p:nvSpPr>
        <p:spPr>
          <a:xfrm>
            <a:off x="640080"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La familia tiene un sitio físico, digno y verde para visitar y recordar.</a:t>
            </a:r>
          </a:p>
        </p:txBody>
      </p:sp>
      <p:sp>
        <p:nvSpPr>
          <p:cNvPr id="12" name="Rectangle 11"/>
          <p:cNvSpPr/>
          <p:nvPr/>
        </p:nvSpPr>
        <p:spPr>
          <a:xfrm>
            <a:off x="3872484" y="626364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72484" y="626364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09644" y="637336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PRECIO ACCESIBLE</a:t>
            </a:r>
          </a:p>
        </p:txBody>
      </p:sp>
      <p:sp>
        <p:nvSpPr>
          <p:cNvPr id="15" name="TextBox 14"/>
          <p:cNvSpPr txBox="1"/>
          <p:nvPr/>
        </p:nvSpPr>
        <p:spPr>
          <a:xfrm>
            <a:off x="4009644" y="664768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Desde US$ 400 y con financiamiento: un destino final al alcance de más familias.</a:t>
            </a:r>
          </a:p>
        </p:txBody>
      </p:sp>
      <p:sp>
        <p:nvSpPr>
          <p:cNvPr id="16" name="Rectangle 15"/>
          <p:cNvSpPr/>
          <p:nvPr/>
        </p:nvSpPr>
        <p:spPr>
          <a:xfrm>
            <a:off x="502920" y="754380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75438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NATURALEZA Y LEGADO</a:t>
            </a:r>
          </a:p>
        </p:txBody>
      </p:sp>
      <p:sp>
        <p:nvSpPr>
          <p:cNvPr id="19" name="TextBox 18"/>
          <p:cNvSpPr txBox="1"/>
          <p:nvPr/>
        </p:nvSpPr>
        <p:spPr>
          <a:xfrm>
            <a:off x="640080"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Jardines de plantas de sombra, agua corriente y bosque: un homenaje que vive.</a:t>
            </a:r>
          </a:p>
        </p:txBody>
      </p:sp>
      <p:sp>
        <p:nvSpPr>
          <p:cNvPr id="20" name="Rectangle 19"/>
          <p:cNvSpPr/>
          <p:nvPr/>
        </p:nvSpPr>
        <p:spPr>
          <a:xfrm>
            <a:off x="3872484" y="7543800"/>
            <a:ext cx="3186684" cy="11430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872484" y="75438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09644" y="76535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SIN DECISIONES BAJO PRESIÓN</a:t>
            </a:r>
          </a:p>
        </p:txBody>
      </p:sp>
      <p:sp>
        <p:nvSpPr>
          <p:cNvPr id="23" name="TextBox 22"/>
          <p:cNvSpPr txBox="1"/>
          <p:nvPr/>
        </p:nvSpPr>
        <p:spPr>
          <a:xfrm>
            <a:off x="4009644" y="7927848"/>
            <a:ext cx="2912364" cy="6858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Planificar hoy evita que la familia decida en el peor momento.</a:t>
            </a:r>
          </a:p>
        </p:txBody>
      </p:sp>
      <p:sp>
        <p:nvSpPr>
          <p:cNvPr id="24" name="Rectangle 23"/>
          <p:cNvSpPr/>
          <p:nvPr/>
        </p:nvSpPr>
        <p:spPr>
          <a:xfrm>
            <a:off x="502920" y="8915400"/>
            <a:ext cx="6556248" cy="10972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8915400"/>
            <a:ext cx="6099048" cy="109728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C5A059"/>
                </a:solidFill>
                <a:latin typeface="Montserrat"/>
              </a:rPr>
              <a:t>REGLA DE ORO   </a:t>
            </a:r>
            <a:r>
              <a:rPr sz="1200" b="0" i="1">
                <a:solidFill>
                  <a:srgbClr val="FFFFFF"/>
                </a:solidFill>
                <a:latin typeface="Montserrat"/>
              </a:rPr>
              <a:t>Nuestra diferencia no es el precio: es la atención. Antes de cada propuesta, pregúntese: «¿esto acoge a la familia o solo cierra un negocio?».</a:t>
            </a:r>
          </a:p>
        </p:txBody>
      </p:sp>
      <p:sp>
        <p:nvSpPr>
          <p:cNvPr id="26" name="TextBox 25"/>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7" name="TextBox 26"/>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01 · LO QUE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Dos momentos de venta</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1463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556248" cy="54864"/>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105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1B365D"/>
                </a:solidFill>
                <a:latin typeface="Montserrat"/>
              </a:rPr>
              <a:t>Prenecesidad (preventiva)</a:t>
            </a:r>
          </a:p>
        </p:txBody>
      </p:sp>
      <p:sp>
        <p:nvSpPr>
          <p:cNvPr id="9" name="TextBox 8"/>
          <p:cNvSpPr txBox="1"/>
          <p:nvPr/>
        </p:nvSpPr>
        <p:spPr>
          <a:xfrm>
            <a:off x="685800" y="23957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Venta planificada, de ciclo largo. La familia contrata hoy para protegerse y pagar en cuotas. Es la venta que conducimos activamente.</a:t>
            </a:r>
          </a:p>
        </p:txBody>
      </p:sp>
      <p:sp>
        <p:nvSpPr>
          <p:cNvPr id="10" name="Rectangle 9"/>
          <p:cNvSpPr/>
          <p:nvPr/>
        </p:nvSpPr>
        <p:spPr>
          <a:xfrm>
            <a:off x="502920" y="3246120"/>
            <a:ext cx="6556248" cy="146304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46120"/>
            <a:ext cx="6556248" cy="54864"/>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410712"/>
            <a:ext cx="6190488" cy="566928"/>
          </a:xfrm>
          <a:prstGeom prst="rect">
            <a:avLst/>
          </a:prstGeom>
          <a:noFill/>
        </p:spPr>
        <p:txBody>
          <a:bodyPr wrap="square" anchor="ctr" lIns="45720" rIns="45720" tIns="27432" bIns="27432">
            <a:spAutoFit/>
          </a:bodyPr>
          <a:lstStyle/>
          <a:p>
            <a:pPr algn="l">
              <a:lnSpc>
                <a:spcPct val="100000"/>
              </a:lnSpc>
              <a:spcAft>
                <a:spcPts val="400"/>
              </a:spcAft>
            </a:pPr>
            <a:r>
              <a:rPr sz="1500" b="1" i="0">
                <a:solidFill>
                  <a:srgbClr val="1B365D"/>
                </a:solidFill>
                <a:latin typeface="Montserrat"/>
              </a:rPr>
              <a:t>Necesidad inmediata (emergencia)</a:t>
            </a:r>
          </a:p>
        </p:txBody>
      </p:sp>
      <p:sp>
        <p:nvSpPr>
          <p:cNvPr id="13" name="TextBox 12"/>
          <p:cNvSpPr txBox="1"/>
          <p:nvPr/>
        </p:nvSpPr>
        <p:spPr>
          <a:xfrm>
            <a:off x="685800" y="3995928"/>
            <a:ext cx="6190488" cy="62179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C3E50"/>
                </a:solidFill>
                <a:latin typeface="Montserrat"/>
              </a:rPr>
              <a:t>En el momento de la pérdida. Aquí no se «vende»: se acoge, se informa con calma y se resuelve con agilidad y respeto.</a:t>
            </a:r>
          </a:p>
        </p:txBody>
      </p:sp>
      <p:sp>
        <p:nvSpPr>
          <p:cNvPr id="14" name="TextBox 13"/>
          <p:cNvSpPr txBox="1"/>
          <p:nvPr/>
        </p:nvSpPr>
        <p:spPr>
          <a:xfrm>
            <a:off x="502920" y="4983480"/>
            <a:ext cx="6556248"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Qué producto lleva cada equipo</a:t>
            </a:r>
          </a:p>
        </p:txBody>
      </p:sp>
      <p:sp>
        <p:nvSpPr>
          <p:cNvPr id="15" name="Rectangle 14"/>
          <p:cNvSpPr/>
          <p:nvPr/>
        </p:nvSpPr>
        <p:spPr>
          <a:xfrm>
            <a:off x="502920" y="5532120"/>
            <a:ext cx="2103120"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553212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UAF · Unidad de Apoyo Familiar</a:t>
            </a:r>
          </a:p>
        </p:txBody>
      </p:sp>
      <p:sp>
        <p:nvSpPr>
          <p:cNvPr id="17" name="Rectangle 16"/>
          <p:cNvSpPr/>
          <p:nvPr/>
        </p:nvSpPr>
        <p:spPr>
          <a:xfrm>
            <a:off x="2606040" y="5532120"/>
            <a:ext cx="4453128"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0" y="562356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A8794"/>
                </a:solidFill>
                <a:latin typeface="Montserrat"/>
              </a:rPr>
              <a:t>Acompaña a la familia durante el servicio y trabaja referidos.</a:t>
            </a:r>
          </a:p>
          <a:p>
            <a:pPr algn="l">
              <a:lnSpc>
                <a:spcPct val="115000"/>
              </a:lnSpc>
              <a:spcAft>
                <a:spcPts val="400"/>
              </a:spcAft>
            </a:pPr>
            <a:r>
              <a:rPr sz="1050" b="1" i="0">
                <a:solidFill>
                  <a:srgbClr val="C5A059"/>
                </a:solidFill>
                <a:latin typeface="Montserrat"/>
              </a:rPr>
              <a:t>Producto foco: </a:t>
            </a:r>
            <a:r>
              <a:rPr sz="1050" b="1" i="0">
                <a:solidFill>
                  <a:srgbClr val="2C3E50"/>
                </a:solidFill>
                <a:latin typeface="Montserrat"/>
              </a:rPr>
              <a:t>Jardín Individual y Ecológico como destino de las cenizas; Solución Modular para el resto de la familia (venta de prenecesidad posterior).</a:t>
            </a:r>
          </a:p>
        </p:txBody>
      </p:sp>
      <p:sp>
        <p:nvSpPr>
          <p:cNvPr id="19" name="Rectangle 18"/>
          <p:cNvSpPr/>
          <p:nvPr/>
        </p:nvSpPr>
        <p:spPr>
          <a:xfrm>
            <a:off x="502920" y="7040880"/>
            <a:ext cx="2103120"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704088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Pilares Alternativos</a:t>
            </a:r>
          </a:p>
        </p:txBody>
      </p:sp>
      <p:sp>
        <p:nvSpPr>
          <p:cNvPr id="21" name="Rectangle 20"/>
          <p:cNvSpPr/>
          <p:nvPr/>
        </p:nvSpPr>
        <p:spPr>
          <a:xfrm>
            <a:off x="2606040" y="7040880"/>
            <a:ext cx="4453128"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0" y="713232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A8794"/>
                </a:solidFill>
                <a:latin typeface="Montserrat"/>
              </a:rPr>
              <a:t>Eventos, centros comerciales, bases de cancelaciones y telemercadeo.</a:t>
            </a:r>
          </a:p>
          <a:p>
            <a:pPr algn="l">
              <a:lnSpc>
                <a:spcPct val="115000"/>
              </a:lnSpc>
              <a:spcAft>
                <a:spcPts val="400"/>
              </a:spcAft>
            </a:pPr>
            <a:r>
              <a:rPr sz="1050" b="1" i="0">
                <a:solidFill>
                  <a:srgbClr val="C5A059"/>
                </a:solidFill>
                <a:latin typeface="Montserrat"/>
              </a:rPr>
              <a:t>Producto foco: </a:t>
            </a:r>
            <a:r>
              <a:rPr sz="1050" b="1" i="0">
                <a:solidFill>
                  <a:srgbClr val="2C3E50"/>
                </a:solidFill>
                <a:latin typeface="Montserrat"/>
              </a:rPr>
              <a:t>Solución Modular (cuota baja, fácil de explicar) y Jardín de Mascotas.</a:t>
            </a:r>
          </a:p>
        </p:txBody>
      </p:sp>
      <p:sp>
        <p:nvSpPr>
          <p:cNvPr id="23" name="Rectangle 22"/>
          <p:cNvSpPr/>
          <p:nvPr/>
        </p:nvSpPr>
        <p:spPr>
          <a:xfrm>
            <a:off x="502920" y="8549640"/>
            <a:ext cx="2103120"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8549640"/>
            <a:ext cx="1883664" cy="137160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AML · Puerta a puerta</a:t>
            </a:r>
          </a:p>
        </p:txBody>
      </p:sp>
      <p:sp>
        <p:nvSpPr>
          <p:cNvPr id="25" name="Rectangle 24"/>
          <p:cNvSpPr/>
          <p:nvPr/>
        </p:nvSpPr>
        <p:spPr>
          <a:xfrm>
            <a:off x="2606040" y="8549640"/>
            <a:ext cx="4453128" cy="13716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0" y="8641080"/>
            <a:ext cx="4178808" cy="1234440"/>
          </a:xfrm>
          <a:prstGeom prst="rect">
            <a:avLst/>
          </a:prstGeom>
          <a:noFill/>
        </p:spPr>
        <p:txBody>
          <a:bodyPr wrap="square" anchor="t" lIns="45720" rIns="45720" tIns="27432" bIns="27432">
            <a:spAutoFit/>
          </a:bodyPr>
          <a:lstStyle/>
          <a:p>
            <a:pPr algn="l">
              <a:lnSpc>
                <a:spcPct val="115000"/>
              </a:lnSpc>
              <a:spcAft>
                <a:spcPts val="400"/>
              </a:spcAft>
            </a:pPr>
            <a:r>
              <a:rPr sz="1050" b="0" i="1">
                <a:solidFill>
                  <a:srgbClr val="7A8794"/>
                </a:solidFill>
                <a:latin typeface="Montserrat"/>
              </a:rPr>
              <a:t>Prospección sistemática en colonias.</a:t>
            </a:r>
          </a:p>
          <a:p>
            <a:pPr algn="l">
              <a:lnSpc>
                <a:spcPct val="115000"/>
              </a:lnSpc>
              <a:spcAft>
                <a:spcPts val="400"/>
              </a:spcAft>
            </a:pPr>
            <a:r>
              <a:rPr sz="1050" b="1" i="0">
                <a:solidFill>
                  <a:srgbClr val="C5A059"/>
                </a:solidFill>
                <a:latin typeface="Montserrat"/>
              </a:rPr>
              <a:t>Producto foco: </a:t>
            </a:r>
            <a:r>
              <a:rPr sz="1050" b="1" i="0">
                <a:solidFill>
                  <a:srgbClr val="2C3E50"/>
                </a:solidFill>
                <a:latin typeface="Montserrat"/>
              </a:rPr>
              <a:t>Solución Modular + Jardín Individual: la combinación más completa para el hogar.</a:t>
            </a:r>
          </a:p>
        </p:txBody>
      </p:sp>
      <p:sp>
        <p:nvSpPr>
          <p:cNvPr id="27" name="TextBox 2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8" name="TextBox 2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02 · A QUIÉN LE VENDEMOS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Cinco perfiles de cliente</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Identifique el perfil en los primeros minutos y adapte el tono.</a:t>
            </a:r>
          </a:p>
        </p:txBody>
      </p:sp>
      <p:sp>
        <p:nvSpPr>
          <p:cNvPr id="7" name="Rectangle 6"/>
          <p:cNvSpPr/>
          <p:nvPr/>
        </p:nvSpPr>
        <p:spPr>
          <a:xfrm>
            <a:off x="502920" y="19659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19659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Planificador</a:t>
            </a:r>
          </a:p>
          <a:p>
            <a:pPr algn="l">
              <a:lnSpc>
                <a:spcPct val="115000"/>
              </a:lnSpc>
              <a:spcAft>
                <a:spcPts val="200"/>
              </a:spcAft>
            </a:pPr>
            <a:r>
              <a:rPr sz="900" b="0" i="0">
                <a:solidFill>
                  <a:srgbClr val="C9D3DF"/>
                </a:solidFill>
                <a:latin typeface="Montserrat"/>
              </a:rPr>
              <a:t>45–65 años, compra para sí mismo.</a:t>
            </a:r>
          </a:p>
        </p:txBody>
      </p:sp>
      <p:sp>
        <p:nvSpPr>
          <p:cNvPr id="9" name="Rectangle 8"/>
          <p:cNvSpPr/>
          <p:nvPr/>
        </p:nvSpPr>
        <p:spPr>
          <a:xfrm>
            <a:off x="2423160" y="19659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0391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Tranquilidad y legado. No quiere dejar cargas a su familia.</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Calma, sin prisa, datos claros.</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Solución Modular · Jardín Individual · Jardín Familiar</a:t>
            </a:r>
          </a:p>
        </p:txBody>
      </p:sp>
      <p:sp>
        <p:nvSpPr>
          <p:cNvPr id="11" name="Rectangle 10"/>
          <p:cNvSpPr/>
          <p:nvPr/>
        </p:nvSpPr>
        <p:spPr>
          <a:xfrm>
            <a:off x="502920" y="33375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33375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Hijo Cuidador</a:t>
            </a:r>
          </a:p>
          <a:p>
            <a:pPr algn="l">
              <a:lnSpc>
                <a:spcPct val="115000"/>
              </a:lnSpc>
              <a:spcAft>
                <a:spcPts val="200"/>
              </a:spcAft>
            </a:pPr>
            <a:r>
              <a:rPr sz="900" b="0" i="0">
                <a:solidFill>
                  <a:srgbClr val="C9D3DF"/>
                </a:solidFill>
                <a:latin typeface="Montserrat"/>
              </a:rPr>
              <a:t>25–45 años, compra para sus padres.</a:t>
            </a:r>
          </a:p>
        </p:txBody>
      </p:sp>
      <p:sp>
        <p:nvSpPr>
          <p:cNvPr id="13" name="Rectangle 12"/>
          <p:cNvSpPr/>
          <p:nvPr/>
        </p:nvSpPr>
        <p:spPr>
          <a:xfrm>
            <a:off x="2423160" y="33375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0" y="34107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Practicidad, control del presupuesto, evitar improvisar.</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Claro, práctico, comparativo.</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Solución Modular · Jardín Familiar</a:t>
            </a:r>
          </a:p>
        </p:txBody>
      </p:sp>
      <p:sp>
        <p:nvSpPr>
          <p:cNvPr id="15" name="Rectangle 14"/>
          <p:cNvSpPr/>
          <p:nvPr/>
        </p:nvSpPr>
        <p:spPr>
          <a:xfrm>
            <a:off x="502920" y="47091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47091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La Familia en Urgencia</a:t>
            </a:r>
          </a:p>
          <a:p>
            <a:pPr algn="l">
              <a:lnSpc>
                <a:spcPct val="115000"/>
              </a:lnSpc>
              <a:spcAft>
                <a:spcPts val="200"/>
              </a:spcAft>
            </a:pPr>
            <a:r>
              <a:rPr sz="900" b="0" i="0">
                <a:solidFill>
                  <a:srgbClr val="C9D3DF"/>
                </a:solidFill>
                <a:latin typeface="Montserrat"/>
              </a:rPr>
              <a:t>En el momento de la pérdida.</a:t>
            </a:r>
          </a:p>
        </p:txBody>
      </p:sp>
      <p:sp>
        <p:nvSpPr>
          <p:cNvPr id="17" name="Rectangle 16"/>
          <p:cNvSpPr/>
          <p:nvPr/>
        </p:nvSpPr>
        <p:spPr>
          <a:xfrm>
            <a:off x="2423160" y="47091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60320" y="47823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Quitar peso, dignidad, agilidad.</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Acogida total, nunca comercial.</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Jardín Individual · Jardín Ecológico</a:t>
            </a:r>
          </a:p>
        </p:txBody>
      </p:sp>
      <p:sp>
        <p:nvSpPr>
          <p:cNvPr id="19" name="Rectangle 18"/>
          <p:cNvSpPr/>
          <p:nvPr/>
        </p:nvSpPr>
        <p:spPr>
          <a:xfrm>
            <a:off x="502920" y="60807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60807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Consciente Ecológico</a:t>
            </a:r>
          </a:p>
          <a:p>
            <a:pPr algn="l">
              <a:lnSpc>
                <a:spcPct val="115000"/>
              </a:lnSpc>
              <a:spcAft>
                <a:spcPts val="200"/>
              </a:spcAft>
            </a:pPr>
            <a:r>
              <a:rPr sz="900" b="0" i="0">
                <a:solidFill>
                  <a:srgbClr val="C9D3DF"/>
                </a:solidFill>
                <a:latin typeface="Montserrat"/>
              </a:rPr>
              <a:t>30–55 años, valora la naturaleza.</a:t>
            </a:r>
          </a:p>
        </p:txBody>
      </p:sp>
      <p:sp>
        <p:nvSpPr>
          <p:cNvPr id="21" name="Rectangle 20"/>
          <p:cNvSpPr/>
          <p:nvPr/>
        </p:nvSpPr>
        <p:spPr>
          <a:xfrm>
            <a:off x="2423160" y="60807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60320" y="61539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Volver a la tierra, sencillez, sostenibilidad.</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Inspirador, natural, sin solemnidad excesiva.</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Jardín Ecológico</a:t>
            </a:r>
          </a:p>
        </p:txBody>
      </p:sp>
      <p:sp>
        <p:nvSpPr>
          <p:cNvPr id="23" name="Rectangle 22"/>
          <p:cNvSpPr/>
          <p:nvPr/>
        </p:nvSpPr>
        <p:spPr>
          <a:xfrm>
            <a:off x="502920" y="7452360"/>
            <a:ext cx="1920240" cy="1261872"/>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7452360"/>
            <a:ext cx="1737360" cy="1261872"/>
          </a:xfrm>
          <a:prstGeom prst="rect">
            <a:avLst/>
          </a:prstGeom>
          <a:noFill/>
        </p:spPr>
        <p:txBody>
          <a:bodyPr wrap="square" anchor="ctr" lIns="45720" rIns="45720" tIns="27432" bIns="27432">
            <a:spAutoFit/>
          </a:bodyPr>
          <a:lstStyle/>
          <a:p>
            <a:pPr algn="l">
              <a:lnSpc>
                <a:spcPct val="115000"/>
              </a:lnSpc>
              <a:spcAft>
                <a:spcPts val="200"/>
              </a:spcAft>
            </a:pPr>
            <a:r>
              <a:rPr sz="1250" b="1" i="0">
                <a:solidFill>
                  <a:srgbClr val="FFFFFF"/>
                </a:solidFill>
                <a:latin typeface="Montserrat"/>
              </a:rPr>
              <a:t>El Tutor de Mascota</a:t>
            </a:r>
          </a:p>
          <a:p>
            <a:pPr algn="l">
              <a:lnSpc>
                <a:spcPct val="115000"/>
              </a:lnSpc>
              <a:spcAft>
                <a:spcPts val="200"/>
              </a:spcAft>
            </a:pPr>
            <a:r>
              <a:rPr sz="900" b="0" i="0">
                <a:solidFill>
                  <a:srgbClr val="C9D3DF"/>
                </a:solidFill>
                <a:latin typeface="Montserrat"/>
              </a:rPr>
              <a:t>20–60 años, despide a su compañero.</a:t>
            </a:r>
          </a:p>
        </p:txBody>
      </p:sp>
      <p:sp>
        <p:nvSpPr>
          <p:cNvPr id="25" name="Rectangle 24"/>
          <p:cNvSpPr/>
          <p:nvPr/>
        </p:nvSpPr>
        <p:spPr>
          <a:xfrm>
            <a:off x="2423160" y="7452360"/>
            <a:ext cx="4636008" cy="126187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7525512"/>
            <a:ext cx="4361688" cy="1143000"/>
          </a:xfrm>
          <a:prstGeom prst="rect">
            <a:avLst/>
          </a:prstGeom>
          <a:noFill/>
        </p:spPr>
        <p:txBody>
          <a:bodyPr wrap="square" anchor="t" lIns="45720" rIns="45720" tIns="27432" bIns="27432">
            <a:spAutoFit/>
          </a:bodyPr>
          <a:lstStyle/>
          <a:p>
            <a:pPr algn="l">
              <a:lnSpc>
                <a:spcPct val="115000"/>
              </a:lnSpc>
              <a:spcAft>
                <a:spcPts val="300"/>
              </a:spcAft>
            </a:pPr>
            <a:r>
              <a:rPr sz="1050" b="1" i="0">
                <a:solidFill>
                  <a:srgbClr val="1B365D"/>
                </a:solidFill>
                <a:latin typeface="Montserrat"/>
              </a:rPr>
              <a:t>Busca: </a:t>
            </a:r>
            <a:r>
              <a:rPr sz="1050" b="0" i="0">
                <a:solidFill>
                  <a:srgbClr val="2C3E50"/>
                </a:solidFill>
                <a:latin typeface="Montserrat"/>
              </a:rPr>
              <a:t>Respeto al vínculo, un lugar para recordar.</a:t>
            </a:r>
          </a:p>
          <a:p>
            <a:pPr algn="l">
              <a:lnSpc>
                <a:spcPct val="115000"/>
              </a:lnSpc>
              <a:spcAft>
                <a:spcPts val="300"/>
              </a:spcAft>
            </a:pPr>
            <a:r>
              <a:rPr sz="1050" b="1" i="0">
                <a:solidFill>
                  <a:srgbClr val="1B365D"/>
                </a:solidFill>
                <a:latin typeface="Montserrat"/>
              </a:rPr>
              <a:t>Tono: </a:t>
            </a:r>
            <a:r>
              <a:rPr sz="1050" b="0" i="0">
                <a:solidFill>
                  <a:srgbClr val="2C3E50"/>
                </a:solidFill>
                <a:latin typeface="Montserrat"/>
              </a:rPr>
              <a:t>Emocional, cálido y ligero.</a:t>
            </a:r>
          </a:p>
          <a:p>
            <a:pPr algn="l">
              <a:lnSpc>
                <a:spcPct val="115000"/>
              </a:lnSpc>
              <a:spcAft>
                <a:spcPts val="300"/>
              </a:spcAft>
            </a:pPr>
            <a:r>
              <a:rPr sz="1050" b="1" i="0">
                <a:solidFill>
                  <a:srgbClr val="C5A059"/>
                </a:solidFill>
                <a:latin typeface="Montserrat"/>
              </a:rPr>
              <a:t>Ideal: </a:t>
            </a:r>
            <a:r>
              <a:rPr sz="1050" b="1" i="0">
                <a:solidFill>
                  <a:srgbClr val="2C3E50"/>
                </a:solidFill>
                <a:latin typeface="Montserrat"/>
              </a:rPr>
              <a:t>Jardín de Mascotas</a:t>
            </a:r>
          </a:p>
        </p:txBody>
      </p:sp>
      <p:sp>
        <p:nvSpPr>
          <p:cNvPr id="27" name="Rectangle 26"/>
          <p:cNvSpPr/>
          <p:nvPr/>
        </p:nvSpPr>
        <p:spPr>
          <a:xfrm>
            <a:off x="502920" y="8869680"/>
            <a:ext cx="6556248" cy="118872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886968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1B365D"/>
                </a:solidFill>
                <a:latin typeface="Montserrat"/>
              </a:rPr>
              <a:t>FILTRO N·O·A   </a:t>
            </a:r>
            <a:r>
              <a:rPr sz="1050" b="0" i="0">
                <a:solidFill>
                  <a:srgbClr val="2C3E50"/>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0" name="TextBox 2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03 · EL PROCESO DE VENTA</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Del contacto a la posventa</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502920" y="1587041"/>
            <a:ext cx="6556248" cy="2998117"/>
          </a:xfrm>
          <a:prstGeom prst="rect">
            <a:avLst/>
          </a:prstGeom>
        </p:spPr>
      </p:pic>
      <p:pic>
        <p:nvPicPr>
          <p:cNvPr id="7" name="Picture 6" descr="03_conversacion.png"/>
          <p:cNvPicPr>
            <a:picLocks noChangeAspect="1"/>
          </p:cNvPicPr>
          <p:nvPr/>
        </p:nvPicPr>
        <p:blipFill>
          <a:blip r:embed="rId3"/>
          <a:stretch>
            <a:fillRect/>
          </a:stretch>
        </p:blipFill>
        <p:spPr>
          <a:xfrm>
            <a:off x="502920" y="4798335"/>
            <a:ext cx="6556248" cy="1376129"/>
          </a:xfrm>
          <a:prstGeom prst="rect">
            <a:avLst/>
          </a:prstGeom>
        </p:spPr>
      </p:pic>
      <p:sp>
        <p:nvSpPr>
          <p:cNvPr id="8" name="TextBox 7"/>
          <p:cNvSpPr txBox="1"/>
          <p:nvPr/>
        </p:nvSpPr>
        <p:spPr>
          <a:xfrm>
            <a:off x="502920" y="6446520"/>
            <a:ext cx="6556248"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1B365D"/>
                </a:solidFill>
                <a:latin typeface="Playfair Display"/>
              </a:rPr>
              <a:t>Rituales del equipo</a:t>
            </a:r>
          </a:p>
        </p:txBody>
      </p:sp>
      <p:sp>
        <p:nvSpPr>
          <p:cNvPr id="9" name="Rectangle 8"/>
          <p:cNvSpPr/>
          <p:nvPr/>
        </p:nvSpPr>
        <p:spPr>
          <a:xfrm>
            <a:off x="502920" y="6949440"/>
            <a:ext cx="6556248" cy="9144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6949440"/>
            <a:ext cx="6556248"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7059168"/>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DIARIO</a:t>
            </a:r>
          </a:p>
        </p:txBody>
      </p:sp>
      <p:sp>
        <p:nvSpPr>
          <p:cNvPr id="12" name="TextBox 11"/>
          <p:cNvSpPr txBox="1"/>
          <p:nvPr/>
        </p:nvSpPr>
        <p:spPr>
          <a:xfrm>
            <a:off x="640080" y="7333488"/>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C3E50"/>
                </a:solidFill>
                <a:latin typeface="Montserrat"/>
              </a:rPr>
              <a:t>Alineación rápida de 10 minutos: pendientes y bloqueos.</a:t>
            </a:r>
          </a:p>
        </p:txBody>
      </p:sp>
      <p:sp>
        <p:nvSpPr>
          <p:cNvPr id="13" name="Rectangle 12"/>
          <p:cNvSpPr/>
          <p:nvPr/>
        </p:nvSpPr>
        <p:spPr>
          <a:xfrm>
            <a:off x="502920" y="7973568"/>
            <a:ext cx="6556248" cy="9144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7973568"/>
            <a:ext cx="6556248"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8083296"/>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SEMANAL</a:t>
            </a:r>
          </a:p>
        </p:txBody>
      </p:sp>
      <p:sp>
        <p:nvSpPr>
          <p:cNvPr id="16" name="TextBox 15"/>
          <p:cNvSpPr txBox="1"/>
          <p:nvPr/>
        </p:nvSpPr>
        <p:spPr>
          <a:xfrm>
            <a:off x="640080" y="8357616"/>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C3E50"/>
                </a:solidFill>
                <a:latin typeface="Montserrat"/>
              </a:rPr>
              <a:t>Revisión del embudo: dónde se están quedando los contactos.</a:t>
            </a:r>
          </a:p>
        </p:txBody>
      </p:sp>
      <p:sp>
        <p:nvSpPr>
          <p:cNvPr id="17" name="Rectangle 16"/>
          <p:cNvSpPr/>
          <p:nvPr/>
        </p:nvSpPr>
        <p:spPr>
          <a:xfrm>
            <a:off x="502920" y="8997696"/>
            <a:ext cx="6556248" cy="9144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8997696"/>
            <a:ext cx="6556248"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9107424"/>
            <a:ext cx="628192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MENSUAL</a:t>
            </a:r>
          </a:p>
        </p:txBody>
      </p:sp>
      <p:sp>
        <p:nvSpPr>
          <p:cNvPr id="20" name="TextBox 19"/>
          <p:cNvSpPr txBox="1"/>
          <p:nvPr/>
        </p:nvSpPr>
        <p:spPr>
          <a:xfrm>
            <a:off x="640080" y="9381744"/>
            <a:ext cx="6281928" cy="457200"/>
          </a:xfrm>
          <a:prstGeom prst="rect">
            <a:avLst/>
          </a:prstGeom>
          <a:noFill/>
        </p:spPr>
        <p:txBody>
          <a:bodyPr wrap="square" anchor="t" lIns="45720" rIns="45720" tIns="27432" bIns="27432">
            <a:spAutoFit/>
          </a:bodyPr>
          <a:lstStyle/>
          <a:p>
            <a:pPr algn="l">
              <a:lnSpc>
                <a:spcPct val="115000"/>
              </a:lnSpc>
              <a:spcAft>
                <a:spcPts val="300"/>
              </a:spcAft>
            </a:pPr>
            <a:r>
              <a:rPr sz="1100" b="0" i="0">
                <a:solidFill>
                  <a:srgbClr val="2C3E50"/>
                </a:solidFill>
                <a:latin typeface="Montserrat"/>
              </a:rPr>
              <a:t>Resultado vs. meta, ajuste de ruta y reconocimiento.</a:t>
            </a:r>
          </a:p>
        </p:txBody>
      </p:sp>
      <p:sp>
        <p:nvSpPr>
          <p:cNvPr id="21" name="TextBox 2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2" name="TextBox 2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CREMACIÓN · ADD-ON</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Solución Modular de Cremación</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US$ 1.000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Hasta 120 cuotas mensuales (≈ US$ 8,50/mes)</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Módulo de cremación que se integra a cualquier plan funerario vigente o nuevo de Vangrupo, sin cambiar de plan.</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Afiliados actuales y nuevos que quieren sumar la cremación con una cuota mínima.</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Proceso completo de cremación individual</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Urna cineraria de línea modular</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Trámites legales básicos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Alquiler temporal de columbario por 1 año (nivel 1, Hogar de las Memorias)</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Se vende como adicional a un plan funerario (actual o nuevo).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Cobertura individual: un módulo por titular o beneficiario.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Debe estar pagado en su totalidad para usar la cremación y el columbario.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El columbario temporal es por 12 meses; al término, la familia elige destino final (oportunidad para ofrecer un Jardín de Cenizas).</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«Usted ya protegió a su familia con su plan. Por menos de lo que cuesta un refresco a la semana, alrededor de ocho dólares al mes, puede sumar la cremación completa, con urna, trámites y un año de columbario incluido. Así nadie tendrá que decidir ni pagar de golpe en un momento difícil.»</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¿Su plan actual incluye la cremación o solo el servicio funerario?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¿Ha conversado en familia qué preferencia tiene usted?</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¿Qué le preocupa más: el costo o tener que decidir de urgencia?</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«¿Le parece si lo sumamos a su plan desde este mes, con la primera cuota de hoy?»</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«Mi plan ya es suficiente.» → «Su plan cubre el servicio funerario; la cremación y la urna se pagarían aparte y de una sola vez. Con el módulo queda todo cubierto en cuotas pequeñas.»</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Ofrézcalo siempre junto a un jardín: la familia resuelve cremación y destino final en una sola decisión.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1 · INHUMACIÓN INDIVIDUAL</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Individual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US$ 600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Pago único o financiado · Mantenimiento US$ 15/año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Inhumación de la urna en un contenedor enterrado con tapa de granito grabada, en un jardín de plantas de sombra: un lugar permanente para visitar.</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quieren un lugar permanente para visitar, con una inversión moderada.</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de la urna en contenedor individual (Ø 32 × 40 cm)</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Tapa de granito con los datos del ser querido</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Ubicación en el Jardín 1, con paisajismo de plantas de sombra</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Camino en gravilla y espacio de contemplación con banco</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1 urna.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Cuota de mantenimiento anual: US$ 15.</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El contenedor queda con 20 cm a la vista; la tapa de granito es la identificación.</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¿Dónde le gustaría poder visitar a su ser querido?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¿Tienen hoy las cenizas en casa o en un columbario temporal?</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¿Quién más de la familia participaría en las visitas?</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«¿Le gustaría conocer el jardín esta semana para elegir el lugar con calma?»</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El jardín vende solo: priorice siempre la visita.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1 · PARCELA FAMILIAR</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Familiar</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US$ 2.000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Pago único o financiado · Mantenimiento US$ 25/año</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Parcela familiar en el Jardín 1 con cuatro contenedores agrupados, cada uno con tapa de granito grabada. Sin plazo de permanencia.</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buscan un espacio propio y permanente para varias generaciones.</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de hasta 4 urnas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Tapa de granito grabada para cada espacio</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Ubicación en el Jardín 1, con paisajismo de plantas de sombra</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Lugar permanente de homenaje familiar, sin plazo</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hasta 4 espacios.</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Permanencia: sin plazo.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Cuota de mantenimiento anual: US$ 25 por parcela.</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«Así como una familia comparte una casa, también puede compartir un lugar de memoria. La parcela familiar reúne hasta cuatro seres queridos en un mismo espacio, para siempre, y cuesta US$ 500 por espacio, menos que comprarlos por separado.»</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¿Les gustaría que la familia esté reunida en un mismo lugar?</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¿Cuántas personas de la familia considerarían este destino?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¿Prefieren pagarlo de una vez o en cuotas?</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«¿Reservamos hoy la parcela para su familia y la pagan en cuotas cómodas?»</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«Es mucho dinero.» → «Son US$ 500 por cada espacio, con financiamiento. Y es una decisión que se toma una sola vez para toda la familia.»</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Use el argumento por espacio (US$ 500) y no el total.</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2 · BOSQUE DE LAS ORQUÍDEAS</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Ecológico</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US$ 750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Pago único o financiado ·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Personas con conciencia ambiental que desean que sus cenizas vuelvan a la tierra.</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ecológica con urna biodegradable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Placa de identificación (madera en el Jardín 2 · mármol en el Bosque)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Entorno natural con agua corriente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Permanencia de 3 años; luego, nombre en la placa memorial del monumento (incluida)</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1 urna. Espacio de 30 × 30 cm, 40 cm de profundidad.</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Permanencia: 3 años. Después, el espacio se reutiliza.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Placa memorial en el monumento: incluida en el precio de US$ 750.</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Explique el plazo de 3 años con total transparencia desde la primera conversación.</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¿Su ser querido tenía un vínculo especial con la naturaleza?</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¿Qué significa para ustedes «volver a la tierra»?</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¿Es importante para la familia un lugar con nombre para siempre?</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«¿Le parece si visitamos el Bosque de las Orquídeas y elegimos juntos el lugar?»</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«¿Y después de 3 años?» → «La urna ya se habrá integrado a la tierra, como era el deseo. El nombre pasa a la placa memorial del monumento, que queda para siempre en el jardín.»</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Para familias católicas, enfatice que las cenizas reposan en el cementerio, un lugar dedicado a la memoria.</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04 · JARDÍN ECOLÓGICO Y DE MASCOTAS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ciclo de 3 años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02920" y="2911107"/>
            <a:ext cx="6556248" cy="1584426"/>
          </a:xfrm>
          <a:prstGeom prst="rect">
            <a:avLst/>
          </a:prstGeom>
        </p:spPr>
      </p:pic>
      <p:sp>
        <p:nvSpPr>
          <p:cNvPr id="7" name="Rectangle 6"/>
          <p:cNvSpPr/>
          <p:nvPr/>
        </p:nvSpPr>
        <p:spPr>
          <a:xfrm>
            <a:off x="502920" y="457200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457200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4572000"/>
            <a:ext cx="6099048" cy="128016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1B365D"/>
                </a:solidFill>
                <a:latin typeface="Montserrat"/>
              </a:rPr>
              <a:t>TRANSPARENCIA   </a:t>
            </a:r>
            <a:r>
              <a:rPr sz="1150" b="0" i="0">
                <a:solidFill>
                  <a:srgbClr val="2C3E50"/>
                </a:solidFill>
                <a:latin typeface="Montserrat"/>
              </a:rPr>
              <a:t>Explique el plazo de 3 años desde la primera conversación. La placa memorial está incluida en el Jardín Ecológico (US$ 750) y en la opción de Mascotas de US$ 550.</a:t>
            </a:r>
          </a:p>
        </p:txBody>
      </p:sp>
      <p:sp>
        <p:nvSpPr>
          <p:cNvPr id="10" name="TextBox 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1" name="TextBox 1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MASCOTAS · INHUMACIÓN ECOLÓGICA</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Mascotas</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PRECIO SUGERIDO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1900" b="1" i="0">
                <a:solidFill>
                  <a:srgbClr val="FFFFFF"/>
                </a:solidFill>
                <a:latin typeface="Montserrat"/>
              </a:rPr>
              <a:t>US$ 400 / US$ 550</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US$ 400 solo espacio · US$ 550 con placa memorial incluida</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Inhumación ecológica de las cenizas de la mascota: la urna biodegradable se entierra en el jardín y se identifica con una placa de madera.</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consideran a su mascota parte del hogar y desean un cierre digno.</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ecológica en el jardín de mascotas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Placa de madera de 20 cm para identificación</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Permanencia de 3 años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Placa memorial en el monumento al término del plazo (opción US$ 550)</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Capacidad: 1 mascota por servicio.</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Permanencia: 3 años. Después, el espacio se reutiliza.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Placa memorial en el monumento: incluida solo en la opción de US$ 550.</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Pago único; puede contratarse como adicional al plan funerario.</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¿Cómo se llamaba su compañero?</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¿Les gustaría que su nombre quede para siempre en el monumento memorial?</a:t>
            </a:r>
          </a:p>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¿Les gustaría un lugar para visitarlo con los niños?</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«¿Prefieren la opción con placa memorial incluida, para que su nombre quede siempre en el jardín?»</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«Es solo una mascota.» → No discuta el vínculo de la familia. Si el cliente minimiza, respete y ofrezca la información por escrito para que decida con calma.</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Llame a la mascota por su nombre durante toda la conversación.</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7562088" cy="1463040"/>
          </a:xfrm>
          <a:prstGeom prst="rect">
            <a:avLst/>
          </a:prstGeom>
          <a:solidFill>
            <a:srgbClr val="8A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63040"/>
            <a:ext cx="7562088" cy="64008"/>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28600"/>
            <a:ext cx="4206240"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C5A059"/>
                </a:solidFill>
                <a:latin typeface="Montserrat"/>
              </a:rPr>
              <a:t>JARDÍN 3 · PRÓXIMO LANZAMIENTO</a:t>
            </a:r>
          </a:p>
        </p:txBody>
      </p:sp>
      <p:sp>
        <p:nvSpPr>
          <p:cNvPr id="5" name="TextBox 4"/>
          <p:cNvSpPr txBox="1"/>
          <p:nvPr/>
        </p:nvSpPr>
        <p:spPr>
          <a:xfrm>
            <a:off x="502920" y="502920"/>
            <a:ext cx="4206240" cy="868680"/>
          </a:xfrm>
          <a:prstGeom prst="rect">
            <a:avLst/>
          </a:prstGeom>
          <a:noFill/>
        </p:spPr>
        <p:txBody>
          <a:bodyPr wrap="square" anchor="t" lIns="45720" rIns="45720" tIns="27432" bIns="27432">
            <a:spAutoFit/>
          </a:bodyPr>
          <a:lstStyle/>
          <a:p>
            <a:pPr algn="l">
              <a:lnSpc>
                <a:spcPct val="100000"/>
              </a:lnSpc>
              <a:spcAft>
                <a:spcPts val="400"/>
              </a:spcAft>
            </a:pPr>
            <a:r>
              <a:rPr sz="2100" b="1" i="0">
                <a:solidFill>
                  <a:srgbClr val="FFFFFF"/>
                </a:solidFill>
                <a:latin typeface="Playfair Display"/>
              </a:rPr>
              <a:t>Jardín de Cenizas · Ceremonial</a:t>
            </a:r>
          </a:p>
        </p:txBody>
      </p:sp>
      <p:sp>
        <p:nvSpPr>
          <p:cNvPr id="6" name="TextBox 5"/>
          <p:cNvSpPr txBox="1"/>
          <p:nvPr/>
        </p:nvSpPr>
        <p:spPr>
          <a:xfrm>
            <a:off x="4663440" y="228600"/>
            <a:ext cx="2395728" cy="274320"/>
          </a:xfrm>
          <a:prstGeom prst="rect">
            <a:avLst/>
          </a:prstGeom>
          <a:noFill/>
        </p:spPr>
        <p:txBody>
          <a:bodyPr wrap="square" anchor="t" lIns="45720" rIns="45720" tIns="27432" bIns="27432">
            <a:spAutoFit/>
          </a:bodyPr>
          <a:lstStyle/>
          <a:p>
            <a:pPr algn="r">
              <a:lnSpc>
                <a:spcPct val="115000"/>
              </a:lnSpc>
              <a:spcAft>
                <a:spcPts val="400"/>
              </a:spcAft>
            </a:pPr>
            <a:r>
              <a:rPr sz="950" b="1" i="0">
                <a:solidFill>
                  <a:srgbClr val="C5A059"/>
                </a:solidFill>
                <a:latin typeface="Montserrat"/>
              </a:rPr>
              <a:t>PRÓXIMO LANZAMIENTO</a:t>
            </a:r>
          </a:p>
        </p:txBody>
      </p:sp>
      <p:sp>
        <p:nvSpPr>
          <p:cNvPr id="7" name="TextBox 6"/>
          <p:cNvSpPr txBox="1"/>
          <p:nvPr/>
        </p:nvSpPr>
        <p:spPr>
          <a:xfrm>
            <a:off x="4663440" y="502920"/>
            <a:ext cx="2395728" cy="868680"/>
          </a:xfrm>
          <a:prstGeom prst="rect">
            <a:avLst/>
          </a:prstGeom>
          <a:noFill/>
        </p:spPr>
        <p:txBody>
          <a:bodyPr wrap="square" anchor="ctr" lIns="45720" rIns="45720" tIns="27432" bIns="27432">
            <a:spAutoFit/>
          </a:bodyPr>
          <a:lstStyle/>
          <a:p>
            <a:pPr algn="r">
              <a:lnSpc>
                <a:spcPct val="115000"/>
              </a:lnSpc>
              <a:spcAft>
                <a:spcPts val="400"/>
              </a:spcAft>
            </a:pPr>
            <a:r>
              <a:rPr sz="2600" b="1" i="0">
                <a:solidFill>
                  <a:srgbClr val="FFFFFF"/>
                </a:solidFill>
                <a:latin typeface="Montserrat"/>
              </a:rPr>
              <a:t>A definir</a:t>
            </a:r>
          </a:p>
        </p:txBody>
      </p:sp>
      <p:sp>
        <p:nvSpPr>
          <p:cNvPr id="8" name="TextBox 7"/>
          <p:cNvSpPr txBox="1"/>
          <p:nvPr/>
        </p:nvSpPr>
        <p:spPr>
          <a:xfrm>
            <a:off x="502920" y="1627632"/>
            <a:ext cx="6556248" cy="32004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7A8794"/>
                </a:solidFill>
                <a:latin typeface="Montserrat"/>
              </a:rPr>
              <a:t>A definir</a:t>
            </a:r>
          </a:p>
        </p:txBody>
      </p:sp>
      <p:sp>
        <p:nvSpPr>
          <p:cNvPr id="9" name="TextBox 8"/>
          <p:cNvSpPr txBox="1"/>
          <p:nvPr/>
        </p:nvSpPr>
        <p:spPr>
          <a:xfrm>
            <a:off x="502920" y="1993392"/>
            <a:ext cx="6556248" cy="10515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1B365D"/>
                </a:solidFill>
                <a:latin typeface="Montserrat"/>
              </a:rPr>
              <a:t>Qué es.  </a:t>
            </a:r>
            <a:r>
              <a:rPr sz="1100" b="0" i="0">
                <a:solidFill>
                  <a:srgbClr val="2C3E50"/>
                </a:solidFill>
                <a:latin typeface="Montserrat"/>
              </a:rPr>
              <a:t>Jardín para inhumación de urnas con ceremonia de agua, con fuentes como elemento central del rito de despedida.</a:t>
            </a:r>
          </a:p>
          <a:p>
            <a:pPr algn="l">
              <a:lnSpc>
                <a:spcPct val="115000"/>
              </a:lnSpc>
              <a:spcAft>
                <a:spcPts val="400"/>
              </a:spcAft>
            </a:pPr>
            <a:r>
              <a:rPr sz="1100" b="1" i="0">
                <a:solidFill>
                  <a:srgbClr val="1B365D"/>
                </a:solidFill>
                <a:latin typeface="Montserrat"/>
              </a:rPr>
              <a:t>Para quién.  </a:t>
            </a:r>
            <a:r>
              <a:rPr sz="1100" b="0" i="0">
                <a:solidFill>
                  <a:srgbClr val="2C3E50"/>
                </a:solidFill>
                <a:latin typeface="Montserrat"/>
              </a:rPr>
              <a:t>Familias que valoran un rito de despedida simbólico y un entorno contemplativo.</a:t>
            </a:r>
          </a:p>
        </p:txBody>
      </p:sp>
      <p:sp>
        <p:nvSpPr>
          <p:cNvPr id="10" name="Rectangle 9"/>
          <p:cNvSpPr/>
          <p:nvPr/>
        </p:nvSpPr>
        <p:spPr>
          <a:xfrm>
            <a:off x="502920"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108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QUÉ INCLUYE</a:t>
            </a:r>
          </a:p>
        </p:txBody>
      </p:sp>
      <p:sp>
        <p:nvSpPr>
          <p:cNvPr id="13" name="TextBox 12"/>
          <p:cNvSpPr txBox="1"/>
          <p:nvPr/>
        </p:nvSpPr>
        <p:spPr>
          <a:xfrm>
            <a:off x="640080"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4F7A5A"/>
                </a:solidFill>
                <a:latin typeface="Montserrat"/>
              </a:rPr>
              <a:t>✓  </a:t>
            </a:r>
            <a:r>
              <a:rPr sz="1050" b="0" i="0">
                <a:solidFill>
                  <a:srgbClr val="2C3E50"/>
                </a:solidFill>
                <a:latin typeface="Montserrat"/>
              </a:rPr>
              <a:t>Inhumación de urnas de cenizas</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Ceremonia con agua en fuente</a:t>
            </a:r>
          </a:p>
          <a:p>
            <a:pPr algn="l">
              <a:lnSpc>
                <a:spcPct val="115000"/>
              </a:lnSpc>
              <a:spcAft>
                <a:spcPts val="300"/>
              </a:spcAft>
            </a:pPr>
            <a:r>
              <a:rPr sz="750" b="1" i="0">
                <a:solidFill>
                  <a:srgbClr val="4F7A5A"/>
                </a:solidFill>
                <a:latin typeface="Montserrat"/>
              </a:rPr>
              <a:t>✓  </a:t>
            </a:r>
            <a:r>
              <a:rPr sz="1050" b="0" i="0">
                <a:solidFill>
                  <a:srgbClr val="2C3E50"/>
                </a:solidFill>
                <a:latin typeface="Montserrat"/>
              </a:rPr>
              <a:t>Barrera visual que separa el jardín del crematorio</a:t>
            </a:r>
          </a:p>
        </p:txBody>
      </p:sp>
      <p:sp>
        <p:nvSpPr>
          <p:cNvPr id="14" name="Rectangle 13"/>
          <p:cNvSpPr/>
          <p:nvPr/>
        </p:nvSpPr>
        <p:spPr>
          <a:xfrm>
            <a:off x="3872484" y="3108960"/>
            <a:ext cx="3186684" cy="242316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2484" y="3108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09644" y="3218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REGLAS DEL PRODUCTO</a:t>
            </a:r>
          </a:p>
        </p:txBody>
      </p:sp>
      <p:sp>
        <p:nvSpPr>
          <p:cNvPr id="17" name="TextBox 16"/>
          <p:cNvSpPr txBox="1"/>
          <p:nvPr/>
        </p:nvSpPr>
        <p:spPr>
          <a:xfrm>
            <a:off x="4009644" y="3493008"/>
            <a:ext cx="2912364" cy="1965960"/>
          </a:xfrm>
          <a:prstGeom prst="rect">
            <a:avLst/>
          </a:prstGeom>
          <a:noFill/>
        </p:spPr>
        <p:txBody>
          <a:bodyPr wrap="square" anchor="t" lIns="45720" rIns="45720" tIns="27432" bIns="27432">
            <a:spAutoFit/>
          </a:bodyPr>
          <a:lstStyle/>
          <a:p>
            <a:pPr algn="l">
              <a:lnSpc>
                <a:spcPct val="115000"/>
              </a:lnSpc>
              <a:spcAft>
                <a:spcPts val="300"/>
              </a:spcAft>
            </a:pPr>
            <a:r>
              <a:rPr sz="750" b="1" i="0">
                <a:solidFill>
                  <a:srgbClr val="C5A059"/>
                </a:solidFill>
                <a:latin typeface="Montserrat"/>
              </a:rPr>
              <a:t>■  </a:t>
            </a:r>
            <a:r>
              <a:rPr sz="1050" b="0" i="0">
                <a:solidFill>
                  <a:srgbClr val="2C3E50"/>
                </a:solidFill>
                <a:latin typeface="Montserrat"/>
              </a:rPr>
              <a:t>PRÓXIMO LANZAMIENTO: no se vende ni se cotiza todavía.</a:t>
            </a:r>
          </a:p>
          <a:p>
            <a:pPr algn="l">
              <a:lnSpc>
                <a:spcPct val="115000"/>
              </a:lnSpc>
              <a:spcAft>
                <a:spcPts val="300"/>
              </a:spcAft>
            </a:pPr>
            <a:r>
              <a:rPr sz="750" b="1" i="0">
                <a:solidFill>
                  <a:srgbClr val="C5A059"/>
                </a:solidFill>
                <a:latin typeface="Montserrat"/>
              </a:rPr>
              <a:t>■  </a:t>
            </a:r>
            <a:r>
              <a:rPr sz="1050" b="0" i="0">
                <a:solidFill>
                  <a:srgbClr val="2C3E50"/>
                </a:solidFill>
                <a:latin typeface="Montserrat"/>
              </a:rPr>
              <a:t>Si un cliente muestra interés, registre su contacto como «interesado Ceremonial».</a:t>
            </a:r>
          </a:p>
        </p:txBody>
      </p:sp>
      <p:sp>
        <p:nvSpPr>
          <p:cNvPr id="18" name="Rectangle 17"/>
          <p:cNvSpPr/>
          <p:nvPr/>
        </p:nvSpPr>
        <p:spPr>
          <a:xfrm>
            <a:off x="502920" y="5669280"/>
            <a:ext cx="6556248" cy="128016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5669280"/>
            <a:ext cx="73152" cy="128016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15000"/>
            <a:ext cx="6190488"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SPEECH SUGERIDO</a:t>
            </a:r>
          </a:p>
        </p:txBody>
      </p:sp>
      <p:sp>
        <p:nvSpPr>
          <p:cNvPr id="21" name="TextBox 20"/>
          <p:cNvSpPr txBox="1"/>
          <p:nvPr/>
        </p:nvSpPr>
        <p:spPr>
          <a:xfrm>
            <a:off x="731520" y="5961888"/>
            <a:ext cx="6190488" cy="960120"/>
          </a:xfrm>
          <a:prstGeom prst="rect">
            <a:avLst/>
          </a:prstGeom>
          <a:noFill/>
        </p:spPr>
        <p:txBody>
          <a:bodyPr wrap="square" anchor="t" lIns="45720" rIns="45720" tIns="27432" bIns="27432">
            <a:spAutoFit/>
          </a:bodyPr>
          <a:lstStyle/>
          <a:p>
            <a:pPr algn="l">
              <a:lnSpc>
                <a:spcPct val="115000"/>
              </a:lnSpc>
              <a:spcAft>
                <a:spcPts val="400"/>
              </a:spcAft>
            </a:pPr>
            <a:r>
              <a:rPr sz="1100" b="0" i="1">
                <a:solidFill>
                  <a:srgbClr val="0F2537"/>
                </a:solidFill>
                <a:latin typeface="Playfair Display"/>
              </a:rPr>
              <a:t>«Estamos preparando un nuevo jardín con una ceremonia de agua muy especial. Si le interesa, con gusto le aviso apenas esté disponible.»</a:t>
            </a:r>
          </a:p>
        </p:txBody>
      </p:sp>
      <p:sp>
        <p:nvSpPr>
          <p:cNvPr id="22" name="Rectangle 21"/>
          <p:cNvSpPr/>
          <p:nvPr/>
        </p:nvSpPr>
        <p:spPr>
          <a:xfrm>
            <a:off x="502920"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708660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PREGUNTAS DE DESCUBRIMIENTO</a:t>
            </a:r>
          </a:p>
        </p:txBody>
      </p:sp>
      <p:sp>
        <p:nvSpPr>
          <p:cNvPr id="25" name="TextBox 24"/>
          <p:cNvSpPr txBox="1"/>
          <p:nvPr/>
        </p:nvSpPr>
        <p:spPr>
          <a:xfrm>
            <a:off x="640080"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650" b="1" i="0">
                <a:solidFill>
                  <a:srgbClr val="C5A059"/>
                </a:solidFill>
                <a:latin typeface="Montserrat"/>
              </a:rPr>
              <a:t>?  </a:t>
            </a:r>
            <a:r>
              <a:rPr sz="950" b="0" i="0">
                <a:solidFill>
                  <a:srgbClr val="2C3E50"/>
                </a:solidFill>
                <a:latin typeface="Montserrat"/>
              </a:rPr>
              <a:t>¿Le gustaría que le avisemos cuando esté disponible?</a:t>
            </a:r>
          </a:p>
        </p:txBody>
      </p:sp>
      <p:sp>
        <p:nvSpPr>
          <p:cNvPr id="26" name="Rectangle 25"/>
          <p:cNvSpPr/>
          <p:nvPr/>
        </p:nvSpPr>
        <p:spPr>
          <a:xfrm>
            <a:off x="3872484" y="7086600"/>
            <a:ext cx="3186684"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72484" y="7086600"/>
            <a:ext cx="3186684" cy="4572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09644" y="719632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FRASE DE CIERRE</a:t>
            </a:r>
          </a:p>
        </p:txBody>
      </p:sp>
      <p:sp>
        <p:nvSpPr>
          <p:cNvPr id="29" name="TextBox 28"/>
          <p:cNvSpPr txBox="1"/>
          <p:nvPr/>
        </p:nvSpPr>
        <p:spPr>
          <a:xfrm>
            <a:off x="4009644" y="7470648"/>
            <a:ext cx="2912364" cy="114300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Registrar el interés y ofrecer, mientras tanto, el Jardín Individual o el Ecológico.</a:t>
            </a:r>
          </a:p>
        </p:txBody>
      </p:sp>
      <p:sp>
        <p:nvSpPr>
          <p:cNvPr id="30" name="Rectangle 29"/>
          <p:cNvSpPr/>
          <p:nvPr/>
        </p:nvSpPr>
        <p:spPr>
          <a:xfrm>
            <a:off x="502920"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2920" y="8823960"/>
            <a:ext cx="3186684"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OBJECIÓN TÍPICA</a:t>
            </a:r>
          </a:p>
        </p:txBody>
      </p:sp>
      <p:sp>
        <p:nvSpPr>
          <p:cNvPr id="33" name="TextBox 32"/>
          <p:cNvSpPr txBox="1"/>
          <p:nvPr/>
        </p:nvSpPr>
        <p:spPr>
          <a:xfrm>
            <a:off x="640080"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900" b="0" i="0">
                <a:solidFill>
                  <a:srgbClr val="2C3E50"/>
                </a:solidFill>
                <a:latin typeface="Montserrat"/>
              </a:rPr>
              <a:t>No aplica todavía.</a:t>
            </a:r>
          </a:p>
        </p:txBody>
      </p:sp>
      <p:sp>
        <p:nvSpPr>
          <p:cNvPr id="34" name="Rectangle 33"/>
          <p:cNvSpPr/>
          <p:nvPr/>
        </p:nvSpPr>
        <p:spPr>
          <a:xfrm>
            <a:off x="3872484" y="8823960"/>
            <a:ext cx="3186684" cy="132588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872484" y="8823960"/>
            <a:ext cx="3186684" cy="45720"/>
          </a:xfrm>
          <a:prstGeom prst="rect">
            <a:avLst/>
          </a:prstGeom>
          <a:solidFill>
            <a:srgbClr val="4F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009644" y="8933688"/>
            <a:ext cx="2912364" cy="274320"/>
          </a:xfrm>
          <a:prstGeom prst="rect">
            <a:avLst/>
          </a:prstGeom>
          <a:noFill/>
        </p:spPr>
        <p:txBody>
          <a:bodyPr wrap="square" anchor="t" lIns="45720" rIns="45720" tIns="27432" bIns="27432">
            <a:spAutoFit/>
          </a:bodyPr>
          <a:lstStyle/>
          <a:p>
            <a:pPr algn="l">
              <a:lnSpc>
                <a:spcPct val="115000"/>
              </a:lnSpc>
              <a:spcAft>
                <a:spcPts val="400"/>
              </a:spcAft>
            </a:pPr>
            <a:r>
              <a:rPr sz="950" b="1" i="0">
                <a:solidFill>
                  <a:srgbClr val="1B365D"/>
                </a:solidFill>
                <a:latin typeface="Montserrat"/>
              </a:rPr>
              <a:t>TIP DEL ASESOR</a:t>
            </a:r>
          </a:p>
        </p:txBody>
      </p:sp>
      <p:sp>
        <p:nvSpPr>
          <p:cNvPr id="37" name="TextBox 36"/>
          <p:cNvSpPr txBox="1"/>
          <p:nvPr/>
        </p:nvSpPr>
        <p:spPr>
          <a:xfrm>
            <a:off x="4009644" y="9208008"/>
            <a:ext cx="2912364" cy="868680"/>
          </a:xfrm>
          <a:prstGeom prst="rect">
            <a:avLst/>
          </a:prstGeom>
          <a:noFill/>
        </p:spPr>
        <p:txBody>
          <a:bodyPr wrap="square" anchor="t" lIns="45720" rIns="45720" tIns="27432" bIns="27432">
            <a:spAutoFit/>
          </a:bodyPr>
          <a:lstStyle/>
          <a:p>
            <a:pPr algn="l">
              <a:lnSpc>
                <a:spcPct val="115000"/>
              </a:lnSpc>
              <a:spcAft>
                <a:spcPts val="300"/>
              </a:spcAft>
            </a:pPr>
            <a:r>
              <a:rPr sz="1050" b="0" i="0">
                <a:solidFill>
                  <a:srgbClr val="2C3E50"/>
                </a:solidFill>
                <a:latin typeface="Montserrat"/>
              </a:rPr>
              <a:t>No prometa fechas ni precios.</a:t>
            </a:r>
          </a:p>
        </p:txBody>
      </p:sp>
      <p:sp>
        <p:nvSpPr>
          <p:cNvPr id="38" name="TextBox 37"/>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9" name="TextBox 38"/>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El método V·R·A</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02920" y="1623267"/>
            <a:ext cx="6556248" cy="2011265"/>
          </a:xfrm>
          <a:prstGeom prst="rect">
            <a:avLst/>
          </a:prstGeom>
        </p:spPr>
      </p:pic>
      <p:sp>
        <p:nvSpPr>
          <p:cNvPr id="7" name="Rectangle 6"/>
          <p:cNvSpPr/>
          <p:nvPr/>
        </p:nvSpPr>
        <p:spPr>
          <a:xfrm>
            <a:off x="502920" y="384048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84048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1.  «No quiero pensar en eso, es de mala suerte.»</a:t>
            </a:r>
          </a:p>
        </p:txBody>
      </p:sp>
      <p:sp>
        <p:nvSpPr>
          <p:cNvPr id="9" name="Rectangle 8"/>
          <p:cNvSpPr/>
          <p:nvPr/>
        </p:nvSpPr>
        <p:spPr>
          <a:xfrm>
            <a:off x="502920" y="429768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«Entiendo, a nadie le gusta hablar de este tema.»</a:t>
            </a:r>
          </a:p>
        </p:txBody>
      </p:sp>
      <p:sp>
        <p:nvSpPr>
          <p:cNvPr id="11" name="Rectangle 10"/>
          <p:cNvSpPr/>
          <p:nvPr/>
        </p:nvSpPr>
        <p:spPr>
          <a:xfrm>
            <a:off x="2423160" y="429768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34340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Planificar con calma es justamente lo que evita que su familia tenga que decidir en el peor momento. Es un acto de cuidado, no de pesimismo.</a:t>
            </a:r>
          </a:p>
        </p:txBody>
      </p:sp>
      <p:sp>
        <p:nvSpPr>
          <p:cNvPr id="13" name="Rectangle 12"/>
          <p:cNvSpPr/>
          <p:nvPr/>
        </p:nvSpPr>
        <p:spPr>
          <a:xfrm>
            <a:off x="5230368" y="429768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21808" y="434340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dejo la información para que la conversen en casa?»</a:t>
            </a:r>
          </a:p>
        </p:txBody>
      </p:sp>
      <p:sp>
        <p:nvSpPr>
          <p:cNvPr id="15" name="Rectangle 14"/>
          <p:cNvSpPr/>
          <p:nvPr/>
        </p:nvSpPr>
        <p:spPr>
          <a:xfrm>
            <a:off x="502920" y="603504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603504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2.  «Soy católico, la cremación no está permitida.»</a:t>
            </a:r>
          </a:p>
        </p:txBody>
      </p:sp>
      <p:sp>
        <p:nvSpPr>
          <p:cNvPr id="17" name="Rectangle 16"/>
          <p:cNvSpPr/>
          <p:nvPr/>
        </p:nvSpPr>
        <p:spPr>
          <a:xfrm>
            <a:off x="502920" y="649224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«Su fe es muy importante y la respetamos.»</a:t>
            </a:r>
          </a:p>
        </p:txBody>
      </p:sp>
      <p:sp>
        <p:nvSpPr>
          <p:cNvPr id="19" name="Rectangle 18"/>
          <p:cNvSpPr/>
          <p:nvPr/>
        </p:nvSpPr>
        <p:spPr>
          <a:xfrm>
            <a:off x="2423160" y="649224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4600" y="653796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1" name="Rectangle 20"/>
          <p:cNvSpPr/>
          <p:nvPr/>
        </p:nvSpPr>
        <p:spPr>
          <a:xfrm>
            <a:off x="5230368" y="649224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1808" y="653796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gustaría conocer el jardín y ver cómo es el lugar?»</a:t>
            </a:r>
          </a:p>
        </p:txBody>
      </p:sp>
      <p:sp>
        <p:nvSpPr>
          <p:cNvPr id="23" name="TextBox 22"/>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4" name="TextBox 23"/>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3.  «Prefiero la sepultura tradicional.»</a:t>
            </a:r>
          </a:p>
        </p:txBody>
      </p:sp>
      <p:sp>
        <p:nvSpPr>
          <p:cNvPr id="8" name="Rectangle 7"/>
          <p:cNvSpPr/>
          <p:nvPr/>
        </p:nvSpPr>
        <p:spPr>
          <a:xfrm>
            <a:off x="502920"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una tradición muy valiosa.»</a:t>
            </a:r>
          </a:p>
        </p:txBody>
      </p:sp>
      <p:sp>
        <p:nvSpPr>
          <p:cNvPr id="10" name="Rectangle 9"/>
          <p:cNvSpPr/>
          <p:nvPr/>
        </p:nvSpPr>
        <p:spPr>
          <a:xfrm>
            <a:off x="2423160" y="205740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El jardín conserva lo esencial de la sepultura: un lugar con nombre para visitar, con un costo mucho menor y en un entorno natural.</a:t>
            </a:r>
          </a:p>
        </p:txBody>
      </p:sp>
      <p:sp>
        <p:nvSpPr>
          <p:cNvPr id="12" name="Rectangle 11"/>
          <p:cNvSpPr/>
          <p:nvPr/>
        </p:nvSpPr>
        <p:spPr>
          <a:xfrm>
            <a:off x="5230368"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muestro la diferencia de inversión entre ambas opciones?»</a:t>
            </a:r>
          </a:p>
        </p:txBody>
      </p:sp>
      <p:sp>
        <p:nvSpPr>
          <p:cNvPr id="14" name="Rectangle 13"/>
          <p:cNvSpPr/>
          <p:nvPr/>
        </p:nvSpPr>
        <p:spPr>
          <a:xfrm>
            <a:off x="502920" y="379476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4.  «Está caro.»</a:t>
            </a:r>
          </a:p>
        </p:txBody>
      </p:sp>
      <p:sp>
        <p:nvSpPr>
          <p:cNvPr id="16" name="Rectangle 15"/>
          <p:cNvSpPr/>
          <p:nvPr/>
        </p:nvSpPr>
        <p:spPr>
          <a:xfrm>
            <a:off x="502920"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«Comprendo, es una inversión.»</a:t>
            </a:r>
          </a:p>
        </p:txBody>
      </p:sp>
      <p:sp>
        <p:nvSpPr>
          <p:cNvPr id="18" name="Rectangle 17"/>
          <p:cNvSpPr/>
          <p:nvPr/>
        </p:nvSpPr>
        <p:spPr>
          <a:xfrm>
            <a:off x="2423160" y="425196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En la urgencia los costos son mayores y se pagan de golpe. Hoy fija el precio y lo paga en cuotas: la Solución Modular cuesta alrededor de US$ 8,50 al mes.</a:t>
            </a:r>
          </a:p>
        </p:txBody>
      </p:sp>
      <p:sp>
        <p:nvSpPr>
          <p:cNvPr id="20" name="Rectangle 19"/>
          <p:cNvSpPr/>
          <p:nvPr/>
        </p:nvSpPr>
        <p:spPr>
          <a:xfrm>
            <a:off x="5230368"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«¿Qué cuota mensual le resultaría cómoda?»</a:t>
            </a:r>
          </a:p>
        </p:txBody>
      </p:sp>
      <p:sp>
        <p:nvSpPr>
          <p:cNvPr id="22" name="Rectangle 21"/>
          <p:cNvSpPr/>
          <p:nvPr/>
        </p:nvSpPr>
        <p:spPr>
          <a:xfrm>
            <a:off x="502920" y="598932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5.  «Tengo que hablarlo con mi familia.»</a:t>
            </a:r>
          </a:p>
        </p:txBody>
      </p:sp>
      <p:sp>
        <p:nvSpPr>
          <p:cNvPr id="24" name="Rectangle 23"/>
          <p:cNvSpPr/>
          <p:nvPr/>
        </p:nvSpPr>
        <p:spPr>
          <a:xfrm>
            <a:off x="502920"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«Claro, es una decisión de familia.»</a:t>
            </a:r>
          </a:p>
        </p:txBody>
      </p:sp>
      <p:sp>
        <p:nvSpPr>
          <p:cNvPr id="26" name="Rectangle 25"/>
          <p:cNvSpPr/>
          <p:nvPr/>
        </p:nvSpPr>
        <p:spPr>
          <a:xfrm>
            <a:off x="2423160" y="644652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Facilite esa conversación: ofrezca un resumen simple y quedar disponible para resolver dudas de todos juntos.</a:t>
            </a:r>
          </a:p>
        </p:txBody>
      </p:sp>
      <p:sp>
        <p:nvSpPr>
          <p:cNvPr id="28" name="Rectangle 27"/>
          <p:cNvSpPr/>
          <p:nvPr/>
        </p:nvSpPr>
        <p:spPr>
          <a:xfrm>
            <a:off x="5230368"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«¿Puedo llamarle el [día] para ver si quedó alguna pregunta?»</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05 · MANEJO DE OBJECIONES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Objeciones frecuentes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0020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60020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6.  «Prefiero tener las cenizas en casa.»</a:t>
            </a:r>
          </a:p>
        </p:txBody>
      </p:sp>
      <p:sp>
        <p:nvSpPr>
          <p:cNvPr id="8" name="Rectangle 7"/>
          <p:cNvSpPr/>
          <p:nvPr/>
        </p:nvSpPr>
        <p:spPr>
          <a:xfrm>
            <a:off x="502920"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natural querer tenerlas cerca.»</a:t>
            </a:r>
          </a:p>
        </p:txBody>
      </p:sp>
      <p:sp>
        <p:nvSpPr>
          <p:cNvPr id="10" name="Rectangle 9"/>
          <p:cNvSpPr/>
          <p:nvPr/>
        </p:nvSpPr>
        <p:spPr>
          <a:xfrm>
            <a:off x="2423160" y="205740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4600" y="210312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En el jardín toda la familia puede visitarlas, quedan protegidas ante mudanzas o cambios, y tienen un lugar con su nombre.</a:t>
            </a:r>
          </a:p>
        </p:txBody>
      </p:sp>
      <p:sp>
        <p:nvSpPr>
          <p:cNvPr id="12" name="Rectangle 11"/>
          <p:cNvSpPr/>
          <p:nvPr/>
        </p:nvSpPr>
        <p:spPr>
          <a:xfrm>
            <a:off x="5230368" y="205740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21808" y="210312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gustaría visitar el jardín antes de decidir?»</a:t>
            </a:r>
          </a:p>
        </p:txBody>
      </p:sp>
      <p:sp>
        <p:nvSpPr>
          <p:cNvPr id="14" name="Rectangle 13"/>
          <p:cNvSpPr/>
          <p:nvPr/>
        </p:nvSpPr>
        <p:spPr>
          <a:xfrm>
            <a:off x="502920" y="379476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79476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7.  «¿Por qué pagar mantenimiento cada año?»</a:t>
            </a:r>
          </a:p>
        </p:txBody>
      </p:sp>
      <p:sp>
        <p:nvSpPr>
          <p:cNvPr id="16" name="Rectangle 15"/>
          <p:cNvSpPr/>
          <p:nvPr/>
        </p:nvSpPr>
        <p:spPr>
          <a:xfrm>
            <a:off x="502920"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una pregunta muy válida.»</a:t>
            </a:r>
          </a:p>
        </p:txBody>
      </p:sp>
      <p:sp>
        <p:nvSpPr>
          <p:cNvPr id="18" name="Rectangle 17"/>
          <p:cNvSpPr/>
          <p:nvPr/>
        </p:nvSpPr>
        <p:spPr>
          <a:xfrm>
            <a:off x="2423160" y="425196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4600" y="429768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La cuota (US$ 15 o US$ 25 al año) mantiene el jardín siempre cuidado: poda, riego y limpieza. Es lo que garantiza que el lugar luzca digno en cada visita.</a:t>
            </a:r>
          </a:p>
        </p:txBody>
      </p:sp>
      <p:sp>
        <p:nvSpPr>
          <p:cNvPr id="20" name="Rectangle 19"/>
          <p:cNvSpPr/>
          <p:nvPr/>
        </p:nvSpPr>
        <p:spPr>
          <a:xfrm>
            <a:off x="5230368" y="425196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1808" y="429768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«¿Le explico qué incluye el cuidado del jardín?»</a:t>
            </a:r>
          </a:p>
        </p:txBody>
      </p:sp>
      <p:sp>
        <p:nvSpPr>
          <p:cNvPr id="22" name="Rectangle 21"/>
          <p:cNvSpPr/>
          <p:nvPr/>
        </p:nvSpPr>
        <p:spPr>
          <a:xfrm>
            <a:off x="502920" y="5989320"/>
            <a:ext cx="6556248" cy="41148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89320"/>
            <a:ext cx="6281928" cy="41148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FFFFFF"/>
                </a:solidFill>
                <a:latin typeface="Montserrat"/>
              </a:rPr>
              <a:t>8.  «No confío en estos planes.»</a:t>
            </a:r>
          </a:p>
        </p:txBody>
      </p:sp>
      <p:sp>
        <p:nvSpPr>
          <p:cNvPr id="24" name="Rectangle 23"/>
          <p:cNvSpPr/>
          <p:nvPr/>
        </p:nvSpPr>
        <p:spPr>
          <a:xfrm>
            <a:off x="502920"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V  </a:t>
            </a:r>
            <a:r>
              <a:rPr sz="900" b="1" i="0">
                <a:solidFill>
                  <a:srgbClr val="1B365D"/>
                </a:solidFill>
                <a:latin typeface="Montserrat"/>
              </a:rPr>
              <a:t>VALIDAR</a:t>
            </a:r>
          </a:p>
          <a:p>
            <a:pPr algn="l">
              <a:lnSpc>
                <a:spcPct val="115000"/>
              </a:lnSpc>
              <a:spcAft>
                <a:spcPts val="200"/>
              </a:spcAft>
            </a:pPr>
            <a:r>
              <a:rPr sz="1000" b="0" i="1">
                <a:solidFill>
                  <a:srgbClr val="2C3E50"/>
                </a:solidFill>
                <a:latin typeface="Montserrat"/>
              </a:rPr>
              <a:t>«Es una preocupación válida.»</a:t>
            </a:r>
          </a:p>
        </p:txBody>
      </p:sp>
      <p:sp>
        <p:nvSpPr>
          <p:cNvPr id="26" name="Rectangle 25"/>
          <p:cNvSpPr/>
          <p:nvPr/>
        </p:nvSpPr>
        <p:spPr>
          <a:xfrm>
            <a:off x="2423160" y="6446520"/>
            <a:ext cx="2715768"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514600" y="6492240"/>
            <a:ext cx="2532888"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R  </a:t>
            </a:r>
            <a:r>
              <a:rPr sz="900" b="1" i="0">
                <a:solidFill>
                  <a:srgbClr val="1B365D"/>
                </a:solidFill>
                <a:latin typeface="Montserrat"/>
              </a:rPr>
              <a:t>REPOSICIONAR</a:t>
            </a:r>
          </a:p>
          <a:p>
            <a:pPr algn="l">
              <a:lnSpc>
                <a:spcPct val="115000"/>
              </a:lnSpc>
              <a:spcAft>
                <a:spcPts val="200"/>
              </a:spcAft>
            </a:pPr>
            <a:r>
              <a:rPr sz="1000" b="0" i="0">
                <a:solidFill>
                  <a:srgbClr val="2C3E50"/>
                </a:solidFill>
                <a:latin typeface="Montserrat"/>
              </a:rPr>
              <a:t>Somos La Auxiliadora, Hogar de las Memorias y Las Colinas, empresas de Vangrupo con trayectoria en El Salvador. El contrato es transparente y puede visitar el jardín cuando quiera.</a:t>
            </a:r>
          </a:p>
        </p:txBody>
      </p:sp>
      <p:sp>
        <p:nvSpPr>
          <p:cNvPr id="28" name="Rectangle 27"/>
          <p:cNvSpPr/>
          <p:nvPr/>
        </p:nvSpPr>
        <p:spPr>
          <a:xfrm>
            <a:off x="5230368" y="6446520"/>
            <a:ext cx="1828800" cy="160020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21808" y="6492240"/>
            <a:ext cx="1645920" cy="1536192"/>
          </a:xfrm>
          <a:prstGeom prst="rect">
            <a:avLst/>
          </a:prstGeom>
          <a:noFill/>
        </p:spPr>
        <p:txBody>
          <a:bodyPr wrap="square" anchor="t" lIns="45720" rIns="45720" tIns="27432" bIns="27432">
            <a:spAutoFit/>
          </a:bodyPr>
          <a:lstStyle/>
          <a:p>
            <a:pPr algn="l">
              <a:lnSpc>
                <a:spcPct val="115000"/>
              </a:lnSpc>
              <a:spcAft>
                <a:spcPts val="200"/>
              </a:spcAft>
            </a:pPr>
            <a:r>
              <a:rPr sz="1400" b="1" i="0">
                <a:solidFill>
                  <a:srgbClr val="C5A059"/>
                </a:solidFill>
                <a:latin typeface="Playfair Display"/>
              </a:rPr>
              <a:t>A  </a:t>
            </a:r>
            <a:r>
              <a:rPr sz="900" b="1" i="0">
                <a:solidFill>
                  <a:srgbClr val="1B365D"/>
                </a:solidFill>
                <a:latin typeface="Montserrat"/>
              </a:rPr>
              <a:t>AVANZAR</a:t>
            </a:r>
          </a:p>
          <a:p>
            <a:pPr algn="l">
              <a:lnSpc>
                <a:spcPct val="115000"/>
              </a:lnSpc>
              <a:spcAft>
                <a:spcPts val="200"/>
              </a:spcAft>
            </a:pPr>
            <a:r>
              <a:rPr sz="1000" b="0" i="1">
                <a:solidFill>
                  <a:srgbClr val="2C3E50"/>
                </a:solidFill>
                <a:latin typeface="Montserrat"/>
              </a:rPr>
              <a:t>«¿Agendamos una visita sin compromiso?»</a:t>
            </a:r>
          </a:p>
        </p:txBody>
      </p:sp>
      <p:sp>
        <p:nvSpPr>
          <p:cNvPr id="30" name="TextBox 29"/>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31" name="TextBox 30"/>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Tabla de precios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02920" y="2011680"/>
          <a:ext cx="6556245" cy="3968496"/>
        </p:xfrm>
        <a:graphic>
          <a:graphicData uri="http://schemas.openxmlformats.org/drawingml/2006/table">
            <a:tbl>
              <a:tblPr firstRow="1" bandRow="1">
                <a:tableStyleId>{5C22544A-7EE6-4342-B048-85BDC9FD1C3A}</a:tableStyleId>
              </a:tblPr>
              <a:tblGrid>
                <a:gridCol w="1440933"/>
                <a:gridCol w="1008653"/>
                <a:gridCol w="1440933"/>
                <a:gridCol w="792513"/>
                <a:gridCol w="1873213"/>
              </a:tblGrid>
              <a:tr h="566928">
                <a:tc>
                  <a:txBody>
                    <a:bodyPr wrap="square"/>
                    <a:lstStyle/>
                    <a:p>
                      <a:r>
                        <a:rPr sz="1000" b="1">
                          <a:solidFill>
                            <a:srgbClr val="FFFFFF"/>
                          </a:solidFill>
                          <a:latin typeface="Montserrat"/>
                        </a:rPr>
                        <a:t>Producto</a:t>
                      </a:r>
                    </a:p>
                  </a:txBody>
                  <a:tcPr marL="73152" marR="73152" marT="36576" marB="36576" anchor="ctr">
                    <a:solidFill>
                      <a:srgbClr val="1B365D"/>
                    </a:solidFill>
                  </a:tcPr>
                </a:tc>
                <a:tc>
                  <a:txBody>
                    <a:bodyPr wrap="square"/>
                    <a:lstStyle/>
                    <a:p>
                      <a:r>
                        <a:rPr sz="1000" b="1">
                          <a:solidFill>
                            <a:srgbClr val="FFFFFF"/>
                          </a:solidFill>
                          <a:latin typeface="Montserrat"/>
                        </a:rPr>
                        <a:t>Precio</a:t>
                      </a:r>
                    </a:p>
                  </a:txBody>
                  <a:tcPr marL="73152" marR="73152" marT="36576" marB="36576" anchor="ctr">
                    <a:solidFill>
                      <a:srgbClr val="1B365D"/>
                    </a:solidFill>
                  </a:tcPr>
                </a:tc>
                <a:tc>
                  <a:txBody>
                    <a:bodyPr wrap="square"/>
                    <a:lstStyle/>
                    <a:p>
                      <a:r>
                        <a:rPr sz="1000" b="1">
                          <a:solidFill>
                            <a:srgbClr val="FFFFFF"/>
                          </a:solidFill>
                          <a:latin typeface="Montserrat"/>
                        </a:rPr>
                        <a:t>Pago</a:t>
                      </a:r>
                    </a:p>
                  </a:txBody>
                  <a:tcPr marL="73152" marR="73152" marT="36576" marB="36576" anchor="ctr">
                    <a:solidFill>
                      <a:srgbClr val="1B365D"/>
                    </a:solidFill>
                  </a:tcPr>
                </a:tc>
                <a:tc>
                  <a:txBody>
                    <a:bodyPr wrap="square"/>
                    <a:lstStyle/>
                    <a:p>
                      <a:r>
                        <a:rPr sz="1000" b="1">
                          <a:solidFill>
                            <a:srgbClr val="FFFFFF"/>
                          </a:solidFill>
                          <a:latin typeface="Montserrat"/>
                        </a:rPr>
                        <a:t>Mant.</a:t>
                      </a:r>
                    </a:p>
                  </a:txBody>
                  <a:tcPr marL="73152" marR="73152" marT="36576" marB="36576" anchor="ctr">
                    <a:solidFill>
                      <a:srgbClr val="1B365D"/>
                    </a:solidFill>
                  </a:tcPr>
                </a:tc>
                <a:tc>
                  <a:txBody>
                    <a:bodyPr wrap="square"/>
                    <a:lstStyle/>
                    <a:p>
                      <a:r>
                        <a:rPr sz="1000" b="1">
                          <a:solidFill>
                            <a:srgbClr val="FFFFFF"/>
                          </a:solidFill>
                          <a:latin typeface="Montserrat"/>
                        </a:rPr>
                        <a:t>Plazo / condición</a:t>
                      </a:r>
                    </a:p>
                  </a:txBody>
                  <a:tcPr marL="73152" marR="73152" marT="36576" marB="36576" anchor="ctr">
                    <a:solidFill>
                      <a:srgbClr val="1B365D"/>
                    </a:solidFill>
                  </a:tcPr>
                </a:tc>
              </a:tr>
              <a:tr h="566928">
                <a:tc>
                  <a:txBody>
                    <a:bodyPr wrap="square"/>
                    <a:lstStyle/>
                    <a:p>
                      <a:r>
                        <a:rPr sz="1000" b="1">
                          <a:solidFill>
                            <a:srgbClr val="1B365D"/>
                          </a:solidFill>
                          <a:latin typeface="Montserrat"/>
                        </a:rPr>
                        <a:t>Solución Modular</a:t>
                      </a:r>
                    </a:p>
                  </a:txBody>
                  <a:tcPr marL="73152" marR="73152" marT="36576" marB="36576" anchor="ctr">
                    <a:solidFill>
                      <a:srgbClr val="FFFFFF"/>
                    </a:solidFill>
                  </a:tcPr>
                </a:tc>
                <a:tc>
                  <a:txBody>
                    <a:bodyPr wrap="square"/>
                    <a:lstStyle/>
                    <a:p>
                      <a:r>
                        <a:rPr sz="1000" b="0">
                          <a:solidFill>
                            <a:srgbClr val="2C3E50"/>
                          </a:solidFill>
                          <a:latin typeface="Montserrat"/>
                        </a:rPr>
                        <a:t>US$ 1.000</a:t>
                      </a:r>
                    </a:p>
                  </a:txBody>
                  <a:tcPr marL="73152" marR="73152" marT="36576" marB="36576" anchor="ctr">
                    <a:solidFill>
                      <a:srgbClr val="FFFFFF"/>
                    </a:solidFill>
                  </a:tcPr>
                </a:tc>
                <a:tc>
                  <a:txBody>
                    <a:bodyPr wrap="square"/>
                    <a:lstStyle/>
                    <a:p>
                      <a:r>
                        <a:rPr sz="1000" b="0">
                          <a:solidFill>
                            <a:srgbClr val="2C3E50"/>
                          </a:solidFill>
                          <a:latin typeface="Montserrat"/>
                        </a:rPr>
                        <a:t>Hasta 120 cuotas (≈ US$ 8,50/mes)</a:t>
                      </a:r>
                    </a:p>
                  </a:txBody>
                  <a:tcPr marL="73152" marR="73152" marT="36576" marB="36576" anchor="ctr">
                    <a:solidFill>
                      <a:srgbClr val="FFFFFF"/>
                    </a:solidFill>
                  </a:tcPr>
                </a:tc>
                <a:tc>
                  <a:txBody>
                    <a:bodyPr wrap="square"/>
                    <a:lstStyle/>
                    <a:p>
                      <a:r>
                        <a:rPr sz="1000" b="0">
                          <a:solidFill>
                            <a:srgbClr val="2C3E50"/>
                          </a:solidFill>
                          <a:latin typeface="Montserrat"/>
                        </a:rPr>
                        <a:t>—</a:t>
                      </a:r>
                    </a:p>
                  </a:txBody>
                  <a:tcPr marL="73152" marR="73152" marT="36576" marB="36576" anchor="ctr">
                    <a:solidFill>
                      <a:srgbClr val="FFFFFF"/>
                    </a:solidFill>
                  </a:tcPr>
                </a:tc>
                <a:tc>
                  <a:txBody>
                    <a:bodyPr wrap="square"/>
                    <a:lstStyle/>
                    <a:p>
                      <a:r>
                        <a:rPr sz="1000" b="0">
                          <a:solidFill>
                            <a:srgbClr val="2C3E50"/>
                          </a:solidFill>
                          <a:latin typeface="Montserrat"/>
                        </a:rPr>
                        <a:t>Columbario 1 año incluido</a:t>
                      </a:r>
                    </a:p>
                  </a:txBody>
                  <a:tcPr marL="73152" marR="73152" marT="36576" marB="36576" anchor="ctr">
                    <a:solidFill>
                      <a:srgbClr val="FFFFFF"/>
                    </a:solidFill>
                  </a:tcPr>
                </a:tc>
              </a:tr>
              <a:tr h="566928">
                <a:tc>
                  <a:txBody>
                    <a:bodyPr wrap="square"/>
                    <a:lstStyle/>
                    <a:p>
                      <a:r>
                        <a:rPr sz="1000" b="1">
                          <a:solidFill>
                            <a:srgbClr val="1B365D"/>
                          </a:solidFill>
                          <a:latin typeface="Montserrat"/>
                        </a:rPr>
                        <a:t>Jardín Individual</a:t>
                      </a:r>
                    </a:p>
                  </a:txBody>
                  <a:tcPr marL="73152" marR="73152" marT="36576" marB="36576" anchor="ctr">
                    <a:solidFill>
                      <a:srgbClr val="F4F7FA"/>
                    </a:solidFill>
                  </a:tcPr>
                </a:tc>
                <a:tc>
                  <a:txBody>
                    <a:bodyPr wrap="square"/>
                    <a:lstStyle/>
                    <a:p>
                      <a:r>
                        <a:rPr sz="1000" b="0">
                          <a:solidFill>
                            <a:srgbClr val="2C3E50"/>
                          </a:solidFill>
                          <a:latin typeface="Montserrat"/>
                        </a:rPr>
                        <a:t>US$ 600</a:t>
                      </a:r>
                    </a:p>
                  </a:txBody>
                  <a:tcPr marL="73152" marR="73152" marT="36576" marB="36576" anchor="ctr">
                    <a:solidFill>
                      <a:srgbClr val="F4F7FA"/>
                    </a:solidFill>
                  </a:tcPr>
                </a:tc>
                <a:tc>
                  <a:txBody>
                    <a:bodyPr wrap="square"/>
                    <a:lstStyle/>
                    <a:p>
                      <a:r>
                        <a:rPr sz="1000" b="0">
                          <a:solidFill>
                            <a:srgbClr val="2C3E50"/>
                          </a:solidFill>
                          <a:latin typeface="Montserrat"/>
                        </a:rPr>
                        <a:t>Único o financiado</a:t>
                      </a:r>
                    </a:p>
                  </a:txBody>
                  <a:tcPr marL="73152" marR="73152" marT="36576" marB="36576" anchor="ctr">
                    <a:solidFill>
                      <a:srgbClr val="F4F7FA"/>
                    </a:solidFill>
                  </a:tcPr>
                </a:tc>
                <a:tc>
                  <a:txBody>
                    <a:bodyPr wrap="square"/>
                    <a:lstStyle/>
                    <a:p>
                      <a:r>
                        <a:rPr sz="1000" b="0">
                          <a:solidFill>
                            <a:srgbClr val="2C3E50"/>
                          </a:solidFill>
                          <a:latin typeface="Montserrat"/>
                        </a:rPr>
                        <a:t>US$ 15/año</a:t>
                      </a:r>
                    </a:p>
                  </a:txBody>
                  <a:tcPr marL="73152" marR="73152" marT="36576" marB="36576" anchor="ctr">
                    <a:solidFill>
                      <a:srgbClr val="F4F7FA"/>
                    </a:solidFill>
                  </a:tcPr>
                </a:tc>
                <a:tc>
                  <a:txBody>
                    <a:bodyPr wrap="square"/>
                    <a:lstStyle/>
                    <a:p>
                      <a:r>
                        <a:rPr sz="1000" b="0">
                          <a:solidFill>
                            <a:srgbClr val="2C3E50"/>
                          </a:solidFill>
                          <a:latin typeface="Montserrat"/>
                        </a:rPr>
                        <a:t>Sin plazo</a:t>
                      </a:r>
                    </a:p>
                  </a:txBody>
                  <a:tcPr marL="73152" marR="73152" marT="36576" marB="36576" anchor="ctr">
                    <a:solidFill>
                      <a:srgbClr val="F4F7FA"/>
                    </a:solidFill>
                  </a:tcPr>
                </a:tc>
              </a:tr>
              <a:tr h="566928">
                <a:tc>
                  <a:txBody>
                    <a:bodyPr wrap="square"/>
                    <a:lstStyle/>
                    <a:p>
                      <a:r>
                        <a:rPr sz="1000" b="1">
                          <a:solidFill>
                            <a:srgbClr val="1B365D"/>
                          </a:solidFill>
                          <a:latin typeface="Montserrat"/>
                        </a:rPr>
                        <a:t>Jardín Familiar</a:t>
                      </a:r>
                    </a:p>
                  </a:txBody>
                  <a:tcPr marL="73152" marR="73152" marT="36576" marB="36576" anchor="ctr">
                    <a:solidFill>
                      <a:srgbClr val="FFFFFF"/>
                    </a:solidFill>
                  </a:tcPr>
                </a:tc>
                <a:tc>
                  <a:txBody>
                    <a:bodyPr wrap="square"/>
                    <a:lstStyle/>
                    <a:p>
                      <a:r>
                        <a:rPr sz="1000" b="0">
                          <a:solidFill>
                            <a:srgbClr val="2C3E50"/>
                          </a:solidFill>
                          <a:latin typeface="Montserrat"/>
                        </a:rPr>
                        <a:t>US$ 2.000</a:t>
                      </a:r>
                    </a:p>
                  </a:txBody>
                  <a:tcPr marL="73152" marR="73152" marT="36576" marB="36576" anchor="ctr">
                    <a:solidFill>
                      <a:srgbClr val="FFFFFF"/>
                    </a:solidFill>
                  </a:tcPr>
                </a:tc>
                <a:tc>
                  <a:txBody>
                    <a:bodyPr wrap="square"/>
                    <a:lstStyle/>
                    <a:p>
                      <a:r>
                        <a:rPr sz="1000" b="0">
                          <a:solidFill>
                            <a:srgbClr val="2C3E50"/>
                          </a:solidFill>
                          <a:latin typeface="Montserrat"/>
                        </a:rPr>
                        <a:t>Único o financiado</a:t>
                      </a:r>
                    </a:p>
                  </a:txBody>
                  <a:tcPr marL="73152" marR="73152" marT="36576" marB="36576" anchor="ctr">
                    <a:solidFill>
                      <a:srgbClr val="FFFFFF"/>
                    </a:solidFill>
                  </a:tcPr>
                </a:tc>
                <a:tc>
                  <a:txBody>
                    <a:bodyPr wrap="square"/>
                    <a:lstStyle/>
                    <a:p>
                      <a:r>
                        <a:rPr sz="1000" b="0">
                          <a:solidFill>
                            <a:srgbClr val="2C3E50"/>
                          </a:solidFill>
                          <a:latin typeface="Montserrat"/>
                        </a:rPr>
                        <a:t>US$ 25/año</a:t>
                      </a:r>
                    </a:p>
                  </a:txBody>
                  <a:tcPr marL="73152" marR="73152" marT="36576" marB="36576" anchor="ctr">
                    <a:solidFill>
                      <a:srgbClr val="FFFFFF"/>
                    </a:solidFill>
                  </a:tcPr>
                </a:tc>
                <a:tc>
                  <a:txBody>
                    <a:bodyPr wrap="square"/>
                    <a:lstStyle/>
                    <a:p>
                      <a:r>
                        <a:rPr sz="1000" b="0">
                          <a:solidFill>
                            <a:srgbClr val="2C3E50"/>
                          </a:solidFill>
                          <a:latin typeface="Montserrat"/>
                        </a:rPr>
                        <a:t>Hasta 4 espacios, sin plazo</a:t>
                      </a:r>
                    </a:p>
                  </a:txBody>
                  <a:tcPr marL="73152" marR="73152" marT="36576" marB="36576" anchor="ctr">
                    <a:solidFill>
                      <a:srgbClr val="FFFFFF"/>
                    </a:solidFill>
                  </a:tcPr>
                </a:tc>
              </a:tr>
              <a:tr h="566928">
                <a:tc>
                  <a:txBody>
                    <a:bodyPr wrap="square"/>
                    <a:lstStyle/>
                    <a:p>
                      <a:r>
                        <a:rPr sz="1000" b="1">
                          <a:solidFill>
                            <a:srgbClr val="1B365D"/>
                          </a:solidFill>
                          <a:latin typeface="Montserrat"/>
                        </a:rPr>
                        <a:t>Jardín Ecológico</a:t>
                      </a:r>
                    </a:p>
                  </a:txBody>
                  <a:tcPr marL="73152" marR="73152" marT="36576" marB="36576" anchor="ctr">
                    <a:solidFill>
                      <a:srgbClr val="F4F7FA"/>
                    </a:solidFill>
                  </a:tcPr>
                </a:tc>
                <a:tc>
                  <a:txBody>
                    <a:bodyPr wrap="square"/>
                    <a:lstStyle/>
                    <a:p>
                      <a:r>
                        <a:rPr sz="1000" b="0">
                          <a:solidFill>
                            <a:srgbClr val="2C3E50"/>
                          </a:solidFill>
                          <a:latin typeface="Montserrat"/>
                        </a:rPr>
                        <a:t>US$ 750</a:t>
                      </a:r>
                    </a:p>
                  </a:txBody>
                  <a:tcPr marL="73152" marR="73152" marT="36576" marB="36576" anchor="ctr">
                    <a:solidFill>
                      <a:srgbClr val="F4F7FA"/>
                    </a:solidFill>
                  </a:tcPr>
                </a:tc>
                <a:tc>
                  <a:txBody>
                    <a:bodyPr wrap="square"/>
                    <a:lstStyle/>
                    <a:p>
                      <a:r>
                        <a:rPr sz="1000" b="0">
                          <a:solidFill>
                            <a:srgbClr val="2C3E50"/>
                          </a:solidFill>
                          <a:latin typeface="Montserrat"/>
                        </a:rPr>
                        <a:t>Único o financiado</a:t>
                      </a:r>
                    </a:p>
                  </a:txBody>
                  <a:tcPr marL="73152" marR="73152" marT="36576" marB="36576" anchor="ctr">
                    <a:solidFill>
                      <a:srgbClr val="F4F7FA"/>
                    </a:solidFill>
                  </a:tcPr>
                </a:tc>
                <a:tc>
                  <a:txBody>
                    <a:bodyPr wrap="square"/>
                    <a:lstStyle/>
                    <a:p>
                      <a:r>
                        <a:rPr sz="1000" b="0">
                          <a:solidFill>
                            <a:srgbClr val="2C3E50"/>
                          </a:solidFill>
                          <a:latin typeface="Montserrat"/>
                        </a:rPr>
                        <a:t>—</a:t>
                      </a:r>
                    </a:p>
                  </a:txBody>
                  <a:tcPr marL="73152" marR="73152" marT="36576" marB="36576" anchor="ctr">
                    <a:solidFill>
                      <a:srgbClr val="F4F7FA"/>
                    </a:solidFill>
                  </a:tcPr>
                </a:tc>
                <a:tc>
                  <a:txBody>
                    <a:bodyPr wrap="square"/>
                    <a:lstStyle/>
                    <a:p>
                      <a:r>
                        <a:rPr sz="1000" b="0">
                          <a:solidFill>
                            <a:srgbClr val="2C3E50"/>
                          </a:solidFill>
                          <a:latin typeface="Montserrat"/>
                        </a:rPr>
                        <a:t>3 años · placa memorial incluida</a:t>
                      </a:r>
                    </a:p>
                  </a:txBody>
                  <a:tcPr marL="73152" marR="73152" marT="36576" marB="36576" anchor="ctr">
                    <a:solidFill>
                      <a:srgbClr val="F4F7FA"/>
                    </a:solidFill>
                  </a:tcPr>
                </a:tc>
              </a:tr>
              <a:tr h="566928">
                <a:tc>
                  <a:txBody>
                    <a:bodyPr wrap="square"/>
                    <a:lstStyle/>
                    <a:p>
                      <a:r>
                        <a:rPr sz="1000" b="1">
                          <a:solidFill>
                            <a:srgbClr val="1B365D"/>
                          </a:solidFill>
                          <a:latin typeface="Montserrat"/>
                        </a:rPr>
                        <a:t>Jardín de Mascotas</a:t>
                      </a:r>
                    </a:p>
                  </a:txBody>
                  <a:tcPr marL="73152" marR="73152" marT="36576" marB="36576" anchor="ctr">
                    <a:solidFill>
                      <a:srgbClr val="FFFFFF"/>
                    </a:solidFill>
                  </a:tcPr>
                </a:tc>
                <a:tc>
                  <a:txBody>
                    <a:bodyPr wrap="square"/>
                    <a:lstStyle/>
                    <a:p>
                      <a:r>
                        <a:rPr sz="1000" b="0">
                          <a:solidFill>
                            <a:srgbClr val="2C3E50"/>
                          </a:solidFill>
                          <a:latin typeface="Montserrat"/>
                        </a:rPr>
                        <a:t>US$ 400 / 550</a:t>
                      </a:r>
                    </a:p>
                  </a:txBody>
                  <a:tcPr marL="73152" marR="73152" marT="36576" marB="36576" anchor="ctr">
                    <a:solidFill>
                      <a:srgbClr val="FFFFFF"/>
                    </a:solidFill>
                  </a:tcPr>
                </a:tc>
                <a:tc>
                  <a:txBody>
                    <a:bodyPr wrap="square"/>
                    <a:lstStyle/>
                    <a:p>
                      <a:r>
                        <a:rPr sz="1000" b="0">
                          <a:solidFill>
                            <a:srgbClr val="2C3E50"/>
                          </a:solidFill>
                          <a:latin typeface="Montserrat"/>
                        </a:rPr>
                        <a:t>Pago único</a:t>
                      </a:r>
                    </a:p>
                  </a:txBody>
                  <a:tcPr marL="73152" marR="73152" marT="36576" marB="36576" anchor="ctr">
                    <a:solidFill>
                      <a:srgbClr val="FFFFFF"/>
                    </a:solidFill>
                  </a:tcPr>
                </a:tc>
                <a:tc>
                  <a:txBody>
                    <a:bodyPr wrap="square"/>
                    <a:lstStyle/>
                    <a:p>
                      <a:r>
                        <a:rPr sz="1000" b="0">
                          <a:solidFill>
                            <a:srgbClr val="2C3E50"/>
                          </a:solidFill>
                          <a:latin typeface="Montserrat"/>
                        </a:rPr>
                        <a:t>—</a:t>
                      </a:r>
                    </a:p>
                  </a:txBody>
                  <a:tcPr marL="73152" marR="73152" marT="36576" marB="36576" anchor="ctr">
                    <a:solidFill>
                      <a:srgbClr val="FFFFFF"/>
                    </a:solidFill>
                  </a:tcPr>
                </a:tc>
                <a:tc>
                  <a:txBody>
                    <a:bodyPr wrap="square"/>
                    <a:lstStyle/>
                    <a:p>
                      <a:r>
                        <a:rPr sz="1000" b="0">
                          <a:solidFill>
                            <a:srgbClr val="2C3E50"/>
                          </a:solidFill>
                          <a:latin typeface="Montserrat"/>
                        </a:rPr>
                        <a:t>3 años · placa incluida en la opción de US$ 550</a:t>
                      </a:r>
                    </a:p>
                  </a:txBody>
                  <a:tcPr marL="73152" marR="73152" marT="36576" marB="36576" anchor="ctr">
                    <a:solidFill>
                      <a:srgbClr val="FFFFFF"/>
                    </a:solidFill>
                  </a:tcPr>
                </a:tc>
              </a:tr>
              <a:tr h="566928">
                <a:tc>
                  <a:txBody>
                    <a:bodyPr wrap="square"/>
                    <a:lstStyle/>
                    <a:p>
                      <a:r>
                        <a:rPr sz="1000" b="1">
                          <a:solidFill>
                            <a:srgbClr val="1B365D"/>
                          </a:solidFill>
                          <a:latin typeface="Montserrat"/>
                        </a:rPr>
                        <a:t>Jardín Ceremonial</a:t>
                      </a:r>
                    </a:p>
                  </a:txBody>
                  <a:tcPr marL="73152" marR="73152" marT="36576" marB="36576" anchor="ctr">
                    <a:solidFill>
                      <a:srgbClr val="FBF3E1"/>
                    </a:solidFill>
                  </a:tcPr>
                </a:tc>
                <a:tc>
                  <a:txBody>
                    <a:bodyPr wrap="square"/>
                    <a:lstStyle/>
                    <a:p>
                      <a:r>
                        <a:rPr sz="1000" b="0">
                          <a:solidFill>
                            <a:srgbClr val="2C3E50"/>
                          </a:solidFill>
                          <a:latin typeface="Montserrat"/>
                        </a:rPr>
                        <a:t>A definir</a:t>
                      </a:r>
                    </a:p>
                  </a:txBody>
                  <a:tcPr marL="73152" marR="73152" marT="36576" marB="36576" anchor="ctr">
                    <a:solidFill>
                      <a:srgbClr val="FBF3E1"/>
                    </a:solidFill>
                  </a:tcPr>
                </a:tc>
                <a:tc>
                  <a:txBody>
                    <a:bodyPr wrap="square"/>
                    <a:lstStyle/>
                    <a:p>
                      <a:r>
                        <a:rPr sz="1000" b="0">
                          <a:solidFill>
                            <a:srgbClr val="2C3E50"/>
                          </a:solidFill>
                          <a:latin typeface="Montserrat"/>
                        </a:rPr>
                        <a:t>A definir</a:t>
                      </a:r>
                    </a:p>
                  </a:txBody>
                  <a:tcPr marL="73152" marR="73152" marT="36576" marB="36576" anchor="ctr">
                    <a:solidFill>
                      <a:srgbClr val="FBF3E1"/>
                    </a:solidFill>
                  </a:tcPr>
                </a:tc>
                <a:tc>
                  <a:txBody>
                    <a:bodyPr wrap="square"/>
                    <a:lstStyle/>
                    <a:p>
                      <a:r>
                        <a:rPr sz="1000" b="0">
                          <a:solidFill>
                            <a:srgbClr val="2C3E50"/>
                          </a:solidFill>
                          <a:latin typeface="Montserrat"/>
                        </a:rPr>
                        <a:t>A definir</a:t>
                      </a:r>
                    </a:p>
                  </a:txBody>
                  <a:tcPr marL="73152" marR="73152" marT="36576" marB="36576" anchor="ctr">
                    <a:solidFill>
                      <a:srgbClr val="FBF3E1"/>
                    </a:solidFill>
                  </a:tcPr>
                </a:tc>
                <a:tc>
                  <a:txBody>
                    <a:bodyPr wrap="square"/>
                    <a:lstStyle/>
                    <a:p>
                      <a:r>
                        <a:rPr sz="1000" b="0">
                          <a:solidFill>
                            <a:srgbClr val="2C3E50"/>
                          </a:solidFill>
                          <a:latin typeface="Montserrat"/>
                        </a:rPr>
                        <a:t>Próximo lanzamiento</a:t>
                      </a:r>
                    </a:p>
                  </a:txBody>
                  <a:tcPr marL="73152" marR="73152" marT="36576" marB="36576" anchor="ctr">
                    <a:solidFill>
                      <a:srgbClr val="FBF3E1"/>
                    </a:solidFill>
                  </a:tcPr>
                </a:tc>
              </a:tr>
            </a:tbl>
          </a:graphicData>
        </a:graphic>
      </p:graphicFrame>
      <p:sp>
        <p:nvSpPr>
          <p:cNvPr id="8" name="Rectangle 7"/>
          <p:cNvSpPr/>
          <p:nvPr/>
        </p:nvSpPr>
        <p:spPr>
          <a:xfrm>
            <a:off x="502920" y="6263640"/>
            <a:ext cx="6556248" cy="1188720"/>
          </a:xfrm>
          <a:prstGeom prst="rect">
            <a:avLst/>
          </a:prstGeom>
          <a:solidFill>
            <a:srgbClr val="FBF3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6263640"/>
            <a:ext cx="73152" cy="1188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263640"/>
            <a:ext cx="6099048" cy="1188720"/>
          </a:xfrm>
          <a:prstGeom prst="rect">
            <a:avLst/>
          </a:prstGeom>
          <a:noFill/>
        </p:spPr>
        <p:txBody>
          <a:bodyPr wrap="square" anchor="ctr" lIns="45720" rIns="45720" tIns="27432" bIns="27432">
            <a:spAutoFit/>
          </a:bodyPr>
          <a:lstStyle/>
          <a:p>
            <a:pPr algn="l">
              <a:lnSpc>
                <a:spcPct val="115000"/>
              </a:lnSpc>
              <a:spcAft>
                <a:spcPts val="400"/>
              </a:spcAft>
            </a:pPr>
            <a:r>
              <a:rPr sz="1000" b="1" i="0">
                <a:solidFill>
                  <a:srgbClr val="1B365D"/>
                </a:solidFill>
                <a:latin typeface="Montserrat"/>
              </a:rPr>
              <a:t>EL DESCUENTO NO ES LA SALIDA   </a:t>
            </a:r>
            <a:r>
              <a:rPr sz="1100" b="0" i="0">
                <a:solidFill>
                  <a:srgbClr val="2C3E50"/>
                </a:solidFill>
                <a:latin typeface="Montserrat"/>
              </a:rPr>
              <a:t>Competimos por valor, no por precio. Antes de ofrecer un descuento, refuerce lo que está incluido y la calidad del jardín. Un descuento fácil enseña al cliente a dudar del valor.</a:t>
            </a:r>
          </a:p>
        </p:txBody>
      </p:sp>
      <p:sp>
        <p:nvSpPr>
          <p:cNvPr id="11" name="TextBox 10"/>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2" name="TextBox 11"/>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06 · PRECIOS, REGLAS Y CONDICIONES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Reglas comerciales</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645920"/>
          <a:ext cx="6556248" cy="6949440"/>
        </p:xfrm>
        <a:graphic>
          <a:graphicData uri="http://schemas.openxmlformats.org/drawingml/2006/table">
            <a:tbl>
              <a:tblPr firstRow="1" bandRow="1">
                <a:tableStyleId>{5C22544A-7EE6-4342-B048-85BDC9FD1C3A}</a:tableStyleId>
              </a:tblPr>
              <a:tblGrid>
                <a:gridCol w="1821180"/>
                <a:gridCol w="4735068"/>
              </a:tblGrid>
              <a:tr h="868680">
                <a:tc>
                  <a:txBody>
                    <a:bodyPr wrap="square"/>
                    <a:lstStyle/>
                    <a:p>
                      <a:r>
                        <a:rPr sz="1100" b="1">
                          <a:solidFill>
                            <a:srgbClr val="FFFFFF"/>
                          </a:solidFill>
                          <a:latin typeface="Montserrat"/>
                        </a:rPr>
                        <a:t>Tema</a:t>
                      </a:r>
                    </a:p>
                  </a:txBody>
                  <a:tcPr marL="73152" marR="73152" marT="36576" marB="36576" anchor="ctr">
                    <a:solidFill>
                      <a:srgbClr val="1B365D"/>
                    </a:solidFill>
                  </a:tcPr>
                </a:tc>
                <a:tc>
                  <a:txBody>
                    <a:bodyPr wrap="square"/>
                    <a:lstStyle/>
                    <a:p>
                      <a:r>
                        <a:rPr sz="1100" b="1">
                          <a:solidFill>
                            <a:srgbClr val="FFFFFF"/>
                          </a:solidFill>
                          <a:latin typeface="Montserrat"/>
                        </a:rPr>
                        <a:t>Regla</a:t>
                      </a:r>
                    </a:p>
                  </a:txBody>
                  <a:tcPr marL="73152" marR="73152" marT="36576" marB="36576" anchor="ctr">
                    <a:solidFill>
                      <a:srgbClr val="1B365D"/>
                    </a:solidFill>
                  </a:tcPr>
                </a:tc>
              </a:tr>
              <a:tr h="868680">
                <a:tc>
                  <a:txBody>
                    <a:bodyPr wrap="square"/>
                    <a:lstStyle/>
                    <a:p>
                      <a:r>
                        <a:rPr sz="1100" b="1">
                          <a:solidFill>
                            <a:srgbClr val="1B365D"/>
                          </a:solidFill>
                          <a:latin typeface="Montserrat"/>
                        </a:rPr>
                        <a:t>Precios</a:t>
                      </a:r>
                    </a:p>
                  </a:txBody>
                  <a:tcPr marL="73152" marR="73152" marT="36576" marB="36576" anchor="ctr">
                    <a:solidFill>
                      <a:srgbClr val="FFFFFF"/>
                    </a:solidFill>
                  </a:tcPr>
                </a:tc>
                <a:tc>
                  <a:txBody>
                    <a:bodyPr wrap="square"/>
                    <a:lstStyle/>
                    <a:p>
                      <a:r>
                        <a:rPr sz="1100" b="0">
                          <a:solidFill>
                            <a:srgbClr val="2C3E50"/>
                          </a:solidFill>
                          <a:latin typeface="Montserrat"/>
                        </a:rPr>
                        <a:t>Precios sugeridos en US$ con IVA incluido. Consulte siempre la Ficha Técnica vigente.</a:t>
                      </a:r>
                    </a:p>
                  </a:txBody>
                  <a:tcPr marL="73152" marR="73152" marT="36576" marB="36576" anchor="ctr">
                    <a:solidFill>
                      <a:srgbClr val="FFFFFF"/>
                    </a:solidFill>
                  </a:tcPr>
                </a:tc>
              </a:tr>
              <a:tr h="868680">
                <a:tc>
                  <a:txBody>
                    <a:bodyPr wrap="square"/>
                    <a:lstStyle/>
                    <a:p>
                      <a:r>
                        <a:rPr sz="1100" b="1">
                          <a:solidFill>
                            <a:srgbClr val="1B365D"/>
                          </a:solidFill>
                          <a:latin typeface="Montserrat"/>
                        </a:rPr>
                        <a:t>Descuentos</a:t>
                      </a:r>
                    </a:p>
                  </a:txBody>
                  <a:tcPr marL="73152" marR="73152" marT="36576" marB="36576" anchor="ctr">
                    <a:solidFill>
                      <a:srgbClr val="F4F7FA"/>
                    </a:solidFill>
                  </a:tcPr>
                </a:tc>
                <a:tc>
                  <a:txBody>
                    <a:bodyPr wrap="square"/>
                    <a:lstStyle/>
                    <a:p>
                      <a:r>
                        <a:rPr sz="1100" b="0">
                          <a:solidFill>
                            <a:srgbClr val="2C3E50"/>
                          </a:solidFill>
                          <a:latin typeface="Montserrat"/>
                        </a:rPr>
                        <a:t>Prenecesidad: hasta 20% según la campaña del mes. Emergencia: máximo 5%. Siempre con autorización del supervisor.</a:t>
                      </a:r>
                    </a:p>
                  </a:txBody>
                  <a:tcPr marL="73152" marR="73152" marT="36576" marB="36576" anchor="ctr">
                    <a:solidFill>
                      <a:srgbClr val="F4F7FA"/>
                    </a:solidFill>
                  </a:tcPr>
                </a:tc>
              </a:tr>
              <a:tr h="868680">
                <a:tc>
                  <a:txBody>
                    <a:bodyPr wrap="square"/>
                    <a:lstStyle/>
                    <a:p>
                      <a:r>
                        <a:rPr sz="1100" b="1">
                          <a:solidFill>
                            <a:srgbClr val="1B365D"/>
                          </a:solidFill>
                          <a:latin typeface="Montserrat"/>
                        </a:rPr>
                        <a:t>Mantenimiento</a:t>
                      </a:r>
                    </a:p>
                  </a:txBody>
                  <a:tcPr marL="73152" marR="73152" marT="36576" marB="36576" anchor="ctr">
                    <a:solidFill>
                      <a:srgbClr val="FFFFFF"/>
                    </a:solidFill>
                  </a:tcPr>
                </a:tc>
                <a:tc>
                  <a:txBody>
                    <a:bodyPr wrap="square"/>
                    <a:lstStyle/>
                    <a:p>
                      <a:r>
                        <a:rPr sz="1100" b="0">
                          <a:solidFill>
                            <a:srgbClr val="2C3E50"/>
                          </a:solidFill>
                          <a:latin typeface="Montserrat"/>
                        </a:rPr>
                        <a:t>Individual US$ 15/año y Familiar US$ 25/año. No es opcional: se explica antes de firmar.</a:t>
                      </a:r>
                    </a:p>
                  </a:txBody>
                  <a:tcPr marL="73152" marR="73152" marT="36576" marB="36576" anchor="ctr">
                    <a:solidFill>
                      <a:srgbClr val="FFFFFF"/>
                    </a:solidFill>
                  </a:tcPr>
                </a:tc>
              </a:tr>
              <a:tr h="868680">
                <a:tc>
                  <a:txBody>
                    <a:bodyPr wrap="square"/>
                    <a:lstStyle/>
                    <a:p>
                      <a:r>
                        <a:rPr sz="1100" b="1">
                          <a:solidFill>
                            <a:srgbClr val="1B365D"/>
                          </a:solidFill>
                          <a:latin typeface="Montserrat"/>
                        </a:rPr>
                        <a:t>Plazo de 3 años</a:t>
                      </a:r>
                    </a:p>
                  </a:txBody>
                  <a:tcPr marL="73152" marR="73152" marT="36576" marB="36576" anchor="ctr">
                    <a:solidFill>
                      <a:srgbClr val="F4F7FA"/>
                    </a:solidFill>
                  </a:tcPr>
                </a:tc>
                <a:tc>
                  <a:txBody>
                    <a:bodyPr wrap="square"/>
                    <a:lstStyle/>
                    <a:p>
                      <a:r>
                        <a:rPr sz="1100" b="0">
                          <a:solidFill>
                            <a:srgbClr val="2C3E50"/>
                          </a:solidFill>
                          <a:latin typeface="Montserrat"/>
                        </a:rPr>
                        <a:t>Ecológico y Mascotas: se explica con total transparencia en la primera conversación.</a:t>
                      </a:r>
                    </a:p>
                  </a:txBody>
                  <a:tcPr marL="73152" marR="73152" marT="36576" marB="36576" anchor="ctr">
                    <a:solidFill>
                      <a:srgbClr val="F4F7FA"/>
                    </a:solidFill>
                  </a:tcPr>
                </a:tc>
              </a:tr>
              <a:tr h="868680">
                <a:tc>
                  <a:txBody>
                    <a:bodyPr wrap="square"/>
                    <a:lstStyle/>
                    <a:p>
                      <a:r>
                        <a:rPr sz="1100" b="1">
                          <a:solidFill>
                            <a:srgbClr val="1B365D"/>
                          </a:solidFill>
                          <a:latin typeface="Montserrat"/>
                        </a:rPr>
                        <a:t>Placas memoriales</a:t>
                      </a:r>
                    </a:p>
                  </a:txBody>
                  <a:tcPr marL="73152" marR="73152" marT="36576" marB="36576" anchor="ctr">
                    <a:solidFill>
                      <a:srgbClr val="FFFFFF"/>
                    </a:solidFill>
                  </a:tcPr>
                </a:tc>
                <a:tc>
                  <a:txBody>
                    <a:bodyPr wrap="square"/>
                    <a:lstStyle/>
                    <a:p>
                      <a:r>
                        <a:rPr sz="1100" b="0">
                          <a:solidFill>
                            <a:srgbClr val="2C3E50"/>
                          </a:solidFill>
                          <a:latin typeface="Montserrat"/>
                        </a:rPr>
                        <a:t>Incluida en el Jardín Ecológico (US$ 750) y en la opción de Mascotas de US$ 550.</a:t>
                      </a:r>
                    </a:p>
                  </a:txBody>
                  <a:tcPr marL="73152" marR="73152" marT="36576" marB="36576" anchor="ctr">
                    <a:solidFill>
                      <a:srgbClr val="FFFFFF"/>
                    </a:solidFill>
                  </a:tcPr>
                </a:tc>
              </a:tr>
              <a:tr h="868680">
                <a:tc>
                  <a:txBody>
                    <a:bodyPr wrap="square"/>
                    <a:lstStyle/>
                    <a:p>
                      <a:r>
                        <a:rPr sz="1100" b="1">
                          <a:solidFill>
                            <a:srgbClr val="1B365D"/>
                          </a:solidFill>
                          <a:latin typeface="Montserrat"/>
                        </a:rPr>
                        <a:t>Dueño del contacto</a:t>
                      </a:r>
                    </a:p>
                  </a:txBody>
                  <a:tcPr marL="73152" marR="73152" marT="36576" marB="36576" anchor="ctr">
                    <a:solidFill>
                      <a:srgbClr val="F4F7FA"/>
                    </a:solidFill>
                  </a:tcPr>
                </a:tc>
                <a:tc>
                  <a:txBody>
                    <a:bodyPr wrap="square"/>
                    <a:lstStyle/>
                    <a:p>
                      <a:r>
                        <a:rPr sz="1100" b="0">
                          <a:solidFill>
                            <a:srgbClr val="2C3E50"/>
                          </a:solidFill>
                          <a:latin typeface="Montserrat"/>
                        </a:rPr>
                        <a:t>Quien registra primero. Sin interacción en 15 días, el contacto puede reasignarse.</a:t>
                      </a:r>
                    </a:p>
                  </a:txBody>
                  <a:tcPr marL="73152" marR="73152" marT="36576" marB="36576" anchor="ctr">
                    <a:solidFill>
                      <a:srgbClr val="F4F7FA"/>
                    </a:solidFill>
                  </a:tcPr>
                </a:tc>
              </a:tr>
              <a:tr h="868680">
                <a:tc>
                  <a:txBody>
                    <a:bodyPr wrap="square"/>
                    <a:lstStyle/>
                    <a:p>
                      <a:r>
                        <a:rPr sz="1100" b="1">
                          <a:solidFill>
                            <a:srgbClr val="1B365D"/>
                          </a:solidFill>
                          <a:latin typeface="Montserrat"/>
                        </a:rPr>
                        <a:t>Lo que NO se promete</a:t>
                      </a:r>
                    </a:p>
                  </a:txBody>
                  <a:tcPr marL="73152" marR="73152" marT="36576" marB="36576" anchor="ctr">
                    <a:solidFill>
                      <a:srgbClr val="FFFFFF"/>
                    </a:solidFill>
                  </a:tcPr>
                </a:tc>
                <a:tc>
                  <a:txBody>
                    <a:bodyPr wrap="square"/>
                    <a:lstStyle/>
                    <a:p>
                      <a:r>
                        <a:rPr sz="1100" b="0">
                          <a:solidFill>
                            <a:srgbClr val="2C3E50"/>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8" name="TextBox 7"/>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Comisión única de 8%</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44752"/>
            <a:ext cx="6556248"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A8794"/>
                </a:solidFill>
                <a:latin typeface="Montserrat"/>
              </a:rPr>
              <a:t>Sobre el precio sin IVA. Validar con la Gerencia Comercial.</a:t>
            </a:r>
          </a:p>
        </p:txBody>
      </p:sp>
      <p:pic>
        <p:nvPicPr>
          <p:cNvPr id="7" name="Picture 6" descr="05_comisiones.png"/>
          <p:cNvPicPr>
            <a:picLocks noChangeAspect="1"/>
          </p:cNvPicPr>
          <p:nvPr/>
        </p:nvPicPr>
        <p:blipFill>
          <a:blip r:embed="rId2"/>
          <a:stretch>
            <a:fillRect/>
          </a:stretch>
        </p:blipFill>
        <p:spPr>
          <a:xfrm>
            <a:off x="502920" y="2157870"/>
            <a:ext cx="6556248" cy="2130780"/>
          </a:xfrm>
          <a:prstGeom prst="rect">
            <a:avLst/>
          </a:prstGeom>
        </p:spPr>
      </p:pic>
      <p:graphicFrame>
        <p:nvGraphicFramePr>
          <p:cNvPr id="8" name="Table 7"/>
          <p:cNvGraphicFramePr>
            <a:graphicFrameLocks noGrp="1"/>
          </p:cNvGraphicFramePr>
          <p:nvPr/>
        </p:nvGraphicFramePr>
        <p:xfrm>
          <a:off x="502920" y="4663440"/>
          <a:ext cx="6556246" cy="5266944"/>
        </p:xfrm>
        <a:graphic>
          <a:graphicData uri="http://schemas.openxmlformats.org/drawingml/2006/table">
            <a:tbl>
              <a:tblPr firstRow="1" bandRow="1">
                <a:tableStyleId>{5C22544A-7EE6-4342-B048-85BDC9FD1C3A}</a:tableStyleId>
              </a:tblPr>
              <a:tblGrid>
                <a:gridCol w="1681089"/>
                <a:gridCol w="504326"/>
                <a:gridCol w="1008653"/>
                <a:gridCol w="2017307"/>
                <a:gridCol w="1344871"/>
              </a:tblGrid>
              <a:tr h="658368">
                <a:tc>
                  <a:txBody>
                    <a:bodyPr wrap="square"/>
                    <a:lstStyle/>
                    <a:p>
                      <a:r>
                        <a:rPr sz="950" b="1">
                          <a:solidFill>
                            <a:srgbClr val="FFFFFF"/>
                          </a:solidFill>
                          <a:latin typeface="Montserrat"/>
                        </a:rPr>
                        <a:t>Producto</a:t>
                      </a:r>
                    </a:p>
                  </a:txBody>
                  <a:tcPr marL="73152" marR="73152" marT="36576" marB="36576" anchor="ctr">
                    <a:solidFill>
                      <a:srgbClr val="1B365D"/>
                    </a:solidFill>
                  </a:tcPr>
                </a:tc>
                <a:tc>
                  <a:txBody>
                    <a:bodyPr wrap="square"/>
                    <a:lstStyle/>
                    <a:p>
                      <a:r>
                        <a:rPr sz="950" b="1">
                          <a:solidFill>
                            <a:srgbClr val="FFFFFF"/>
                          </a:solidFill>
                          <a:latin typeface="Montserrat"/>
                        </a:rPr>
                        <a:t>%</a:t>
                      </a:r>
                    </a:p>
                  </a:txBody>
                  <a:tcPr marL="73152" marR="73152" marT="36576" marB="36576" anchor="ctr">
                    <a:solidFill>
                      <a:srgbClr val="1B365D"/>
                    </a:solidFill>
                  </a:tcPr>
                </a:tc>
                <a:tc>
                  <a:txBody>
                    <a:bodyPr wrap="square"/>
                    <a:lstStyle/>
                    <a:p>
                      <a:r>
                        <a:rPr sz="950" b="1">
                          <a:solidFill>
                            <a:srgbClr val="FFFFFF"/>
                          </a:solidFill>
                          <a:latin typeface="Montserrat"/>
                        </a:rPr>
                        <a:t>Comisión</a:t>
                      </a:r>
                    </a:p>
                  </a:txBody>
                  <a:tcPr marL="73152" marR="73152" marT="36576" marB="36576" anchor="ctr">
                    <a:solidFill>
                      <a:srgbClr val="1B365D"/>
                    </a:solidFill>
                  </a:tcPr>
                </a:tc>
                <a:tc>
                  <a:txBody>
                    <a:bodyPr wrap="square"/>
                    <a:lstStyle/>
                    <a:p>
                      <a:r>
                        <a:rPr sz="950" b="1">
                          <a:solidFill>
                            <a:srgbClr val="FFFFFF"/>
                          </a:solidFill>
                          <a:latin typeface="Montserrat"/>
                        </a:rPr>
                        <a:t>Cuándo se paga</a:t>
                      </a:r>
                    </a:p>
                  </a:txBody>
                  <a:tcPr marL="73152" marR="73152" marT="36576" marB="36576" anchor="ctr">
                    <a:solidFill>
                      <a:srgbClr val="1B365D"/>
                    </a:solidFill>
                  </a:tcPr>
                </a:tc>
                <a:tc>
                  <a:txBody>
                    <a:bodyPr wrap="square"/>
                    <a:lstStyle/>
                    <a:p>
                      <a:r>
                        <a:rPr sz="950" b="1">
                          <a:solidFill>
                            <a:srgbClr val="FFFFFF"/>
                          </a:solidFill>
                          <a:latin typeface="Montserrat"/>
                        </a:rPr>
                        <a:t>Estorno</a:t>
                      </a:r>
                    </a:p>
                  </a:txBody>
                  <a:tcPr marL="73152" marR="73152" marT="36576" marB="36576" anchor="ctr">
                    <a:solidFill>
                      <a:srgbClr val="1B365D"/>
                    </a:solidFill>
                  </a:tcPr>
                </a:tc>
              </a:tr>
              <a:tr h="658368">
                <a:tc>
                  <a:txBody>
                    <a:bodyPr wrap="square"/>
                    <a:lstStyle/>
                    <a:p>
                      <a:r>
                        <a:rPr sz="950" b="1">
                          <a:solidFill>
                            <a:srgbClr val="1B365D"/>
                          </a:solidFill>
                          <a:latin typeface="Montserrat"/>
                        </a:rPr>
                        <a:t>Solución Modular</a:t>
                      </a:r>
                    </a:p>
                  </a:txBody>
                  <a:tcPr marL="73152" marR="73152" marT="36576" marB="36576" anchor="ctr">
                    <a:solidFill>
                      <a:srgbClr val="FFFFFF"/>
                    </a:solidFill>
                  </a:tcPr>
                </a:tc>
                <a:tc>
                  <a:txBody>
                    <a:bodyPr wrap="square"/>
                    <a:lstStyle/>
                    <a:p>
                      <a:r>
                        <a:rPr sz="950" b="0">
                          <a:solidFill>
                            <a:srgbClr val="2C3E50"/>
                          </a:solidFill>
                          <a:latin typeface="Montserrat"/>
                        </a:rPr>
                        <a:t>8%</a:t>
                      </a:r>
                    </a:p>
                  </a:txBody>
                  <a:tcPr marL="73152" marR="73152" marT="36576" marB="36576" anchor="ctr">
                    <a:solidFill>
                      <a:srgbClr val="FFFFFF"/>
                    </a:solidFill>
                  </a:tcPr>
                </a:tc>
                <a:tc>
                  <a:txBody>
                    <a:bodyPr wrap="square"/>
                    <a:lstStyle/>
                    <a:p>
                      <a:r>
                        <a:rPr sz="950" b="0">
                          <a:solidFill>
                            <a:srgbClr val="2C3E50"/>
                          </a:solidFill>
                          <a:latin typeface="Montserrat"/>
                        </a:rPr>
                        <a:t>US$ 70,80</a:t>
                      </a:r>
                    </a:p>
                  </a:txBody>
                  <a:tcPr marL="73152" marR="73152" marT="36576" marB="36576" anchor="ctr">
                    <a:solidFill>
                      <a:srgbClr val="FFFFFF"/>
                    </a:solidFill>
                  </a:tcPr>
                </a:tc>
                <a:tc>
                  <a:txBody>
                    <a:bodyPr wrap="square"/>
                    <a:lstStyle/>
                    <a:p>
                      <a:r>
                        <a:rPr sz="950" b="0">
                          <a:solidFill>
                            <a:srgbClr val="2C3E50"/>
                          </a:solidFill>
                          <a:latin typeface="Montserrat"/>
                        </a:rPr>
                        <a:t>Pago único al pagar el cliente la 3ª cuota</a:t>
                      </a:r>
                    </a:p>
                  </a:txBody>
                  <a:tcPr marL="73152" marR="73152" marT="36576" marB="36576" anchor="ctr">
                    <a:solidFill>
                      <a:srgbClr val="FFFFFF"/>
                    </a:solidFill>
                  </a:tcPr>
                </a:tc>
                <a:tc>
                  <a:txBody>
                    <a:bodyPr wrap="square"/>
                    <a:lstStyle/>
                    <a:p>
                      <a:r>
                        <a:rPr sz="950" b="0">
                          <a:solidFill>
                            <a:srgbClr val="2C3E50"/>
                          </a:solidFill>
                          <a:latin typeface="Montserrat"/>
                        </a:rPr>
                        <a:t>Si cancela antes de la 12ª cuota</a:t>
                      </a:r>
                    </a:p>
                  </a:txBody>
                  <a:tcPr marL="73152" marR="73152" marT="36576" marB="36576" anchor="ctr">
                    <a:solidFill>
                      <a:srgbClr val="FFFFFF"/>
                    </a:solidFill>
                  </a:tcPr>
                </a:tc>
              </a:tr>
              <a:tr h="658368">
                <a:tc>
                  <a:txBody>
                    <a:bodyPr wrap="square"/>
                    <a:lstStyle/>
                    <a:p>
                      <a:r>
                        <a:rPr sz="950" b="1">
                          <a:solidFill>
                            <a:srgbClr val="1B365D"/>
                          </a:solidFill>
                          <a:latin typeface="Montserrat"/>
                        </a:rPr>
                        <a:t>Jardín Individual</a:t>
                      </a:r>
                    </a:p>
                  </a:txBody>
                  <a:tcPr marL="73152" marR="73152" marT="36576" marB="36576" anchor="ctr">
                    <a:solidFill>
                      <a:srgbClr val="F4F7FA"/>
                    </a:solidFill>
                  </a:tcPr>
                </a:tc>
                <a:tc>
                  <a:txBody>
                    <a:bodyPr wrap="square"/>
                    <a:lstStyle/>
                    <a:p>
                      <a:r>
                        <a:rPr sz="950" b="0">
                          <a:solidFill>
                            <a:srgbClr val="2C3E50"/>
                          </a:solidFill>
                          <a:latin typeface="Montserrat"/>
                        </a:rPr>
                        <a:t>8%</a:t>
                      </a:r>
                    </a:p>
                  </a:txBody>
                  <a:tcPr marL="73152" marR="73152" marT="36576" marB="36576" anchor="ctr">
                    <a:solidFill>
                      <a:srgbClr val="F4F7FA"/>
                    </a:solidFill>
                  </a:tcPr>
                </a:tc>
                <a:tc>
                  <a:txBody>
                    <a:bodyPr wrap="square"/>
                    <a:lstStyle/>
                    <a:p>
                      <a:r>
                        <a:rPr sz="950" b="0">
                          <a:solidFill>
                            <a:srgbClr val="2C3E50"/>
                          </a:solidFill>
                          <a:latin typeface="Montserrat"/>
                        </a:rPr>
                        <a:t>US$ 42,48</a:t>
                      </a:r>
                    </a:p>
                  </a:txBody>
                  <a:tcPr marL="73152" marR="73152" marT="36576" marB="36576" anchor="ctr">
                    <a:solidFill>
                      <a:srgbClr val="F4F7FA"/>
                    </a:solidFill>
                  </a:tcPr>
                </a:tc>
                <a:tc>
                  <a:txBody>
                    <a:bodyPr wrap="square"/>
                    <a:lstStyle/>
                    <a:p>
                      <a:r>
                        <a:rPr sz="950" b="0">
                          <a:solidFill>
                            <a:srgbClr val="2C3E50"/>
                          </a:solidFill>
                          <a:latin typeface="Montserrat"/>
                        </a:rPr>
                        <a:t>Contado: mes siguiente · Financiado: proporcional a lo cobrado</a:t>
                      </a:r>
                    </a:p>
                  </a:txBody>
                  <a:tcPr marL="73152" marR="73152" marT="36576" marB="36576" anchor="ctr">
                    <a:solidFill>
                      <a:srgbClr val="F4F7FA"/>
                    </a:solidFill>
                  </a:tcPr>
                </a:tc>
                <a:tc>
                  <a:txBody>
                    <a:bodyPr wrap="square"/>
                    <a:lstStyle/>
                    <a:p>
                      <a:r>
                        <a:rPr sz="950" b="0">
                          <a:solidFill>
                            <a:srgbClr val="2C3E50"/>
                          </a:solidFill>
                          <a:latin typeface="Montserrat"/>
                        </a:rPr>
                        <a:t>Cancelación en 90 días</a:t>
                      </a:r>
                    </a:p>
                  </a:txBody>
                  <a:tcPr marL="73152" marR="73152" marT="36576" marB="36576" anchor="ctr">
                    <a:solidFill>
                      <a:srgbClr val="F4F7FA"/>
                    </a:solidFill>
                  </a:tcPr>
                </a:tc>
              </a:tr>
              <a:tr h="658368">
                <a:tc>
                  <a:txBody>
                    <a:bodyPr wrap="square"/>
                    <a:lstStyle/>
                    <a:p>
                      <a:r>
                        <a:rPr sz="950" b="1">
                          <a:solidFill>
                            <a:srgbClr val="1B365D"/>
                          </a:solidFill>
                          <a:latin typeface="Montserrat"/>
                        </a:rPr>
                        <a:t>Jardín Familiar</a:t>
                      </a:r>
                    </a:p>
                  </a:txBody>
                  <a:tcPr marL="73152" marR="73152" marT="36576" marB="36576" anchor="ctr">
                    <a:solidFill>
                      <a:srgbClr val="FFFFFF"/>
                    </a:solidFill>
                  </a:tcPr>
                </a:tc>
                <a:tc>
                  <a:txBody>
                    <a:bodyPr wrap="square"/>
                    <a:lstStyle/>
                    <a:p>
                      <a:r>
                        <a:rPr sz="950" b="0">
                          <a:solidFill>
                            <a:srgbClr val="2C3E50"/>
                          </a:solidFill>
                          <a:latin typeface="Montserrat"/>
                        </a:rPr>
                        <a:t>8%</a:t>
                      </a:r>
                    </a:p>
                  </a:txBody>
                  <a:tcPr marL="73152" marR="73152" marT="36576" marB="36576" anchor="ctr">
                    <a:solidFill>
                      <a:srgbClr val="FFFFFF"/>
                    </a:solidFill>
                  </a:tcPr>
                </a:tc>
                <a:tc>
                  <a:txBody>
                    <a:bodyPr wrap="square"/>
                    <a:lstStyle/>
                    <a:p>
                      <a:r>
                        <a:rPr sz="950" b="0">
                          <a:solidFill>
                            <a:srgbClr val="2C3E50"/>
                          </a:solidFill>
                          <a:latin typeface="Montserrat"/>
                        </a:rPr>
                        <a:t>US$ 141,59</a:t>
                      </a:r>
                    </a:p>
                  </a:txBody>
                  <a:tcPr marL="73152" marR="73152" marT="36576" marB="36576" anchor="ctr">
                    <a:solidFill>
                      <a:srgbClr val="FFFFFF"/>
                    </a:solidFill>
                  </a:tcPr>
                </a:tc>
                <a:tc>
                  <a:txBody>
                    <a:bodyPr wrap="square"/>
                    <a:lstStyle/>
                    <a:p>
                      <a:r>
                        <a:rPr sz="950" b="0">
                          <a:solidFill>
                            <a:srgbClr val="2C3E50"/>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950" b="0">
                          <a:solidFill>
                            <a:srgbClr val="2C3E50"/>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1B365D"/>
                          </a:solidFill>
                          <a:latin typeface="Montserrat"/>
                        </a:rPr>
                        <a:t>Jardín Ecológico</a:t>
                      </a:r>
                    </a:p>
                  </a:txBody>
                  <a:tcPr marL="73152" marR="73152" marT="36576" marB="36576" anchor="ctr">
                    <a:solidFill>
                      <a:srgbClr val="F4F7FA"/>
                    </a:solidFill>
                  </a:tcPr>
                </a:tc>
                <a:tc>
                  <a:txBody>
                    <a:bodyPr wrap="square"/>
                    <a:lstStyle/>
                    <a:p>
                      <a:r>
                        <a:rPr sz="950" b="0">
                          <a:solidFill>
                            <a:srgbClr val="2C3E50"/>
                          </a:solidFill>
                          <a:latin typeface="Montserrat"/>
                        </a:rPr>
                        <a:t>8%</a:t>
                      </a:r>
                    </a:p>
                  </a:txBody>
                  <a:tcPr marL="73152" marR="73152" marT="36576" marB="36576" anchor="ctr">
                    <a:solidFill>
                      <a:srgbClr val="F4F7FA"/>
                    </a:solidFill>
                  </a:tcPr>
                </a:tc>
                <a:tc>
                  <a:txBody>
                    <a:bodyPr wrap="square"/>
                    <a:lstStyle/>
                    <a:p>
                      <a:r>
                        <a:rPr sz="950" b="0">
                          <a:solidFill>
                            <a:srgbClr val="2C3E50"/>
                          </a:solidFill>
                          <a:latin typeface="Montserrat"/>
                        </a:rPr>
                        <a:t>US$ 53,10</a:t>
                      </a:r>
                    </a:p>
                  </a:txBody>
                  <a:tcPr marL="73152" marR="73152" marT="36576" marB="36576" anchor="ctr">
                    <a:solidFill>
                      <a:srgbClr val="F4F7FA"/>
                    </a:solidFill>
                  </a:tcPr>
                </a:tc>
                <a:tc>
                  <a:txBody>
                    <a:bodyPr wrap="square"/>
                    <a:lstStyle/>
                    <a:p>
                      <a:r>
                        <a:rPr sz="950" b="0">
                          <a:solidFill>
                            <a:srgbClr val="2C3E50"/>
                          </a:solidFill>
                          <a:latin typeface="Montserrat"/>
                        </a:rPr>
                        <a:t>Contado: mes siguiente · Financiado: proporcional a lo cobrado</a:t>
                      </a:r>
                    </a:p>
                  </a:txBody>
                  <a:tcPr marL="73152" marR="73152" marT="36576" marB="36576" anchor="ctr">
                    <a:solidFill>
                      <a:srgbClr val="F4F7FA"/>
                    </a:solidFill>
                  </a:tcPr>
                </a:tc>
                <a:tc>
                  <a:txBody>
                    <a:bodyPr wrap="square"/>
                    <a:lstStyle/>
                    <a:p>
                      <a:r>
                        <a:rPr sz="950" b="0">
                          <a:solidFill>
                            <a:srgbClr val="2C3E50"/>
                          </a:solidFill>
                          <a:latin typeface="Montserrat"/>
                        </a:rPr>
                        <a:t>Cancelación en 90 días</a:t>
                      </a:r>
                    </a:p>
                  </a:txBody>
                  <a:tcPr marL="73152" marR="73152" marT="36576" marB="36576" anchor="ctr">
                    <a:solidFill>
                      <a:srgbClr val="F4F7FA"/>
                    </a:solidFill>
                  </a:tcPr>
                </a:tc>
              </a:tr>
              <a:tr h="658368">
                <a:tc>
                  <a:txBody>
                    <a:bodyPr wrap="square"/>
                    <a:lstStyle/>
                    <a:p>
                      <a:r>
                        <a:rPr sz="950" b="1">
                          <a:solidFill>
                            <a:srgbClr val="1B365D"/>
                          </a:solidFill>
                          <a:latin typeface="Montserrat"/>
                        </a:rPr>
                        <a:t>Mascotas · solo espacio</a:t>
                      </a:r>
                    </a:p>
                  </a:txBody>
                  <a:tcPr marL="73152" marR="73152" marT="36576" marB="36576" anchor="ctr">
                    <a:solidFill>
                      <a:srgbClr val="FFFFFF"/>
                    </a:solidFill>
                  </a:tcPr>
                </a:tc>
                <a:tc>
                  <a:txBody>
                    <a:bodyPr wrap="square"/>
                    <a:lstStyle/>
                    <a:p>
                      <a:r>
                        <a:rPr sz="950" b="0">
                          <a:solidFill>
                            <a:srgbClr val="2C3E50"/>
                          </a:solidFill>
                          <a:latin typeface="Montserrat"/>
                        </a:rPr>
                        <a:t>8%</a:t>
                      </a:r>
                    </a:p>
                  </a:txBody>
                  <a:tcPr marL="73152" marR="73152" marT="36576" marB="36576" anchor="ctr">
                    <a:solidFill>
                      <a:srgbClr val="FFFFFF"/>
                    </a:solidFill>
                  </a:tcPr>
                </a:tc>
                <a:tc>
                  <a:txBody>
                    <a:bodyPr wrap="square"/>
                    <a:lstStyle/>
                    <a:p>
                      <a:r>
                        <a:rPr sz="950" b="0">
                          <a:solidFill>
                            <a:srgbClr val="2C3E50"/>
                          </a:solidFill>
                          <a:latin typeface="Montserrat"/>
                        </a:rPr>
                        <a:t>US$ 28,32</a:t>
                      </a:r>
                    </a:p>
                  </a:txBody>
                  <a:tcPr marL="73152" marR="73152" marT="36576" marB="36576" anchor="ctr">
                    <a:solidFill>
                      <a:srgbClr val="FFFFFF"/>
                    </a:solidFill>
                  </a:tcPr>
                </a:tc>
                <a:tc>
                  <a:txBody>
                    <a:bodyPr wrap="square"/>
                    <a:lstStyle/>
                    <a:p>
                      <a:r>
                        <a:rPr sz="950" b="0">
                          <a:solidFill>
                            <a:srgbClr val="2C3E50"/>
                          </a:solidFill>
                          <a:latin typeface="Montserrat"/>
                        </a:rPr>
                        <a:t>Mes siguiente al pago</a:t>
                      </a:r>
                    </a:p>
                  </a:txBody>
                  <a:tcPr marL="73152" marR="73152" marT="36576" marB="36576" anchor="ctr">
                    <a:solidFill>
                      <a:srgbClr val="FFFFFF"/>
                    </a:solidFill>
                  </a:tcPr>
                </a:tc>
                <a:tc>
                  <a:txBody>
                    <a:bodyPr wrap="square"/>
                    <a:lstStyle/>
                    <a:p>
                      <a:r>
                        <a:rPr sz="950" b="0">
                          <a:solidFill>
                            <a:srgbClr val="2C3E50"/>
                          </a:solidFill>
                          <a:latin typeface="Montserrat"/>
                        </a:rPr>
                        <a:t>Cancelación en 90 días</a:t>
                      </a:r>
                    </a:p>
                  </a:txBody>
                  <a:tcPr marL="73152" marR="73152" marT="36576" marB="36576" anchor="ctr">
                    <a:solidFill>
                      <a:srgbClr val="FFFFFF"/>
                    </a:solidFill>
                  </a:tcPr>
                </a:tc>
              </a:tr>
              <a:tr h="658368">
                <a:tc>
                  <a:txBody>
                    <a:bodyPr wrap="square"/>
                    <a:lstStyle/>
                    <a:p>
                      <a:r>
                        <a:rPr sz="950" b="1">
                          <a:solidFill>
                            <a:srgbClr val="1B365D"/>
                          </a:solidFill>
                          <a:latin typeface="Montserrat"/>
                        </a:rPr>
                        <a:t>Mascotas · con placa</a:t>
                      </a:r>
                    </a:p>
                  </a:txBody>
                  <a:tcPr marL="73152" marR="73152" marT="36576" marB="36576" anchor="ctr">
                    <a:solidFill>
                      <a:srgbClr val="F4F7FA"/>
                    </a:solidFill>
                  </a:tcPr>
                </a:tc>
                <a:tc>
                  <a:txBody>
                    <a:bodyPr wrap="square"/>
                    <a:lstStyle/>
                    <a:p>
                      <a:r>
                        <a:rPr sz="950" b="0">
                          <a:solidFill>
                            <a:srgbClr val="2C3E50"/>
                          </a:solidFill>
                          <a:latin typeface="Montserrat"/>
                        </a:rPr>
                        <a:t>8%</a:t>
                      </a:r>
                    </a:p>
                  </a:txBody>
                  <a:tcPr marL="73152" marR="73152" marT="36576" marB="36576" anchor="ctr">
                    <a:solidFill>
                      <a:srgbClr val="F4F7FA"/>
                    </a:solidFill>
                  </a:tcPr>
                </a:tc>
                <a:tc>
                  <a:txBody>
                    <a:bodyPr wrap="square"/>
                    <a:lstStyle/>
                    <a:p>
                      <a:r>
                        <a:rPr sz="950" b="0">
                          <a:solidFill>
                            <a:srgbClr val="2C3E50"/>
                          </a:solidFill>
                          <a:latin typeface="Montserrat"/>
                        </a:rPr>
                        <a:t>US$ 38,94</a:t>
                      </a:r>
                    </a:p>
                  </a:txBody>
                  <a:tcPr marL="73152" marR="73152" marT="36576" marB="36576" anchor="ctr">
                    <a:solidFill>
                      <a:srgbClr val="F4F7FA"/>
                    </a:solidFill>
                  </a:tcPr>
                </a:tc>
                <a:tc>
                  <a:txBody>
                    <a:bodyPr wrap="square"/>
                    <a:lstStyle/>
                    <a:p>
                      <a:r>
                        <a:rPr sz="950" b="0">
                          <a:solidFill>
                            <a:srgbClr val="2C3E50"/>
                          </a:solidFill>
                          <a:latin typeface="Montserrat"/>
                        </a:rPr>
                        <a:t>Mes siguiente al pago</a:t>
                      </a:r>
                    </a:p>
                  </a:txBody>
                  <a:tcPr marL="73152" marR="73152" marT="36576" marB="36576" anchor="ctr">
                    <a:solidFill>
                      <a:srgbClr val="F4F7FA"/>
                    </a:solidFill>
                  </a:tcPr>
                </a:tc>
                <a:tc>
                  <a:txBody>
                    <a:bodyPr wrap="square"/>
                    <a:lstStyle/>
                    <a:p>
                      <a:r>
                        <a:rPr sz="950" b="0">
                          <a:solidFill>
                            <a:srgbClr val="2C3E50"/>
                          </a:solidFill>
                          <a:latin typeface="Montserrat"/>
                        </a:rPr>
                        <a:t>Cancelación en 90 días</a:t>
                      </a:r>
                    </a:p>
                  </a:txBody>
                  <a:tcPr marL="73152" marR="73152" marT="36576" marB="36576" anchor="ctr">
                    <a:solidFill>
                      <a:srgbClr val="F4F7FA"/>
                    </a:solidFill>
                  </a:tcPr>
                </a:tc>
              </a:tr>
              <a:tr h="658368">
                <a:tc>
                  <a:txBody>
                    <a:bodyPr wrap="square"/>
                    <a:lstStyle/>
                    <a:p>
                      <a:r>
                        <a:rPr sz="950" b="1">
                          <a:solidFill>
                            <a:srgbClr val="1B365D"/>
                          </a:solidFill>
                          <a:latin typeface="Montserrat"/>
                        </a:rPr>
                        <a:t>Jardín Ceremonial</a:t>
                      </a:r>
                    </a:p>
                  </a:txBody>
                  <a:tcPr marL="73152" marR="73152" marT="36576" marB="36576" anchor="ctr">
                    <a:solidFill>
                      <a:srgbClr val="FBF3E1"/>
                    </a:solidFill>
                  </a:tcPr>
                </a:tc>
                <a:tc>
                  <a:txBody>
                    <a:bodyPr wrap="square"/>
                    <a:lstStyle/>
                    <a:p>
                      <a:r>
                        <a:rPr sz="950" b="0">
                          <a:solidFill>
                            <a:srgbClr val="2C3E50"/>
                          </a:solidFill>
                          <a:latin typeface="Montserrat"/>
                        </a:rPr>
                        <a:t>A definir</a:t>
                      </a:r>
                    </a:p>
                  </a:txBody>
                  <a:tcPr marL="73152" marR="73152" marT="36576" marB="36576" anchor="ctr">
                    <a:solidFill>
                      <a:srgbClr val="FBF3E1"/>
                    </a:solidFill>
                  </a:tcPr>
                </a:tc>
                <a:tc>
                  <a:txBody>
                    <a:bodyPr wrap="square"/>
                    <a:lstStyle/>
                    <a:p>
                      <a:r>
                        <a:rPr sz="950" b="0">
                          <a:solidFill>
                            <a:srgbClr val="2C3E50"/>
                          </a:solidFill>
                          <a:latin typeface="Montserrat"/>
                        </a:rPr>
                        <a:t>—</a:t>
                      </a:r>
                    </a:p>
                  </a:txBody>
                  <a:tcPr marL="73152" marR="73152" marT="36576" marB="36576" anchor="ctr">
                    <a:solidFill>
                      <a:srgbClr val="FBF3E1"/>
                    </a:solidFill>
                  </a:tcPr>
                </a:tc>
                <a:tc>
                  <a:txBody>
                    <a:bodyPr wrap="square"/>
                    <a:lstStyle/>
                    <a:p>
                      <a:r>
                        <a:rPr sz="950" b="0">
                          <a:solidFill>
                            <a:srgbClr val="2C3E50"/>
                          </a:solidFill>
                          <a:latin typeface="Montserrat"/>
                        </a:rPr>
                        <a:t>—</a:t>
                      </a:r>
                    </a:p>
                  </a:txBody>
                  <a:tcPr marL="73152" marR="73152" marT="36576" marB="36576" anchor="ctr">
                    <a:solidFill>
                      <a:srgbClr val="FBF3E1"/>
                    </a:solidFill>
                  </a:tcPr>
                </a:tc>
                <a:tc>
                  <a:txBody>
                    <a:bodyPr wrap="square"/>
                    <a:lstStyle/>
                    <a:p>
                      <a:r>
                        <a:rPr sz="950" b="0">
                          <a:solidFill>
                            <a:srgbClr val="2C3E50"/>
                          </a:solidFill>
                          <a:latin typeface="Montserrat"/>
                        </a:rPr>
                        <a:t>—</a:t>
                      </a:r>
                    </a:p>
                  </a:txBody>
                  <a:tcPr marL="73152" marR="73152" marT="36576" marB="36576" anchor="ctr">
                    <a:solidFill>
                      <a:srgbClr val="FBF3E1"/>
                    </a:solidFill>
                  </a:tcPr>
                </a:tc>
              </a:tr>
            </a:tbl>
          </a:graphicData>
        </a:graphic>
      </p:graphicFrame>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07 · POLÍTICA DE COMISIONES</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Reglas de comisión</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6556248" cy="4206240"/>
          </a:xfrm>
          <a:prstGeom prst="rect">
            <a:avLst/>
          </a:prstGeom>
          <a:noFill/>
        </p:spPr>
        <p:txBody>
          <a:bodyPr wrap="square" anchor="t" lIns="45720" rIns="45720" tIns="27432" bIns="27432">
            <a:spAutoFit/>
          </a:bodyPr>
          <a:lstStyle/>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Base de cálculo: valor efectivamente cobrado al cliente, sin IVA (13%).</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Comisión única de 8% para todos los productos.</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No generan comisión: cuotas de mantenimiento anual (US$ 15 / US$ 25).</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Bono de venta combinada: US$ 15 al vender la Solución Modular junto con cualquier jardín.</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Acelerador Día de los Muertos (opcional): +2 pp en Individual y Ecológico hasta el 30/11/2026.</a:t>
            </a:r>
          </a:p>
          <a:p>
            <a:pPr algn="l">
              <a:lnSpc>
                <a:spcPct val="115000"/>
              </a:lnSpc>
              <a:spcAft>
                <a:spcPts val="1000"/>
              </a:spcAft>
            </a:pPr>
            <a:r>
              <a:rPr sz="1000" b="1" i="0">
                <a:solidFill>
                  <a:srgbClr val="C5A059"/>
                </a:solidFill>
                <a:latin typeface="Montserrat"/>
              </a:rPr>
              <a:t>■  </a:t>
            </a:r>
            <a:r>
              <a:rPr sz="1300" b="0" i="0">
                <a:solidFill>
                  <a:srgbClr val="2C3E50"/>
                </a:solidFill>
                <a:latin typeface="Montserrat"/>
              </a:rPr>
              <a:t>Estorno: la comisión se descuenta de los pagos siguientes al asesor.</a:t>
            </a:r>
          </a:p>
        </p:txBody>
      </p:sp>
      <p:sp>
        <p:nvSpPr>
          <p:cNvPr id="7" name="Rectangle 6"/>
          <p:cNvSpPr/>
          <p:nvPr/>
        </p:nvSpPr>
        <p:spPr>
          <a:xfrm>
            <a:off x="502920" y="6035040"/>
            <a:ext cx="6556248" cy="137160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035040"/>
            <a:ext cx="6007608" cy="1371600"/>
          </a:xfrm>
          <a:prstGeom prst="rect">
            <a:avLst/>
          </a:prstGeom>
          <a:noFill/>
        </p:spPr>
        <p:txBody>
          <a:bodyPr wrap="square" anchor="ctr" lIns="45720" rIns="45720" tIns="27432" bIns="27432">
            <a:spAutoFit/>
          </a:bodyPr>
          <a:lstStyle/>
          <a:p>
            <a:pPr algn="l">
              <a:lnSpc>
                <a:spcPct val="115000"/>
              </a:lnSpc>
              <a:spcAft>
                <a:spcPts val="400"/>
              </a:spcAft>
            </a:pPr>
            <a:r>
              <a:rPr sz="1300" b="0" i="1">
                <a:solidFill>
                  <a:srgbClr val="FFFFFF"/>
                </a:solidFill>
                <a:latin typeface="Playfair Display"/>
              </a:rPr>
              <a:t>La comisión premia la venta buena, no solo la venta: una familia que paga a tiempo vale más que un contrato que se cancela. Por eso el pago está ligado al cobro.</a:t>
            </a:r>
          </a:p>
        </p:txBody>
      </p:sp>
      <p:sp>
        <p:nvSpPr>
          <p:cNvPr id="9" name="TextBox 8"/>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10" name="TextBox 9"/>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10689336"/>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5A059"/>
                </a:solidFill>
                <a:latin typeface="Montserrat"/>
              </a:rPr>
              <a:t>08 · HERRAMIENTAS DE APOYO</a:t>
            </a:r>
          </a:p>
        </p:txBody>
      </p:sp>
      <p:sp>
        <p:nvSpPr>
          <p:cNvPr id="4" name="TextBox 3"/>
          <p:cNvSpPr txBox="1"/>
          <p:nvPr/>
        </p:nvSpPr>
        <p:spPr>
          <a:xfrm>
            <a:off x="502920" y="621792"/>
            <a:ext cx="6556248"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1B365D"/>
                </a:solidFill>
                <a:latin typeface="Playfair Display"/>
              </a:rPr>
              <a:t>Lo que usted tiene a mano</a:t>
            </a:r>
          </a:p>
        </p:txBody>
      </p:sp>
      <p:sp>
        <p:nvSpPr>
          <p:cNvPr id="5" name="Rectangle 4"/>
          <p:cNvSpPr/>
          <p:nvPr/>
        </p:nvSpPr>
        <p:spPr>
          <a:xfrm>
            <a:off x="502920" y="1325880"/>
            <a:ext cx="1005840" cy="4572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645920"/>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645920"/>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82496"/>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Ficha Técnica de Cremación</a:t>
            </a:r>
          </a:p>
          <a:p>
            <a:pPr algn="l">
              <a:lnSpc>
                <a:spcPct val="115000"/>
              </a:lnSpc>
              <a:spcAft>
                <a:spcPts val="100"/>
              </a:spcAft>
            </a:pPr>
            <a:r>
              <a:rPr sz="1050" b="0" i="0">
                <a:solidFill>
                  <a:srgbClr val="2C3E50"/>
                </a:solidFill>
                <a:latin typeface="Montserrat"/>
              </a:rPr>
              <a:t>Precios, especificaciones y condiciones vigentes de cada producto.</a:t>
            </a:r>
          </a:p>
        </p:txBody>
      </p:sp>
      <p:sp>
        <p:nvSpPr>
          <p:cNvPr id="9" name="Rectangle 8"/>
          <p:cNvSpPr/>
          <p:nvPr/>
        </p:nvSpPr>
        <p:spPr>
          <a:xfrm>
            <a:off x="502920" y="2450592"/>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2450592"/>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487168"/>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Visita al jardín</a:t>
            </a:r>
          </a:p>
          <a:p>
            <a:pPr algn="l">
              <a:lnSpc>
                <a:spcPct val="115000"/>
              </a:lnSpc>
              <a:spcAft>
                <a:spcPts val="100"/>
              </a:spcAft>
            </a:pPr>
            <a:r>
              <a:rPr sz="1050" b="0" i="0">
                <a:solidFill>
                  <a:srgbClr val="2C3E50"/>
                </a:solidFill>
                <a:latin typeface="Montserrat"/>
              </a:rPr>
              <a:t>La herramienta de venta más poderosa. Agende siempre que sea posible.</a:t>
            </a:r>
          </a:p>
        </p:txBody>
      </p:sp>
      <p:sp>
        <p:nvSpPr>
          <p:cNvPr id="12" name="Rectangle 11"/>
          <p:cNvSpPr/>
          <p:nvPr/>
        </p:nvSpPr>
        <p:spPr>
          <a:xfrm>
            <a:off x="502920" y="3255264"/>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3255264"/>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291840"/>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Presentación «Jardines de Cenizas»</a:t>
            </a:r>
          </a:p>
          <a:p>
            <a:pPr algn="l">
              <a:lnSpc>
                <a:spcPct val="115000"/>
              </a:lnSpc>
              <a:spcAft>
                <a:spcPts val="100"/>
              </a:spcAft>
            </a:pPr>
            <a:r>
              <a:rPr sz="1050" b="0" i="0">
                <a:solidFill>
                  <a:srgbClr val="2C3E50"/>
                </a:solidFill>
                <a:latin typeface="Montserrat"/>
              </a:rPr>
              <a:t>Fotos y medidas de cada jardín para mostrar en la visita o en la casa.</a:t>
            </a:r>
          </a:p>
        </p:txBody>
      </p:sp>
      <p:sp>
        <p:nvSpPr>
          <p:cNvPr id="15" name="Rectangle 14"/>
          <p:cNvSpPr/>
          <p:nvPr/>
        </p:nvSpPr>
        <p:spPr>
          <a:xfrm>
            <a:off x="502920" y="4059936"/>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20" y="4059936"/>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096512"/>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Simulación de cuotas</a:t>
            </a:r>
          </a:p>
          <a:p>
            <a:pPr algn="l">
              <a:lnSpc>
                <a:spcPct val="115000"/>
              </a:lnSpc>
              <a:spcAft>
                <a:spcPts val="100"/>
              </a:spcAft>
            </a:pPr>
            <a:r>
              <a:rPr sz="1050" b="0" i="0">
                <a:solidFill>
                  <a:srgbClr val="2C3E50"/>
                </a:solidFill>
                <a:latin typeface="Montserrat"/>
              </a:rPr>
              <a:t>Calcule la cuota con el cliente: transparencia genera confianza.</a:t>
            </a:r>
          </a:p>
        </p:txBody>
      </p:sp>
      <p:sp>
        <p:nvSpPr>
          <p:cNvPr id="18" name="Rectangle 17"/>
          <p:cNvSpPr/>
          <p:nvPr/>
        </p:nvSpPr>
        <p:spPr>
          <a:xfrm>
            <a:off x="502920" y="4864608"/>
            <a:ext cx="6556248" cy="713232"/>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864608"/>
            <a:ext cx="64008" cy="713232"/>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901184"/>
            <a:ext cx="6281928" cy="658368"/>
          </a:xfrm>
          <a:prstGeom prst="rect">
            <a:avLst/>
          </a:prstGeom>
          <a:noFill/>
        </p:spPr>
        <p:txBody>
          <a:bodyPr wrap="square" anchor="t" lIns="45720" rIns="45720" tIns="27432" bIns="27432">
            <a:spAutoFit/>
          </a:bodyPr>
          <a:lstStyle/>
          <a:p>
            <a:pPr algn="l">
              <a:lnSpc>
                <a:spcPct val="115000"/>
              </a:lnSpc>
              <a:spcAft>
                <a:spcPts val="100"/>
              </a:spcAft>
            </a:pPr>
            <a:r>
              <a:rPr sz="1200" b="1" i="0">
                <a:solidFill>
                  <a:srgbClr val="1B365D"/>
                </a:solidFill>
                <a:latin typeface="Montserrat"/>
              </a:rPr>
              <a:t>Registro de contactos</a:t>
            </a:r>
          </a:p>
          <a:p>
            <a:pPr algn="l">
              <a:lnSpc>
                <a:spcPct val="115000"/>
              </a:lnSpc>
              <a:spcAft>
                <a:spcPts val="100"/>
              </a:spcAft>
            </a:pPr>
            <a:r>
              <a:rPr sz="1050" b="0" i="0">
                <a:solidFill>
                  <a:srgbClr val="2C3E50"/>
                </a:solidFill>
                <a:latin typeface="Montserrat"/>
              </a:rPr>
              <a:t>Un contacto no registrado no existe: sin datos no hay gestión ni comisión.</a:t>
            </a:r>
          </a:p>
        </p:txBody>
      </p:sp>
      <p:sp>
        <p:nvSpPr>
          <p:cNvPr id="21" name="Rectangle 20"/>
          <p:cNvSpPr/>
          <p:nvPr/>
        </p:nvSpPr>
        <p:spPr>
          <a:xfrm>
            <a:off x="502920" y="5806440"/>
            <a:ext cx="6556248" cy="4251960"/>
          </a:xfrm>
          <a:prstGeom prst="rect">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43600"/>
            <a:ext cx="5916168"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C5A059"/>
                </a:solidFill>
                <a:latin typeface="Playfair Display"/>
              </a:rPr>
              <a:t>Checklist antes de cerrar</a:t>
            </a:r>
          </a:p>
        </p:txBody>
      </p:sp>
      <p:sp>
        <p:nvSpPr>
          <p:cNvPr id="23" name="TextBox 22"/>
          <p:cNvSpPr txBox="1"/>
          <p:nvPr/>
        </p:nvSpPr>
        <p:spPr>
          <a:xfrm>
            <a:off x="822960" y="6537960"/>
            <a:ext cx="5916168" cy="347472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Expliqué qué incluye el producto y qué no incluye.</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Expliqué la cuota de mantenimiento o el plazo de 3 años, según el caso.</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5A059"/>
                </a:solidFill>
                <a:latin typeface="Montserrat"/>
              </a:rPr>
              <a:t>☐  </a:t>
            </a:r>
            <a:r>
              <a:rPr sz="1250" b="0" i="0">
                <a:solidFill>
                  <a:srgbClr val="FFFFFF"/>
                </a:solidFill>
                <a:latin typeface="Montserrat"/>
              </a:rPr>
              <a:t>Registré la venta completa el mismo día.</a:t>
            </a:r>
          </a:p>
        </p:txBody>
      </p:sp>
      <p:sp>
        <p:nvSpPr>
          <p:cNvPr id="24" name="TextBox 23"/>
          <p:cNvSpPr txBox="1"/>
          <p:nvPr/>
        </p:nvSpPr>
        <p:spPr>
          <a:xfrm>
            <a:off x="502920" y="10277856"/>
            <a:ext cx="5641848"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A8794"/>
                </a:solidFill>
                <a:latin typeface="Montserrat"/>
              </a:rPr>
              <a:t>Playbook Comercial  ·  La Auxiliadora · Hogar de las Memorias · Las Colinas · Vangrupo</a:t>
            </a:r>
          </a:p>
        </p:txBody>
      </p:sp>
      <p:sp>
        <p:nvSpPr>
          <p:cNvPr id="25" name="TextBox 24"/>
          <p:cNvSpPr txBox="1"/>
          <p:nvPr/>
        </p:nvSpPr>
        <p:spPr>
          <a:xfrm>
            <a:off x="6144768" y="10277856"/>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A8794"/>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365D"/>
        </a:solidFill>
        <a:effectLst/>
      </p:bgPr>
    </p:bg>
    <p:spTree>
      <p:nvGrpSpPr>
        <p:cNvPr id="1" name=""/>
        <p:cNvGrpSpPr/>
        <p:nvPr/>
      </p:nvGrpSpPr>
      <p:grpSpPr/>
      <p:sp>
        <p:nvSpPr>
          <p:cNvPr id="2" name="TextBox 1"/>
          <p:cNvSpPr txBox="1"/>
          <p:nvPr/>
        </p:nvSpPr>
        <p:spPr>
          <a:xfrm>
            <a:off x="731520" y="2194560"/>
            <a:ext cx="6099048" cy="3291840"/>
          </a:xfrm>
          <a:prstGeom prst="rect">
            <a:avLst/>
          </a:prstGeom>
          <a:noFill/>
        </p:spPr>
        <p:txBody>
          <a:bodyPr wrap="square" anchor="ctr" lIns="45720" rIns="45720" tIns="27432" bIns="27432">
            <a:spAutoFit/>
          </a:bodyPr>
          <a:lstStyle/>
          <a:p>
            <a:pPr algn="ctr">
              <a:lnSpc>
                <a:spcPct val="115000"/>
              </a:lnSpc>
              <a:spcAft>
                <a:spcPts val="400"/>
              </a:spcAft>
            </a:pPr>
            <a:r>
              <a:rPr sz="2600" b="0" i="1">
                <a:solidFill>
                  <a:srgbClr val="FFFFFF"/>
                </a:solidFill>
                <a:latin typeface="Playfair Display"/>
              </a:rPr>
              <a:t>«Cada familia que atendemos recordará cómo la tratamos en uno de los momentos más sensibles de su vida. Ese es nuestro verdadero producto.»</a:t>
            </a:r>
          </a:p>
        </p:txBody>
      </p:sp>
      <p:sp>
        <p:nvSpPr>
          <p:cNvPr id="3" name="Rectangle 2"/>
          <p:cNvSpPr/>
          <p:nvPr/>
        </p:nvSpPr>
        <p:spPr>
          <a:xfrm>
            <a:off x="3140964" y="5760720"/>
            <a:ext cx="1280160" cy="54864"/>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035040"/>
            <a:ext cx="6556248" cy="457200"/>
          </a:xfrm>
          <a:prstGeom prst="rect">
            <a:avLst/>
          </a:prstGeom>
          <a:noFill/>
        </p:spPr>
        <p:txBody>
          <a:bodyPr wrap="square" anchor="t" lIns="45720" rIns="45720" tIns="27432" bIns="27432">
            <a:spAutoFit/>
          </a:bodyPr>
          <a:lstStyle/>
          <a:p>
            <a:pPr algn="ctr">
              <a:lnSpc>
                <a:spcPct val="115000"/>
              </a:lnSpc>
              <a:spcAft>
                <a:spcPts val="400"/>
              </a:spcAft>
            </a:pPr>
            <a:r>
              <a:rPr sz="1300" b="1" i="0">
                <a:solidFill>
                  <a:srgbClr val="C5A059"/>
                </a:solidFill>
                <a:latin typeface="Montserrat"/>
              </a:rPr>
              <a:t>La Auxiliadora · Hogar de las Memorias · Las Colinas · Vangrupo</a:t>
            </a:r>
          </a:p>
        </p:txBody>
      </p:sp>
      <p:sp>
        <p:nvSpPr>
          <p:cNvPr id="5" name="Rounded Rectangle 4"/>
          <p:cNvSpPr/>
          <p:nvPr/>
        </p:nvSpPr>
        <p:spPr>
          <a:xfrm>
            <a:off x="502920" y="8412480"/>
            <a:ext cx="6556248" cy="11430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a_auxiliadora.png"/>
          <p:cNvPicPr>
            <a:picLocks noChangeAspect="1"/>
          </p:cNvPicPr>
          <p:nvPr/>
        </p:nvPicPr>
        <p:blipFill>
          <a:blip r:embed="rId2"/>
          <a:stretch>
            <a:fillRect/>
          </a:stretch>
        </p:blipFill>
        <p:spPr>
          <a:xfrm>
            <a:off x="640080" y="8753565"/>
            <a:ext cx="1467612" cy="460830"/>
          </a:xfrm>
          <a:prstGeom prst="rect">
            <a:avLst/>
          </a:prstGeom>
        </p:spPr>
      </p:pic>
      <p:pic>
        <p:nvPicPr>
          <p:cNvPr id="7" name="Picture 6" descr="hogar_de_las_memorias.png"/>
          <p:cNvPicPr>
            <a:picLocks noChangeAspect="1"/>
          </p:cNvPicPr>
          <p:nvPr/>
        </p:nvPicPr>
        <p:blipFill>
          <a:blip r:embed="rId3"/>
          <a:stretch>
            <a:fillRect/>
          </a:stretch>
        </p:blipFill>
        <p:spPr>
          <a:xfrm>
            <a:off x="2244852" y="8690458"/>
            <a:ext cx="1467612" cy="587044"/>
          </a:xfrm>
          <a:prstGeom prst="rect">
            <a:avLst/>
          </a:prstGeom>
        </p:spPr>
      </p:pic>
      <p:pic>
        <p:nvPicPr>
          <p:cNvPr id="8" name="Picture 7" descr="las_colinas.png"/>
          <p:cNvPicPr>
            <a:picLocks noChangeAspect="1"/>
          </p:cNvPicPr>
          <p:nvPr/>
        </p:nvPicPr>
        <p:blipFill>
          <a:blip r:embed="rId4"/>
          <a:stretch>
            <a:fillRect/>
          </a:stretch>
        </p:blipFill>
        <p:spPr>
          <a:xfrm>
            <a:off x="3890223" y="8549640"/>
            <a:ext cx="1386413" cy="868680"/>
          </a:xfrm>
          <a:prstGeom prst="rect">
            <a:avLst/>
          </a:prstGeom>
        </p:spPr>
      </p:pic>
      <p:pic>
        <p:nvPicPr>
          <p:cNvPr id="9" name="Picture 8" descr="vangrupo.png"/>
          <p:cNvPicPr>
            <a:picLocks noChangeAspect="1"/>
          </p:cNvPicPr>
          <p:nvPr/>
        </p:nvPicPr>
        <p:blipFill>
          <a:blip r:embed="rId5"/>
          <a:stretch>
            <a:fillRect/>
          </a:stretch>
        </p:blipFill>
        <p:spPr>
          <a:xfrm>
            <a:off x="5454396" y="8795938"/>
            <a:ext cx="1467612" cy="376084"/>
          </a:xfrm>
          <a:prstGeom prst="rect">
            <a:avLst/>
          </a:prstGeom>
        </p:spPr>
      </p:pic>
      <p:sp>
        <p:nvSpPr>
          <p:cNvPr id="10" name="Rectangle 9"/>
          <p:cNvSpPr/>
          <p:nvPr/>
        </p:nvSpPr>
        <p:spPr>
          <a:xfrm>
            <a:off x="0" y="10460736"/>
            <a:ext cx="7562088" cy="228600"/>
          </a:xfrm>
          <a:prstGeom prst="rect">
            <a:avLst/>
          </a:prstGeom>
          <a:solidFill>
            <a:srgbClr val="C5A0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