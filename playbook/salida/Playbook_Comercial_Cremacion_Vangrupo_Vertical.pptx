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ounded Rectangle 1"/>
          <p:cNvSpPr/>
          <p:nvPr/>
        </p:nvSpPr>
        <p:spPr>
          <a:xfrm>
            <a:off x="502920" y="54864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a_auxiliadora.png"/>
          <p:cNvPicPr>
            <a:picLocks noChangeAspect="1"/>
          </p:cNvPicPr>
          <p:nvPr/>
        </p:nvPicPr>
        <p:blipFill>
          <a:blip r:embed="rId2"/>
          <a:stretch>
            <a:fillRect/>
          </a:stretch>
        </p:blipFill>
        <p:spPr>
          <a:xfrm>
            <a:off x="640080" y="889725"/>
            <a:ext cx="1467612" cy="460830"/>
          </a:xfrm>
          <a:prstGeom prst="rect">
            <a:avLst/>
          </a:prstGeom>
        </p:spPr>
      </p:pic>
      <p:pic>
        <p:nvPicPr>
          <p:cNvPr id="4" name="Picture 3" descr="hogar_de_las_memorias.png"/>
          <p:cNvPicPr>
            <a:picLocks noChangeAspect="1"/>
          </p:cNvPicPr>
          <p:nvPr/>
        </p:nvPicPr>
        <p:blipFill>
          <a:blip r:embed="rId3"/>
          <a:stretch>
            <a:fillRect/>
          </a:stretch>
        </p:blipFill>
        <p:spPr>
          <a:xfrm>
            <a:off x="2244852" y="826618"/>
            <a:ext cx="1467612" cy="587044"/>
          </a:xfrm>
          <a:prstGeom prst="rect">
            <a:avLst/>
          </a:prstGeom>
        </p:spPr>
      </p:pic>
      <p:pic>
        <p:nvPicPr>
          <p:cNvPr id="5" name="Picture 4" descr="las_colinas.png"/>
          <p:cNvPicPr>
            <a:picLocks noChangeAspect="1"/>
          </p:cNvPicPr>
          <p:nvPr/>
        </p:nvPicPr>
        <p:blipFill>
          <a:blip r:embed="rId4"/>
          <a:stretch>
            <a:fillRect/>
          </a:stretch>
        </p:blipFill>
        <p:spPr>
          <a:xfrm>
            <a:off x="3890223" y="685800"/>
            <a:ext cx="1386413" cy="868680"/>
          </a:xfrm>
          <a:prstGeom prst="rect">
            <a:avLst/>
          </a:prstGeom>
        </p:spPr>
      </p:pic>
      <p:pic>
        <p:nvPicPr>
          <p:cNvPr id="6" name="Picture 5" descr="vangrupo.png"/>
          <p:cNvPicPr>
            <a:picLocks noChangeAspect="1"/>
          </p:cNvPicPr>
          <p:nvPr/>
        </p:nvPicPr>
        <p:blipFill>
          <a:blip r:embed="rId5"/>
          <a:stretch>
            <a:fillRect/>
          </a:stretch>
        </p:blipFill>
        <p:spPr>
          <a:xfrm>
            <a:off x="5454396" y="932098"/>
            <a:ext cx="1467612" cy="376084"/>
          </a:xfrm>
          <a:prstGeom prst="rect">
            <a:avLst/>
          </a:prstGeom>
        </p:spPr>
      </p:pic>
      <p:sp>
        <p:nvSpPr>
          <p:cNvPr id="7" name="TextBox 6"/>
          <p:cNvSpPr txBox="1"/>
          <p:nvPr/>
        </p:nvSpPr>
        <p:spPr>
          <a:xfrm>
            <a:off x="594360" y="30175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8" name="TextBox 7"/>
          <p:cNvSpPr txBox="1"/>
          <p:nvPr/>
        </p:nvSpPr>
        <p:spPr>
          <a:xfrm>
            <a:off x="594360" y="3474720"/>
            <a:ext cx="6556248" cy="2011680"/>
          </a:xfrm>
          <a:prstGeom prst="rect">
            <a:avLst/>
          </a:prstGeom>
          <a:noFill/>
        </p:spPr>
        <p:txBody>
          <a:bodyPr wrap="square" anchor="t" lIns="45720" rIns="45720" tIns="27432" bIns="27432">
            <a:spAutoFit/>
          </a:bodyPr>
          <a:lstStyle/>
          <a:p>
            <a:pPr algn="l">
              <a:lnSpc>
                <a:spcPct val="95000"/>
              </a:lnSpc>
              <a:spcAft>
                <a:spcPts val="0"/>
              </a:spcAft>
            </a:pPr>
            <a:r>
              <a:rPr sz="6000" b="1" i="0">
                <a:solidFill>
                  <a:srgbClr val="FFFFFF"/>
                </a:solidFill>
                <a:latin typeface="Playfair Display"/>
              </a:rPr>
              <a:t>Playbook</a:t>
            </a:r>
          </a:p>
          <a:p>
            <a:pPr algn="l">
              <a:lnSpc>
                <a:spcPct val="95000"/>
              </a:lnSpc>
              <a:spcAft>
                <a:spcPts val="0"/>
              </a:spcAft>
            </a:pPr>
            <a:r>
              <a:rPr sz="6000" b="1" i="0">
                <a:solidFill>
                  <a:srgbClr val="FFFFFF"/>
                </a:solidFill>
                <a:latin typeface="Playfair Display"/>
              </a:rPr>
              <a:t>Comercial</a:t>
            </a:r>
          </a:p>
        </p:txBody>
      </p:sp>
      <p:sp>
        <p:nvSpPr>
          <p:cNvPr id="9" name="TextBox 8"/>
          <p:cNvSpPr txBox="1"/>
          <p:nvPr/>
        </p:nvSpPr>
        <p:spPr>
          <a:xfrm>
            <a:off x="594360" y="5532120"/>
            <a:ext cx="6556248" cy="914400"/>
          </a:xfrm>
          <a:prstGeom prst="rect">
            <a:avLst/>
          </a:prstGeom>
          <a:noFill/>
        </p:spPr>
        <p:txBody>
          <a:bodyPr wrap="square" anchor="t" lIns="45720" rIns="45720" tIns="27432" bIns="27432">
            <a:spAutoFit/>
          </a:bodyPr>
          <a:lstStyle/>
          <a:p>
            <a:pPr algn="l">
              <a:lnSpc>
                <a:spcPct val="115000"/>
              </a:lnSpc>
              <a:spcAft>
                <a:spcPts val="400"/>
              </a:spcAft>
            </a:pPr>
            <a:r>
              <a:rPr sz="2200" b="0" i="0">
                <a:solidFill>
                  <a:srgbClr val="F1ECF7"/>
                </a:solidFill>
                <a:latin typeface="Playfair Display"/>
              </a:rPr>
              <a:t>Portafolio de Cremación y Jardines de Cenizas</a:t>
            </a:r>
          </a:p>
        </p:txBody>
      </p:sp>
      <p:sp>
        <p:nvSpPr>
          <p:cNvPr id="10" name="Rectangle 9"/>
          <p:cNvSpPr/>
          <p:nvPr/>
        </p:nvSpPr>
        <p:spPr>
          <a:xfrm>
            <a:off x="640080" y="662940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6858000"/>
            <a:ext cx="6556248" cy="82296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12" name="TextBox 11"/>
          <p:cNvSpPr txBox="1"/>
          <p:nvPr/>
        </p:nvSpPr>
        <p:spPr>
          <a:xfrm>
            <a:off x="594360" y="9052560"/>
            <a:ext cx="6556248" cy="365760"/>
          </a:xfrm>
          <a:prstGeom prst="rect">
            <a:avLst/>
          </a:prstGeom>
          <a:noFill/>
        </p:spPr>
        <p:txBody>
          <a:bodyPr wrap="square" anchor="t" lIns="45720" rIns="45720" tIns="27432" bIns="27432">
            <a:spAutoFit/>
          </a:bodyPr>
          <a:lstStyle/>
          <a:p>
            <a:pPr algn="l">
              <a:lnSpc>
                <a:spcPct val="115000"/>
              </a:lnSpc>
              <a:spcAft>
                <a:spcPts val="400"/>
              </a:spcAft>
            </a:pPr>
            <a:r>
              <a:rPr sz="1200" b="1" i="0">
                <a:solidFill>
                  <a:srgbClr val="C9A86A"/>
                </a:solidFill>
                <a:latin typeface="Montserrat"/>
              </a:rPr>
              <a:t>La Auxiliadora · Hogar de las Memorias · Las Colinas · Vangrupo</a:t>
            </a:r>
          </a:p>
        </p:txBody>
      </p:sp>
      <p:sp>
        <p:nvSpPr>
          <p:cNvPr id="13" name="TextBox 12"/>
          <p:cNvSpPr txBox="1"/>
          <p:nvPr/>
        </p:nvSpPr>
        <p:spPr>
          <a:xfrm>
            <a:off x="594360" y="94183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1.0 · Octubre 2026 · Uso interno del equipo comercial</a:t>
            </a:r>
          </a:p>
        </p:txBody>
      </p:sp>
      <p:sp>
        <p:nvSpPr>
          <p:cNvPr id="14" name="Rectangle 13"/>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280160"/>
          </a:xfrm>
          <a:prstGeom prst="rect">
            <a:avLst/>
          </a:prstGeom>
          <a:noFill/>
        </p:spPr>
        <p:txBody>
          <a:bodyPr wrap="square" anchor="t" lIns="45720" rIns="45720" tIns="27432" bIns="27432">
            <a:spAutoFit/>
          </a:bodyPr>
          <a:lstStyle/>
          <a:p>
            <a:pPr algn="l">
              <a:lnSpc>
                <a:spcPct val="115000"/>
              </a:lnSpc>
              <a:spcAft>
                <a:spcPts val="400"/>
              </a:spcAft>
            </a:pPr>
            <a:r>
              <a:rPr sz="125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02920" y="2971800"/>
            <a:ext cx="6556248" cy="2331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971800"/>
            <a:ext cx="73152" cy="2331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08960"/>
            <a:ext cx="6099048" cy="320040"/>
          </a:xfrm>
          <a:prstGeom prst="rect">
            <a:avLst/>
          </a:prstGeom>
          <a:noFill/>
        </p:spPr>
        <p:txBody>
          <a:bodyPr wrap="square" anchor="t" lIns="45720" rIns="45720" tIns="27432" bIns="27432">
            <a:spAutoFit/>
          </a:bodyPr>
          <a:lstStyle/>
          <a:p>
            <a:pPr algn="l">
              <a:lnSpc>
                <a:spcPct val="115000"/>
              </a:lnSpc>
              <a:spcAft>
                <a:spcPts val="400"/>
              </a:spcAft>
            </a:pPr>
            <a:r>
              <a:rPr sz="1050" b="1" i="0">
                <a:solidFill>
                  <a:srgbClr val="5B3F80"/>
                </a:solidFill>
                <a:latin typeface="Montserrat"/>
              </a:rPr>
              <a:t>PENDIENTES DE VALIDACIÓN</a:t>
            </a:r>
          </a:p>
        </p:txBody>
      </p:sp>
      <p:sp>
        <p:nvSpPr>
          <p:cNvPr id="10" name="TextBox 9"/>
          <p:cNvSpPr txBox="1"/>
          <p:nvPr/>
        </p:nvSpPr>
        <p:spPr>
          <a:xfrm>
            <a:off x="777240" y="3474720"/>
            <a:ext cx="6099048" cy="1783080"/>
          </a:xfrm>
          <a:prstGeom prst="rect">
            <a:avLst/>
          </a:prstGeom>
          <a:noFill/>
        </p:spPr>
        <p:txBody>
          <a:bodyPr wrap="square" anchor="t" lIns="45720" rIns="45720" tIns="27432" bIns="27432">
            <a:spAutoFit/>
          </a:bodyPr>
          <a:lstStyle/>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Jardín de Mascotas: confirmar si la urna biodegradable está incluida en el precio.</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Placas de madera: confirmar el tratamiento de la madera para contacto con el suelo.</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Jardín Ceremonial: producto en definición. No se vende ni se cotiza todavía.</a:t>
            </a:r>
          </a:p>
        </p:txBody>
      </p:sp>
      <p:sp>
        <p:nvSpPr>
          <p:cNvPr id="11" name="TextBox 10"/>
          <p:cNvSpPr txBox="1"/>
          <p:nvPr/>
        </p:nvSpPr>
        <p:spPr>
          <a:xfrm>
            <a:off x="502920" y="5486400"/>
            <a:ext cx="6556248"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5B3F80"/>
                </a:solidFill>
                <a:latin typeface="Playfair Display"/>
              </a:rPr>
              <a:t>Contenido</a:t>
            </a:r>
          </a:p>
        </p:txBody>
      </p:sp>
      <p:sp>
        <p:nvSpPr>
          <p:cNvPr id="12" name="TextBox 11"/>
          <p:cNvSpPr txBox="1"/>
          <p:nvPr/>
        </p:nvSpPr>
        <p:spPr>
          <a:xfrm>
            <a:off x="502920" y="603504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1325880" y="611733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502920" y="648309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1967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1325880" y="660196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502920" y="696772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700430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1325880" y="708660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502920" y="745236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7488936"/>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1325880" y="7571232"/>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502920" y="7936992"/>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7973568"/>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1325880" y="8055864"/>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502920" y="8421624"/>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845820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1325880" y="854049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502920" y="890625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894283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1325880" y="902512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502920" y="939088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942746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1325880" y="950976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502920" y="987552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Acompañamos familias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600200"/>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pic>
        <p:nvPicPr>
          <p:cNvPr id="7" name="Picture 6" descr="01_portafolio.png"/>
          <p:cNvPicPr>
            <a:picLocks noChangeAspect="1"/>
          </p:cNvPicPr>
          <p:nvPr/>
        </p:nvPicPr>
        <p:blipFill>
          <a:blip r:embed="rId2"/>
          <a:stretch>
            <a:fillRect/>
          </a:stretch>
        </p:blipFill>
        <p:spPr>
          <a:xfrm>
            <a:off x="502920" y="3213230"/>
            <a:ext cx="6556248" cy="2854699"/>
          </a:xfrm>
          <a:prstGeom prst="rect">
            <a:avLst/>
          </a:prstGeom>
        </p:spPr>
      </p:pic>
      <p:sp>
        <p:nvSpPr>
          <p:cNvPr id="8" name="Rectangle 7"/>
          <p:cNvSpPr/>
          <p:nvPr/>
        </p:nvSpPr>
        <p:spPr>
          <a:xfrm>
            <a:off x="502920"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UN LUGAR PARA VOLVER</a:t>
            </a:r>
          </a:p>
        </p:txBody>
      </p:sp>
      <p:sp>
        <p:nvSpPr>
          <p:cNvPr id="11" name="TextBox 10"/>
          <p:cNvSpPr txBox="1"/>
          <p:nvPr/>
        </p:nvSpPr>
        <p:spPr>
          <a:xfrm>
            <a:off x="640080"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La familia tiene un sitio físico, digno y verde para visitar y recordar.</a:t>
            </a:r>
          </a:p>
        </p:txBody>
      </p:sp>
      <p:sp>
        <p:nvSpPr>
          <p:cNvPr id="12" name="Rectangle 11"/>
          <p:cNvSpPr/>
          <p:nvPr/>
        </p:nvSpPr>
        <p:spPr>
          <a:xfrm>
            <a:off x="3872484"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72484"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09644"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PRECIO ACCESIBLE</a:t>
            </a:r>
          </a:p>
        </p:txBody>
      </p:sp>
      <p:sp>
        <p:nvSpPr>
          <p:cNvPr id="15" name="TextBox 14"/>
          <p:cNvSpPr txBox="1"/>
          <p:nvPr/>
        </p:nvSpPr>
        <p:spPr>
          <a:xfrm>
            <a:off x="4009644"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Desde US$ 400 y con financiamiento: un destino final al alcance de más familias.</a:t>
            </a:r>
          </a:p>
        </p:txBody>
      </p:sp>
      <p:sp>
        <p:nvSpPr>
          <p:cNvPr id="16" name="Rectangle 15"/>
          <p:cNvSpPr/>
          <p:nvPr/>
        </p:nvSpPr>
        <p:spPr>
          <a:xfrm>
            <a:off x="502920"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NATURALEZA Y LEGADO</a:t>
            </a:r>
          </a:p>
        </p:txBody>
      </p:sp>
      <p:sp>
        <p:nvSpPr>
          <p:cNvPr id="19" name="TextBox 18"/>
          <p:cNvSpPr txBox="1"/>
          <p:nvPr/>
        </p:nvSpPr>
        <p:spPr>
          <a:xfrm>
            <a:off x="640080"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Jardines de plantas de sombra, agua corriente y bosque: un homenaje que vive.</a:t>
            </a:r>
          </a:p>
        </p:txBody>
      </p:sp>
      <p:sp>
        <p:nvSpPr>
          <p:cNvPr id="20" name="Rectangle 19"/>
          <p:cNvSpPr/>
          <p:nvPr/>
        </p:nvSpPr>
        <p:spPr>
          <a:xfrm>
            <a:off x="3872484"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2484"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09644"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SIN DECISIONES BAJO PRESIÓN</a:t>
            </a:r>
          </a:p>
        </p:txBody>
      </p:sp>
      <p:sp>
        <p:nvSpPr>
          <p:cNvPr id="23" name="TextBox 22"/>
          <p:cNvSpPr txBox="1"/>
          <p:nvPr/>
        </p:nvSpPr>
        <p:spPr>
          <a:xfrm>
            <a:off x="4009644"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Planificar hoy evita que la familia decida en el peor momento.</a:t>
            </a:r>
          </a:p>
        </p:txBody>
      </p:sp>
      <p:sp>
        <p:nvSpPr>
          <p:cNvPr id="24" name="Rectangle 23"/>
          <p:cNvSpPr/>
          <p:nvPr/>
        </p:nvSpPr>
        <p:spPr>
          <a:xfrm>
            <a:off x="502920" y="8915400"/>
            <a:ext cx="6556248" cy="10972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915400"/>
            <a:ext cx="6099048" cy="109728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C9A86A"/>
                </a:solidFill>
                <a:latin typeface="Montserrat"/>
              </a:rPr>
              <a:t>REGLA DE ORO   </a:t>
            </a:r>
            <a:r>
              <a:rPr sz="1200" b="0" i="1">
                <a:solidFill>
                  <a:srgbClr val="FFFFFF"/>
                </a:solidFill>
                <a:latin typeface="Montserrat"/>
              </a:rPr>
              <a:t>Nuestra diferencia no es el precio: es la atención. Antes de cada propuesta, pregúntese: «¿esto acoge a la familia o solo cierra un negocio?».</a:t>
            </a:r>
          </a:p>
        </p:txBody>
      </p:sp>
      <p:sp>
        <p:nvSpPr>
          <p:cNvPr id="26" name="TextBox 2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556248"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105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Prenecesidad (preventiva)</a:t>
            </a:r>
          </a:p>
        </p:txBody>
      </p:sp>
      <p:sp>
        <p:nvSpPr>
          <p:cNvPr id="9" name="TextBox 8"/>
          <p:cNvSpPr txBox="1"/>
          <p:nvPr/>
        </p:nvSpPr>
        <p:spPr>
          <a:xfrm>
            <a:off x="685800" y="23957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502920" y="32461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46120"/>
            <a:ext cx="6556248"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4107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Necesidad inmediata (emergencia)</a:t>
            </a:r>
          </a:p>
        </p:txBody>
      </p:sp>
      <p:sp>
        <p:nvSpPr>
          <p:cNvPr id="13" name="TextBox 12"/>
          <p:cNvSpPr txBox="1"/>
          <p:nvPr/>
        </p:nvSpPr>
        <p:spPr>
          <a:xfrm>
            <a:off x="685800" y="39959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02920" y="4983480"/>
            <a:ext cx="6556248"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02920" y="553212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553212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UAF · Unidad de Apoyo Familiar</a:t>
            </a:r>
          </a:p>
        </p:txBody>
      </p:sp>
      <p:sp>
        <p:nvSpPr>
          <p:cNvPr id="17" name="Rectangle 16"/>
          <p:cNvSpPr/>
          <p:nvPr/>
        </p:nvSpPr>
        <p:spPr>
          <a:xfrm>
            <a:off x="2606040" y="553212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562356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Acompaña a la familia durante el servicio y trabaja referidos.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Jardín Individual y Ecológico como destino de las cenizas; Solución Modular para el resto de la familia (venta de prenecesidad posterior).</a:t>
            </a:r>
          </a:p>
        </p:txBody>
      </p:sp>
      <p:sp>
        <p:nvSpPr>
          <p:cNvPr id="19" name="Rectangle 18"/>
          <p:cNvSpPr/>
          <p:nvPr/>
        </p:nvSpPr>
        <p:spPr>
          <a:xfrm>
            <a:off x="502920" y="704088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704088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Pilares Alternativos</a:t>
            </a:r>
          </a:p>
        </p:txBody>
      </p:sp>
      <p:sp>
        <p:nvSpPr>
          <p:cNvPr id="21" name="Rectangle 20"/>
          <p:cNvSpPr/>
          <p:nvPr/>
        </p:nvSpPr>
        <p:spPr>
          <a:xfrm>
            <a:off x="2606040" y="704088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713232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Eventos, centros comerciales, bases de cancelaciones y telemercadeo.</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(cuota baja, fácil de explicar) y Jardín de Mascotas.</a:t>
            </a:r>
          </a:p>
        </p:txBody>
      </p:sp>
      <p:sp>
        <p:nvSpPr>
          <p:cNvPr id="23" name="Rectangle 22"/>
          <p:cNvSpPr/>
          <p:nvPr/>
        </p:nvSpPr>
        <p:spPr>
          <a:xfrm>
            <a:off x="502920" y="854964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854964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AML · Puerta a puerta</a:t>
            </a:r>
          </a:p>
        </p:txBody>
      </p:sp>
      <p:sp>
        <p:nvSpPr>
          <p:cNvPr id="25" name="Rectangle 24"/>
          <p:cNvSpPr/>
          <p:nvPr/>
        </p:nvSpPr>
        <p:spPr>
          <a:xfrm>
            <a:off x="2606040" y="854964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864108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Prospección sistemática en colonias.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 Jardín Individual: la combinación más completa para el hogar.</a:t>
            </a:r>
          </a:p>
        </p:txBody>
      </p:sp>
      <p:sp>
        <p:nvSpPr>
          <p:cNvPr id="27" name="TextBox 2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8" name="TextBox 2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02920" y="19659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19659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Planificador</a:t>
            </a:r>
          </a:p>
          <a:p>
            <a:pPr algn="l">
              <a:lnSpc>
                <a:spcPct val="115000"/>
              </a:lnSpc>
              <a:spcAft>
                <a:spcPts val="200"/>
              </a:spcAft>
            </a:pPr>
            <a:r>
              <a:rPr sz="900" b="0" i="0">
                <a:solidFill>
                  <a:srgbClr val="D9CFE6"/>
                </a:solidFill>
                <a:latin typeface="Montserrat"/>
              </a:rPr>
              <a:t>45–65 años, compra para sí mismo.</a:t>
            </a:r>
          </a:p>
        </p:txBody>
      </p:sp>
      <p:sp>
        <p:nvSpPr>
          <p:cNvPr id="9" name="Rectangle 8"/>
          <p:cNvSpPr/>
          <p:nvPr/>
        </p:nvSpPr>
        <p:spPr>
          <a:xfrm>
            <a:off x="2423160" y="19659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0391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502920" y="33375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33375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Hijo Cuidador</a:t>
            </a:r>
          </a:p>
          <a:p>
            <a:pPr algn="l">
              <a:lnSpc>
                <a:spcPct val="115000"/>
              </a:lnSpc>
              <a:spcAft>
                <a:spcPts val="200"/>
              </a:spcAft>
            </a:pPr>
            <a:r>
              <a:rPr sz="900" b="0" i="0">
                <a:solidFill>
                  <a:srgbClr val="D9CFE6"/>
                </a:solidFill>
                <a:latin typeface="Montserrat"/>
              </a:rPr>
              <a:t>25–45 años, compra para sus padres.</a:t>
            </a:r>
          </a:p>
        </p:txBody>
      </p:sp>
      <p:sp>
        <p:nvSpPr>
          <p:cNvPr id="13" name="Rectangle 12"/>
          <p:cNvSpPr/>
          <p:nvPr/>
        </p:nvSpPr>
        <p:spPr>
          <a:xfrm>
            <a:off x="2423160" y="33375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0" y="34107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20" y="47091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47091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La Familia en Urgencia</a:t>
            </a:r>
          </a:p>
          <a:p>
            <a:pPr algn="l">
              <a:lnSpc>
                <a:spcPct val="115000"/>
              </a:lnSpc>
              <a:spcAft>
                <a:spcPts val="200"/>
              </a:spcAft>
            </a:pPr>
            <a:r>
              <a:rPr sz="900" b="0" i="0">
                <a:solidFill>
                  <a:srgbClr val="D9CFE6"/>
                </a:solidFill>
                <a:latin typeface="Montserrat"/>
              </a:rPr>
              <a:t>En el momento de la pérdida.</a:t>
            </a:r>
          </a:p>
        </p:txBody>
      </p:sp>
      <p:sp>
        <p:nvSpPr>
          <p:cNvPr id="17" name="Rectangle 16"/>
          <p:cNvSpPr/>
          <p:nvPr/>
        </p:nvSpPr>
        <p:spPr>
          <a:xfrm>
            <a:off x="2423160" y="47091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0320" y="47823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502920" y="60807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0807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Consciente Ecológico</a:t>
            </a:r>
          </a:p>
          <a:p>
            <a:pPr algn="l">
              <a:lnSpc>
                <a:spcPct val="115000"/>
              </a:lnSpc>
              <a:spcAft>
                <a:spcPts val="200"/>
              </a:spcAft>
            </a:pPr>
            <a:r>
              <a:rPr sz="900" b="0" i="0">
                <a:solidFill>
                  <a:srgbClr val="D9CFE6"/>
                </a:solidFill>
                <a:latin typeface="Montserrat"/>
              </a:rPr>
              <a:t>30–55 años, valora la naturaleza.</a:t>
            </a:r>
          </a:p>
        </p:txBody>
      </p:sp>
      <p:sp>
        <p:nvSpPr>
          <p:cNvPr id="21" name="Rectangle 20"/>
          <p:cNvSpPr/>
          <p:nvPr/>
        </p:nvSpPr>
        <p:spPr>
          <a:xfrm>
            <a:off x="2423160" y="60807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0320" y="61539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502920" y="74523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4523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Tutor de Mascota</a:t>
            </a:r>
          </a:p>
          <a:p>
            <a:pPr algn="l">
              <a:lnSpc>
                <a:spcPct val="115000"/>
              </a:lnSpc>
              <a:spcAft>
                <a:spcPts val="200"/>
              </a:spcAft>
            </a:pPr>
            <a:r>
              <a:rPr sz="900" b="0" i="0">
                <a:solidFill>
                  <a:srgbClr val="D9CFE6"/>
                </a:solidFill>
                <a:latin typeface="Montserrat"/>
              </a:rPr>
              <a:t>20–60 años, despide a su compañero.</a:t>
            </a:r>
          </a:p>
        </p:txBody>
      </p:sp>
      <p:sp>
        <p:nvSpPr>
          <p:cNvPr id="25" name="Rectangle 24"/>
          <p:cNvSpPr/>
          <p:nvPr/>
        </p:nvSpPr>
        <p:spPr>
          <a:xfrm>
            <a:off x="2423160" y="74523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75255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02920" y="886968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86968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FILTRO N·O·A   </a:t>
            </a:r>
            <a:r>
              <a:rPr sz="10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Del contacto a la posventa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502920" y="1587041"/>
            <a:ext cx="6556248" cy="2998117"/>
          </a:xfrm>
          <a:prstGeom prst="rect">
            <a:avLst/>
          </a:prstGeom>
        </p:spPr>
      </p:pic>
      <p:pic>
        <p:nvPicPr>
          <p:cNvPr id="7" name="Picture 6" descr="03_conversacion.png"/>
          <p:cNvPicPr>
            <a:picLocks noChangeAspect="1"/>
          </p:cNvPicPr>
          <p:nvPr/>
        </p:nvPicPr>
        <p:blipFill>
          <a:blip r:embed="rId3"/>
          <a:stretch>
            <a:fillRect/>
          </a:stretch>
        </p:blipFill>
        <p:spPr>
          <a:xfrm>
            <a:off x="502920" y="4798335"/>
            <a:ext cx="6556248" cy="1376129"/>
          </a:xfrm>
          <a:prstGeom prst="rect">
            <a:avLst/>
          </a:prstGeom>
        </p:spPr>
      </p:pic>
      <p:sp>
        <p:nvSpPr>
          <p:cNvPr id="8" name="TextBox 7"/>
          <p:cNvSpPr txBox="1"/>
          <p:nvPr/>
        </p:nvSpPr>
        <p:spPr>
          <a:xfrm>
            <a:off x="502920" y="6446520"/>
            <a:ext cx="6556248"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9" name="Rectangle 8"/>
          <p:cNvSpPr/>
          <p:nvPr/>
        </p:nvSpPr>
        <p:spPr>
          <a:xfrm>
            <a:off x="502920" y="6949440"/>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6949440"/>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7059168"/>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DIARIO</a:t>
            </a:r>
          </a:p>
        </p:txBody>
      </p:sp>
      <p:sp>
        <p:nvSpPr>
          <p:cNvPr id="12" name="TextBox 11"/>
          <p:cNvSpPr txBox="1"/>
          <p:nvPr/>
        </p:nvSpPr>
        <p:spPr>
          <a:xfrm>
            <a:off x="640080" y="7333488"/>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Alineación rápida de 10 minutos: pendientes y bloqueos.</a:t>
            </a:r>
          </a:p>
        </p:txBody>
      </p:sp>
      <p:sp>
        <p:nvSpPr>
          <p:cNvPr id="13" name="Rectangle 12"/>
          <p:cNvSpPr/>
          <p:nvPr/>
        </p:nvSpPr>
        <p:spPr>
          <a:xfrm>
            <a:off x="502920" y="7973568"/>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7973568"/>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8083296"/>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SEMANAL</a:t>
            </a:r>
          </a:p>
        </p:txBody>
      </p:sp>
      <p:sp>
        <p:nvSpPr>
          <p:cNvPr id="16" name="TextBox 15"/>
          <p:cNvSpPr txBox="1"/>
          <p:nvPr/>
        </p:nvSpPr>
        <p:spPr>
          <a:xfrm>
            <a:off x="640080" y="8357616"/>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Revisión del embudo: dónde se están quedando los contactos.</a:t>
            </a:r>
          </a:p>
        </p:txBody>
      </p:sp>
      <p:sp>
        <p:nvSpPr>
          <p:cNvPr id="17" name="Rectangle 16"/>
          <p:cNvSpPr/>
          <p:nvPr/>
        </p:nvSpPr>
        <p:spPr>
          <a:xfrm>
            <a:off x="502920" y="8997696"/>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8997696"/>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9107424"/>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MENSUAL</a:t>
            </a:r>
          </a:p>
        </p:txBody>
      </p:sp>
      <p:sp>
        <p:nvSpPr>
          <p:cNvPr id="20" name="TextBox 19"/>
          <p:cNvSpPr txBox="1"/>
          <p:nvPr/>
        </p:nvSpPr>
        <p:spPr>
          <a:xfrm>
            <a:off x="640080" y="9381744"/>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Resultado vs. meta, ajuste de ruta y reconocimiento.</a:t>
            </a:r>
          </a:p>
        </p:txBody>
      </p:sp>
      <p:sp>
        <p:nvSpPr>
          <p:cNvPr id="21" name="TextBox 2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CREMACIÓN · ADD-ON</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Solución Modular de Cremación</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Hasta 120 cuotas mensuales (≈ US$ 8,50/mes)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Módulo de cremación que se integra a cualquier plan funerario vigente o nuevo de Vangrupo, sin cambiar de plan.</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Afiliados actuales y nuevos que quieren sumar la cremación con una cuota mínima.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Proceso completo de cremación individual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 cineraria de línea modular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Trámites legales básicos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Alquiler temporal de columbario por 1 año (nivel 1, Hogar de las Memorias)</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Se vende como adicional a un plan funerario (actual o nuevo).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Cobertura individual: un módulo por titular o beneficiario.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Debe estar pagado en su totalidad para usar la cremación y el columbario.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columbario temporal es por 12 meses; al término, la familia elige destino final (oportunidad para ofrecer un Jardín de Cenizas).</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«Usted ya protegió a su familia con su plan. Por menos de lo que cuesta un refresco a la semana, alrededor de ocho dólares al mes, puede sumar la cremación completa, con urna, trámites y un año de columbario incluido. Así nadie tendrá que decidir ni pagar de golpe en un momento difícil.»</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plan actual incluye la cremación o solo el servicio funerario?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 conversado en familia qué preferencia tiene usted?</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le preocupa más: el costo o tener que decidir de urgencia?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lo sumamos a su plan desde este mes, con la primera cuota de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Ofrézcalo siempre junto a un jardín: la familia resuelve cremación y destino final en una sola decisión.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INHUMACIÓN INDIVIDUAL</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Individual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Pago único o financiado · Mantenimiento US$ 15/año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de la urna en un contenedor enterrado con tapa de granito grabada, en un jardín de plantas de sombra: un lugar permanente para visitar.</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un lugar permanente para visitar, con una inversión moderada.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la urna en contenedor individual (Ø 32 × 40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con los datos del ser querido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Camino en gravilla y espacio de contemplación con banco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US$ 15.</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contenedor queda con 20 cm a la vista; la tapa de granito es la identificación.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¿Dónde le gustaría poder visitar a su ser querido?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¿Tienen hoy las cenizas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¿Quién más de la familia participaría en las visitas?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gustaría conocer el jardín esta semana para elegir el lugar con calma?»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El jardín vende solo: priorice siempre la visita.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PARCELA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Familiar</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US$ 2.000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Pago único o financiado · Mantenimiento US$ 25/año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Parcela familiar en el Jardín 1 con cuatro contenedores agrupados, cada uno con tapa de granito grabada. Sin plazo de permanencia.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un espacio propio y permanente para varias generaciones.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grabada para cada espacio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Lugar permanente de homenaje familiar, sin plazo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espacios.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sin plazo.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US$ 25 por parcela.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«Así como una familia comparte una casa, también puede compartir un lugar de memoria. La parcela familiar reúne hasta cuatro seres queridos en un mismo espacio, para siempre, y cuesta US$ 500 por espacio, menos que comprarlos por separado.»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que la familia esté reunida en un mismo lugar?</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¿Cuántas personas de la familia considerarían este destino?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pagarlo de una vez o en cuotas?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la parcela para su familia y la pagan en cuotas cómodas?»</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mucho dinero.» → «Son US$ 500 por cada espacio, con financiamiento. Y es una decisión que se toma una sola vez para toda la familia.»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Use el argumento por espacio (US$ 500) y no el total.</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2 · BOSQUE DE LAS ORQUÍDEAS</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Ecológico</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US$ 750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Pago único o financiado ·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Personas con conciencia ambiental que desean que sus cenizas vuelvan a la tierra.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con urna biodegradable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identificación (madera en el Jardín 2 · mármol en el Bosque)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Entorno natural con agua corriente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 luego, nombre en la placa memorial del monumento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 Espacio de 30 × 30 cm, 40 cm de profundidad.</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en el monumento: incluida en el precio de US$ 750.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Explique el plazo de 3 años con total transparencia desde la primera conversación.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ser querido tenía un vínculo especial con la naturaleza?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significa para ustedes «volver a la tierra»?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¿Es importante para la familia un lugar con nombre para siempre?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visitamos el Bosque de las Orquídeas y elegimos juntos el lugar?»</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Para familias católicas, enfatice que las cenizas reposan en el cementerio, un lugar dedicado a la memoria.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ciclo de 3 años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02920" y="2911107"/>
            <a:ext cx="6556248" cy="1584426"/>
          </a:xfrm>
          <a:prstGeom prst="rect">
            <a:avLst/>
          </a:prstGeom>
        </p:spPr>
      </p:pic>
      <p:sp>
        <p:nvSpPr>
          <p:cNvPr id="7" name="Rectangle 6"/>
          <p:cNvSpPr/>
          <p:nvPr/>
        </p:nvSpPr>
        <p:spPr>
          <a:xfrm>
            <a:off x="502920" y="457200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7200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572000"/>
            <a:ext cx="6099048" cy="128016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TRANSPARENCIA   </a:t>
            </a:r>
            <a:r>
              <a:rPr sz="1150" b="0" i="0">
                <a:solidFill>
                  <a:srgbClr val="2E2A36"/>
                </a:solidFill>
                <a:latin typeface="Montserrat"/>
              </a:rPr>
              <a:t>Explique el plazo de 3 años desde la primera conversación. La placa memorial está incluida en el Jardín Ecológico (US$ 750) y en la opción de Mascotas de US$ 550.</a:t>
            </a:r>
          </a:p>
        </p:txBody>
      </p:sp>
      <p:sp>
        <p:nvSpPr>
          <p:cNvPr id="10" name="TextBox 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MASCOTAS · INHUMACIÓN ECOLÓGICA</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Mascotas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US$ 400 / US$ 550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US$ 400 solo espacio · US$ 550 con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ecológica de las cenizas de la mascota: la urna biodegradable se entierra en el jardín y se identifica con una placa de madera.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consideran a su mascota parte del hogar y desean un cierre digno.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en el jardín de mascotas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madera de 20 cm para identificación</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memorial en el monumento al término del plazo (opción US$ 550)</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mascota por servicio.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en el monumento: incluida solo en la opción de US$ 550.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Pago único; puede contratarse como adicional al plan funerario.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¿Cómo se llamaba su compañero?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que su nombre quede para siempre en el monumento memorial?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un lugar para visitarlo con los niños?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«¿Prefieren la opción con placa memorial incluida, para que su nombre quede siempre en el jardín?»</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solo una mascota.» → No discuta el vínculo de la familia. Si el cliente minimiza, respete y ofrezca la información por escrito para que decida con calma.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Llame a la mascota por su nombre durante toda la conversación.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3 · PRÓXIMO LANZAMIENTO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Ceremonial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PRÓXIMO LANZAMIENTO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A definir</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A definir</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Jardín para inhumación de urnas con ceremonia de agua, con fuentes como elemento central del rito de despedida.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valoran un rito de despedida simbólico y un entorno contemplativo.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urnas de cenizas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Ceremonia con agua en fuente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Barrera visual que separa el jardín del crematorio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PRÓXIMO LANZAMIENTO: no se vende ni se cotiza todavía.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Si un cliente muestra interés, registre su contacto como «interesado Ceremonial».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«Estamos preparando un nuevo jardín con una ceremonia de agua muy especial. Si le interesa, con gusto le aviso apenas esté disponible.»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 gustaría que le avisemos cuando esté disponible?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Registrar el interés y ofrecer, mientras tanto, el Jardín Individual o el Ecológico.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No aplica todavía.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No prometa fechas ni precios.</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02920" y="1623267"/>
            <a:ext cx="6556248" cy="2011265"/>
          </a:xfrm>
          <a:prstGeom prst="rect">
            <a:avLst/>
          </a:prstGeom>
        </p:spPr>
      </p:pic>
      <p:sp>
        <p:nvSpPr>
          <p:cNvPr id="7" name="Rectangle 6"/>
          <p:cNvSpPr/>
          <p:nvPr/>
        </p:nvSpPr>
        <p:spPr>
          <a:xfrm>
            <a:off x="502920" y="384048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84048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1.  «No quiero pensar en eso, es de mala suerte.»</a:t>
            </a:r>
          </a:p>
        </p:txBody>
      </p:sp>
      <p:sp>
        <p:nvSpPr>
          <p:cNvPr id="9" name="Rectangle 8"/>
          <p:cNvSpPr/>
          <p:nvPr/>
        </p:nvSpPr>
        <p:spPr>
          <a:xfrm>
            <a:off x="502920"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«Entiendo, a nadie le gusta hablar de este tema.»</a:t>
            </a:r>
          </a:p>
        </p:txBody>
      </p:sp>
      <p:sp>
        <p:nvSpPr>
          <p:cNvPr id="11" name="Rectangle 10"/>
          <p:cNvSpPr/>
          <p:nvPr/>
        </p:nvSpPr>
        <p:spPr>
          <a:xfrm>
            <a:off x="2423160" y="429768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34340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Planificar con calma es justamente lo que evita que su familia tenga que decidir en el peor momento. Es un acto de cuidado, no de pesimismo.</a:t>
            </a:r>
          </a:p>
        </p:txBody>
      </p:sp>
      <p:sp>
        <p:nvSpPr>
          <p:cNvPr id="13" name="Rectangle 12"/>
          <p:cNvSpPr/>
          <p:nvPr/>
        </p:nvSpPr>
        <p:spPr>
          <a:xfrm>
            <a:off x="5230368"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21808"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dejo la información para que la conversen en casa?»</a:t>
            </a:r>
          </a:p>
        </p:txBody>
      </p:sp>
      <p:sp>
        <p:nvSpPr>
          <p:cNvPr id="15" name="Rectangle 14"/>
          <p:cNvSpPr/>
          <p:nvPr/>
        </p:nvSpPr>
        <p:spPr>
          <a:xfrm>
            <a:off x="502920" y="603504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03504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2.  «Soy católico, la cremación no está permitida.»</a:t>
            </a:r>
          </a:p>
        </p:txBody>
      </p:sp>
      <p:sp>
        <p:nvSpPr>
          <p:cNvPr id="17" name="Rectangle 16"/>
          <p:cNvSpPr/>
          <p:nvPr/>
        </p:nvSpPr>
        <p:spPr>
          <a:xfrm>
            <a:off x="502920"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«Su fe es muy importante y la respetamos.»</a:t>
            </a:r>
          </a:p>
        </p:txBody>
      </p:sp>
      <p:sp>
        <p:nvSpPr>
          <p:cNvPr id="19" name="Rectangle 18"/>
          <p:cNvSpPr/>
          <p:nvPr/>
        </p:nvSpPr>
        <p:spPr>
          <a:xfrm>
            <a:off x="2423160" y="649224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653796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1" name="Rectangle 20"/>
          <p:cNvSpPr/>
          <p:nvPr/>
        </p:nvSpPr>
        <p:spPr>
          <a:xfrm>
            <a:off x="5230368"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1808"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conocer el jardín y ver cómo es el lugar?»</a:t>
            </a:r>
          </a:p>
        </p:txBody>
      </p:sp>
      <p:sp>
        <p:nvSpPr>
          <p:cNvPr id="23" name="TextBox 22"/>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4" name="TextBox 23"/>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3.  «Prefiero la sepultura tradicional.»</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tradición muy valiosa.»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muestro la diferencia de inversión entre ambas opciones?»</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4.  «Está caro.»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«Comprendo, es una inversión.»</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la urgencia los costos son mayores y se pagan de golpe. Hoy fija el precio y lo paga en cuotas: la Solución Modular cuesta alrededor de US$ 8,50 al mes.</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«¿Qué cuota mensual le resultaría cómoda?»</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5.  «Tengo que hablarlo con mi familia.»</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«Claro, es una decisión de familia.»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Facilite esa conversación: ofrezca un resumen simple y quedar disponible para resolver dudas de todos juntos.</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«¿Puedo llamarle el [día] para ver si quedó alguna pregunta?»</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6.  «Prefiero tener las cenizas en casa.»</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natural querer tenerlas cerca.»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el jardín toda la familia puede visitarlas, quedan protegidas ante mudanzas o cambios, y tienen un lugar con su nombre.</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visitar el jardín antes de decidir?»</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7.  «¿Por qué pagar mantenimiento cada año?»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pregunta muy válida.»</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cuota (US$ 15 o US$ 25 al año) mantiene el jardín siempre cuidado: poda, riego y limpieza. Es lo que garantiza que el lugar luzca digno en cada visita.</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explico qué incluye el cuidado del jardín?»</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8.  «No confío en estos planes.»</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preocupación válida.»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«¿Agendamos una visita sin compromiso?»</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02920" y="2011680"/>
          <a:ext cx="6556245" cy="3968496"/>
        </p:xfrm>
        <a:graphic>
          <a:graphicData uri="http://schemas.openxmlformats.org/drawingml/2006/table">
            <a:tbl>
              <a:tblPr firstRow="1" bandRow="1">
                <a:tableStyleId>{5C22544A-7EE6-4342-B048-85BDC9FD1C3A}</a:tableStyleId>
              </a:tblPr>
              <a:tblGrid>
                <a:gridCol w="1440933"/>
                <a:gridCol w="1008653"/>
                <a:gridCol w="1440933"/>
                <a:gridCol w="792513"/>
                <a:gridCol w="1873213"/>
              </a:tblGrid>
              <a:tr h="566928">
                <a:tc>
                  <a:txBody>
                    <a:bodyPr wrap="square"/>
                    <a:lstStyle/>
                    <a:p>
                      <a:r>
                        <a:rPr sz="1000" b="1">
                          <a:solidFill>
                            <a:srgbClr val="FFFFFF"/>
                          </a:solidFill>
                          <a:latin typeface="Montserrat"/>
                        </a:rPr>
                        <a:t>Producto</a:t>
                      </a:r>
                    </a:p>
                  </a:txBody>
                  <a:tcPr marL="73152" marR="73152" marT="36576" marB="36576" anchor="ctr">
                    <a:solidFill>
                      <a:srgbClr val="5B3F80"/>
                    </a:solidFill>
                  </a:tcPr>
                </a:tc>
                <a:tc>
                  <a:txBody>
                    <a:bodyPr wrap="square"/>
                    <a:lstStyle/>
                    <a:p>
                      <a:r>
                        <a:rPr sz="1000" b="1">
                          <a:solidFill>
                            <a:srgbClr val="FFFFFF"/>
                          </a:solidFill>
                          <a:latin typeface="Montserrat"/>
                        </a:rPr>
                        <a:t>Precio</a:t>
                      </a:r>
                    </a:p>
                  </a:txBody>
                  <a:tcPr marL="73152" marR="73152" marT="36576" marB="36576" anchor="ctr">
                    <a:solidFill>
                      <a:srgbClr val="5B3F80"/>
                    </a:solidFill>
                  </a:tcPr>
                </a:tc>
                <a:tc>
                  <a:txBody>
                    <a:bodyPr wrap="square"/>
                    <a:lstStyle/>
                    <a:p>
                      <a:r>
                        <a:rPr sz="1000" b="1">
                          <a:solidFill>
                            <a:srgbClr val="FFFFFF"/>
                          </a:solidFill>
                          <a:latin typeface="Montserrat"/>
                        </a:rPr>
                        <a:t>Pago</a:t>
                      </a:r>
                    </a:p>
                  </a:txBody>
                  <a:tcPr marL="73152" marR="73152" marT="36576" marB="36576" anchor="ctr">
                    <a:solidFill>
                      <a:srgbClr val="5B3F80"/>
                    </a:solidFill>
                  </a:tcPr>
                </a:tc>
                <a:tc>
                  <a:txBody>
                    <a:bodyPr wrap="square"/>
                    <a:lstStyle/>
                    <a:p>
                      <a:r>
                        <a:rPr sz="1000" b="1">
                          <a:solidFill>
                            <a:srgbClr val="FFFFFF"/>
                          </a:solidFill>
                          <a:latin typeface="Montserrat"/>
                        </a:rPr>
                        <a:t>Mant.</a:t>
                      </a:r>
                    </a:p>
                  </a:txBody>
                  <a:tcPr marL="73152" marR="73152" marT="36576" marB="36576" anchor="ctr">
                    <a:solidFill>
                      <a:srgbClr val="5B3F80"/>
                    </a:solidFill>
                  </a:tcPr>
                </a:tc>
                <a:tc>
                  <a:txBody>
                    <a:bodyPr wrap="square"/>
                    <a:lstStyle/>
                    <a:p>
                      <a:r>
                        <a:rPr sz="1000" b="1">
                          <a:solidFill>
                            <a:srgbClr val="FFFFFF"/>
                          </a:solidFill>
                          <a:latin typeface="Montserrat"/>
                        </a:rPr>
                        <a:t>Plazo / condición</a:t>
                      </a:r>
                    </a:p>
                  </a:txBody>
                  <a:tcPr marL="73152" marR="73152" marT="36576" marB="36576" anchor="ctr">
                    <a:solidFill>
                      <a:srgbClr val="5B3F80"/>
                    </a:solidFill>
                  </a:tcPr>
                </a:tc>
              </a:tr>
              <a:tr h="566928">
                <a:tc>
                  <a:txBody>
                    <a:bodyPr wrap="square"/>
                    <a:lstStyle/>
                    <a:p>
                      <a:r>
                        <a:rPr sz="1000" b="1">
                          <a:solidFill>
                            <a:srgbClr val="5B3F80"/>
                          </a:solidFill>
                          <a:latin typeface="Montserrat"/>
                        </a:rPr>
                        <a:t>Solución Modular</a:t>
                      </a:r>
                    </a:p>
                  </a:txBody>
                  <a:tcPr marL="73152" marR="73152" marT="36576" marB="36576" anchor="ctr">
                    <a:solidFill>
                      <a:srgbClr val="FFFFFF"/>
                    </a:solidFill>
                  </a:tcPr>
                </a:tc>
                <a:tc>
                  <a:txBody>
                    <a:bodyPr wrap="square"/>
                    <a:lstStyle/>
                    <a:p>
                      <a:r>
                        <a:rPr sz="1000" b="0">
                          <a:solidFill>
                            <a:srgbClr val="2E2A36"/>
                          </a:solidFill>
                          <a:latin typeface="Montserrat"/>
                        </a:rPr>
                        <a:t>US$ 1.000</a:t>
                      </a:r>
                    </a:p>
                  </a:txBody>
                  <a:tcPr marL="73152" marR="73152" marT="36576" marB="36576" anchor="ctr">
                    <a:solidFill>
                      <a:srgbClr val="FFFFFF"/>
                    </a:solidFill>
                  </a:tcPr>
                </a:tc>
                <a:tc>
                  <a:txBody>
                    <a:bodyPr wrap="square"/>
                    <a:lstStyle/>
                    <a:p>
                      <a:r>
                        <a:rPr sz="1000" b="0">
                          <a:solidFill>
                            <a:srgbClr val="2E2A36"/>
                          </a:solidFill>
                          <a:latin typeface="Montserrat"/>
                        </a:rPr>
                        <a:t>Hasta 120 cuotas (≈ US$ 8,50/mes)</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Columbario 1 año incluido</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Individual</a:t>
                      </a:r>
                    </a:p>
                  </a:txBody>
                  <a:tcPr marL="73152" marR="73152" marT="36576" marB="36576" anchor="ctr">
                    <a:solidFill>
                      <a:srgbClr val="F5F2F8"/>
                    </a:solidFill>
                  </a:tcPr>
                </a:tc>
                <a:tc>
                  <a:txBody>
                    <a:bodyPr wrap="square"/>
                    <a:lstStyle/>
                    <a:p>
                      <a:r>
                        <a:rPr sz="1000" b="0">
                          <a:solidFill>
                            <a:srgbClr val="2E2A36"/>
                          </a:solidFill>
                          <a:latin typeface="Montserrat"/>
                        </a:rPr>
                        <a:t>US$ 600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US$ 15/año</a:t>
                      </a:r>
                    </a:p>
                  </a:txBody>
                  <a:tcPr marL="73152" marR="73152" marT="36576" marB="36576" anchor="ctr">
                    <a:solidFill>
                      <a:srgbClr val="F5F2F8"/>
                    </a:solidFill>
                  </a:tcPr>
                </a:tc>
                <a:tc>
                  <a:txBody>
                    <a:bodyPr wrap="square"/>
                    <a:lstStyle/>
                    <a:p>
                      <a:r>
                        <a:rPr sz="1000" b="0">
                          <a:solidFill>
                            <a:srgbClr val="2E2A36"/>
                          </a:solidFill>
                          <a:latin typeface="Montserrat"/>
                        </a:rPr>
                        <a:t>Sin plazo</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Familiar</a:t>
                      </a:r>
                    </a:p>
                  </a:txBody>
                  <a:tcPr marL="73152" marR="73152" marT="36576" marB="36576" anchor="ctr">
                    <a:solidFill>
                      <a:srgbClr val="FFFFFF"/>
                    </a:solidFill>
                  </a:tcPr>
                </a:tc>
                <a:tc>
                  <a:txBody>
                    <a:bodyPr wrap="square"/>
                    <a:lstStyle/>
                    <a:p>
                      <a:r>
                        <a:rPr sz="1000" b="0">
                          <a:solidFill>
                            <a:srgbClr val="2E2A36"/>
                          </a:solidFill>
                          <a:latin typeface="Montserrat"/>
                        </a:rPr>
                        <a:t>US$ 2.000</a:t>
                      </a:r>
                    </a:p>
                  </a:txBody>
                  <a:tcPr marL="73152" marR="73152" marT="36576" marB="36576" anchor="ctr">
                    <a:solidFill>
                      <a:srgbClr val="FFFFFF"/>
                    </a:solidFill>
                  </a:tcPr>
                </a:tc>
                <a:tc>
                  <a:txBody>
                    <a:bodyPr wrap="square"/>
                    <a:lstStyle/>
                    <a:p>
                      <a:r>
                        <a:rPr sz="1000" b="0">
                          <a:solidFill>
                            <a:srgbClr val="2E2A36"/>
                          </a:solidFill>
                          <a:latin typeface="Montserrat"/>
                        </a:rPr>
                        <a:t>Único o financiado</a:t>
                      </a:r>
                    </a:p>
                  </a:txBody>
                  <a:tcPr marL="73152" marR="73152" marT="36576" marB="36576" anchor="ctr">
                    <a:solidFill>
                      <a:srgbClr val="FFFFFF"/>
                    </a:solidFill>
                  </a:tcPr>
                </a:tc>
                <a:tc>
                  <a:txBody>
                    <a:bodyPr wrap="square"/>
                    <a:lstStyle/>
                    <a:p>
                      <a:r>
                        <a:rPr sz="1000" b="0">
                          <a:solidFill>
                            <a:srgbClr val="2E2A36"/>
                          </a:solidFill>
                          <a:latin typeface="Montserrat"/>
                        </a:rPr>
                        <a:t>US$ 25/año</a:t>
                      </a:r>
                    </a:p>
                  </a:txBody>
                  <a:tcPr marL="73152" marR="73152" marT="36576" marB="36576" anchor="ctr">
                    <a:solidFill>
                      <a:srgbClr val="FFFFFF"/>
                    </a:solidFill>
                  </a:tcPr>
                </a:tc>
                <a:tc>
                  <a:txBody>
                    <a:bodyPr wrap="square"/>
                    <a:lstStyle/>
                    <a:p>
                      <a:r>
                        <a:rPr sz="1000" b="0">
                          <a:solidFill>
                            <a:srgbClr val="2E2A36"/>
                          </a:solidFill>
                          <a:latin typeface="Montserrat"/>
                        </a:rPr>
                        <a:t>Hasta 4 espacios, sin plazo</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Ecológico</a:t>
                      </a:r>
                    </a:p>
                  </a:txBody>
                  <a:tcPr marL="73152" marR="73152" marT="36576" marB="36576" anchor="ctr">
                    <a:solidFill>
                      <a:srgbClr val="F5F2F8"/>
                    </a:solidFill>
                  </a:tcPr>
                </a:tc>
                <a:tc>
                  <a:txBody>
                    <a:bodyPr wrap="square"/>
                    <a:lstStyle/>
                    <a:p>
                      <a:r>
                        <a:rPr sz="1000" b="0">
                          <a:solidFill>
                            <a:srgbClr val="2E2A36"/>
                          </a:solidFill>
                          <a:latin typeface="Montserrat"/>
                        </a:rPr>
                        <a:t>US$ 750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a:t>
                      </a:r>
                    </a:p>
                  </a:txBody>
                  <a:tcPr marL="73152" marR="73152" marT="36576" marB="36576" anchor="ctr">
                    <a:solidFill>
                      <a:srgbClr val="F5F2F8"/>
                    </a:solidFill>
                  </a:tcPr>
                </a:tc>
                <a:tc>
                  <a:txBody>
                    <a:bodyPr wrap="square"/>
                    <a:lstStyle/>
                    <a:p>
                      <a:r>
                        <a:rPr sz="1000" b="0">
                          <a:solidFill>
                            <a:srgbClr val="2E2A36"/>
                          </a:solidFill>
                          <a:latin typeface="Montserrat"/>
                        </a:rPr>
                        <a:t>3 años · placa memorial incluida</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de Mascotas</a:t>
                      </a:r>
                    </a:p>
                  </a:txBody>
                  <a:tcPr marL="73152" marR="73152" marT="36576" marB="36576" anchor="ctr">
                    <a:solidFill>
                      <a:srgbClr val="FFFFFF"/>
                    </a:solidFill>
                  </a:tcPr>
                </a:tc>
                <a:tc>
                  <a:txBody>
                    <a:bodyPr wrap="square"/>
                    <a:lstStyle/>
                    <a:p>
                      <a:r>
                        <a:rPr sz="1000" b="0">
                          <a:solidFill>
                            <a:srgbClr val="2E2A36"/>
                          </a:solidFill>
                          <a:latin typeface="Montserrat"/>
                        </a:rPr>
                        <a:t>US$ 400 / 550</a:t>
                      </a:r>
                    </a:p>
                  </a:txBody>
                  <a:tcPr marL="73152" marR="73152" marT="36576" marB="36576" anchor="ctr">
                    <a:solidFill>
                      <a:srgbClr val="FFFFFF"/>
                    </a:solidFill>
                  </a:tcPr>
                </a:tc>
                <a:tc>
                  <a:txBody>
                    <a:bodyPr wrap="square"/>
                    <a:lstStyle/>
                    <a:p>
                      <a:r>
                        <a:rPr sz="1000" b="0">
                          <a:solidFill>
                            <a:srgbClr val="2E2A36"/>
                          </a:solidFill>
                          <a:latin typeface="Montserrat"/>
                        </a:rPr>
                        <a:t>Pago único</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3 años · placa incluida en la opción de US$ 550</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Ceremonial</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02920" y="626364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73152" cy="1188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26364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1" name="TextBox 1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2" name="TextBox 1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645920"/>
          <a:ext cx="6556248" cy="6949440"/>
        </p:xfrm>
        <a:graphic>
          <a:graphicData uri="http://schemas.openxmlformats.org/drawingml/2006/table">
            <a:tbl>
              <a:tblPr firstRow="1" bandRow="1">
                <a:tableStyleId>{5C22544A-7EE6-4342-B048-85BDC9FD1C3A}</a:tableStyleId>
              </a:tblPr>
              <a:tblGrid>
                <a:gridCol w="1821180"/>
                <a:gridCol w="4735068"/>
              </a:tblGrid>
              <a:tr h="868680">
                <a:tc>
                  <a:txBody>
                    <a:bodyPr wrap="square"/>
                    <a:lstStyle/>
                    <a:p>
                      <a:r>
                        <a:rPr sz="1100" b="1">
                          <a:solidFill>
                            <a:srgbClr val="FFFFFF"/>
                          </a:solidFill>
                          <a:latin typeface="Montserrat"/>
                        </a:rPr>
                        <a:t>Tema</a:t>
                      </a:r>
                    </a:p>
                  </a:txBody>
                  <a:tcPr marL="73152" marR="73152" marT="36576" marB="36576" anchor="ctr">
                    <a:solidFill>
                      <a:srgbClr val="5B3F80"/>
                    </a:solidFill>
                  </a:tcPr>
                </a:tc>
                <a:tc>
                  <a:txBody>
                    <a:bodyPr wrap="square"/>
                    <a:lstStyle/>
                    <a:p>
                      <a:r>
                        <a:rPr sz="1100" b="1">
                          <a:solidFill>
                            <a:srgbClr val="FFFFFF"/>
                          </a:solidFill>
                          <a:latin typeface="Montserrat"/>
                        </a:rPr>
                        <a:t>Regla</a:t>
                      </a:r>
                    </a:p>
                  </a:txBody>
                  <a:tcPr marL="73152" marR="73152" marT="36576" marB="36576" anchor="ctr">
                    <a:solidFill>
                      <a:srgbClr val="5B3F80"/>
                    </a:solidFill>
                  </a:tcPr>
                </a:tc>
              </a:tr>
              <a:tr h="868680">
                <a:tc>
                  <a:txBody>
                    <a:bodyPr wrap="square"/>
                    <a:lstStyle/>
                    <a:p>
                      <a:r>
                        <a:rPr sz="1100" b="1">
                          <a:solidFill>
                            <a:srgbClr val="5B3F80"/>
                          </a:solidFill>
                          <a:latin typeface="Montserrat"/>
                        </a:rPr>
                        <a:t>Precios</a:t>
                      </a:r>
                    </a:p>
                  </a:txBody>
                  <a:tcPr marL="73152" marR="73152" marT="36576" marB="36576" anchor="ctr">
                    <a:solidFill>
                      <a:srgbClr val="FFFFFF"/>
                    </a:solidFill>
                  </a:tcPr>
                </a:tc>
                <a:tc>
                  <a:txBody>
                    <a:bodyPr wrap="square"/>
                    <a:lstStyle/>
                    <a:p>
                      <a:r>
                        <a:rPr sz="11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868680">
                <a:tc>
                  <a:txBody>
                    <a:bodyPr wrap="square"/>
                    <a:lstStyle/>
                    <a:p>
                      <a:r>
                        <a:rPr sz="1100" b="1">
                          <a:solidFill>
                            <a:srgbClr val="5B3F80"/>
                          </a:solidFill>
                          <a:latin typeface="Montserrat"/>
                        </a:rPr>
                        <a:t>Descuentos</a:t>
                      </a:r>
                    </a:p>
                  </a:txBody>
                  <a:tcPr marL="73152" marR="73152" marT="36576" marB="36576" anchor="ctr">
                    <a:solidFill>
                      <a:srgbClr val="F5F2F8"/>
                    </a:solidFill>
                  </a:tcPr>
                </a:tc>
                <a:tc>
                  <a:txBody>
                    <a:bodyPr wrap="square"/>
                    <a:lstStyle/>
                    <a:p>
                      <a:r>
                        <a:rPr sz="1100" b="0">
                          <a:solidFill>
                            <a:srgbClr val="2E2A36"/>
                          </a:solidFill>
                          <a:latin typeface="Montserrat"/>
                        </a:rPr>
                        <a:t>Prenecesidad: hasta 20% según la campaña del mes. Emergencia: máximo 5%. Siempre con autorización del supervisor.</a:t>
                      </a:r>
                    </a:p>
                  </a:txBody>
                  <a:tcPr marL="73152" marR="73152" marT="36576" marB="36576" anchor="ctr">
                    <a:solidFill>
                      <a:srgbClr val="F5F2F8"/>
                    </a:solidFill>
                  </a:tcPr>
                </a:tc>
              </a:tr>
              <a:tr h="868680">
                <a:tc>
                  <a:txBody>
                    <a:bodyPr wrap="square"/>
                    <a:lstStyle/>
                    <a:p>
                      <a:r>
                        <a:rPr sz="1100" b="1">
                          <a:solidFill>
                            <a:srgbClr val="5B3F80"/>
                          </a:solidFill>
                          <a:latin typeface="Montserrat"/>
                        </a:rPr>
                        <a:t>Mantenimiento</a:t>
                      </a:r>
                    </a:p>
                  </a:txBody>
                  <a:tcPr marL="73152" marR="73152" marT="36576" marB="36576" anchor="ctr">
                    <a:solidFill>
                      <a:srgbClr val="FFFFFF"/>
                    </a:solidFill>
                  </a:tcPr>
                </a:tc>
                <a:tc>
                  <a:txBody>
                    <a:bodyPr wrap="square"/>
                    <a:lstStyle/>
                    <a:p>
                      <a:r>
                        <a:rPr sz="1100" b="0">
                          <a:solidFill>
                            <a:srgbClr val="2E2A36"/>
                          </a:solidFill>
                          <a:latin typeface="Montserrat"/>
                        </a:rPr>
                        <a:t>Individual US$ 15/año y Familiar US$ 25/año. No es opcional: se explica antes de firmar.</a:t>
                      </a:r>
                    </a:p>
                  </a:txBody>
                  <a:tcPr marL="73152" marR="73152" marT="36576" marB="36576" anchor="ctr">
                    <a:solidFill>
                      <a:srgbClr val="FFFFFF"/>
                    </a:solidFill>
                  </a:tcPr>
                </a:tc>
              </a:tr>
              <a:tr h="868680">
                <a:tc>
                  <a:txBody>
                    <a:bodyPr wrap="square"/>
                    <a:lstStyle/>
                    <a:p>
                      <a:r>
                        <a:rPr sz="1100" b="1">
                          <a:solidFill>
                            <a:srgbClr val="5B3F80"/>
                          </a:solidFill>
                          <a:latin typeface="Montserrat"/>
                        </a:rPr>
                        <a:t>Plazo de 3 años</a:t>
                      </a:r>
                    </a:p>
                  </a:txBody>
                  <a:tcPr marL="73152" marR="73152" marT="36576" marB="36576" anchor="ctr">
                    <a:solidFill>
                      <a:srgbClr val="F5F2F8"/>
                    </a:solidFill>
                  </a:tcPr>
                </a:tc>
                <a:tc>
                  <a:txBody>
                    <a:bodyPr wrap="square"/>
                    <a:lstStyle/>
                    <a:p>
                      <a:r>
                        <a:rPr sz="1100" b="0">
                          <a:solidFill>
                            <a:srgbClr val="2E2A36"/>
                          </a:solidFill>
                          <a:latin typeface="Montserrat"/>
                        </a:rPr>
                        <a:t>Ecológico y Mascotas: se explica con total transparencia en la primera conversación.</a:t>
                      </a:r>
                    </a:p>
                  </a:txBody>
                  <a:tcPr marL="73152" marR="73152" marT="36576" marB="36576" anchor="ctr">
                    <a:solidFill>
                      <a:srgbClr val="F5F2F8"/>
                    </a:solidFill>
                  </a:tcPr>
                </a:tc>
              </a:tr>
              <a:tr h="868680">
                <a:tc>
                  <a:txBody>
                    <a:bodyPr wrap="square"/>
                    <a:lstStyle/>
                    <a:p>
                      <a:r>
                        <a:rPr sz="1100" b="1">
                          <a:solidFill>
                            <a:srgbClr val="5B3F80"/>
                          </a:solidFill>
                          <a:latin typeface="Montserrat"/>
                        </a:rPr>
                        <a:t>Placas memoriales</a:t>
                      </a:r>
                    </a:p>
                  </a:txBody>
                  <a:tcPr marL="73152" marR="73152" marT="36576" marB="36576" anchor="ctr">
                    <a:solidFill>
                      <a:srgbClr val="FFFFFF"/>
                    </a:solidFill>
                  </a:tcPr>
                </a:tc>
                <a:tc>
                  <a:txBody>
                    <a:bodyPr wrap="square"/>
                    <a:lstStyle/>
                    <a:p>
                      <a:r>
                        <a:rPr sz="1100" b="0">
                          <a:solidFill>
                            <a:srgbClr val="2E2A36"/>
                          </a:solidFill>
                          <a:latin typeface="Montserrat"/>
                        </a:rPr>
                        <a:t>Incluida en el Jardín Ecológico (US$ 750) y en la opción de Mascotas de US$ 550.</a:t>
                      </a:r>
                    </a:p>
                  </a:txBody>
                  <a:tcPr marL="73152" marR="73152" marT="36576" marB="36576" anchor="ctr">
                    <a:solidFill>
                      <a:srgbClr val="FFFFFF"/>
                    </a:solidFill>
                  </a:tcPr>
                </a:tc>
              </a:tr>
              <a:tr h="868680">
                <a:tc>
                  <a:txBody>
                    <a:bodyPr wrap="square"/>
                    <a:lstStyle/>
                    <a:p>
                      <a:r>
                        <a:rPr sz="1100" b="1">
                          <a:solidFill>
                            <a:srgbClr val="5B3F80"/>
                          </a:solidFill>
                          <a:latin typeface="Montserrat"/>
                        </a:rPr>
                        <a:t>Dueño del contacto</a:t>
                      </a:r>
                    </a:p>
                  </a:txBody>
                  <a:tcPr marL="73152" marR="73152" marT="36576" marB="36576" anchor="ctr">
                    <a:solidFill>
                      <a:srgbClr val="F5F2F8"/>
                    </a:solidFill>
                  </a:tcPr>
                </a:tc>
                <a:tc>
                  <a:txBody>
                    <a:bodyPr wrap="square"/>
                    <a:lstStyle/>
                    <a:p>
                      <a:r>
                        <a:rPr sz="11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868680">
                <a:tc>
                  <a:txBody>
                    <a:bodyPr wrap="square"/>
                    <a:lstStyle/>
                    <a:p>
                      <a:r>
                        <a:rPr sz="1100" b="1">
                          <a:solidFill>
                            <a:srgbClr val="5B3F80"/>
                          </a:solidFill>
                          <a:latin typeface="Montserrat"/>
                        </a:rPr>
                        <a:t>Lo que NO se promete</a:t>
                      </a:r>
                    </a:p>
                  </a:txBody>
                  <a:tcPr marL="73152" marR="73152" marT="36576" marB="36576" anchor="ctr">
                    <a:solidFill>
                      <a:srgbClr val="FFFFFF"/>
                    </a:solidFill>
                  </a:tcPr>
                </a:tc>
                <a:tc>
                  <a:txBody>
                    <a:bodyPr wrap="square"/>
                    <a:lstStyle/>
                    <a:p>
                      <a:r>
                        <a:rPr sz="11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Validar con la Gerencia Comercial.</a:t>
            </a:r>
          </a:p>
        </p:txBody>
      </p:sp>
      <p:pic>
        <p:nvPicPr>
          <p:cNvPr id="7" name="Picture 6" descr="05_comisiones.png"/>
          <p:cNvPicPr>
            <a:picLocks noChangeAspect="1"/>
          </p:cNvPicPr>
          <p:nvPr/>
        </p:nvPicPr>
        <p:blipFill>
          <a:blip r:embed="rId2"/>
          <a:stretch>
            <a:fillRect/>
          </a:stretch>
        </p:blipFill>
        <p:spPr>
          <a:xfrm>
            <a:off x="502920" y="2157870"/>
            <a:ext cx="6556248" cy="2130780"/>
          </a:xfrm>
          <a:prstGeom prst="rect">
            <a:avLst/>
          </a:prstGeom>
        </p:spPr>
      </p:pic>
      <p:graphicFrame>
        <p:nvGraphicFramePr>
          <p:cNvPr id="8" name="Table 7"/>
          <p:cNvGraphicFramePr>
            <a:graphicFrameLocks noGrp="1"/>
          </p:cNvGraphicFramePr>
          <p:nvPr/>
        </p:nvGraphicFramePr>
        <p:xfrm>
          <a:off x="502920" y="4663440"/>
          <a:ext cx="6556246" cy="5266944"/>
        </p:xfrm>
        <a:graphic>
          <a:graphicData uri="http://schemas.openxmlformats.org/drawingml/2006/table">
            <a:tbl>
              <a:tblPr firstRow="1" bandRow="1">
                <a:tableStyleId>{5C22544A-7EE6-4342-B048-85BDC9FD1C3A}</a:tableStyleId>
              </a:tblPr>
              <a:tblGrid>
                <a:gridCol w="1681089"/>
                <a:gridCol w="504326"/>
                <a:gridCol w="1008653"/>
                <a:gridCol w="2017307"/>
                <a:gridCol w="1344871"/>
              </a:tblGrid>
              <a:tr h="658368">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a:t>
                      </a:r>
                    </a:p>
                  </a:txBody>
                  <a:tcPr marL="73152" marR="73152" marT="36576" marB="36576" anchor="ctr">
                    <a:solidFill>
                      <a:srgbClr val="5B3F80"/>
                    </a:solidFill>
                  </a:tcPr>
                </a:tc>
                <a:tc>
                  <a:txBody>
                    <a:bodyPr wrap="square"/>
                    <a:lstStyle/>
                    <a:p>
                      <a:r>
                        <a:rPr sz="950" b="1">
                          <a:solidFill>
                            <a:srgbClr val="FFFFFF"/>
                          </a:solidFill>
                          <a:latin typeface="Montserrat"/>
                        </a:rPr>
                        <a:t>Comisión</a:t>
                      </a:r>
                    </a:p>
                  </a:txBody>
                  <a:tcPr marL="73152" marR="73152" marT="36576" marB="36576" anchor="ctr">
                    <a:solidFill>
                      <a:srgbClr val="5B3F80"/>
                    </a:solidFill>
                  </a:tcPr>
                </a:tc>
                <a:tc>
                  <a:txBody>
                    <a:bodyPr wrap="square"/>
                    <a:lstStyle/>
                    <a:p>
                      <a:r>
                        <a:rPr sz="950" b="1">
                          <a:solidFill>
                            <a:srgbClr val="FFFFFF"/>
                          </a:solidFill>
                          <a:latin typeface="Montserrat"/>
                        </a:rPr>
                        <a:t>Cuándo se paga</a:t>
                      </a:r>
                    </a:p>
                  </a:txBody>
                  <a:tcPr marL="73152" marR="73152" marT="36576" marB="36576" anchor="ctr">
                    <a:solidFill>
                      <a:srgbClr val="5B3F80"/>
                    </a:solidFill>
                  </a:tcPr>
                </a:tc>
                <a:tc>
                  <a:txBody>
                    <a:bodyPr wrap="square"/>
                    <a:lstStyle/>
                    <a:p>
                      <a:r>
                        <a:rPr sz="950" b="1">
                          <a:solidFill>
                            <a:srgbClr val="FFFFFF"/>
                          </a:solidFill>
                          <a:latin typeface="Montserrat"/>
                        </a:rPr>
                        <a:t>Estorno</a:t>
                      </a:r>
                    </a:p>
                  </a:txBody>
                  <a:tcPr marL="73152" marR="73152" marT="36576" marB="36576" anchor="ctr">
                    <a:solidFill>
                      <a:srgbClr val="5B3F80"/>
                    </a:solidFill>
                  </a:tcPr>
                </a:tc>
              </a:tr>
              <a:tr h="658368">
                <a:tc>
                  <a:txBody>
                    <a:bodyPr wrap="square"/>
                    <a:lstStyle/>
                    <a:p>
                      <a:r>
                        <a:rPr sz="950" b="1">
                          <a:solidFill>
                            <a:srgbClr val="5B3F80"/>
                          </a:solidFill>
                          <a:latin typeface="Montserrat"/>
                        </a:rPr>
                        <a:t>Solución Modular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US$ 70,80</a:t>
                      </a:r>
                    </a:p>
                  </a:txBody>
                  <a:tcPr marL="73152" marR="73152" marT="36576" marB="36576" anchor="ctr">
                    <a:solidFill>
                      <a:srgbClr val="FFFFFF"/>
                    </a:solidFill>
                  </a:tcPr>
                </a:tc>
                <a:tc>
                  <a:txBody>
                    <a:bodyPr wrap="square"/>
                    <a:lstStyle/>
                    <a:p>
                      <a:r>
                        <a:rPr sz="95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950" b="0">
                          <a:solidFill>
                            <a:srgbClr val="2E2A36"/>
                          </a:solidFill>
                          <a:latin typeface="Montserrat"/>
                        </a:rPr>
                        <a:t>Si cancela antes de la 12ª cuota</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Individual</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US$ 42,48</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Familiar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US$ 141,59</a:t>
                      </a:r>
                    </a:p>
                  </a:txBody>
                  <a:tcPr marL="73152" marR="73152" marT="36576" marB="36576" anchor="ctr">
                    <a:solidFill>
                      <a:srgbClr val="FFFFFF"/>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Ecológico</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US$ 53,10</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Mascotas · solo espacio</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US$ 28,32</a:t>
                      </a:r>
                    </a:p>
                  </a:txBody>
                  <a:tcPr marL="73152" marR="73152" marT="36576" marB="36576" anchor="ctr">
                    <a:solidFill>
                      <a:srgbClr val="FFFFFF"/>
                    </a:solidFill>
                  </a:tcPr>
                </a:tc>
                <a:tc>
                  <a:txBody>
                    <a:bodyPr wrap="square"/>
                    <a:lstStyle/>
                    <a:p>
                      <a:r>
                        <a:rPr sz="950" b="0">
                          <a:solidFill>
                            <a:srgbClr val="2E2A36"/>
                          </a:solidFill>
                          <a:latin typeface="Montserrat"/>
                        </a:rPr>
                        <a:t>Mes siguiente al pago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Mascotas · con placa</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US$ 38,94</a:t>
                      </a:r>
                    </a:p>
                  </a:txBody>
                  <a:tcPr marL="73152" marR="73152" marT="36576" marB="36576" anchor="ctr">
                    <a:solidFill>
                      <a:srgbClr val="F5F2F8"/>
                    </a:solidFill>
                  </a:tcPr>
                </a:tc>
                <a:tc>
                  <a:txBody>
                    <a:bodyPr wrap="square"/>
                    <a:lstStyle/>
                    <a:p>
                      <a:r>
                        <a:rPr sz="950" b="0">
                          <a:solidFill>
                            <a:srgbClr val="2E2A36"/>
                          </a:solidFill>
                          <a:latin typeface="Montserrat"/>
                        </a:rPr>
                        <a:t>Mes siguiente al pago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Ceremonial</a:t>
                      </a:r>
                    </a:p>
                  </a:txBody>
                  <a:tcPr marL="73152" marR="73152" marT="36576" marB="36576" anchor="ctr">
                    <a:solidFill>
                      <a:srgbClr val="FBF6EC"/>
                    </a:solidFill>
                  </a:tcPr>
                </a:tc>
                <a:tc>
                  <a:txBody>
                    <a:bodyPr wrap="square"/>
                    <a:lstStyle/>
                    <a:p>
                      <a:r>
                        <a:rPr sz="950" b="0">
                          <a:solidFill>
                            <a:srgbClr val="2E2A36"/>
                          </a:solidFill>
                          <a:latin typeface="Montserrat"/>
                        </a:rPr>
                        <a:t>A definir</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r>
            </a:tbl>
          </a:graphicData>
        </a:graphic>
      </p:graphicFrame>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de comisión</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6556248" cy="4206240"/>
          </a:xfrm>
          <a:prstGeom prst="rect">
            <a:avLst/>
          </a:prstGeom>
          <a:noFill/>
        </p:spPr>
        <p:txBody>
          <a:bodyPr wrap="square" anchor="t" lIns="45720" rIns="45720" tIns="27432" bIns="27432">
            <a:spAutoFit/>
          </a:bodyPr>
          <a:lstStyle/>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Base de cálculo: valor efectivamente cobrado al cliente, sin IVA (13%).</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Comisión única de 8% para todos los productos.</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No generan comisión: cuotas de mantenimiento anual (US$ 15 / US$ 25).</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Bono de venta combinada: US$ 15 al vender la Solución Modular junto con cualquier jardín.</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Acelerador Día de los Muertos (opcional): +2 pp en Individual y Ecológico hasta el 30/11/2026.</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Estorno: la comisión se descuenta de los pagos siguientes al asesor.</a:t>
            </a:r>
          </a:p>
        </p:txBody>
      </p:sp>
      <p:sp>
        <p:nvSpPr>
          <p:cNvPr id="7" name="Rectangle 6"/>
          <p:cNvSpPr/>
          <p:nvPr/>
        </p:nvSpPr>
        <p:spPr>
          <a:xfrm>
            <a:off x="502920" y="6035040"/>
            <a:ext cx="6556248"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035040"/>
            <a:ext cx="6007608" cy="1371600"/>
          </a:xfrm>
          <a:prstGeom prst="rect">
            <a:avLst/>
          </a:prstGeom>
          <a:noFill/>
        </p:spPr>
        <p:txBody>
          <a:bodyPr wrap="square" anchor="ctr" lIns="45720" rIns="45720" tIns="27432" bIns="27432">
            <a:spAutoFit/>
          </a:bodyPr>
          <a:lstStyle/>
          <a:p>
            <a:pPr algn="l">
              <a:lnSpc>
                <a:spcPct val="115000"/>
              </a:lnSpc>
              <a:spcAft>
                <a:spcPts val="400"/>
              </a:spcAft>
            </a:pPr>
            <a:r>
              <a:rPr sz="1300" b="0" i="1">
                <a:solidFill>
                  <a:srgbClr val="FFFFFF"/>
                </a:solidFill>
                <a:latin typeface="Playfair Display"/>
              </a:rPr>
              <a:t>La comisión premia la venta buena, no solo la venta: una familia que paga a tiempo vale más que un contrato que se cancela. Por eso el pago está ligado al cobro.</a:t>
            </a:r>
          </a:p>
        </p:txBody>
      </p:sp>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82496"/>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Ficha Técnica de Cremación</a:t>
            </a:r>
          </a:p>
          <a:p>
            <a:pPr algn="l">
              <a:lnSpc>
                <a:spcPct val="115000"/>
              </a:lnSpc>
              <a:spcAft>
                <a:spcPts val="100"/>
              </a:spcAft>
            </a:pPr>
            <a:r>
              <a:rPr sz="1050" b="0" i="0">
                <a:solidFill>
                  <a:srgbClr val="2E2A36"/>
                </a:solidFill>
                <a:latin typeface="Montserrat"/>
              </a:rPr>
              <a:t>Precios, especificaciones y condiciones vigentes de cada producto.</a:t>
            </a:r>
          </a:p>
        </p:txBody>
      </p:sp>
      <p:sp>
        <p:nvSpPr>
          <p:cNvPr id="9" name="Rectangle 8"/>
          <p:cNvSpPr/>
          <p:nvPr/>
        </p:nvSpPr>
        <p:spPr>
          <a:xfrm>
            <a:off x="502920" y="2450592"/>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450592"/>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87168"/>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Visita al jardín</a:t>
            </a:r>
          </a:p>
          <a:p>
            <a:pPr algn="l">
              <a:lnSpc>
                <a:spcPct val="115000"/>
              </a:lnSpc>
              <a:spcAft>
                <a:spcPts val="100"/>
              </a:spcAft>
            </a:pPr>
            <a:r>
              <a:rPr sz="1050" b="0" i="0">
                <a:solidFill>
                  <a:srgbClr val="2E2A36"/>
                </a:solidFill>
                <a:latin typeface="Montserrat"/>
              </a:rPr>
              <a:t>La herramienta de venta más poderosa. Agende siempre que sea posible.</a:t>
            </a:r>
          </a:p>
        </p:txBody>
      </p:sp>
      <p:sp>
        <p:nvSpPr>
          <p:cNvPr id="12" name="Rectangle 11"/>
          <p:cNvSpPr/>
          <p:nvPr/>
        </p:nvSpPr>
        <p:spPr>
          <a:xfrm>
            <a:off x="502920" y="3255264"/>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255264"/>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1840"/>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Presentación «Jardines de Cenizas»</a:t>
            </a:r>
          </a:p>
          <a:p>
            <a:pPr algn="l">
              <a:lnSpc>
                <a:spcPct val="115000"/>
              </a:lnSpc>
              <a:spcAft>
                <a:spcPts val="100"/>
              </a:spcAft>
            </a:pPr>
            <a:r>
              <a:rPr sz="1050" b="0" i="0">
                <a:solidFill>
                  <a:srgbClr val="2E2A36"/>
                </a:solidFill>
                <a:latin typeface="Montserrat"/>
              </a:rPr>
              <a:t>Fotos y medidas de cada jardín para mostrar en la visita o en la casa.</a:t>
            </a:r>
          </a:p>
        </p:txBody>
      </p:sp>
      <p:sp>
        <p:nvSpPr>
          <p:cNvPr id="15" name="Rectangle 14"/>
          <p:cNvSpPr/>
          <p:nvPr/>
        </p:nvSpPr>
        <p:spPr>
          <a:xfrm>
            <a:off x="502920" y="4059936"/>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59936"/>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96512"/>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Simulación de cuotas</a:t>
            </a:r>
          </a:p>
          <a:p>
            <a:pPr algn="l">
              <a:lnSpc>
                <a:spcPct val="115000"/>
              </a:lnSpc>
              <a:spcAft>
                <a:spcPts val="100"/>
              </a:spcAft>
            </a:pPr>
            <a:r>
              <a:rPr sz="1050" b="0" i="0">
                <a:solidFill>
                  <a:srgbClr val="2E2A36"/>
                </a:solidFill>
                <a:latin typeface="Montserrat"/>
              </a:rPr>
              <a:t>Calcule la cuota con el cliente: transparencia genera confianza.</a:t>
            </a:r>
          </a:p>
        </p:txBody>
      </p:sp>
      <p:sp>
        <p:nvSpPr>
          <p:cNvPr id="18" name="Rectangle 17"/>
          <p:cNvSpPr/>
          <p:nvPr/>
        </p:nvSpPr>
        <p:spPr>
          <a:xfrm>
            <a:off x="502920" y="4864608"/>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64608"/>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01184"/>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Registro de contactos</a:t>
            </a:r>
          </a:p>
          <a:p>
            <a:pPr algn="l">
              <a:lnSpc>
                <a:spcPct val="115000"/>
              </a:lnSpc>
              <a:spcAft>
                <a:spcPts val="100"/>
              </a:spcAft>
            </a:pPr>
            <a:r>
              <a:rPr sz="1050" b="0" i="0">
                <a:solidFill>
                  <a:srgbClr val="2E2A36"/>
                </a:solidFill>
                <a:latin typeface="Montserrat"/>
              </a:rPr>
              <a:t>Un contacto no registrado no existe: sin datos no hay gestión ni comisión.</a:t>
            </a:r>
          </a:p>
        </p:txBody>
      </p:sp>
      <p:sp>
        <p:nvSpPr>
          <p:cNvPr id="21" name="Rectangle 20"/>
          <p:cNvSpPr/>
          <p:nvPr/>
        </p:nvSpPr>
        <p:spPr>
          <a:xfrm>
            <a:off x="502920" y="5806440"/>
            <a:ext cx="6556248" cy="42519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43600"/>
            <a:ext cx="5916168"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C9A86A"/>
                </a:solidFill>
                <a:latin typeface="Playfair Display"/>
              </a:rPr>
              <a:t>Checklist antes de cerrar</a:t>
            </a:r>
          </a:p>
        </p:txBody>
      </p:sp>
      <p:sp>
        <p:nvSpPr>
          <p:cNvPr id="23" name="TextBox 22"/>
          <p:cNvSpPr txBox="1"/>
          <p:nvPr/>
        </p:nvSpPr>
        <p:spPr>
          <a:xfrm>
            <a:off x="822960" y="6537960"/>
            <a:ext cx="5916168" cy="347472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la cuota de mantenimiento o el plazo de 3 años, según el caso.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Registré la venta completa el mismo día.</a:t>
            </a:r>
          </a:p>
        </p:txBody>
      </p:sp>
      <p:sp>
        <p:nvSpPr>
          <p:cNvPr id="24" name="TextBox 23"/>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731520" y="2194560"/>
            <a:ext cx="6099048" cy="3291840"/>
          </a:xfrm>
          <a:prstGeom prst="rect">
            <a:avLst/>
          </a:prstGeom>
          <a:noFill/>
        </p:spPr>
        <p:txBody>
          <a:bodyPr wrap="square" anchor="ctr" lIns="45720" rIns="45720" tIns="27432" bIns="27432">
            <a:spAutoFit/>
          </a:bodyPr>
          <a:lstStyle/>
          <a:p>
            <a:pPr algn="ctr">
              <a:lnSpc>
                <a:spcPct val="115000"/>
              </a:lnSpc>
              <a:spcAft>
                <a:spcPts val="400"/>
              </a:spcAft>
            </a:pPr>
            <a:r>
              <a:rPr sz="2600" b="0" i="1">
                <a:solidFill>
                  <a:srgbClr val="FFFFFF"/>
                </a:solidFill>
                <a:latin typeface="Playfair Display"/>
              </a:rPr>
              <a:t>«Cada familia que atendemos recordará cómo la tratamos en uno de los momentos más sensibles de su vida. Ese es nuestro verdadero producto.»</a:t>
            </a:r>
          </a:p>
        </p:txBody>
      </p:sp>
      <p:sp>
        <p:nvSpPr>
          <p:cNvPr id="3" name="Rectangle 2"/>
          <p:cNvSpPr/>
          <p:nvPr/>
        </p:nvSpPr>
        <p:spPr>
          <a:xfrm>
            <a:off x="3140964" y="576072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035040"/>
            <a:ext cx="6556248" cy="457200"/>
          </a:xfrm>
          <a:prstGeom prst="rect">
            <a:avLst/>
          </a:prstGeom>
          <a:noFill/>
        </p:spPr>
        <p:txBody>
          <a:bodyPr wrap="square" anchor="t" lIns="45720" rIns="45720" tIns="27432" bIns="27432">
            <a:spAutoFit/>
          </a:bodyPr>
          <a:lstStyle/>
          <a:p>
            <a:pPr algn="ctr">
              <a:lnSpc>
                <a:spcPct val="115000"/>
              </a:lnSpc>
              <a:spcAft>
                <a:spcPts val="400"/>
              </a:spcAft>
            </a:pPr>
            <a:r>
              <a:rPr sz="1300" b="1" i="0">
                <a:solidFill>
                  <a:srgbClr val="C9A86A"/>
                </a:solidFill>
                <a:latin typeface="Montserrat"/>
              </a:rPr>
              <a:t>La Auxiliadora · Hogar de las Memorias · Las Colinas · Vangrupo</a:t>
            </a:r>
          </a:p>
        </p:txBody>
      </p:sp>
      <p:sp>
        <p:nvSpPr>
          <p:cNvPr id="5" name="Rounded Rectangle 4"/>
          <p:cNvSpPr/>
          <p:nvPr/>
        </p:nvSpPr>
        <p:spPr>
          <a:xfrm>
            <a:off x="502920" y="841248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_auxiliadora.png"/>
          <p:cNvPicPr>
            <a:picLocks noChangeAspect="1"/>
          </p:cNvPicPr>
          <p:nvPr/>
        </p:nvPicPr>
        <p:blipFill>
          <a:blip r:embed="rId2"/>
          <a:stretch>
            <a:fillRect/>
          </a:stretch>
        </p:blipFill>
        <p:spPr>
          <a:xfrm>
            <a:off x="640080" y="8753565"/>
            <a:ext cx="1467612" cy="460830"/>
          </a:xfrm>
          <a:prstGeom prst="rect">
            <a:avLst/>
          </a:prstGeom>
        </p:spPr>
      </p:pic>
      <p:pic>
        <p:nvPicPr>
          <p:cNvPr id="7" name="Picture 6" descr="hogar_de_las_memorias.png"/>
          <p:cNvPicPr>
            <a:picLocks noChangeAspect="1"/>
          </p:cNvPicPr>
          <p:nvPr/>
        </p:nvPicPr>
        <p:blipFill>
          <a:blip r:embed="rId3"/>
          <a:stretch>
            <a:fillRect/>
          </a:stretch>
        </p:blipFill>
        <p:spPr>
          <a:xfrm>
            <a:off x="2244852" y="8690458"/>
            <a:ext cx="1467612" cy="587044"/>
          </a:xfrm>
          <a:prstGeom prst="rect">
            <a:avLst/>
          </a:prstGeom>
        </p:spPr>
      </p:pic>
      <p:pic>
        <p:nvPicPr>
          <p:cNvPr id="8" name="Picture 7" descr="las_colinas.png"/>
          <p:cNvPicPr>
            <a:picLocks noChangeAspect="1"/>
          </p:cNvPicPr>
          <p:nvPr/>
        </p:nvPicPr>
        <p:blipFill>
          <a:blip r:embed="rId4"/>
          <a:stretch>
            <a:fillRect/>
          </a:stretch>
        </p:blipFill>
        <p:spPr>
          <a:xfrm>
            <a:off x="3890223" y="8549640"/>
            <a:ext cx="1386413" cy="868680"/>
          </a:xfrm>
          <a:prstGeom prst="rect">
            <a:avLst/>
          </a:prstGeom>
        </p:spPr>
      </p:pic>
      <p:pic>
        <p:nvPicPr>
          <p:cNvPr id="9" name="Picture 8" descr="vangrupo.png"/>
          <p:cNvPicPr>
            <a:picLocks noChangeAspect="1"/>
          </p:cNvPicPr>
          <p:nvPr/>
        </p:nvPicPr>
        <p:blipFill>
          <a:blip r:embed="rId5"/>
          <a:stretch>
            <a:fillRect/>
          </a:stretch>
        </p:blipFill>
        <p:spPr>
          <a:xfrm>
            <a:off x="5454396" y="8795938"/>
            <a:ext cx="1467612" cy="376084"/>
          </a:xfrm>
          <a:prstGeom prst="rect">
            <a:avLst/>
          </a:prstGeom>
        </p:spPr>
      </p:pic>
      <p:sp>
        <p:nvSpPr>
          <p:cNvPr id="10" name="Rectangle 9"/>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