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7562088" cy="10689336"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Rounded Rectangle 1"/>
          <p:cNvSpPr/>
          <p:nvPr/>
        </p:nvSpPr>
        <p:spPr>
          <a:xfrm>
            <a:off x="502920" y="548640"/>
            <a:ext cx="6556248" cy="11430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a_auxiliadora.png"/>
          <p:cNvPicPr>
            <a:picLocks noChangeAspect="1"/>
          </p:cNvPicPr>
          <p:nvPr/>
        </p:nvPicPr>
        <p:blipFill>
          <a:blip r:embed="rId2"/>
          <a:stretch>
            <a:fillRect/>
          </a:stretch>
        </p:blipFill>
        <p:spPr>
          <a:xfrm>
            <a:off x="640080" y="889725"/>
            <a:ext cx="1467612" cy="460830"/>
          </a:xfrm>
          <a:prstGeom prst="rect">
            <a:avLst/>
          </a:prstGeom>
        </p:spPr>
      </p:pic>
      <p:pic>
        <p:nvPicPr>
          <p:cNvPr id="4" name="Picture 3" descr="hogar_de_las_memorias.png"/>
          <p:cNvPicPr>
            <a:picLocks noChangeAspect="1"/>
          </p:cNvPicPr>
          <p:nvPr/>
        </p:nvPicPr>
        <p:blipFill>
          <a:blip r:embed="rId3"/>
          <a:stretch>
            <a:fillRect/>
          </a:stretch>
        </p:blipFill>
        <p:spPr>
          <a:xfrm>
            <a:off x="2244852" y="826618"/>
            <a:ext cx="1467612" cy="587044"/>
          </a:xfrm>
          <a:prstGeom prst="rect">
            <a:avLst/>
          </a:prstGeom>
        </p:spPr>
      </p:pic>
      <p:pic>
        <p:nvPicPr>
          <p:cNvPr id="5" name="Picture 4" descr="las_colinas.png"/>
          <p:cNvPicPr>
            <a:picLocks noChangeAspect="1"/>
          </p:cNvPicPr>
          <p:nvPr/>
        </p:nvPicPr>
        <p:blipFill>
          <a:blip r:embed="rId4"/>
          <a:stretch>
            <a:fillRect/>
          </a:stretch>
        </p:blipFill>
        <p:spPr>
          <a:xfrm>
            <a:off x="3890223" y="685800"/>
            <a:ext cx="1386413" cy="868680"/>
          </a:xfrm>
          <a:prstGeom prst="rect">
            <a:avLst/>
          </a:prstGeom>
        </p:spPr>
      </p:pic>
      <p:pic>
        <p:nvPicPr>
          <p:cNvPr id="6" name="Picture 5" descr="vangrupo.png"/>
          <p:cNvPicPr>
            <a:picLocks noChangeAspect="1"/>
          </p:cNvPicPr>
          <p:nvPr/>
        </p:nvPicPr>
        <p:blipFill>
          <a:blip r:embed="rId5"/>
          <a:stretch>
            <a:fillRect/>
          </a:stretch>
        </p:blipFill>
        <p:spPr>
          <a:xfrm>
            <a:off x="5454396" y="932098"/>
            <a:ext cx="1467612" cy="376084"/>
          </a:xfrm>
          <a:prstGeom prst="rect">
            <a:avLst/>
          </a:prstGeom>
        </p:spPr>
      </p:pic>
      <p:sp>
        <p:nvSpPr>
          <p:cNvPr id="7" name="TextBox 6"/>
          <p:cNvSpPr txBox="1"/>
          <p:nvPr/>
        </p:nvSpPr>
        <p:spPr>
          <a:xfrm>
            <a:off x="594360" y="3017520"/>
            <a:ext cx="6556248" cy="365760"/>
          </a:xfrm>
          <a:prstGeom prst="rect">
            <a:avLst/>
          </a:prstGeom>
          <a:noFill/>
        </p:spPr>
        <p:txBody>
          <a:bodyPr wrap="square" anchor="t" lIns="45720" rIns="45720" tIns="27432" bIns="27432">
            <a:spAutoFit/>
          </a:bodyPr>
          <a:lstStyle/>
          <a:p>
            <a:pPr algn="l">
              <a:lnSpc>
                <a:spcPct val="115000"/>
              </a:lnSpc>
              <a:spcAft>
                <a:spcPts val="400"/>
              </a:spcAft>
            </a:pPr>
            <a:r>
              <a:rPr sz="1300" b="1" i="0">
                <a:solidFill>
                  <a:srgbClr val="C9A86A"/>
                </a:solidFill>
                <a:latin typeface="Montserrat"/>
              </a:rPr>
              <a:t>CAMPAÑA DÍA DE LOS MUERTOS 2026</a:t>
            </a:r>
          </a:p>
        </p:txBody>
      </p:sp>
      <p:sp>
        <p:nvSpPr>
          <p:cNvPr id="8" name="TextBox 7"/>
          <p:cNvSpPr txBox="1"/>
          <p:nvPr/>
        </p:nvSpPr>
        <p:spPr>
          <a:xfrm>
            <a:off x="594360" y="3474720"/>
            <a:ext cx="6556248" cy="2011680"/>
          </a:xfrm>
          <a:prstGeom prst="rect">
            <a:avLst/>
          </a:prstGeom>
          <a:noFill/>
        </p:spPr>
        <p:txBody>
          <a:bodyPr wrap="square" anchor="t" lIns="45720" rIns="45720" tIns="27432" bIns="27432">
            <a:spAutoFit/>
          </a:bodyPr>
          <a:lstStyle/>
          <a:p>
            <a:pPr algn="l">
              <a:lnSpc>
                <a:spcPct val="95000"/>
              </a:lnSpc>
              <a:spcAft>
                <a:spcPts val="0"/>
              </a:spcAft>
            </a:pPr>
            <a:r>
              <a:rPr sz="6000" b="1" i="0">
                <a:solidFill>
                  <a:srgbClr val="FFFFFF"/>
                </a:solidFill>
                <a:latin typeface="Playfair Display"/>
              </a:rPr>
              <a:t>Playbook</a:t>
            </a:r>
          </a:p>
          <a:p>
            <a:pPr algn="l">
              <a:lnSpc>
                <a:spcPct val="95000"/>
              </a:lnSpc>
              <a:spcAft>
                <a:spcPts val="0"/>
              </a:spcAft>
            </a:pPr>
            <a:r>
              <a:rPr sz="6000" b="1" i="0">
                <a:solidFill>
                  <a:srgbClr val="FFFFFF"/>
                </a:solidFill>
                <a:latin typeface="Playfair Display"/>
              </a:rPr>
              <a:t>Comercial</a:t>
            </a:r>
          </a:p>
        </p:txBody>
      </p:sp>
      <p:sp>
        <p:nvSpPr>
          <p:cNvPr id="9" name="TextBox 8"/>
          <p:cNvSpPr txBox="1"/>
          <p:nvPr/>
        </p:nvSpPr>
        <p:spPr>
          <a:xfrm>
            <a:off x="594360" y="5532120"/>
            <a:ext cx="6556248" cy="914400"/>
          </a:xfrm>
          <a:prstGeom prst="rect">
            <a:avLst/>
          </a:prstGeom>
          <a:noFill/>
        </p:spPr>
        <p:txBody>
          <a:bodyPr wrap="square" anchor="t" lIns="45720" rIns="45720" tIns="27432" bIns="27432">
            <a:spAutoFit/>
          </a:bodyPr>
          <a:lstStyle/>
          <a:p>
            <a:pPr algn="l">
              <a:lnSpc>
                <a:spcPct val="115000"/>
              </a:lnSpc>
              <a:spcAft>
                <a:spcPts val="400"/>
              </a:spcAft>
            </a:pPr>
            <a:r>
              <a:rPr sz="2200" b="0" i="0">
                <a:solidFill>
                  <a:srgbClr val="F1ECF7"/>
                </a:solidFill>
                <a:latin typeface="Playfair Display"/>
              </a:rPr>
              <a:t>Portafolio de Cremación y Jardines de Cenizas</a:t>
            </a:r>
          </a:p>
        </p:txBody>
      </p:sp>
      <p:sp>
        <p:nvSpPr>
          <p:cNvPr id="10" name="Rectangle 9"/>
          <p:cNvSpPr/>
          <p:nvPr/>
        </p:nvSpPr>
        <p:spPr>
          <a:xfrm>
            <a:off x="640080" y="662940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6858000"/>
            <a:ext cx="6556248" cy="82296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FFFFFF"/>
                </a:solidFill>
                <a:latin typeface="Playfair Display"/>
              </a:rPr>
              <a:t>"Acompañar, no vender: la familia primero, siempre."</a:t>
            </a:r>
          </a:p>
        </p:txBody>
      </p:sp>
      <p:sp>
        <p:nvSpPr>
          <p:cNvPr id="12" name="TextBox 11"/>
          <p:cNvSpPr txBox="1"/>
          <p:nvPr/>
        </p:nvSpPr>
        <p:spPr>
          <a:xfrm>
            <a:off x="594360" y="9052560"/>
            <a:ext cx="6556248" cy="365760"/>
          </a:xfrm>
          <a:prstGeom prst="rect">
            <a:avLst/>
          </a:prstGeom>
          <a:noFill/>
        </p:spPr>
        <p:txBody>
          <a:bodyPr wrap="square" anchor="t" lIns="45720" rIns="45720" tIns="27432" bIns="27432">
            <a:spAutoFit/>
          </a:bodyPr>
          <a:lstStyle/>
          <a:p>
            <a:pPr algn="l">
              <a:lnSpc>
                <a:spcPct val="115000"/>
              </a:lnSpc>
              <a:spcAft>
                <a:spcPts val="400"/>
              </a:spcAft>
            </a:pPr>
            <a:r>
              <a:rPr sz="1200" b="1" i="0">
                <a:solidFill>
                  <a:srgbClr val="C9A86A"/>
                </a:solidFill>
                <a:latin typeface="Montserrat"/>
              </a:rPr>
              <a:t>La Auxiliadora · Hogar de las Memorias · Las Colinas · Vangrupo</a:t>
            </a:r>
          </a:p>
        </p:txBody>
      </p:sp>
      <p:sp>
        <p:nvSpPr>
          <p:cNvPr id="13" name="TextBox 12"/>
          <p:cNvSpPr txBox="1"/>
          <p:nvPr/>
        </p:nvSpPr>
        <p:spPr>
          <a:xfrm>
            <a:off x="594360" y="9418320"/>
            <a:ext cx="6556248" cy="365760"/>
          </a:xfrm>
          <a:prstGeom prst="rect">
            <a:avLst/>
          </a:prstGeom>
          <a:noFill/>
        </p:spPr>
        <p:txBody>
          <a:bodyPr wrap="square" anchor="t" lIns="45720" rIns="45720" tIns="27432" bIns="27432">
            <a:spAutoFit/>
          </a:bodyPr>
          <a:lstStyle/>
          <a:p>
            <a:pPr algn="l">
              <a:lnSpc>
                <a:spcPct val="115000"/>
              </a:lnSpc>
              <a:spcAft>
                <a:spcPts val="400"/>
              </a:spcAft>
            </a:pPr>
            <a:r>
              <a:rPr sz="1000" b="0" i="0">
                <a:solidFill>
                  <a:srgbClr val="D9CFE6"/>
                </a:solidFill>
                <a:latin typeface="Montserrat"/>
              </a:rPr>
              <a:t>Versión 1.1 · Octubre 2026 · Uso interno del equipo comercial</a:t>
            </a:r>
          </a:p>
        </p:txBody>
      </p:sp>
      <p:sp>
        <p:nvSpPr>
          <p:cNvPr id="14" name="Rectangle 13"/>
          <p:cNvSpPr/>
          <p:nvPr/>
        </p:nvSpPr>
        <p:spPr>
          <a:xfrm>
            <a:off x="0" y="10460736"/>
            <a:ext cx="7562088" cy="228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ANTES DE EMPEZAR</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usar este playbook</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00200"/>
            <a:ext cx="6556248" cy="1280160"/>
          </a:xfrm>
          <a:prstGeom prst="rect">
            <a:avLst/>
          </a:prstGeom>
          <a:noFill/>
        </p:spPr>
        <p:txBody>
          <a:bodyPr wrap="square" anchor="t" lIns="45720" rIns="45720" tIns="27432" bIns="27432">
            <a:spAutoFit/>
          </a:bodyPr>
          <a:lstStyle/>
          <a:p>
            <a:pPr algn="l">
              <a:lnSpc>
                <a:spcPct val="115000"/>
              </a:lnSpc>
              <a:spcAft>
                <a:spcPts val="400"/>
              </a:spcAft>
            </a:pPr>
            <a:r>
              <a:rPr sz="1250" b="0" i="0">
                <a:solidFill>
                  <a:srgbClr val="2E2A36"/>
                </a:solidFill>
                <a:latin typeface="Montserrat"/>
              </a:rPr>
              <a:t>Este playbook es la referencia única del equipo comercial para el portafolio de cremación y jardines de cenizas. Reúne reglas, precios, discurso por producto, manejo de objeciones y política de comisiones. Se revisa cada trimestre con la Gerencia Comercial. Si algo cambia en la Ficha Técnica, este documento se actualiza.</a:t>
            </a:r>
          </a:p>
        </p:txBody>
      </p:sp>
      <p:sp>
        <p:nvSpPr>
          <p:cNvPr id="7" name="Rectangle 6"/>
          <p:cNvSpPr/>
          <p:nvPr/>
        </p:nvSpPr>
        <p:spPr>
          <a:xfrm>
            <a:off x="502920" y="2971800"/>
            <a:ext cx="6556248" cy="233172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2971800"/>
            <a:ext cx="73152" cy="2331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108960"/>
            <a:ext cx="6099048" cy="320040"/>
          </a:xfrm>
          <a:prstGeom prst="rect">
            <a:avLst/>
          </a:prstGeom>
          <a:noFill/>
        </p:spPr>
        <p:txBody>
          <a:bodyPr wrap="square" anchor="t" lIns="45720" rIns="45720" tIns="27432" bIns="27432">
            <a:spAutoFit/>
          </a:bodyPr>
          <a:lstStyle/>
          <a:p>
            <a:pPr algn="l">
              <a:lnSpc>
                <a:spcPct val="115000"/>
              </a:lnSpc>
              <a:spcAft>
                <a:spcPts val="400"/>
              </a:spcAft>
            </a:pPr>
            <a:r>
              <a:rPr sz="1050" b="1" i="0">
                <a:solidFill>
                  <a:srgbClr val="5B3F80"/>
                </a:solidFill>
                <a:latin typeface="Montserrat"/>
              </a:rPr>
              <a:t>PENDIENTES DE VALIDACIÓN</a:t>
            </a:r>
          </a:p>
        </p:txBody>
      </p:sp>
      <p:sp>
        <p:nvSpPr>
          <p:cNvPr id="10" name="TextBox 9"/>
          <p:cNvSpPr txBox="1"/>
          <p:nvPr/>
        </p:nvSpPr>
        <p:spPr>
          <a:xfrm>
            <a:off x="777240" y="3474720"/>
            <a:ext cx="6099048" cy="1783080"/>
          </a:xfrm>
          <a:prstGeom prst="rect">
            <a:avLst/>
          </a:prstGeom>
          <a:noFill/>
        </p:spPr>
        <p:txBody>
          <a:bodyPr wrap="square" anchor="t" lIns="45720" rIns="45720" tIns="27432" bIns="27432">
            <a:spAutoFit/>
          </a:bodyPr>
          <a:lstStyle/>
          <a:p>
            <a:pPr algn="l">
              <a:lnSpc>
                <a:spcPct val="115000"/>
              </a:lnSpc>
              <a:spcAft>
                <a:spcPts val="400"/>
              </a:spcAft>
            </a:pPr>
            <a:r>
              <a:rPr sz="850" b="1" i="0">
                <a:solidFill>
                  <a:srgbClr val="C9A86A"/>
                </a:solidFill>
                <a:latin typeface="Montserrat"/>
              </a:rPr>
              <a:t>■  </a:t>
            </a:r>
            <a:r>
              <a:rPr sz="1150" b="0" i="0">
                <a:solidFill>
                  <a:srgbClr val="2E2A36"/>
                </a:solidFill>
                <a:latin typeface="Montserrat"/>
              </a:rPr>
              <a:t>Política de comisiones: 8% en todos los productos. Confirmar con el Gerente Comercial antes de aplicar.</a:t>
            </a:r>
          </a:p>
          <a:p>
            <a:pPr algn="l">
              <a:lnSpc>
                <a:spcPct val="115000"/>
              </a:lnSpc>
              <a:spcAft>
                <a:spcPts val="400"/>
              </a:spcAft>
            </a:pPr>
            <a:r>
              <a:rPr sz="850" b="1" i="0">
                <a:solidFill>
                  <a:srgbClr val="C9A86A"/>
                </a:solidFill>
                <a:latin typeface="Montserrat"/>
              </a:rPr>
              <a:t>■  </a:t>
            </a:r>
            <a:r>
              <a:rPr sz="1150" b="0" i="0">
                <a:solidFill>
                  <a:srgbClr val="2E2A36"/>
                </a:solidFill>
                <a:latin typeface="Montserrat"/>
              </a:rPr>
              <a:t>Placas de madera: confirmar el tratamiento de la madera para contacto con el suelo.</a:t>
            </a:r>
          </a:p>
          <a:p>
            <a:pPr algn="l">
              <a:lnSpc>
                <a:spcPct val="115000"/>
              </a:lnSpc>
              <a:spcAft>
                <a:spcPts val="400"/>
              </a:spcAft>
            </a:pPr>
            <a:r>
              <a:rPr sz="850" b="1" i="0">
                <a:solidFill>
                  <a:srgbClr val="C9A86A"/>
                </a:solidFill>
                <a:latin typeface="Montserrat"/>
              </a:rPr>
              <a:t>■  </a:t>
            </a:r>
            <a:r>
              <a:rPr sz="1150" b="0" i="0">
                <a:solidFill>
                  <a:srgbClr val="2E2A36"/>
                </a:solidFill>
                <a:latin typeface="Montserrat"/>
              </a:rPr>
              <a:t>Jardín Ceremonial: producto en definición. No se vende ni se cotiza todavía.</a:t>
            </a:r>
          </a:p>
        </p:txBody>
      </p:sp>
      <p:sp>
        <p:nvSpPr>
          <p:cNvPr id="11" name="TextBox 10"/>
          <p:cNvSpPr txBox="1"/>
          <p:nvPr/>
        </p:nvSpPr>
        <p:spPr>
          <a:xfrm>
            <a:off x="502920" y="5486400"/>
            <a:ext cx="6556248"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5B3F80"/>
                </a:solidFill>
                <a:latin typeface="Playfair Display"/>
              </a:rPr>
              <a:t>Contenido</a:t>
            </a:r>
          </a:p>
        </p:txBody>
      </p:sp>
      <p:sp>
        <p:nvSpPr>
          <p:cNvPr id="12" name="TextBox 11"/>
          <p:cNvSpPr txBox="1"/>
          <p:nvPr/>
        </p:nvSpPr>
        <p:spPr>
          <a:xfrm>
            <a:off x="502920" y="6035040"/>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01</a:t>
            </a:r>
          </a:p>
        </p:txBody>
      </p:sp>
      <p:sp>
        <p:nvSpPr>
          <p:cNvPr id="13" name="TextBox 12"/>
          <p:cNvSpPr txBox="1"/>
          <p:nvPr/>
        </p:nvSpPr>
        <p:spPr>
          <a:xfrm>
            <a:off x="1325880" y="6117336"/>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Quiénes somos y lo que vendemos</a:t>
            </a:r>
          </a:p>
        </p:txBody>
      </p:sp>
      <p:sp>
        <p:nvSpPr>
          <p:cNvPr id="14" name="Rectangle 13"/>
          <p:cNvSpPr/>
          <p:nvPr/>
        </p:nvSpPr>
        <p:spPr>
          <a:xfrm>
            <a:off x="502920" y="6483096"/>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519672"/>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02</a:t>
            </a:r>
          </a:p>
        </p:txBody>
      </p:sp>
      <p:sp>
        <p:nvSpPr>
          <p:cNvPr id="16" name="TextBox 15"/>
          <p:cNvSpPr txBox="1"/>
          <p:nvPr/>
        </p:nvSpPr>
        <p:spPr>
          <a:xfrm>
            <a:off x="1325880" y="6601968"/>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A quién le vendemos</a:t>
            </a:r>
          </a:p>
        </p:txBody>
      </p:sp>
      <p:sp>
        <p:nvSpPr>
          <p:cNvPr id="17" name="Rectangle 16"/>
          <p:cNvSpPr/>
          <p:nvPr/>
        </p:nvSpPr>
        <p:spPr>
          <a:xfrm>
            <a:off x="502920" y="6967728"/>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7004304"/>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03</a:t>
            </a:r>
          </a:p>
        </p:txBody>
      </p:sp>
      <p:sp>
        <p:nvSpPr>
          <p:cNvPr id="19" name="TextBox 18"/>
          <p:cNvSpPr txBox="1"/>
          <p:nvPr/>
        </p:nvSpPr>
        <p:spPr>
          <a:xfrm>
            <a:off x="1325880" y="7086600"/>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El proceso de venta</a:t>
            </a:r>
          </a:p>
        </p:txBody>
      </p:sp>
      <p:sp>
        <p:nvSpPr>
          <p:cNvPr id="20" name="Rectangle 19"/>
          <p:cNvSpPr/>
          <p:nvPr/>
        </p:nvSpPr>
        <p:spPr>
          <a:xfrm>
            <a:off x="502920" y="7452360"/>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7488936"/>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04</a:t>
            </a:r>
          </a:p>
        </p:txBody>
      </p:sp>
      <p:sp>
        <p:nvSpPr>
          <p:cNvPr id="22" name="TextBox 21"/>
          <p:cNvSpPr txBox="1"/>
          <p:nvPr/>
        </p:nvSpPr>
        <p:spPr>
          <a:xfrm>
            <a:off x="1325880" y="7571232"/>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Producto por producto: speech y reglas</a:t>
            </a:r>
          </a:p>
        </p:txBody>
      </p:sp>
      <p:sp>
        <p:nvSpPr>
          <p:cNvPr id="23" name="Rectangle 22"/>
          <p:cNvSpPr/>
          <p:nvPr/>
        </p:nvSpPr>
        <p:spPr>
          <a:xfrm>
            <a:off x="502920" y="7936992"/>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7973568"/>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05</a:t>
            </a:r>
          </a:p>
        </p:txBody>
      </p:sp>
      <p:sp>
        <p:nvSpPr>
          <p:cNvPr id="25" name="TextBox 24"/>
          <p:cNvSpPr txBox="1"/>
          <p:nvPr/>
        </p:nvSpPr>
        <p:spPr>
          <a:xfrm>
            <a:off x="1325880" y="8055864"/>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Manejo de objeciones</a:t>
            </a:r>
          </a:p>
        </p:txBody>
      </p:sp>
      <p:sp>
        <p:nvSpPr>
          <p:cNvPr id="26" name="Rectangle 25"/>
          <p:cNvSpPr/>
          <p:nvPr/>
        </p:nvSpPr>
        <p:spPr>
          <a:xfrm>
            <a:off x="502920" y="8421624"/>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8458200"/>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06</a:t>
            </a:r>
          </a:p>
        </p:txBody>
      </p:sp>
      <p:sp>
        <p:nvSpPr>
          <p:cNvPr id="28" name="TextBox 27"/>
          <p:cNvSpPr txBox="1"/>
          <p:nvPr/>
        </p:nvSpPr>
        <p:spPr>
          <a:xfrm>
            <a:off x="1325880" y="8540496"/>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Precios, reglas y condiciones</a:t>
            </a:r>
          </a:p>
        </p:txBody>
      </p:sp>
      <p:sp>
        <p:nvSpPr>
          <p:cNvPr id="29" name="Rectangle 28"/>
          <p:cNvSpPr/>
          <p:nvPr/>
        </p:nvSpPr>
        <p:spPr>
          <a:xfrm>
            <a:off x="502920" y="8906256"/>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8942832"/>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07</a:t>
            </a:r>
          </a:p>
        </p:txBody>
      </p:sp>
      <p:sp>
        <p:nvSpPr>
          <p:cNvPr id="31" name="TextBox 30"/>
          <p:cNvSpPr txBox="1"/>
          <p:nvPr/>
        </p:nvSpPr>
        <p:spPr>
          <a:xfrm>
            <a:off x="1325880" y="9025128"/>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Política de comisiones</a:t>
            </a:r>
          </a:p>
        </p:txBody>
      </p:sp>
      <p:sp>
        <p:nvSpPr>
          <p:cNvPr id="32" name="Rectangle 31"/>
          <p:cNvSpPr/>
          <p:nvPr/>
        </p:nvSpPr>
        <p:spPr>
          <a:xfrm>
            <a:off x="502920" y="9390888"/>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9427464"/>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08</a:t>
            </a:r>
          </a:p>
        </p:txBody>
      </p:sp>
      <p:sp>
        <p:nvSpPr>
          <p:cNvPr id="34" name="TextBox 33"/>
          <p:cNvSpPr txBox="1"/>
          <p:nvPr/>
        </p:nvSpPr>
        <p:spPr>
          <a:xfrm>
            <a:off x="1325880" y="9509760"/>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Herramientas de apoyo</a:t>
            </a:r>
          </a:p>
        </p:txBody>
      </p:sp>
      <p:sp>
        <p:nvSpPr>
          <p:cNvPr id="35" name="Rectangle 34"/>
          <p:cNvSpPr/>
          <p:nvPr/>
        </p:nvSpPr>
        <p:spPr>
          <a:xfrm>
            <a:off x="502920" y="9875520"/>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7" name="TextBox 36"/>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QUIÉNES SOMOS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Acompañamos familias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00200"/>
            <a:ext cx="6556248" cy="1600200"/>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En La Auxiliadora, Hogar de las Memorias y Parque Memorial Las Colinas, empresas de Vangrupo, no vendemos nichos, parcelas ni servicios: acompañamos a las familias salvadoreñas a honrar la memoria de quienes aman. La cremación es una decisión cada vez más elegida, y nuestros nuevos jardines de cenizas responden a una pregunta que muchas familias se hacen y pocas se atreven a decir: "¿y después de la cremación, dónde las visitamos?".</a:t>
            </a:r>
          </a:p>
        </p:txBody>
      </p:sp>
      <p:pic>
        <p:nvPicPr>
          <p:cNvPr id="7" name="Picture 6" descr="01_portafolio.png"/>
          <p:cNvPicPr>
            <a:picLocks noChangeAspect="1"/>
          </p:cNvPicPr>
          <p:nvPr/>
        </p:nvPicPr>
        <p:blipFill>
          <a:blip r:embed="rId2"/>
          <a:stretch>
            <a:fillRect/>
          </a:stretch>
        </p:blipFill>
        <p:spPr>
          <a:xfrm>
            <a:off x="595392" y="3200400"/>
            <a:ext cx="6371303" cy="2880360"/>
          </a:xfrm>
          <a:prstGeom prst="rect">
            <a:avLst/>
          </a:prstGeom>
        </p:spPr>
      </p:pic>
      <p:sp>
        <p:nvSpPr>
          <p:cNvPr id="8" name="Rectangle 7"/>
          <p:cNvSpPr/>
          <p:nvPr/>
        </p:nvSpPr>
        <p:spPr>
          <a:xfrm>
            <a:off x="502920" y="6263640"/>
            <a:ext cx="3186684" cy="11430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626364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637336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UN LUGAR PARA VOLVER</a:t>
            </a:r>
          </a:p>
        </p:txBody>
      </p:sp>
      <p:sp>
        <p:nvSpPr>
          <p:cNvPr id="11" name="TextBox 10"/>
          <p:cNvSpPr txBox="1"/>
          <p:nvPr/>
        </p:nvSpPr>
        <p:spPr>
          <a:xfrm>
            <a:off x="640080" y="664768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La familia tiene un sitio físico, digno y verde para visitar y recordar.</a:t>
            </a:r>
          </a:p>
        </p:txBody>
      </p:sp>
      <p:sp>
        <p:nvSpPr>
          <p:cNvPr id="12" name="Rectangle 11"/>
          <p:cNvSpPr/>
          <p:nvPr/>
        </p:nvSpPr>
        <p:spPr>
          <a:xfrm>
            <a:off x="3872484" y="6263640"/>
            <a:ext cx="3186684" cy="11430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72484" y="626364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09644" y="637336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PRECIO ACCESIBLE</a:t>
            </a:r>
          </a:p>
        </p:txBody>
      </p:sp>
      <p:sp>
        <p:nvSpPr>
          <p:cNvPr id="15" name="TextBox 14"/>
          <p:cNvSpPr txBox="1"/>
          <p:nvPr/>
        </p:nvSpPr>
        <p:spPr>
          <a:xfrm>
            <a:off x="4009644" y="664768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Desde US$ 320 en lanzamiento y con financiamiento: un destino final al alcance de más familias.</a:t>
            </a:r>
          </a:p>
        </p:txBody>
      </p:sp>
      <p:sp>
        <p:nvSpPr>
          <p:cNvPr id="16" name="Rectangle 15"/>
          <p:cNvSpPr/>
          <p:nvPr/>
        </p:nvSpPr>
        <p:spPr>
          <a:xfrm>
            <a:off x="502920" y="7543800"/>
            <a:ext cx="3186684" cy="11430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75438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76535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NATURALEZA Y LEGADO</a:t>
            </a:r>
          </a:p>
        </p:txBody>
      </p:sp>
      <p:sp>
        <p:nvSpPr>
          <p:cNvPr id="19" name="TextBox 18"/>
          <p:cNvSpPr txBox="1"/>
          <p:nvPr/>
        </p:nvSpPr>
        <p:spPr>
          <a:xfrm>
            <a:off x="640080" y="792784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Jardines de plantas de sombra, agua corriente y bosque: un homenaje que vive.</a:t>
            </a:r>
          </a:p>
        </p:txBody>
      </p:sp>
      <p:sp>
        <p:nvSpPr>
          <p:cNvPr id="20" name="Rectangle 19"/>
          <p:cNvSpPr/>
          <p:nvPr/>
        </p:nvSpPr>
        <p:spPr>
          <a:xfrm>
            <a:off x="3872484" y="7543800"/>
            <a:ext cx="3186684" cy="11430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872484" y="75438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009644" y="76535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SIN DECISIONES BAJO PRESIÓN</a:t>
            </a:r>
          </a:p>
        </p:txBody>
      </p:sp>
      <p:sp>
        <p:nvSpPr>
          <p:cNvPr id="23" name="TextBox 22"/>
          <p:cNvSpPr txBox="1"/>
          <p:nvPr/>
        </p:nvSpPr>
        <p:spPr>
          <a:xfrm>
            <a:off x="4009644" y="792784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Planificar hoy evita que la familia decida en el peor momento.</a:t>
            </a:r>
          </a:p>
        </p:txBody>
      </p:sp>
      <p:sp>
        <p:nvSpPr>
          <p:cNvPr id="24" name="Rectangle 23"/>
          <p:cNvSpPr/>
          <p:nvPr/>
        </p:nvSpPr>
        <p:spPr>
          <a:xfrm>
            <a:off x="502920" y="8915400"/>
            <a:ext cx="6556248" cy="10972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8915400"/>
            <a:ext cx="6099048" cy="1097280"/>
          </a:xfrm>
          <a:prstGeom prst="rect">
            <a:avLst/>
          </a:prstGeom>
          <a:noFill/>
        </p:spPr>
        <p:txBody>
          <a:bodyPr wrap="square" anchor="ctr" lIns="45720" rIns="45720" tIns="27432" bIns="27432">
            <a:spAutoFit/>
          </a:bodyPr>
          <a:lstStyle/>
          <a:p>
            <a:pPr algn="l">
              <a:lnSpc>
                <a:spcPct val="115000"/>
              </a:lnSpc>
              <a:spcAft>
                <a:spcPts val="400"/>
              </a:spcAft>
            </a:pPr>
            <a:r>
              <a:rPr sz="1050" b="1" i="0">
                <a:solidFill>
                  <a:srgbClr val="C9A86A"/>
                </a:solidFill>
                <a:latin typeface="Montserrat"/>
              </a:rPr>
              <a:t>REGLA DE ORO   </a:t>
            </a:r>
            <a:r>
              <a:rPr sz="1200" b="0" i="1">
                <a:solidFill>
                  <a:srgbClr val="FFFFFF"/>
                </a:solidFill>
                <a:latin typeface="Montserrat"/>
              </a:rPr>
              <a:t>Nuestra diferencia no es el precio: es la atención. Antes de cada propuesta, pregúntese: "¿esto acoge a la familia o solo cierra un negocio?".</a:t>
            </a:r>
          </a:p>
        </p:txBody>
      </p:sp>
      <p:sp>
        <p:nvSpPr>
          <p:cNvPr id="26" name="TextBox 25"/>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LO QUE VENDEMOS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Dos momentos de venta</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45920"/>
            <a:ext cx="6556248" cy="14630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45920"/>
            <a:ext cx="6556248" cy="54864"/>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810512"/>
            <a:ext cx="6190488" cy="566928"/>
          </a:xfrm>
          <a:prstGeom prst="rect">
            <a:avLst/>
          </a:prstGeom>
          <a:noFill/>
        </p:spPr>
        <p:txBody>
          <a:bodyPr wrap="square" anchor="ctr" lIns="45720" rIns="45720" tIns="27432" bIns="27432">
            <a:spAutoFit/>
          </a:bodyPr>
          <a:lstStyle/>
          <a:p>
            <a:pPr algn="l">
              <a:lnSpc>
                <a:spcPct val="100000"/>
              </a:lnSpc>
              <a:spcAft>
                <a:spcPts val="400"/>
              </a:spcAft>
            </a:pPr>
            <a:r>
              <a:rPr sz="1500" b="1" i="0">
                <a:solidFill>
                  <a:srgbClr val="5B3F80"/>
                </a:solidFill>
                <a:latin typeface="Montserrat"/>
              </a:rPr>
              <a:t>Prenecesidad (preventiva)</a:t>
            </a:r>
          </a:p>
        </p:txBody>
      </p:sp>
      <p:sp>
        <p:nvSpPr>
          <p:cNvPr id="9" name="TextBox 8"/>
          <p:cNvSpPr txBox="1"/>
          <p:nvPr/>
        </p:nvSpPr>
        <p:spPr>
          <a:xfrm>
            <a:off x="685800" y="2395728"/>
            <a:ext cx="6190488" cy="62179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Venta planificada, de ciclo largo. La familia contrata hoy para protegerse y pagar en cuotas. Es la venta que conducimos activamente.</a:t>
            </a:r>
          </a:p>
        </p:txBody>
      </p:sp>
      <p:sp>
        <p:nvSpPr>
          <p:cNvPr id="10" name="Rectangle 9"/>
          <p:cNvSpPr/>
          <p:nvPr/>
        </p:nvSpPr>
        <p:spPr>
          <a:xfrm>
            <a:off x="502920" y="3246120"/>
            <a:ext cx="6556248" cy="14630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246120"/>
            <a:ext cx="6556248"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410712"/>
            <a:ext cx="6190488" cy="566928"/>
          </a:xfrm>
          <a:prstGeom prst="rect">
            <a:avLst/>
          </a:prstGeom>
          <a:noFill/>
        </p:spPr>
        <p:txBody>
          <a:bodyPr wrap="square" anchor="ctr" lIns="45720" rIns="45720" tIns="27432" bIns="27432">
            <a:spAutoFit/>
          </a:bodyPr>
          <a:lstStyle/>
          <a:p>
            <a:pPr algn="l">
              <a:lnSpc>
                <a:spcPct val="100000"/>
              </a:lnSpc>
              <a:spcAft>
                <a:spcPts val="400"/>
              </a:spcAft>
            </a:pPr>
            <a:r>
              <a:rPr sz="1500" b="1" i="0">
                <a:solidFill>
                  <a:srgbClr val="5B3F80"/>
                </a:solidFill>
                <a:latin typeface="Montserrat"/>
              </a:rPr>
              <a:t>Necesidad inmediata (emergencia)</a:t>
            </a:r>
          </a:p>
        </p:txBody>
      </p:sp>
      <p:sp>
        <p:nvSpPr>
          <p:cNvPr id="13" name="TextBox 12"/>
          <p:cNvSpPr txBox="1"/>
          <p:nvPr/>
        </p:nvSpPr>
        <p:spPr>
          <a:xfrm>
            <a:off x="685800" y="3995928"/>
            <a:ext cx="6190488" cy="62179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En el momento de la pérdida. Aquí no se "vende": se acoge, se informa con calma y se resuelve con agilidad y respeto.</a:t>
            </a:r>
          </a:p>
        </p:txBody>
      </p:sp>
      <p:sp>
        <p:nvSpPr>
          <p:cNvPr id="14" name="TextBox 13"/>
          <p:cNvSpPr txBox="1"/>
          <p:nvPr/>
        </p:nvSpPr>
        <p:spPr>
          <a:xfrm>
            <a:off x="502920" y="4983480"/>
            <a:ext cx="6556248" cy="45720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Qué producto lleva cada equipo</a:t>
            </a:r>
          </a:p>
        </p:txBody>
      </p:sp>
      <p:sp>
        <p:nvSpPr>
          <p:cNvPr id="15" name="Rectangle 14"/>
          <p:cNvSpPr/>
          <p:nvPr/>
        </p:nvSpPr>
        <p:spPr>
          <a:xfrm>
            <a:off x="502920" y="5532120"/>
            <a:ext cx="2103120" cy="13716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 y="5532120"/>
            <a:ext cx="1883664" cy="137160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UAF · Unidad de Apoyo Familiar</a:t>
            </a:r>
          </a:p>
        </p:txBody>
      </p:sp>
      <p:sp>
        <p:nvSpPr>
          <p:cNvPr id="17" name="Rectangle 16"/>
          <p:cNvSpPr/>
          <p:nvPr/>
        </p:nvSpPr>
        <p:spPr>
          <a:xfrm>
            <a:off x="2606040" y="5532120"/>
            <a:ext cx="4453128"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43200" y="5623560"/>
            <a:ext cx="4178808" cy="1234440"/>
          </a:xfrm>
          <a:prstGeom prst="rect">
            <a:avLst/>
          </a:prstGeom>
          <a:noFill/>
        </p:spPr>
        <p:txBody>
          <a:bodyPr wrap="square" anchor="t" lIns="45720" rIns="45720" tIns="27432" bIns="27432">
            <a:spAutoFit/>
          </a:bodyPr>
          <a:lstStyle/>
          <a:p>
            <a:pPr algn="l">
              <a:lnSpc>
                <a:spcPct val="115000"/>
              </a:lnSpc>
              <a:spcAft>
                <a:spcPts val="400"/>
              </a:spcAft>
            </a:pPr>
            <a:r>
              <a:rPr sz="1050" b="0" i="1">
                <a:solidFill>
                  <a:srgbClr val="7D7887"/>
                </a:solidFill>
                <a:latin typeface="Montserrat"/>
              </a:rPr>
              <a:t>Acompaña a la familia durante el servicio y trabaja referidos.</a:t>
            </a:r>
          </a:p>
          <a:p>
            <a:pPr algn="l">
              <a:lnSpc>
                <a:spcPct val="115000"/>
              </a:lnSpc>
              <a:spcAft>
                <a:spcPts val="400"/>
              </a:spcAft>
            </a:pPr>
            <a:r>
              <a:rPr sz="1050" b="1" i="0">
                <a:solidFill>
                  <a:srgbClr val="C9A86A"/>
                </a:solidFill>
                <a:latin typeface="Montserrat"/>
              </a:rPr>
              <a:t>Producto foco: </a:t>
            </a:r>
            <a:r>
              <a:rPr sz="1050" b="1" i="0">
                <a:solidFill>
                  <a:srgbClr val="2E2A36"/>
                </a:solidFill>
                <a:latin typeface="Montserrat"/>
              </a:rPr>
              <a:t>Jardín Individual y Ecológico como destino de las cenizas; Solución Modular para el resto de la familia (venta de prenecesidad posterior).</a:t>
            </a:r>
          </a:p>
        </p:txBody>
      </p:sp>
      <p:sp>
        <p:nvSpPr>
          <p:cNvPr id="19" name="Rectangle 18"/>
          <p:cNvSpPr/>
          <p:nvPr/>
        </p:nvSpPr>
        <p:spPr>
          <a:xfrm>
            <a:off x="502920" y="7040880"/>
            <a:ext cx="2103120" cy="13716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 y="7040880"/>
            <a:ext cx="1883664" cy="137160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Pilares Alternativos</a:t>
            </a:r>
          </a:p>
        </p:txBody>
      </p:sp>
      <p:sp>
        <p:nvSpPr>
          <p:cNvPr id="21" name="Rectangle 20"/>
          <p:cNvSpPr/>
          <p:nvPr/>
        </p:nvSpPr>
        <p:spPr>
          <a:xfrm>
            <a:off x="2606040" y="7040880"/>
            <a:ext cx="4453128"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43200" y="7132320"/>
            <a:ext cx="4178808" cy="1234440"/>
          </a:xfrm>
          <a:prstGeom prst="rect">
            <a:avLst/>
          </a:prstGeom>
          <a:noFill/>
        </p:spPr>
        <p:txBody>
          <a:bodyPr wrap="square" anchor="t" lIns="45720" rIns="45720" tIns="27432" bIns="27432">
            <a:spAutoFit/>
          </a:bodyPr>
          <a:lstStyle/>
          <a:p>
            <a:pPr algn="l">
              <a:lnSpc>
                <a:spcPct val="115000"/>
              </a:lnSpc>
              <a:spcAft>
                <a:spcPts val="400"/>
              </a:spcAft>
            </a:pPr>
            <a:r>
              <a:rPr sz="1050" b="0" i="1">
                <a:solidFill>
                  <a:srgbClr val="7D7887"/>
                </a:solidFill>
                <a:latin typeface="Montserrat"/>
              </a:rPr>
              <a:t>Eventos, centros comerciales, bases de cancelaciones y telemercadeo.</a:t>
            </a:r>
          </a:p>
          <a:p>
            <a:pPr algn="l">
              <a:lnSpc>
                <a:spcPct val="115000"/>
              </a:lnSpc>
              <a:spcAft>
                <a:spcPts val="400"/>
              </a:spcAft>
            </a:pPr>
            <a:r>
              <a:rPr sz="1050" b="1" i="0">
                <a:solidFill>
                  <a:srgbClr val="C9A86A"/>
                </a:solidFill>
                <a:latin typeface="Montserrat"/>
              </a:rPr>
              <a:t>Producto foco: </a:t>
            </a:r>
            <a:r>
              <a:rPr sz="1050" b="1" i="0">
                <a:solidFill>
                  <a:srgbClr val="2E2A36"/>
                </a:solidFill>
                <a:latin typeface="Montserrat"/>
              </a:rPr>
              <a:t>Solución Modular (cuota baja, fácil de explicar) y Jardín de Mascotas.</a:t>
            </a:r>
          </a:p>
        </p:txBody>
      </p:sp>
      <p:sp>
        <p:nvSpPr>
          <p:cNvPr id="23" name="Rectangle 22"/>
          <p:cNvSpPr/>
          <p:nvPr/>
        </p:nvSpPr>
        <p:spPr>
          <a:xfrm>
            <a:off x="502920" y="8549640"/>
            <a:ext cx="2103120" cy="13716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2648" y="8549640"/>
            <a:ext cx="1883664" cy="137160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AML · Puerta a puerta</a:t>
            </a:r>
          </a:p>
        </p:txBody>
      </p:sp>
      <p:sp>
        <p:nvSpPr>
          <p:cNvPr id="25" name="Rectangle 24"/>
          <p:cNvSpPr/>
          <p:nvPr/>
        </p:nvSpPr>
        <p:spPr>
          <a:xfrm>
            <a:off x="2606040" y="8549640"/>
            <a:ext cx="4453128"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43200" y="8641080"/>
            <a:ext cx="4178808" cy="1234440"/>
          </a:xfrm>
          <a:prstGeom prst="rect">
            <a:avLst/>
          </a:prstGeom>
          <a:noFill/>
        </p:spPr>
        <p:txBody>
          <a:bodyPr wrap="square" anchor="t" lIns="45720" rIns="45720" tIns="27432" bIns="27432">
            <a:spAutoFit/>
          </a:bodyPr>
          <a:lstStyle/>
          <a:p>
            <a:pPr algn="l">
              <a:lnSpc>
                <a:spcPct val="115000"/>
              </a:lnSpc>
              <a:spcAft>
                <a:spcPts val="400"/>
              </a:spcAft>
            </a:pPr>
            <a:r>
              <a:rPr sz="1050" b="0" i="1">
                <a:solidFill>
                  <a:srgbClr val="7D7887"/>
                </a:solidFill>
                <a:latin typeface="Montserrat"/>
              </a:rPr>
              <a:t>Prospección sistemática en colonias.</a:t>
            </a:r>
          </a:p>
          <a:p>
            <a:pPr algn="l">
              <a:lnSpc>
                <a:spcPct val="115000"/>
              </a:lnSpc>
              <a:spcAft>
                <a:spcPts val="400"/>
              </a:spcAft>
            </a:pPr>
            <a:r>
              <a:rPr sz="1050" b="1" i="0">
                <a:solidFill>
                  <a:srgbClr val="C9A86A"/>
                </a:solidFill>
                <a:latin typeface="Montserrat"/>
              </a:rPr>
              <a:t>Producto foco: </a:t>
            </a:r>
            <a:r>
              <a:rPr sz="1050" b="1" i="0">
                <a:solidFill>
                  <a:srgbClr val="2E2A36"/>
                </a:solidFill>
                <a:latin typeface="Montserrat"/>
              </a:rPr>
              <a:t>Solución Modular + Jardín Individual: la combinación más completa para el hogar.</a:t>
            </a:r>
          </a:p>
        </p:txBody>
      </p:sp>
      <p:sp>
        <p:nvSpPr>
          <p:cNvPr id="27" name="TextBox 26"/>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8" name="TextBox 27"/>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02 · A QUIÉN LE VENDEMOS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Cinco perfiles de cliente</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Identifique el perfil en los primeros minutos y adapte el tono.</a:t>
            </a:r>
          </a:p>
        </p:txBody>
      </p:sp>
      <p:sp>
        <p:nvSpPr>
          <p:cNvPr id="7" name="Rectangle 6"/>
          <p:cNvSpPr/>
          <p:nvPr/>
        </p:nvSpPr>
        <p:spPr>
          <a:xfrm>
            <a:off x="502920" y="19659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19659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Planificador</a:t>
            </a:r>
          </a:p>
          <a:p>
            <a:pPr algn="l">
              <a:lnSpc>
                <a:spcPct val="115000"/>
              </a:lnSpc>
              <a:spcAft>
                <a:spcPts val="200"/>
              </a:spcAft>
            </a:pPr>
            <a:r>
              <a:rPr sz="900" b="0" i="0">
                <a:solidFill>
                  <a:srgbClr val="D9CFE6"/>
                </a:solidFill>
                <a:latin typeface="Montserrat"/>
              </a:rPr>
              <a:t>45–65 años, compra para sí mismo.</a:t>
            </a:r>
          </a:p>
        </p:txBody>
      </p:sp>
      <p:sp>
        <p:nvSpPr>
          <p:cNvPr id="9" name="Rectangle 8"/>
          <p:cNvSpPr/>
          <p:nvPr/>
        </p:nvSpPr>
        <p:spPr>
          <a:xfrm>
            <a:off x="2423160" y="19659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60320" y="20391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Tranquilidad y legado. No quiere dejar cargas a su familia.</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Calma, sin prisa, datos claros.</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Solución Modular · Jardín Individual · Jardín Familiar</a:t>
            </a:r>
          </a:p>
        </p:txBody>
      </p:sp>
      <p:sp>
        <p:nvSpPr>
          <p:cNvPr id="11" name="Rectangle 10"/>
          <p:cNvSpPr/>
          <p:nvPr/>
        </p:nvSpPr>
        <p:spPr>
          <a:xfrm>
            <a:off x="502920" y="33375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33375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Hijo Cuidador</a:t>
            </a:r>
          </a:p>
          <a:p>
            <a:pPr algn="l">
              <a:lnSpc>
                <a:spcPct val="115000"/>
              </a:lnSpc>
              <a:spcAft>
                <a:spcPts val="200"/>
              </a:spcAft>
            </a:pPr>
            <a:r>
              <a:rPr sz="900" b="0" i="0">
                <a:solidFill>
                  <a:srgbClr val="D9CFE6"/>
                </a:solidFill>
                <a:latin typeface="Montserrat"/>
              </a:rPr>
              <a:t>25–45 años, compra para sus padres.</a:t>
            </a:r>
          </a:p>
        </p:txBody>
      </p:sp>
      <p:sp>
        <p:nvSpPr>
          <p:cNvPr id="13" name="Rectangle 12"/>
          <p:cNvSpPr/>
          <p:nvPr/>
        </p:nvSpPr>
        <p:spPr>
          <a:xfrm>
            <a:off x="2423160" y="33375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60320" y="34107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Practicidad, control del presupuesto, evitar improvisar.</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Claro, práctico, comparativo.</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Solución Modular · Jardín Familiar</a:t>
            </a:r>
          </a:p>
        </p:txBody>
      </p:sp>
      <p:sp>
        <p:nvSpPr>
          <p:cNvPr id="15" name="Rectangle 14"/>
          <p:cNvSpPr/>
          <p:nvPr/>
        </p:nvSpPr>
        <p:spPr>
          <a:xfrm>
            <a:off x="502920" y="47091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 y="47091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La Familia en Urgencia</a:t>
            </a:r>
          </a:p>
          <a:p>
            <a:pPr algn="l">
              <a:lnSpc>
                <a:spcPct val="115000"/>
              </a:lnSpc>
              <a:spcAft>
                <a:spcPts val="200"/>
              </a:spcAft>
            </a:pPr>
            <a:r>
              <a:rPr sz="900" b="0" i="0">
                <a:solidFill>
                  <a:srgbClr val="D9CFE6"/>
                </a:solidFill>
                <a:latin typeface="Montserrat"/>
              </a:rPr>
              <a:t>En el momento de la pérdida.</a:t>
            </a:r>
          </a:p>
        </p:txBody>
      </p:sp>
      <p:sp>
        <p:nvSpPr>
          <p:cNvPr id="17" name="Rectangle 16"/>
          <p:cNvSpPr/>
          <p:nvPr/>
        </p:nvSpPr>
        <p:spPr>
          <a:xfrm>
            <a:off x="2423160" y="47091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60320" y="47823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Quitar peso, dignidad, agilidad.</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Acogida total, nunca comercial.</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Jardín Individual · Jardín Ecológico</a:t>
            </a:r>
          </a:p>
        </p:txBody>
      </p:sp>
      <p:sp>
        <p:nvSpPr>
          <p:cNvPr id="19" name="Rectangle 18"/>
          <p:cNvSpPr/>
          <p:nvPr/>
        </p:nvSpPr>
        <p:spPr>
          <a:xfrm>
            <a:off x="502920" y="60807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 y="60807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Consciente Ecológico</a:t>
            </a:r>
          </a:p>
          <a:p>
            <a:pPr algn="l">
              <a:lnSpc>
                <a:spcPct val="115000"/>
              </a:lnSpc>
              <a:spcAft>
                <a:spcPts val="200"/>
              </a:spcAft>
            </a:pPr>
            <a:r>
              <a:rPr sz="900" b="0" i="0">
                <a:solidFill>
                  <a:srgbClr val="D9CFE6"/>
                </a:solidFill>
                <a:latin typeface="Montserrat"/>
              </a:rPr>
              <a:t>30–55 años, valora la naturaleza.</a:t>
            </a:r>
          </a:p>
        </p:txBody>
      </p:sp>
      <p:sp>
        <p:nvSpPr>
          <p:cNvPr id="21" name="Rectangle 20"/>
          <p:cNvSpPr/>
          <p:nvPr/>
        </p:nvSpPr>
        <p:spPr>
          <a:xfrm>
            <a:off x="2423160" y="60807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60320" y="61539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Volver a la tierra, sencillez, sostenibilidad.</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Inspirador, natural, sin solemnidad excesiva.</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Jardín Ecológico</a:t>
            </a:r>
          </a:p>
        </p:txBody>
      </p:sp>
      <p:sp>
        <p:nvSpPr>
          <p:cNvPr id="23" name="Rectangle 22"/>
          <p:cNvSpPr/>
          <p:nvPr/>
        </p:nvSpPr>
        <p:spPr>
          <a:xfrm>
            <a:off x="502920" y="74523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2648" y="74523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Tutor de Mascota</a:t>
            </a:r>
          </a:p>
          <a:p>
            <a:pPr algn="l">
              <a:lnSpc>
                <a:spcPct val="115000"/>
              </a:lnSpc>
              <a:spcAft>
                <a:spcPts val="200"/>
              </a:spcAft>
            </a:pPr>
            <a:r>
              <a:rPr sz="900" b="0" i="0">
                <a:solidFill>
                  <a:srgbClr val="D9CFE6"/>
                </a:solidFill>
                <a:latin typeface="Montserrat"/>
              </a:rPr>
              <a:t>20–60 años, despide a su compañero.</a:t>
            </a:r>
          </a:p>
        </p:txBody>
      </p:sp>
      <p:sp>
        <p:nvSpPr>
          <p:cNvPr id="25" name="Rectangle 24"/>
          <p:cNvSpPr/>
          <p:nvPr/>
        </p:nvSpPr>
        <p:spPr>
          <a:xfrm>
            <a:off x="2423160" y="74523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60320" y="75255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Respeto al vínculo, un lugar para recordar.</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Emocional, cálido y ligero.</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Jardín de Mascotas</a:t>
            </a:r>
          </a:p>
        </p:txBody>
      </p:sp>
      <p:sp>
        <p:nvSpPr>
          <p:cNvPr id="27" name="Rectangle 26"/>
          <p:cNvSpPr/>
          <p:nvPr/>
        </p:nvSpPr>
        <p:spPr>
          <a:xfrm>
            <a:off x="502920" y="8869680"/>
            <a:ext cx="6556248" cy="118872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8869680"/>
            <a:ext cx="6099048" cy="1188720"/>
          </a:xfrm>
          <a:prstGeom prst="rect">
            <a:avLst/>
          </a:prstGeom>
          <a:noFill/>
        </p:spPr>
        <p:txBody>
          <a:bodyPr wrap="square" anchor="ctr" lIns="45720" rIns="45720" tIns="27432" bIns="27432">
            <a:spAutoFit/>
          </a:bodyPr>
          <a:lstStyle/>
          <a:p>
            <a:pPr algn="l">
              <a:lnSpc>
                <a:spcPct val="115000"/>
              </a:lnSpc>
              <a:spcAft>
                <a:spcPts val="400"/>
              </a:spcAft>
            </a:pPr>
            <a:r>
              <a:rPr sz="1000" b="1" i="0">
                <a:solidFill>
                  <a:srgbClr val="5B3F80"/>
                </a:solidFill>
                <a:latin typeface="Montserrat"/>
              </a:rPr>
              <a:t>FILTRO N·O·A   </a:t>
            </a:r>
            <a:r>
              <a:rPr sz="1050" b="0" i="0">
                <a:solidFill>
                  <a:srgbClr val="2E2A36"/>
                </a:solidFill>
                <a:latin typeface="Montserrat"/>
              </a:rPr>
              <a:t>Antes de invertir energía en un contacto, evalúe tres puntos: Necesidad (¿lo necesita?), Oportunidad (¿es el momento y tiene capacidad de pago?) y Adecuación (¿qué producto encaja con su perfil?). Calificar bien en la entrada evita morosidad en el cobro.</a:t>
            </a:r>
          </a:p>
        </p:txBody>
      </p:sp>
      <p:sp>
        <p:nvSpPr>
          <p:cNvPr id="29" name="TextBox 28"/>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0" name="TextBox 29"/>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03 · EL PROCESO DE VENTA</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Del contacto a la posventa</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2_embudo.png"/>
          <p:cNvPicPr>
            <a:picLocks noChangeAspect="1"/>
          </p:cNvPicPr>
          <p:nvPr/>
        </p:nvPicPr>
        <p:blipFill>
          <a:blip r:embed="rId2"/>
          <a:stretch>
            <a:fillRect/>
          </a:stretch>
        </p:blipFill>
        <p:spPr>
          <a:xfrm>
            <a:off x="502920" y="1587041"/>
            <a:ext cx="6556248" cy="2998117"/>
          </a:xfrm>
          <a:prstGeom prst="rect">
            <a:avLst/>
          </a:prstGeom>
        </p:spPr>
      </p:pic>
      <p:pic>
        <p:nvPicPr>
          <p:cNvPr id="7" name="Picture 6" descr="03_conversacion.png"/>
          <p:cNvPicPr>
            <a:picLocks noChangeAspect="1"/>
          </p:cNvPicPr>
          <p:nvPr/>
        </p:nvPicPr>
        <p:blipFill>
          <a:blip r:embed="rId3"/>
          <a:stretch>
            <a:fillRect/>
          </a:stretch>
        </p:blipFill>
        <p:spPr>
          <a:xfrm>
            <a:off x="502920" y="4798335"/>
            <a:ext cx="6556248" cy="1376129"/>
          </a:xfrm>
          <a:prstGeom prst="rect">
            <a:avLst/>
          </a:prstGeom>
        </p:spPr>
      </p:pic>
      <p:sp>
        <p:nvSpPr>
          <p:cNvPr id="8" name="TextBox 7"/>
          <p:cNvSpPr txBox="1"/>
          <p:nvPr/>
        </p:nvSpPr>
        <p:spPr>
          <a:xfrm>
            <a:off x="502920" y="6446520"/>
            <a:ext cx="6556248" cy="41148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Rituales del equipo</a:t>
            </a:r>
          </a:p>
        </p:txBody>
      </p:sp>
      <p:sp>
        <p:nvSpPr>
          <p:cNvPr id="9" name="Rectangle 8"/>
          <p:cNvSpPr/>
          <p:nvPr/>
        </p:nvSpPr>
        <p:spPr>
          <a:xfrm>
            <a:off x="502920" y="6949440"/>
            <a:ext cx="6556248" cy="9144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6949440"/>
            <a:ext cx="655624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7059168"/>
            <a:ext cx="628192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DIARIO</a:t>
            </a:r>
          </a:p>
        </p:txBody>
      </p:sp>
      <p:sp>
        <p:nvSpPr>
          <p:cNvPr id="12" name="TextBox 11"/>
          <p:cNvSpPr txBox="1"/>
          <p:nvPr/>
        </p:nvSpPr>
        <p:spPr>
          <a:xfrm>
            <a:off x="640080" y="7333488"/>
            <a:ext cx="6281928" cy="457200"/>
          </a:xfrm>
          <a:prstGeom prst="rect">
            <a:avLst/>
          </a:prstGeom>
          <a:noFill/>
        </p:spPr>
        <p:txBody>
          <a:bodyPr wrap="square" anchor="t" lIns="45720" rIns="45720" tIns="27432" bIns="27432">
            <a:spAutoFit/>
          </a:bodyPr>
          <a:lstStyle/>
          <a:p>
            <a:pPr algn="l">
              <a:lnSpc>
                <a:spcPct val="115000"/>
              </a:lnSpc>
              <a:spcAft>
                <a:spcPts val="300"/>
              </a:spcAft>
            </a:pPr>
            <a:r>
              <a:rPr sz="1100" b="0" i="0">
                <a:solidFill>
                  <a:srgbClr val="2E2A36"/>
                </a:solidFill>
                <a:latin typeface="Montserrat"/>
              </a:rPr>
              <a:t>Alineación rápida de 10 minutos: pendientes y bloqueos.</a:t>
            </a:r>
          </a:p>
        </p:txBody>
      </p:sp>
      <p:sp>
        <p:nvSpPr>
          <p:cNvPr id="13" name="Rectangle 12"/>
          <p:cNvSpPr/>
          <p:nvPr/>
        </p:nvSpPr>
        <p:spPr>
          <a:xfrm>
            <a:off x="502920" y="7973568"/>
            <a:ext cx="6556248" cy="9144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7973568"/>
            <a:ext cx="655624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8083296"/>
            <a:ext cx="628192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SEMANAL</a:t>
            </a:r>
          </a:p>
        </p:txBody>
      </p:sp>
      <p:sp>
        <p:nvSpPr>
          <p:cNvPr id="16" name="TextBox 15"/>
          <p:cNvSpPr txBox="1"/>
          <p:nvPr/>
        </p:nvSpPr>
        <p:spPr>
          <a:xfrm>
            <a:off x="640080" y="8357616"/>
            <a:ext cx="6281928" cy="457200"/>
          </a:xfrm>
          <a:prstGeom prst="rect">
            <a:avLst/>
          </a:prstGeom>
          <a:noFill/>
        </p:spPr>
        <p:txBody>
          <a:bodyPr wrap="square" anchor="t" lIns="45720" rIns="45720" tIns="27432" bIns="27432">
            <a:spAutoFit/>
          </a:bodyPr>
          <a:lstStyle/>
          <a:p>
            <a:pPr algn="l">
              <a:lnSpc>
                <a:spcPct val="115000"/>
              </a:lnSpc>
              <a:spcAft>
                <a:spcPts val="300"/>
              </a:spcAft>
            </a:pPr>
            <a:r>
              <a:rPr sz="1100" b="0" i="0">
                <a:solidFill>
                  <a:srgbClr val="2E2A36"/>
                </a:solidFill>
                <a:latin typeface="Montserrat"/>
              </a:rPr>
              <a:t>Revisión del embudo: dónde se están quedando los contactos.</a:t>
            </a:r>
          </a:p>
        </p:txBody>
      </p:sp>
      <p:sp>
        <p:nvSpPr>
          <p:cNvPr id="17" name="Rectangle 16"/>
          <p:cNvSpPr/>
          <p:nvPr/>
        </p:nvSpPr>
        <p:spPr>
          <a:xfrm>
            <a:off x="502920" y="8997696"/>
            <a:ext cx="6556248" cy="9144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2920" y="8997696"/>
            <a:ext cx="655624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9107424"/>
            <a:ext cx="628192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MENSUAL</a:t>
            </a:r>
          </a:p>
        </p:txBody>
      </p:sp>
      <p:sp>
        <p:nvSpPr>
          <p:cNvPr id="20" name="TextBox 19"/>
          <p:cNvSpPr txBox="1"/>
          <p:nvPr/>
        </p:nvSpPr>
        <p:spPr>
          <a:xfrm>
            <a:off x="640080" y="9381744"/>
            <a:ext cx="6281928" cy="457200"/>
          </a:xfrm>
          <a:prstGeom prst="rect">
            <a:avLst/>
          </a:prstGeom>
          <a:noFill/>
        </p:spPr>
        <p:txBody>
          <a:bodyPr wrap="square" anchor="t" lIns="45720" rIns="45720" tIns="27432" bIns="27432">
            <a:spAutoFit/>
          </a:bodyPr>
          <a:lstStyle/>
          <a:p>
            <a:pPr algn="l">
              <a:lnSpc>
                <a:spcPct val="115000"/>
              </a:lnSpc>
              <a:spcAft>
                <a:spcPts val="300"/>
              </a:spcAft>
            </a:pPr>
            <a:r>
              <a:rPr sz="1100" b="0" i="0">
                <a:solidFill>
                  <a:srgbClr val="2E2A36"/>
                </a:solidFill>
                <a:latin typeface="Montserrat"/>
              </a:rPr>
              <a:t>Resultado vs. meta, ajuste de ruta y reconocimiento.</a:t>
            </a:r>
          </a:p>
        </p:txBody>
      </p:sp>
      <p:sp>
        <p:nvSpPr>
          <p:cNvPr id="21" name="TextBox 20"/>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2" name="TextBox 21"/>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CREMACIÓN · ADD-ON</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Solución Modular de Cremación</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US$ 1.000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Lanzamiento (−20%): US$ 800 · Pago en hasta 120 meses, con intereses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Módulo de cremación que se integra a cualquier plan funerario vigente o nuevo de Vangrupo, sin cambiar de plan.</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Afiliados actuales y nuevos que quieren sumar la cremación con una cuota mínima.</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Proceso completo de cremación individual</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Urna cineraria de línea modular</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Trámites legales básicos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Alquiler temporal de columbario por 1 año en Hogar de las Memorias</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Se vende como adicional a un plan funerario (actual o nuevo).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Cobertura individual: un módulo por titular o beneficiario.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Debe estar pagado en su totalidad para usar la cremación y el columbario.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El columbario temporal es por 12 meses; al término, la familia elige destino final (oportunidad para ofrecer un Jardín de Cenizas o un columbario).</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"Usted ya protegió a su familia con su plan. Pagando en hasta 120 meses, puede sumar la cremación completa, con urna, trámites y un año de columbario incluido. Así nadie tendrá que decidir ni pagar de golpe en un momento difícil."</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¿Su plan actual incluye la cremación o solo el servicio funerario?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¿Ha conversado en familia qué preferencia tiene usted?</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¿Qué le preocupa más: el costo o tener que decidir de urgencia?</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"¿Le parece si lo sumamos a su plan desde este mes, con la primera cuota de hoy?"</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"Mi plan ya es suficiente." → "Su plan cubre el servicio funerario; la cremación y la urna se pagarían aparte y de una sola vez. Con el módulo queda todo cubierto en cuotas pequeñas."</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Ofrézcalo siempre junto a un jardín: la familia resuelve cremación y destino final en una sola decisión.</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JARDÍN 1 · INHUMACIÓN INDIVIDUAL</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Individual</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US$ 600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Lanzamiento (−20%): US$ 480 · Pago único o financiado · Mantenimiento US$ 15/año</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Inhumación de la urna en un contenedor enterrado con tapa de granito grabada, en un jardín de plantas de sombra: un lugar para visitar por 30 años desde la primera inhumación, renovable.</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quieren un lugar propio para visitar, con una inversión moderada.</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de la urna en contenedor individual (Ø 32 × 40 cm)</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Tapa de granito con los datos del ser querido</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Ubicación en el Jardín 1, con paisajismo de plantas de sombra</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Camino en gravilla y espacio de contemplación con banco</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1 urna.</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Cuota de mantenimiento anual: US$ 15. Permanencia: 30 años desde la primera inhumación, renovable.</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El contenedor queda con 20 cm a la vista; la tapa de granito es la identificación.</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"Después de la cremación, muchas familias se preguntan dónde dejar las cenizas. En nuestro Jardín 1, su ser querido descansa bajo una tapa de granito con su nombre, rodeado de plantas y con un banco para sentarse a recordar. Es un lugar para volver, con la dignidad que merece."</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¿Dónde le gustaría poder visitar a su ser querido?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¿Tienen hoy las cenizas en casa o en un columbario temporal?</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¿Quién más de la familia participaría en las visitas?</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"¿Le gustaría conocer el jardín esta semana para elegir el lugar con calma?"</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"Prefiero tener las cenizas en casa." → "Es comprensible querer tenerlas cerca. En el jardín, toda la familia puede visitarlas, y las cenizas quedan protegidas si algún día hay mudanzas o cambios en el hogar."</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El jardín vende solo: priorice siempre la visita.</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JARDÍN 1 · PARCELA FAMILIAR</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Familiar</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US$ 2.000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Lanzamiento (−20%): US$ 1.600 · Pago único o financiado · Mantenimiento US$ 24/año</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Parcela familiar en el Jardín 1 con cuatro contenedores agrupados, cada uno con tapa de granito grabada. Permanencia de 30 años desde la primera inhumación, renovable.</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buscan un espacio propio para varias generaciones.</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de hasta 4 urnas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Tapa de granito grabada para cada espacio</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Ubicación en el Jardín 1, con paisajismo de plantas de sombra</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Lugar de homenaje familiar por 30 años, renovable por igual período</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hasta 4 espacios.</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Permanencia: 30 años desde la primera inhumación, renovable por igual período.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Cuota de mantenimiento anual: US$ 24 por parcela.</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"Así como una familia comparte una casa, también puede compartir un lugar de memoria. La parcela familiar reúne hasta cuatro seres queridos en un mismo espacio, por 30 años renovables, y cuesta US$ 500 por espacio (US$ 400 con el precio de lanzamiento), menos que comprarlos por separado."</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¿Les gustaría que la familia esté reunida en un mismo lugar?</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¿Cuántas personas de la familia considerarían este destino?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¿Prefieren pagarlo de una vez o en cuotas?</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"¿Reservamos hoy la parcela para su familia y la pagan en cuotas cómodas?"</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"Es mucho dinero." → "Son US$ 500 por cada espacio, con financiamiento. Y es una decisión que se toma una sola vez para toda la familia."</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Use el argumento por espacio (US$ 500) y no el total.</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JARDÍN 2 · BOSQUE DE LAS ORQUÍDEAS</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Ecológico</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US$ 750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Lanzamiento (−20%): US$ 600 · Pago único o financiado · Placa memorial incluida</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La urna biodegradable se entierra directamente en el suelo y se integra a la naturaleza. Jardín con agua corriente, en el Jardín 2 o en el Bosque de las Orquídeas.</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Personas con conciencia ambiental que desean que sus cenizas vuelvan a la tierra.</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ecológica con urna biodegradable</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Placa de identificación (madera en el Jardín 2 · mármol en el Bosque)</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Entorno natural con agua corriente</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Permanencia de 3 años; luego, nombre en la placa memorial del monumento (incluida)</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1 urna. Espacio de 30 × 30 cm, 40 cm de profundidad.</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Permanencia: 3 años. Después, el espacio se reutiliza.</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Placa memorial en el monumento: incluida en el precio de US$ 750.</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Explique el plazo de 3 años con total transparencia desde la primera conversación.</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"Para quienes aman la naturaleza, el Jardín Ecológico es volver a la tierra. La urna se integra al suelo del bosque, junto al agua, y durante tres años la familia tiene un lugar señalado para visitar. Después, el nombre queda para siempre en el monumento memorial del jardín."</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¿Su ser querido tenía un vínculo especial con la naturaleza?</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¿Qué significa para ustedes "volver a la tierra"?</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¿Es importante para la familia un lugar con nombre para siempre?</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"¿Le parece si visitamos el Bosque de las Orquídeas y elegimos juntos el lugar?"</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"¿Y después de 3 años?" → "La urna ya se habrá integrado a la tierra, como era el deseo. El nombre pasa a la placa memorial del monumento, que queda para siempre en el jardín."</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Para familias católicas, enfatice que las cenizas reposan en el cementerio, un lugar dedicado a la memoria.</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ECOLÓGICO Y DE MASCOTAS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ciclo de 3 años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6_ciclo_ecologico.png"/>
          <p:cNvPicPr>
            <a:picLocks noChangeAspect="1"/>
          </p:cNvPicPr>
          <p:nvPr/>
        </p:nvPicPr>
        <p:blipFill>
          <a:blip r:embed="rId2"/>
          <a:stretch>
            <a:fillRect/>
          </a:stretch>
        </p:blipFill>
        <p:spPr>
          <a:xfrm>
            <a:off x="502920" y="2911107"/>
            <a:ext cx="6556248" cy="1584426"/>
          </a:xfrm>
          <a:prstGeom prst="rect">
            <a:avLst/>
          </a:prstGeom>
        </p:spPr>
      </p:pic>
      <p:sp>
        <p:nvSpPr>
          <p:cNvPr id="7" name="Rectangle 6"/>
          <p:cNvSpPr/>
          <p:nvPr/>
        </p:nvSpPr>
        <p:spPr>
          <a:xfrm>
            <a:off x="502920" y="457200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457200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4572000"/>
            <a:ext cx="6099048" cy="1280160"/>
          </a:xfrm>
          <a:prstGeom prst="rect">
            <a:avLst/>
          </a:prstGeom>
          <a:noFill/>
        </p:spPr>
        <p:txBody>
          <a:bodyPr wrap="square" anchor="ctr" lIns="45720" rIns="45720" tIns="27432" bIns="27432">
            <a:spAutoFit/>
          </a:bodyPr>
          <a:lstStyle/>
          <a:p>
            <a:pPr algn="l">
              <a:lnSpc>
                <a:spcPct val="115000"/>
              </a:lnSpc>
              <a:spcAft>
                <a:spcPts val="400"/>
              </a:spcAft>
            </a:pPr>
            <a:r>
              <a:rPr sz="1000" b="1" i="0">
                <a:solidFill>
                  <a:srgbClr val="5B3F80"/>
                </a:solidFill>
                <a:latin typeface="Montserrat"/>
              </a:rPr>
              <a:t>TRANSPARENCIA   </a:t>
            </a:r>
            <a:r>
              <a:rPr sz="1150" b="0" i="0">
                <a:solidFill>
                  <a:srgbClr val="2E2A36"/>
                </a:solidFill>
                <a:latin typeface="Montserrat"/>
              </a:rPr>
              <a:t>Explique el plazo de 3 años desde la primera conversación. La placa memorial está incluida en el Jardín Ecológico y en el Jardín de Mascotas.</a:t>
            </a:r>
          </a:p>
        </p:txBody>
      </p:sp>
      <p:sp>
        <p:nvSpPr>
          <p:cNvPr id="10" name="TextBox 9"/>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1" name="TextBox 10"/>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MASCOTAS · INHUMACIÓN ECOLÓGICA</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Mascotas</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1900" b="1" i="0">
                <a:solidFill>
                  <a:srgbClr val="FFFFFF"/>
                </a:solidFill>
                <a:latin typeface="Montserrat"/>
              </a:rPr>
              <a:t>US$ 400 / US$ 550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Lanzamiento (−20%): US$ 320 / US$ 440 · US$ 400 solo espacio · US$ 550 con cremación</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Inhumación ecológica de las cenizas de la mascota: la urna biodegradable se entierra en el jardín y se identifica con una placa de madera. La opción de US$ 550 incluye también la cremación de la mascota.</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consideran a su mascota parte del hogar y desean un cierre digno.</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ecológica en el jardín de mascotas; cremación y urna biodegradable en la opción de US$ 550</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Placa de madera de 20 cm para identificación</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Permanencia de 3 años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Placa memorial en el monumento al término del plazo (incluida)</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1 mascota por servicio.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Permanencia: 3 años. Después, el espacio se reutiliza.</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Placa memorial incluida. Urna biodegradable incluida solo con cremación (US$ 550); con solo espacio (US$ 400) se compra aparte.</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Pago único; puede contratarse como adicional al plan funerario.</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"Su compañero fue parte de la familia, y merece una despedida a la altura. En nuestro Jardín de Mascotas descansa con su nombre, en un lugar verde donde ustedes pueden volver a recordarlo. Y con la placa memorial, su nombre queda para siempre en el monumento del jardín."</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¿Cómo se llamaba su compañero?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¿Ya se realizó la cremación o necesitan también ese servicio?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¿Les gustaría un lugar para visitarlo con los niños?</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"¿Prefieren la opción con cremación incluida, para resolver todo en un solo paso?"</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"Es solo una mascota." → No discuta el vínculo de la familia. Si el cliente minimiza, respete y ofrezca la información por escrito para que decida con calma.</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Llame a la mascota por su nombre durante toda la conversación.</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8E87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JARDÍN 3 · PRÓXIMO LANZAMIENTO</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Ceremonial</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PRÓXIMO LANZAMIENTO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A definir</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A definir</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Jardín para inhumación de urnas con ceremonia de agua, con fuentes como elemento central del rito de despedida.</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valoran un rito de despedida simbólico y un entorno contemplativo.</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de urnas de cenizas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Ceremonia con agua en fuente</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Barrera visual que separa el jardín del crematorio</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PRÓXIMO LANZAMIENTO: no se vende ni se cotiza todavía.</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Si un cliente muestra interés, registre su contacto como "interesado Ceremonial".</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"Estamos preparando un nuevo jardín con una ceremonia de agua muy especial. Si le interesa, con gusto le aviso apenas esté disponible."</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¿Le gustaría que le avisemos cuando esté disponible?</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Registrar el interés y ofrecer, mientras tanto, el Jardín Individual o el Ecológico.</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No aplica todavía.</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No prometa fechas ni precios.</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HOGAR DE LAS MEMORIAS · SERVICIO COMPLETO</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Columbario Supremo Plus</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SEGÚN UBICACIÓN</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1900" b="1" i="0">
                <a:solidFill>
                  <a:srgbClr val="FFFFFF"/>
                </a:solidFill>
                <a:latin typeface="Montserrat"/>
              </a:rPr>
              <a:t>US$ 2.700 – 3.900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000" b="0" i="1">
                <a:solidFill>
                  <a:srgbClr val="7D7887"/>
                </a:solidFill>
                <a:latin typeface="Montserrat"/>
              </a:rPr>
              <a:t>Finados y noviembre (−15%): desde US$ 2.295 · Pago único o hasta 120 meses, con intereses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Integra en un solo contrato el servicio funerario, dos cremaciones y un columbario permanente de cristal o mármol para hasta dos urnas, en El Hogar de las Memorias.</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quieren resolver en una sola compra el funeral, la cremación y un lugar permanente para dos seres queridos.</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Incluye columbario estándar permanente de cristal o mármol, para hasta 2 urnas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Traslados, preparación y resguardo hasta 5 días; Programa Vive de acompañamiento en el duelo</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Urnas cinerarias básicas (2) y 2 cremaciones con certificado</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Capilla de velación 24 h, ataúd ceremonial y carroza tradicional</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hasta 2 urnas; incluye 2 cremaciones.</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Con ubicación definida: US$ 3.400 – 3.900; a futuro: US$ 2.700 – 3.200 (según fila y nivel).</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Elija velación en La Auxiliadora (Maquilishuat o Básica) o en Capillas Memoriales (Las Camelias o Básica).</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"Con el Supremo Plus su familia no tendrá que coordinar nada: el servicio funerario, la cremación y el lugar donde descansarán las cenizas quedan resueltos en un solo contrato, para dos personas y para siempre."</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¿Han pensado dónde quedarían las cenizas después de la cremación?</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¿Lo considera para usted y su pareja, o para sus padres?</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¿Prefiere elegir hoy el nicho o dejar la ubicación para más adelante?</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"¿Aprovechamos el precio de noviembre y elegimos hoy la ubicación?"</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"Es una inversión alta." → "Incluye todo para dos personas: funeral, dos cremaciones y el columbario permanente. Y puede pagarse en hasta 120 meses."</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Si el presupuesto no alcanza para la ubicación definida, ofrezca la ubicación a futuro: el mismo producto, a menor precio.</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HOGAR DE LAS MEMORIAS · COLUMBARIO</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Columbario Mármol o Cristal</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SEGÚN UBICACIÓN</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1900" b="1" i="0">
                <a:solidFill>
                  <a:srgbClr val="FFFFFF"/>
                </a:solidFill>
                <a:latin typeface="Montserrat"/>
              </a:rPr>
              <a:t>US$ 1.200 – 2.600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000" b="0" i="1">
                <a:solidFill>
                  <a:srgbClr val="7D7887"/>
                </a:solidFill>
                <a:latin typeface="Montserrat"/>
              </a:rPr>
              <a:t>Finados y noviembre (−15%): desde US$ 1.020 · Pago único o hasta 120 meses, con intereses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Ideal para las cenizas de la familia: columbario permanente de mármol o cristal en El Hogar de las Memorias, elegante, sereno y de diseño atemporal.</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ya tienen la cremación resuelta y buscan un lugar permanente y elegante para las cenizas.</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Incluye espacio permanente en columbario de mármol o cristal</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Tamaño estándar: hasta 2 urnas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Ubicación definida o a futuro, según la opción contratada</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Cremación no incluida: se contrata aparte (por ejemplo, con la Solución Modular).</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Con ubicación definida: US$ 2.600; a futuro: US$ 1.200 – 1.900 (según fila y nivel).</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"Las cenizas de su ser querido merecen un lugar propio y permanente. En El Hogar de las Memorias, el columbario de mármol o cristal guarda hasta dos urnas en un espacio sereno, donde la familia siempre podrá volver."</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¿Las cenizas están hoy en casa o en un columbario temporal?</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¿Prefieren el mármol o el cristal?</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¿Pensarían en un espacio para dos personas de la familia?</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"¿Visitamos El Hogar de las Memorias para que elija la fila y el nivel?"</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"Ya tengo las cenizas en casa." → "Es natural tenerlas cerca. En el columbario quedan protegidas para siempre y toda la familia puede visitarlas."</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Es el destino natural al terminar los 12 meses de columbario temporal de la Solución Modular.</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HOGAR DE LAS MEMORIAS · COLUMBARIO PREMIUM</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Columbario Ónix</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SEGÚN MODALIDAD</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1900" b="1" i="0">
                <a:solidFill>
                  <a:srgbClr val="FFFFFF"/>
                </a:solidFill>
                <a:latin typeface="Montserrat"/>
              </a:rPr>
              <a:t>US$ 3.100 / 5.000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000" b="0" i="1">
                <a:solidFill>
                  <a:srgbClr val="7D7887"/>
                </a:solidFill>
                <a:latin typeface="Montserrat"/>
              </a:rPr>
              <a:t>Finados y noviembre (−15%): US$ 2.635 / 4.250 · Único o hasta 120 meses, con intereses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Inspirado en la belleza del ónix natural, de tonos cálidos y apariencia luminosa: un columbario exclusivo para un homenaje perdurable.</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buscan exclusividad y una piedra natural de alta gama para el homenaje.</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Incluye espacio permanente en columbario de ónix natural</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Tamaño estándar: hasta 2 urnas, con ubicación definida (US$ 3.100)</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Una opción familiar: hasta 4 urnas, con ubicación a futuro (US$ 5.000)</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Cremación no incluida: se contrata aparte.</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Con la modalidad estándar la ubicación es definida; con la familiar, a futuro.</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"El ónix es una piedra natural única: su luz y sus tonos cálidos hacen de cada espacio un lugar de paz. Es un homenaje distinto, a la altura de quien usted ama."</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¿Qué tipo de homenaje imagina para su familia?</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¿Sería para dos personas o para la familia completa?</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"¿Le muestro el columbario de ónix para que vea la piedra en persona?"</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"Hay opciones más baratas." → "Sí, y con gusto se las muestro. El ónix es para quien busca algo único: una piedra natural que no se repite."</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Muestre la piedra en persona: la luz del ónix se aprecia mejor que en cualquier foto.</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HOGAR DE LAS MEMORIAS · COLUMBARIO FAMILIAR</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Columbario Obra de Arte</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US$ 12.500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Finados y noviembre (−15%): US$ 10.625 · Pago único o hasta 120 meses, con intereses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Imagen religiosa sobre tapa de ónix: un columbario familiar que es una expresión única de fe, memoria y belleza.</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de fe que desean un legado único y de máxima exclusividad.</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Incluye columbario familiar permanente para hasta 4 urnas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Tapa exclusiva de ónix con obra de arte religiosa</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Ubicación definida</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hasta 4 urnas (familiar).</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Cremación no incluida: se contrata aparte.</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"Este columbario es una obra de arte de fe: la tapa de ónix con imagen religiosa convierte el lugar de descanso de su familia en un espacio de oración y contemplación, para generaciones."</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¿Qué lugar tiene la fe en la forma en que su familia recuerda?</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¿Cuántos miembros de la familia lo considerarían?</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"¿Reservamos hoy el espacio familiar con el precio de noviembre?"</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"Es muy caro." → "Es un legado para cuatro personas, para siempre, y puede pagarse en hasta 120 meses. Es la opción más exclusiva del portafolio."</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Preséntelo con calma y en persona; no lo ofrezca a quien busca la opción más económica.</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MAUSOLEO BELLA VISTA · CREMACIÓN + COLUMBARIO</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Columbario Cristal · Bella Vista</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SEGÚN UBICACIÓN</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1900" b="1" i="0">
                <a:solidFill>
                  <a:srgbClr val="FFFFFF"/>
                </a:solidFill>
                <a:latin typeface="Montserrat"/>
              </a:rPr>
              <a:t>US$ 1.300 – 2.900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000" b="0" i="1">
                <a:solidFill>
                  <a:srgbClr val="7D7887"/>
                </a:solidFill>
                <a:latin typeface="Montserrat"/>
              </a:rPr>
              <a:t>Finados y noviembre (−15%): desde US$ 1.105 · Pago único o hasta 120 meses, con intereses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Incluye el proceso completo de cremación y un columbario de cristal en el mausoleo vertical Bella Vista, dentro del cementerio.</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buscan la opción más accesible de cremación con columbario permanente, para 2 o 4 personas.</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Incluye columbario de cristal permanente (30 × 30 × 30 cm)</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Traslados, preparación y resguardo hasta 5 días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Urnas y cremaciones: 2 en la modalidad estándar, 4 en la familiar</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Certificado de cremación y ceremonia privada de colocación</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Con modalidad estándar: definida US$ 1.800 · a futuro US$ 1.300.</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Con modalidad familiar: definida US$ 2.900 · a futuro US$ 2.300.</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En este producto la cremación está incluida: no hace falta contratarla aparte.</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"Bella Vista resuelve en un solo paso la cremación y el lugar de descanso: un columbario de cristal en nuestro mausoleo vertical, para dos o cuatro personas, con todo el proceso incluido."</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¿Lo considera para dos personas o para la familia?</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¿Prefieren elegir ya la ubicación o dejarla a futuro?</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"¿Aprovechamos el precio de noviembre y lo dejamos resuelto hoy?"</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"Prefiero un jardín." → "Perfecto, también tenemos los Jardines de Cenizas. Bella Vista es para quien prefiere un columbario, con la cremación ya incluida."</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Es la puerta de entrada a los columbarios: cremación y destino final desde US$ 1.105 en noviembre.</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método V·R·A</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4_objeciones.png"/>
          <p:cNvPicPr>
            <a:picLocks noChangeAspect="1"/>
          </p:cNvPicPr>
          <p:nvPr/>
        </p:nvPicPr>
        <p:blipFill>
          <a:blip r:embed="rId2"/>
          <a:stretch>
            <a:fillRect/>
          </a:stretch>
        </p:blipFill>
        <p:spPr>
          <a:xfrm>
            <a:off x="502920" y="1623267"/>
            <a:ext cx="6556248" cy="2011265"/>
          </a:xfrm>
          <a:prstGeom prst="rect">
            <a:avLst/>
          </a:prstGeom>
        </p:spPr>
      </p:pic>
      <p:sp>
        <p:nvSpPr>
          <p:cNvPr id="7" name="Rectangle 6"/>
          <p:cNvSpPr/>
          <p:nvPr/>
        </p:nvSpPr>
        <p:spPr>
          <a:xfrm>
            <a:off x="502920" y="384048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84048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1.  "No quiero pensar en eso, es de mala suerte."</a:t>
            </a:r>
          </a:p>
        </p:txBody>
      </p:sp>
      <p:sp>
        <p:nvSpPr>
          <p:cNvPr id="9" name="Rectangle 8"/>
          <p:cNvSpPr/>
          <p:nvPr/>
        </p:nvSpPr>
        <p:spPr>
          <a:xfrm>
            <a:off x="502920" y="429768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434340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"Entiendo, a nadie le gusta hablar de este tema."</a:t>
            </a:r>
          </a:p>
        </p:txBody>
      </p:sp>
      <p:sp>
        <p:nvSpPr>
          <p:cNvPr id="11" name="Rectangle 10"/>
          <p:cNvSpPr/>
          <p:nvPr/>
        </p:nvSpPr>
        <p:spPr>
          <a:xfrm>
            <a:off x="2423160" y="429768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4600" y="434340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Planificar con calma es justamente lo que evita que su familia tenga que decidir en el peor momento. Es un acto de cuidado, no de pesimismo.</a:t>
            </a:r>
          </a:p>
        </p:txBody>
      </p:sp>
      <p:sp>
        <p:nvSpPr>
          <p:cNvPr id="13" name="Rectangle 12"/>
          <p:cNvSpPr/>
          <p:nvPr/>
        </p:nvSpPr>
        <p:spPr>
          <a:xfrm>
            <a:off x="5230368" y="429768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21808" y="434340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dejo la información para que la conversen en casa?"</a:t>
            </a:r>
          </a:p>
        </p:txBody>
      </p:sp>
      <p:sp>
        <p:nvSpPr>
          <p:cNvPr id="15" name="Rectangle 14"/>
          <p:cNvSpPr/>
          <p:nvPr/>
        </p:nvSpPr>
        <p:spPr>
          <a:xfrm>
            <a:off x="502920" y="603504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603504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2.  "Soy católico, la cremación no está permitida."</a:t>
            </a:r>
          </a:p>
        </p:txBody>
      </p:sp>
      <p:sp>
        <p:nvSpPr>
          <p:cNvPr id="17" name="Rectangle 16"/>
          <p:cNvSpPr/>
          <p:nvPr/>
        </p:nvSpPr>
        <p:spPr>
          <a:xfrm>
            <a:off x="502920" y="649224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53796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"Su fe es muy importante y la respetamos."</a:t>
            </a:r>
          </a:p>
        </p:txBody>
      </p:sp>
      <p:sp>
        <p:nvSpPr>
          <p:cNvPr id="19" name="Rectangle 18"/>
          <p:cNvSpPr/>
          <p:nvPr/>
        </p:nvSpPr>
        <p:spPr>
          <a:xfrm>
            <a:off x="2423160" y="649224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4600" y="653796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La Iglesia Católica permite la cremación desde 1963. Lo que pide es que las cenizas reposen en un lugar dedicado, como el cementerio, y no en casa ni dispersas. Nuestros jardines cumplen exactamente con eso.</a:t>
            </a:r>
          </a:p>
        </p:txBody>
      </p:sp>
      <p:sp>
        <p:nvSpPr>
          <p:cNvPr id="21" name="Rectangle 20"/>
          <p:cNvSpPr/>
          <p:nvPr/>
        </p:nvSpPr>
        <p:spPr>
          <a:xfrm>
            <a:off x="5230368" y="649224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21808" y="653796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gustaría conocer el jardín y ver cómo es el lugar?"</a:t>
            </a:r>
          </a:p>
        </p:txBody>
      </p:sp>
      <p:sp>
        <p:nvSpPr>
          <p:cNvPr id="23" name="TextBox 22"/>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4" name="TextBox 23"/>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0020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0020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3.  "Prefiero la sepultura tradicional."</a:t>
            </a:r>
          </a:p>
        </p:txBody>
      </p:sp>
      <p:sp>
        <p:nvSpPr>
          <p:cNvPr id="8" name="Rectangle 7"/>
          <p:cNvSpPr/>
          <p:nvPr/>
        </p:nvSpPr>
        <p:spPr>
          <a:xfrm>
            <a:off x="502920" y="205740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"Es una tradición muy valiosa."</a:t>
            </a:r>
          </a:p>
        </p:txBody>
      </p:sp>
      <p:sp>
        <p:nvSpPr>
          <p:cNvPr id="10" name="Rectangle 9"/>
          <p:cNvSpPr/>
          <p:nvPr/>
        </p:nvSpPr>
        <p:spPr>
          <a:xfrm>
            <a:off x="2423160" y="205740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4600" y="210312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El jardín conserva lo esencial de la sepultura: un lugar con nombre para visitar, con un costo mucho menor y en un entorno natural.</a:t>
            </a:r>
          </a:p>
        </p:txBody>
      </p:sp>
      <p:sp>
        <p:nvSpPr>
          <p:cNvPr id="12" name="Rectangle 11"/>
          <p:cNvSpPr/>
          <p:nvPr/>
        </p:nvSpPr>
        <p:spPr>
          <a:xfrm>
            <a:off x="5230368" y="205740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21808"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muestro la diferencia de inversión entre ambas opciones?"</a:t>
            </a:r>
          </a:p>
        </p:txBody>
      </p:sp>
      <p:sp>
        <p:nvSpPr>
          <p:cNvPr id="14" name="Rectangle 13"/>
          <p:cNvSpPr/>
          <p:nvPr/>
        </p:nvSpPr>
        <p:spPr>
          <a:xfrm>
            <a:off x="502920" y="379476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79476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4.  "Está caro."</a:t>
            </a:r>
          </a:p>
        </p:txBody>
      </p:sp>
      <p:sp>
        <p:nvSpPr>
          <p:cNvPr id="16" name="Rectangle 15"/>
          <p:cNvSpPr/>
          <p:nvPr/>
        </p:nvSpPr>
        <p:spPr>
          <a:xfrm>
            <a:off x="502920" y="425196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"Comprendo, es una inversión."</a:t>
            </a:r>
          </a:p>
        </p:txBody>
      </p:sp>
      <p:sp>
        <p:nvSpPr>
          <p:cNvPr id="18" name="Rectangle 17"/>
          <p:cNvSpPr/>
          <p:nvPr/>
        </p:nvSpPr>
        <p:spPr>
          <a:xfrm>
            <a:off x="2423160" y="425196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4600" y="429768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En la urgencia los costos son mayores y se pagan de golpe. Hoy fija el precio y lo paga en cuotas: la Solución Modular se paga en hasta 120 meses.</a:t>
            </a:r>
          </a:p>
        </p:txBody>
      </p:sp>
      <p:sp>
        <p:nvSpPr>
          <p:cNvPr id="20" name="Rectangle 19"/>
          <p:cNvSpPr/>
          <p:nvPr/>
        </p:nvSpPr>
        <p:spPr>
          <a:xfrm>
            <a:off x="5230368" y="425196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1808"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resulta más cómodo pagarlo en cuotas mensuales?"</a:t>
            </a:r>
          </a:p>
        </p:txBody>
      </p:sp>
      <p:sp>
        <p:nvSpPr>
          <p:cNvPr id="22" name="Rectangle 21"/>
          <p:cNvSpPr/>
          <p:nvPr/>
        </p:nvSpPr>
        <p:spPr>
          <a:xfrm>
            <a:off x="502920" y="598932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98932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5.  "Tengo que hablarlo con mi familia."</a:t>
            </a:r>
          </a:p>
        </p:txBody>
      </p:sp>
      <p:sp>
        <p:nvSpPr>
          <p:cNvPr id="24" name="Rectangle 23"/>
          <p:cNvSpPr/>
          <p:nvPr/>
        </p:nvSpPr>
        <p:spPr>
          <a:xfrm>
            <a:off x="502920" y="644652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"Claro, es una decisión de familia."</a:t>
            </a:r>
          </a:p>
        </p:txBody>
      </p:sp>
      <p:sp>
        <p:nvSpPr>
          <p:cNvPr id="26" name="Rectangle 25"/>
          <p:cNvSpPr/>
          <p:nvPr/>
        </p:nvSpPr>
        <p:spPr>
          <a:xfrm>
            <a:off x="2423160" y="644652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14600" y="649224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Facilite esa conversación: ofrezca un resumen simple y quedar disponible para resolver dudas de todos juntos.</a:t>
            </a:r>
          </a:p>
        </p:txBody>
      </p:sp>
      <p:sp>
        <p:nvSpPr>
          <p:cNvPr id="28" name="Rectangle 27"/>
          <p:cNvSpPr/>
          <p:nvPr/>
        </p:nvSpPr>
        <p:spPr>
          <a:xfrm>
            <a:off x="5230368" y="644652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21808"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"¿Puedo llamarle el [día] para ver si quedó alguna pregunta?"</a:t>
            </a:r>
          </a:p>
        </p:txBody>
      </p:sp>
      <p:sp>
        <p:nvSpPr>
          <p:cNvPr id="30" name="TextBox 29"/>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1" name="TextBox 30"/>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0020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0020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6.  "Prefiero tener las cenizas en casa."</a:t>
            </a:r>
          </a:p>
        </p:txBody>
      </p:sp>
      <p:sp>
        <p:nvSpPr>
          <p:cNvPr id="8" name="Rectangle 7"/>
          <p:cNvSpPr/>
          <p:nvPr/>
        </p:nvSpPr>
        <p:spPr>
          <a:xfrm>
            <a:off x="502920" y="205740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"Es natural querer tenerlas cerca."</a:t>
            </a:r>
          </a:p>
        </p:txBody>
      </p:sp>
      <p:sp>
        <p:nvSpPr>
          <p:cNvPr id="10" name="Rectangle 9"/>
          <p:cNvSpPr/>
          <p:nvPr/>
        </p:nvSpPr>
        <p:spPr>
          <a:xfrm>
            <a:off x="2423160" y="205740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4600" y="210312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En el jardín toda la familia puede visitarlas, quedan protegidas ante mudanzas o cambios, y tienen un lugar con su nombre.</a:t>
            </a:r>
          </a:p>
        </p:txBody>
      </p:sp>
      <p:sp>
        <p:nvSpPr>
          <p:cNvPr id="12" name="Rectangle 11"/>
          <p:cNvSpPr/>
          <p:nvPr/>
        </p:nvSpPr>
        <p:spPr>
          <a:xfrm>
            <a:off x="5230368" y="205740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21808"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gustaría visitar el jardín antes de decidir?"</a:t>
            </a:r>
          </a:p>
        </p:txBody>
      </p:sp>
      <p:sp>
        <p:nvSpPr>
          <p:cNvPr id="14" name="Rectangle 13"/>
          <p:cNvSpPr/>
          <p:nvPr/>
        </p:nvSpPr>
        <p:spPr>
          <a:xfrm>
            <a:off x="502920" y="379476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79476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7.  "¿Por qué pagar mantenimiento cada año?"</a:t>
            </a:r>
          </a:p>
        </p:txBody>
      </p:sp>
      <p:sp>
        <p:nvSpPr>
          <p:cNvPr id="16" name="Rectangle 15"/>
          <p:cNvSpPr/>
          <p:nvPr/>
        </p:nvSpPr>
        <p:spPr>
          <a:xfrm>
            <a:off x="502920" y="425196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"Es una pregunta muy válida."</a:t>
            </a:r>
          </a:p>
        </p:txBody>
      </p:sp>
      <p:sp>
        <p:nvSpPr>
          <p:cNvPr id="18" name="Rectangle 17"/>
          <p:cNvSpPr/>
          <p:nvPr/>
        </p:nvSpPr>
        <p:spPr>
          <a:xfrm>
            <a:off x="2423160" y="425196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4600" y="429768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La cuota (US$ 15 o US$ 24 al año) mantiene el jardín siempre cuidado: poda, riego y limpieza. Es lo que garantiza que el lugar luzca digno en cada visita.</a:t>
            </a:r>
          </a:p>
        </p:txBody>
      </p:sp>
      <p:sp>
        <p:nvSpPr>
          <p:cNvPr id="20" name="Rectangle 19"/>
          <p:cNvSpPr/>
          <p:nvPr/>
        </p:nvSpPr>
        <p:spPr>
          <a:xfrm>
            <a:off x="5230368" y="425196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1808"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explico qué incluye el cuidado del jardín?"</a:t>
            </a:r>
          </a:p>
        </p:txBody>
      </p:sp>
      <p:sp>
        <p:nvSpPr>
          <p:cNvPr id="22" name="Rectangle 21"/>
          <p:cNvSpPr/>
          <p:nvPr/>
        </p:nvSpPr>
        <p:spPr>
          <a:xfrm>
            <a:off x="502920" y="598932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98932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8.  "No confío en estos planes."</a:t>
            </a:r>
          </a:p>
        </p:txBody>
      </p:sp>
      <p:sp>
        <p:nvSpPr>
          <p:cNvPr id="24" name="Rectangle 23"/>
          <p:cNvSpPr/>
          <p:nvPr/>
        </p:nvSpPr>
        <p:spPr>
          <a:xfrm>
            <a:off x="502920" y="644652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"Es una preocupación válida."</a:t>
            </a:r>
          </a:p>
        </p:txBody>
      </p:sp>
      <p:sp>
        <p:nvSpPr>
          <p:cNvPr id="26" name="Rectangle 25"/>
          <p:cNvSpPr/>
          <p:nvPr/>
        </p:nvSpPr>
        <p:spPr>
          <a:xfrm>
            <a:off x="2423160" y="644652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14600" y="649224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Somos La Auxiliadora, Hogar de las Memorias y Las Colinas, empresas de Vangrupo con trayectoria en El Salvador. El contrato es transparente y puede visitar el jardín cuando quiera.</a:t>
            </a:r>
          </a:p>
        </p:txBody>
      </p:sp>
      <p:sp>
        <p:nvSpPr>
          <p:cNvPr id="28" name="Rectangle 27"/>
          <p:cNvSpPr/>
          <p:nvPr/>
        </p:nvSpPr>
        <p:spPr>
          <a:xfrm>
            <a:off x="5230368" y="644652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21808"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"¿Agendamos una visita sin compromiso?"</a:t>
            </a:r>
          </a:p>
        </p:txBody>
      </p:sp>
      <p:sp>
        <p:nvSpPr>
          <p:cNvPr id="30" name="TextBox 29"/>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1" name="TextBox 30"/>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Tabla de precios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Fuente oficial: Ficha Técnica vigente. Precios sugeridos en US$, IVA incluido.</a:t>
            </a:r>
          </a:p>
        </p:txBody>
      </p:sp>
      <p:graphicFrame>
        <p:nvGraphicFramePr>
          <p:cNvPr id="7" name="Table 6"/>
          <p:cNvGraphicFramePr>
            <a:graphicFrameLocks noGrp="1"/>
          </p:cNvGraphicFramePr>
          <p:nvPr/>
        </p:nvGraphicFramePr>
        <p:xfrm>
          <a:off x="502920" y="2011680"/>
          <a:ext cx="6556245" cy="3968496"/>
        </p:xfrm>
        <a:graphic>
          <a:graphicData uri="http://schemas.openxmlformats.org/drawingml/2006/table">
            <a:tbl>
              <a:tblPr firstRow="1" bandRow="1">
                <a:tableStyleId>{5C22544A-7EE6-4342-B048-85BDC9FD1C3A}</a:tableStyleId>
              </a:tblPr>
              <a:tblGrid>
                <a:gridCol w="1440933"/>
                <a:gridCol w="1008653"/>
                <a:gridCol w="1440933"/>
                <a:gridCol w="792513"/>
                <a:gridCol w="1873213"/>
              </a:tblGrid>
              <a:tr h="566928">
                <a:tc>
                  <a:txBody>
                    <a:bodyPr wrap="square"/>
                    <a:lstStyle/>
                    <a:p>
                      <a:r>
                        <a:rPr sz="1000" b="1">
                          <a:solidFill>
                            <a:srgbClr val="FFFFFF"/>
                          </a:solidFill>
                          <a:latin typeface="Montserrat"/>
                        </a:rPr>
                        <a:t>Producto</a:t>
                      </a:r>
                    </a:p>
                  </a:txBody>
                  <a:tcPr marL="73152" marR="73152" marT="36576" marB="36576" anchor="ctr">
                    <a:solidFill>
                      <a:srgbClr val="5B3F80"/>
                    </a:solidFill>
                  </a:tcPr>
                </a:tc>
                <a:tc>
                  <a:txBody>
                    <a:bodyPr wrap="square"/>
                    <a:lstStyle/>
                    <a:p>
                      <a:r>
                        <a:rPr sz="1000" b="1">
                          <a:solidFill>
                            <a:srgbClr val="FFFFFF"/>
                          </a:solidFill>
                          <a:latin typeface="Montserrat"/>
                        </a:rPr>
                        <a:t>Precio</a:t>
                      </a:r>
                    </a:p>
                  </a:txBody>
                  <a:tcPr marL="73152" marR="73152" marT="36576" marB="36576" anchor="ctr">
                    <a:solidFill>
                      <a:srgbClr val="5B3F80"/>
                    </a:solidFill>
                  </a:tcPr>
                </a:tc>
                <a:tc>
                  <a:txBody>
                    <a:bodyPr wrap="square"/>
                    <a:lstStyle/>
                    <a:p>
                      <a:r>
                        <a:rPr sz="1000" b="1">
                          <a:solidFill>
                            <a:srgbClr val="FFFFFF"/>
                          </a:solidFill>
                          <a:latin typeface="Montserrat"/>
                        </a:rPr>
                        <a:t>Pago</a:t>
                      </a:r>
                    </a:p>
                  </a:txBody>
                  <a:tcPr marL="73152" marR="73152" marT="36576" marB="36576" anchor="ctr">
                    <a:solidFill>
                      <a:srgbClr val="5B3F80"/>
                    </a:solidFill>
                  </a:tcPr>
                </a:tc>
                <a:tc>
                  <a:txBody>
                    <a:bodyPr wrap="square"/>
                    <a:lstStyle/>
                    <a:p>
                      <a:r>
                        <a:rPr sz="1000" b="1">
                          <a:solidFill>
                            <a:srgbClr val="FFFFFF"/>
                          </a:solidFill>
                          <a:latin typeface="Montserrat"/>
                        </a:rPr>
                        <a:t>Mant.</a:t>
                      </a:r>
                    </a:p>
                  </a:txBody>
                  <a:tcPr marL="73152" marR="73152" marT="36576" marB="36576" anchor="ctr">
                    <a:solidFill>
                      <a:srgbClr val="5B3F80"/>
                    </a:solidFill>
                  </a:tcPr>
                </a:tc>
                <a:tc>
                  <a:txBody>
                    <a:bodyPr wrap="square"/>
                    <a:lstStyle/>
                    <a:p>
                      <a:r>
                        <a:rPr sz="1000" b="1">
                          <a:solidFill>
                            <a:srgbClr val="FFFFFF"/>
                          </a:solidFill>
                          <a:latin typeface="Montserrat"/>
                        </a:rPr>
                        <a:t>Plazo / condición</a:t>
                      </a:r>
                    </a:p>
                  </a:txBody>
                  <a:tcPr marL="73152" marR="73152" marT="36576" marB="36576" anchor="ctr">
                    <a:solidFill>
                      <a:srgbClr val="5B3F80"/>
                    </a:solidFill>
                  </a:tcPr>
                </a:tc>
              </a:tr>
              <a:tr h="566928">
                <a:tc>
                  <a:txBody>
                    <a:bodyPr wrap="square"/>
                    <a:lstStyle/>
                    <a:p>
                      <a:r>
                        <a:rPr sz="1000" b="1">
                          <a:solidFill>
                            <a:srgbClr val="5B3F80"/>
                          </a:solidFill>
                          <a:latin typeface="Montserrat"/>
                        </a:rPr>
                        <a:t>Solución Modular</a:t>
                      </a:r>
                    </a:p>
                  </a:txBody>
                  <a:tcPr marL="73152" marR="73152" marT="36576" marB="36576" anchor="ctr">
                    <a:solidFill>
                      <a:srgbClr val="FFFFFF"/>
                    </a:solidFill>
                  </a:tcPr>
                </a:tc>
                <a:tc>
                  <a:txBody>
                    <a:bodyPr wrap="square"/>
                    <a:lstStyle/>
                    <a:p>
                      <a:r>
                        <a:rPr sz="1000" b="0">
                          <a:solidFill>
                            <a:srgbClr val="2E2A36"/>
                          </a:solidFill>
                          <a:latin typeface="Montserrat"/>
                        </a:rPr>
                        <a:t>US$ 1.000 · lanz. US$ 800</a:t>
                      </a:r>
                    </a:p>
                  </a:txBody>
                  <a:tcPr marL="73152" marR="73152" marT="36576" marB="36576" anchor="ctr">
                    <a:solidFill>
                      <a:srgbClr val="FFFFFF"/>
                    </a:solidFill>
                  </a:tcPr>
                </a:tc>
                <a:tc>
                  <a:txBody>
                    <a:bodyPr wrap="square"/>
                    <a:lstStyle/>
                    <a:p>
                      <a:r>
                        <a:rPr sz="1000" b="0">
                          <a:solidFill>
                            <a:srgbClr val="2E2A36"/>
                          </a:solidFill>
                          <a:latin typeface="Montserrat"/>
                        </a:rPr>
                        <a:t>Hasta 120 meses, con intereses</a:t>
                      </a:r>
                    </a:p>
                  </a:txBody>
                  <a:tcPr marL="73152" marR="73152" marT="36576" marB="36576" anchor="ctr">
                    <a:solidFill>
                      <a:srgbClr val="FFFFFF"/>
                    </a:solidFill>
                  </a:tcPr>
                </a:tc>
                <a:tc>
                  <a:txBody>
                    <a:bodyPr wrap="square"/>
                    <a:lstStyle/>
                    <a:p>
                      <a:r>
                        <a:rPr sz="1000" b="0">
                          <a:solidFill>
                            <a:srgbClr val="2E2A36"/>
                          </a:solidFill>
                          <a:latin typeface="Montserrat"/>
                        </a:rPr>
                        <a:t>—</a:t>
                      </a:r>
                    </a:p>
                  </a:txBody>
                  <a:tcPr marL="73152" marR="73152" marT="36576" marB="36576" anchor="ctr">
                    <a:solidFill>
                      <a:srgbClr val="FFFFFF"/>
                    </a:solidFill>
                  </a:tcPr>
                </a:tc>
                <a:tc>
                  <a:txBody>
                    <a:bodyPr wrap="square"/>
                    <a:lstStyle/>
                    <a:p>
                      <a:r>
                        <a:rPr sz="1000" b="0">
                          <a:solidFill>
                            <a:srgbClr val="2E2A36"/>
                          </a:solidFill>
                          <a:latin typeface="Montserrat"/>
                        </a:rPr>
                        <a:t>Columbario 1 año incluido</a:t>
                      </a:r>
                    </a:p>
                  </a:txBody>
                  <a:tcPr marL="73152" marR="73152" marT="36576" marB="36576" anchor="ctr">
                    <a:solidFill>
                      <a:srgbClr val="FFFFFF"/>
                    </a:solidFill>
                  </a:tcPr>
                </a:tc>
              </a:tr>
              <a:tr h="566928">
                <a:tc>
                  <a:txBody>
                    <a:bodyPr wrap="square"/>
                    <a:lstStyle/>
                    <a:p>
                      <a:r>
                        <a:rPr sz="1000" b="1">
                          <a:solidFill>
                            <a:srgbClr val="5B3F80"/>
                          </a:solidFill>
                          <a:latin typeface="Montserrat"/>
                        </a:rPr>
                        <a:t>Jardín Individual</a:t>
                      </a:r>
                    </a:p>
                  </a:txBody>
                  <a:tcPr marL="73152" marR="73152" marT="36576" marB="36576" anchor="ctr">
                    <a:solidFill>
                      <a:srgbClr val="F5F2F8"/>
                    </a:solidFill>
                  </a:tcPr>
                </a:tc>
                <a:tc>
                  <a:txBody>
                    <a:bodyPr wrap="square"/>
                    <a:lstStyle/>
                    <a:p>
                      <a:r>
                        <a:rPr sz="1000" b="0">
                          <a:solidFill>
                            <a:srgbClr val="2E2A36"/>
                          </a:solidFill>
                          <a:latin typeface="Montserrat"/>
                        </a:rPr>
                        <a:t>US$ 600 · lanz. US$ 480</a:t>
                      </a:r>
                    </a:p>
                  </a:txBody>
                  <a:tcPr marL="73152" marR="73152" marT="36576" marB="36576" anchor="ctr">
                    <a:solidFill>
                      <a:srgbClr val="F5F2F8"/>
                    </a:solidFill>
                  </a:tcPr>
                </a:tc>
                <a:tc>
                  <a:txBody>
                    <a:bodyPr wrap="square"/>
                    <a:lstStyle/>
                    <a:p>
                      <a:r>
                        <a:rPr sz="1000" b="0">
                          <a:solidFill>
                            <a:srgbClr val="2E2A36"/>
                          </a:solidFill>
                          <a:latin typeface="Montserrat"/>
                        </a:rPr>
                        <a:t>Único o financiado</a:t>
                      </a:r>
                    </a:p>
                  </a:txBody>
                  <a:tcPr marL="73152" marR="73152" marT="36576" marB="36576" anchor="ctr">
                    <a:solidFill>
                      <a:srgbClr val="F5F2F8"/>
                    </a:solidFill>
                  </a:tcPr>
                </a:tc>
                <a:tc>
                  <a:txBody>
                    <a:bodyPr wrap="square"/>
                    <a:lstStyle/>
                    <a:p>
                      <a:r>
                        <a:rPr sz="1000" b="0">
                          <a:solidFill>
                            <a:srgbClr val="2E2A36"/>
                          </a:solidFill>
                          <a:latin typeface="Montserrat"/>
                        </a:rPr>
                        <a:t>US$ 15/año</a:t>
                      </a:r>
                    </a:p>
                  </a:txBody>
                  <a:tcPr marL="73152" marR="73152" marT="36576" marB="36576" anchor="ctr">
                    <a:solidFill>
                      <a:srgbClr val="F5F2F8"/>
                    </a:solidFill>
                  </a:tcPr>
                </a:tc>
                <a:tc>
                  <a:txBody>
                    <a:bodyPr wrap="square"/>
                    <a:lstStyle/>
                    <a:p>
                      <a:r>
                        <a:rPr sz="1000" b="0">
                          <a:solidFill>
                            <a:srgbClr val="2E2A36"/>
                          </a:solidFill>
                          <a:latin typeface="Montserrat"/>
                        </a:rPr>
                        <a:t>30 años, renovable</a:t>
                      </a:r>
                    </a:p>
                  </a:txBody>
                  <a:tcPr marL="73152" marR="73152" marT="36576" marB="36576" anchor="ctr">
                    <a:solidFill>
                      <a:srgbClr val="F5F2F8"/>
                    </a:solidFill>
                  </a:tcPr>
                </a:tc>
              </a:tr>
              <a:tr h="566928">
                <a:tc>
                  <a:txBody>
                    <a:bodyPr wrap="square"/>
                    <a:lstStyle/>
                    <a:p>
                      <a:r>
                        <a:rPr sz="1000" b="1">
                          <a:solidFill>
                            <a:srgbClr val="5B3F80"/>
                          </a:solidFill>
                          <a:latin typeface="Montserrat"/>
                        </a:rPr>
                        <a:t>Jardín Familiar</a:t>
                      </a:r>
                    </a:p>
                  </a:txBody>
                  <a:tcPr marL="73152" marR="73152" marT="36576" marB="36576" anchor="ctr">
                    <a:solidFill>
                      <a:srgbClr val="FFFFFF"/>
                    </a:solidFill>
                  </a:tcPr>
                </a:tc>
                <a:tc>
                  <a:txBody>
                    <a:bodyPr wrap="square"/>
                    <a:lstStyle/>
                    <a:p>
                      <a:r>
                        <a:rPr sz="1000" b="0">
                          <a:solidFill>
                            <a:srgbClr val="2E2A36"/>
                          </a:solidFill>
                          <a:latin typeface="Montserrat"/>
                        </a:rPr>
                        <a:t>US$ 2.000 · lanz. US$ 1.600</a:t>
                      </a:r>
                    </a:p>
                  </a:txBody>
                  <a:tcPr marL="73152" marR="73152" marT="36576" marB="36576" anchor="ctr">
                    <a:solidFill>
                      <a:srgbClr val="FFFFFF"/>
                    </a:solidFill>
                  </a:tcPr>
                </a:tc>
                <a:tc>
                  <a:txBody>
                    <a:bodyPr wrap="square"/>
                    <a:lstStyle/>
                    <a:p>
                      <a:r>
                        <a:rPr sz="1000" b="0">
                          <a:solidFill>
                            <a:srgbClr val="2E2A36"/>
                          </a:solidFill>
                          <a:latin typeface="Montserrat"/>
                        </a:rPr>
                        <a:t>Único o financiado</a:t>
                      </a:r>
                    </a:p>
                  </a:txBody>
                  <a:tcPr marL="73152" marR="73152" marT="36576" marB="36576" anchor="ctr">
                    <a:solidFill>
                      <a:srgbClr val="FFFFFF"/>
                    </a:solidFill>
                  </a:tcPr>
                </a:tc>
                <a:tc>
                  <a:txBody>
                    <a:bodyPr wrap="square"/>
                    <a:lstStyle/>
                    <a:p>
                      <a:r>
                        <a:rPr sz="1000" b="0">
                          <a:solidFill>
                            <a:srgbClr val="2E2A36"/>
                          </a:solidFill>
                          <a:latin typeface="Montserrat"/>
                        </a:rPr>
                        <a:t>US$ 24/año</a:t>
                      </a:r>
                    </a:p>
                  </a:txBody>
                  <a:tcPr marL="73152" marR="73152" marT="36576" marB="36576" anchor="ctr">
                    <a:solidFill>
                      <a:srgbClr val="FFFFFF"/>
                    </a:solidFill>
                  </a:tcPr>
                </a:tc>
                <a:tc>
                  <a:txBody>
                    <a:bodyPr wrap="square"/>
                    <a:lstStyle/>
                    <a:p>
                      <a:r>
                        <a:rPr sz="1000" b="0">
                          <a:solidFill>
                            <a:srgbClr val="2E2A36"/>
                          </a:solidFill>
                          <a:latin typeface="Montserrat"/>
                        </a:rPr>
                        <a:t>Hasta 4 espacios · 30 años, renovable</a:t>
                      </a:r>
                    </a:p>
                  </a:txBody>
                  <a:tcPr marL="73152" marR="73152" marT="36576" marB="36576" anchor="ctr">
                    <a:solidFill>
                      <a:srgbClr val="FFFFFF"/>
                    </a:solidFill>
                  </a:tcPr>
                </a:tc>
              </a:tr>
              <a:tr h="566928">
                <a:tc>
                  <a:txBody>
                    <a:bodyPr wrap="square"/>
                    <a:lstStyle/>
                    <a:p>
                      <a:r>
                        <a:rPr sz="1000" b="1">
                          <a:solidFill>
                            <a:srgbClr val="5B3F80"/>
                          </a:solidFill>
                          <a:latin typeface="Montserrat"/>
                        </a:rPr>
                        <a:t>Jardín Ecológico</a:t>
                      </a:r>
                    </a:p>
                  </a:txBody>
                  <a:tcPr marL="73152" marR="73152" marT="36576" marB="36576" anchor="ctr">
                    <a:solidFill>
                      <a:srgbClr val="F5F2F8"/>
                    </a:solidFill>
                  </a:tcPr>
                </a:tc>
                <a:tc>
                  <a:txBody>
                    <a:bodyPr wrap="square"/>
                    <a:lstStyle/>
                    <a:p>
                      <a:r>
                        <a:rPr sz="1000" b="0">
                          <a:solidFill>
                            <a:srgbClr val="2E2A36"/>
                          </a:solidFill>
                          <a:latin typeface="Montserrat"/>
                        </a:rPr>
                        <a:t>US$ 750 · lanz. US$ 600</a:t>
                      </a:r>
                    </a:p>
                  </a:txBody>
                  <a:tcPr marL="73152" marR="73152" marT="36576" marB="36576" anchor="ctr">
                    <a:solidFill>
                      <a:srgbClr val="F5F2F8"/>
                    </a:solidFill>
                  </a:tcPr>
                </a:tc>
                <a:tc>
                  <a:txBody>
                    <a:bodyPr wrap="square"/>
                    <a:lstStyle/>
                    <a:p>
                      <a:r>
                        <a:rPr sz="1000" b="0">
                          <a:solidFill>
                            <a:srgbClr val="2E2A36"/>
                          </a:solidFill>
                          <a:latin typeface="Montserrat"/>
                        </a:rPr>
                        <a:t>Único o financiado</a:t>
                      </a:r>
                    </a:p>
                  </a:txBody>
                  <a:tcPr marL="73152" marR="73152" marT="36576" marB="36576" anchor="ctr">
                    <a:solidFill>
                      <a:srgbClr val="F5F2F8"/>
                    </a:solidFill>
                  </a:tcPr>
                </a:tc>
                <a:tc>
                  <a:txBody>
                    <a:bodyPr wrap="square"/>
                    <a:lstStyle/>
                    <a:p>
                      <a:r>
                        <a:rPr sz="1000" b="0">
                          <a:solidFill>
                            <a:srgbClr val="2E2A36"/>
                          </a:solidFill>
                          <a:latin typeface="Montserrat"/>
                        </a:rPr>
                        <a:t>—</a:t>
                      </a:r>
                    </a:p>
                  </a:txBody>
                  <a:tcPr marL="73152" marR="73152" marT="36576" marB="36576" anchor="ctr">
                    <a:solidFill>
                      <a:srgbClr val="F5F2F8"/>
                    </a:solidFill>
                  </a:tcPr>
                </a:tc>
                <a:tc>
                  <a:txBody>
                    <a:bodyPr wrap="square"/>
                    <a:lstStyle/>
                    <a:p>
                      <a:r>
                        <a:rPr sz="1000" b="0">
                          <a:solidFill>
                            <a:srgbClr val="2E2A36"/>
                          </a:solidFill>
                          <a:latin typeface="Montserrat"/>
                        </a:rPr>
                        <a:t>3 años · placa memorial incluida</a:t>
                      </a:r>
                    </a:p>
                  </a:txBody>
                  <a:tcPr marL="73152" marR="73152" marT="36576" marB="36576" anchor="ctr">
                    <a:solidFill>
                      <a:srgbClr val="F5F2F8"/>
                    </a:solidFill>
                  </a:tcPr>
                </a:tc>
              </a:tr>
              <a:tr h="566928">
                <a:tc>
                  <a:txBody>
                    <a:bodyPr wrap="square"/>
                    <a:lstStyle/>
                    <a:p>
                      <a:r>
                        <a:rPr sz="1000" b="1">
                          <a:solidFill>
                            <a:srgbClr val="5B3F80"/>
                          </a:solidFill>
                          <a:latin typeface="Montserrat"/>
                        </a:rPr>
                        <a:t>Jardín de Mascotas</a:t>
                      </a:r>
                    </a:p>
                  </a:txBody>
                  <a:tcPr marL="73152" marR="73152" marT="36576" marB="36576" anchor="ctr">
                    <a:solidFill>
                      <a:srgbClr val="FFFFFF"/>
                    </a:solidFill>
                  </a:tcPr>
                </a:tc>
                <a:tc>
                  <a:txBody>
                    <a:bodyPr wrap="square"/>
                    <a:lstStyle/>
                    <a:p>
                      <a:r>
                        <a:rPr sz="1000" b="0">
                          <a:solidFill>
                            <a:srgbClr val="2E2A36"/>
                          </a:solidFill>
                          <a:latin typeface="Montserrat"/>
                        </a:rPr>
                        <a:t>US$ 400 / 550 · lanz. US$ 320 / 440</a:t>
                      </a:r>
                    </a:p>
                  </a:txBody>
                  <a:tcPr marL="73152" marR="73152" marT="36576" marB="36576" anchor="ctr">
                    <a:solidFill>
                      <a:srgbClr val="FFFFFF"/>
                    </a:solidFill>
                  </a:tcPr>
                </a:tc>
                <a:tc>
                  <a:txBody>
                    <a:bodyPr wrap="square"/>
                    <a:lstStyle/>
                    <a:p>
                      <a:r>
                        <a:rPr sz="1000" b="0">
                          <a:solidFill>
                            <a:srgbClr val="2E2A36"/>
                          </a:solidFill>
                          <a:latin typeface="Montserrat"/>
                        </a:rPr>
                        <a:t>Pago único</a:t>
                      </a:r>
                    </a:p>
                  </a:txBody>
                  <a:tcPr marL="73152" marR="73152" marT="36576" marB="36576" anchor="ctr">
                    <a:solidFill>
                      <a:srgbClr val="FFFFFF"/>
                    </a:solidFill>
                  </a:tcPr>
                </a:tc>
                <a:tc>
                  <a:txBody>
                    <a:bodyPr wrap="square"/>
                    <a:lstStyle/>
                    <a:p>
                      <a:r>
                        <a:rPr sz="1000" b="0">
                          <a:solidFill>
                            <a:srgbClr val="2E2A36"/>
                          </a:solidFill>
                          <a:latin typeface="Montserrat"/>
                        </a:rPr>
                        <a:t>—</a:t>
                      </a:r>
                    </a:p>
                  </a:txBody>
                  <a:tcPr marL="73152" marR="73152" marT="36576" marB="36576" anchor="ctr">
                    <a:solidFill>
                      <a:srgbClr val="FFFFFF"/>
                    </a:solidFill>
                  </a:tcPr>
                </a:tc>
                <a:tc>
                  <a:txBody>
                    <a:bodyPr wrap="square"/>
                    <a:lstStyle/>
                    <a:p>
                      <a:r>
                        <a:rPr sz="1000" b="0">
                          <a:solidFill>
                            <a:srgbClr val="2E2A36"/>
                          </a:solidFill>
                          <a:latin typeface="Montserrat"/>
                        </a:rPr>
                        <a:t>3 años · placa incluida · cremación y urna en la opción de US$ 550</a:t>
                      </a:r>
                    </a:p>
                  </a:txBody>
                  <a:tcPr marL="73152" marR="73152" marT="36576" marB="36576" anchor="ctr">
                    <a:solidFill>
                      <a:srgbClr val="FFFFFF"/>
                    </a:solidFill>
                  </a:tcPr>
                </a:tc>
              </a:tr>
              <a:tr h="566928">
                <a:tc>
                  <a:txBody>
                    <a:bodyPr wrap="square"/>
                    <a:lstStyle/>
                    <a:p>
                      <a:r>
                        <a:rPr sz="1000" b="1">
                          <a:solidFill>
                            <a:srgbClr val="5B3F80"/>
                          </a:solidFill>
                          <a:latin typeface="Montserrat"/>
                        </a:rPr>
                        <a:t>Jardín Ceremonial</a:t>
                      </a:r>
                    </a:p>
                  </a:txBody>
                  <a:tcPr marL="73152" marR="73152" marT="36576" marB="36576" anchor="ctr">
                    <a:solidFill>
                      <a:srgbClr val="FBF6EC"/>
                    </a:solidFill>
                  </a:tcPr>
                </a:tc>
                <a:tc>
                  <a:txBody>
                    <a:bodyPr wrap="square"/>
                    <a:lstStyle/>
                    <a:p>
                      <a:r>
                        <a:rPr sz="1000" b="0">
                          <a:solidFill>
                            <a:srgbClr val="2E2A36"/>
                          </a:solidFill>
                          <a:latin typeface="Montserrat"/>
                        </a:rPr>
                        <a:t>A definir</a:t>
                      </a:r>
                    </a:p>
                  </a:txBody>
                  <a:tcPr marL="73152" marR="73152" marT="36576" marB="36576" anchor="ctr">
                    <a:solidFill>
                      <a:srgbClr val="FBF6EC"/>
                    </a:solidFill>
                  </a:tcPr>
                </a:tc>
                <a:tc>
                  <a:txBody>
                    <a:bodyPr wrap="square"/>
                    <a:lstStyle/>
                    <a:p>
                      <a:r>
                        <a:rPr sz="1000" b="0">
                          <a:solidFill>
                            <a:srgbClr val="2E2A36"/>
                          </a:solidFill>
                          <a:latin typeface="Montserrat"/>
                        </a:rPr>
                        <a:t>A definir</a:t>
                      </a:r>
                    </a:p>
                  </a:txBody>
                  <a:tcPr marL="73152" marR="73152" marT="36576" marB="36576" anchor="ctr">
                    <a:solidFill>
                      <a:srgbClr val="FBF6EC"/>
                    </a:solidFill>
                  </a:tcPr>
                </a:tc>
                <a:tc>
                  <a:txBody>
                    <a:bodyPr wrap="square"/>
                    <a:lstStyle/>
                    <a:p>
                      <a:r>
                        <a:rPr sz="1000" b="0">
                          <a:solidFill>
                            <a:srgbClr val="2E2A36"/>
                          </a:solidFill>
                          <a:latin typeface="Montserrat"/>
                        </a:rPr>
                        <a:t>A definir</a:t>
                      </a:r>
                    </a:p>
                  </a:txBody>
                  <a:tcPr marL="73152" marR="73152" marT="36576" marB="36576" anchor="ctr">
                    <a:solidFill>
                      <a:srgbClr val="FBF6EC"/>
                    </a:solidFill>
                  </a:tcPr>
                </a:tc>
                <a:tc>
                  <a:txBody>
                    <a:bodyPr wrap="square"/>
                    <a:lstStyle/>
                    <a:p>
                      <a:r>
                        <a:rPr sz="1000" b="0">
                          <a:solidFill>
                            <a:srgbClr val="2E2A36"/>
                          </a:solidFill>
                          <a:latin typeface="Montserrat"/>
                        </a:rPr>
                        <a:t>Próximo lanzamiento</a:t>
                      </a:r>
                    </a:p>
                  </a:txBody>
                  <a:tcPr marL="73152" marR="73152" marT="36576" marB="36576" anchor="ctr">
                    <a:solidFill>
                      <a:srgbClr val="FBF6EC"/>
                    </a:solidFill>
                  </a:tcPr>
                </a:tc>
              </a:tr>
            </a:tbl>
          </a:graphicData>
        </a:graphic>
      </p:graphicFrame>
      <p:sp>
        <p:nvSpPr>
          <p:cNvPr id="8" name="Rectangle 7"/>
          <p:cNvSpPr/>
          <p:nvPr/>
        </p:nvSpPr>
        <p:spPr>
          <a:xfrm>
            <a:off x="502920" y="6263640"/>
            <a:ext cx="6556248" cy="118872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6263640"/>
            <a:ext cx="73152" cy="1188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6263640"/>
            <a:ext cx="6099048" cy="1188720"/>
          </a:xfrm>
          <a:prstGeom prst="rect">
            <a:avLst/>
          </a:prstGeom>
          <a:noFill/>
        </p:spPr>
        <p:txBody>
          <a:bodyPr wrap="square" anchor="ctr" lIns="45720" rIns="45720" tIns="27432" bIns="27432">
            <a:spAutoFit/>
          </a:bodyPr>
          <a:lstStyle/>
          <a:p>
            <a:pPr algn="l">
              <a:lnSpc>
                <a:spcPct val="115000"/>
              </a:lnSpc>
              <a:spcAft>
                <a:spcPts val="400"/>
              </a:spcAft>
            </a:pPr>
            <a:r>
              <a:rPr sz="1000" b="1" i="0">
                <a:solidFill>
                  <a:srgbClr val="5B3F80"/>
                </a:solidFill>
                <a:latin typeface="Montserrat"/>
              </a:rPr>
              <a:t>EL DESCUENTO NO ES LA SALIDA   </a:t>
            </a:r>
            <a:r>
              <a:rPr sz="1100" b="0" i="0">
                <a:solidFill>
                  <a:srgbClr val="2E2A36"/>
                </a:solidFill>
                <a:latin typeface="Montserrat"/>
              </a:rPr>
              <a:t>Competimos por valor, no por precio. Antes de ofrecer un descuento, refuerce lo que está incluido y la calidad del jardín. Un descuento fácil enseña al cliente a dudar del valor.</a:t>
            </a:r>
          </a:p>
        </p:txBody>
      </p:sp>
      <p:sp>
        <p:nvSpPr>
          <p:cNvPr id="11" name="TextBox 10"/>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2" name="TextBox 11"/>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Portafolio existente: columbarios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Descuento de 15% válido en Finados y durante noviembre.</a:t>
            </a:r>
          </a:p>
        </p:txBody>
      </p:sp>
      <p:sp>
        <p:nvSpPr>
          <p:cNvPr id="7" name="TextBox 6"/>
          <p:cNvSpPr txBox="1"/>
          <p:nvPr/>
        </p:nvSpPr>
        <p:spPr>
          <a:xfrm>
            <a:off x="502920" y="1965960"/>
            <a:ext cx="6556248" cy="1097280"/>
          </a:xfrm>
          <a:prstGeom prst="rect">
            <a:avLst/>
          </a:prstGeom>
          <a:noFill/>
        </p:spPr>
        <p:txBody>
          <a:bodyPr wrap="square" anchor="t" lIns="45720" rIns="45720" tIns="27432" bIns="27432">
            <a:spAutoFit/>
          </a:bodyPr>
          <a:lstStyle/>
          <a:p>
            <a:pPr algn="l">
              <a:lnSpc>
                <a:spcPct val="115000"/>
              </a:lnSpc>
              <a:spcAft>
                <a:spcPts val="400"/>
              </a:spcAft>
            </a:pPr>
            <a:r>
              <a:rPr sz="1150" b="0" i="0">
                <a:solidFill>
                  <a:srgbClr val="2E2A36"/>
                </a:solidFill>
                <a:latin typeface="Montserrat"/>
              </a:rPr>
              <a:t>Además de los lanzamientos, el portafolio de cremación incluye los columbarios que ya vendemos en El Hogar de las Memorias y en el mausoleo vertical Bella Vista. En Finados y durante noviembre tienen 15% de descuento. Se pagan al contado o financiados en hasta 120 meses, con intereses.</a:t>
            </a:r>
          </a:p>
        </p:txBody>
      </p:sp>
      <p:graphicFrame>
        <p:nvGraphicFramePr>
          <p:cNvPr id="8" name="Table 7"/>
          <p:cNvGraphicFramePr>
            <a:graphicFrameLocks noGrp="1"/>
          </p:cNvGraphicFramePr>
          <p:nvPr/>
        </p:nvGraphicFramePr>
        <p:xfrm>
          <a:off x="502920" y="3108960"/>
          <a:ext cx="6556247" cy="4389120"/>
        </p:xfrm>
        <a:graphic>
          <a:graphicData uri="http://schemas.openxmlformats.org/drawingml/2006/table">
            <a:tbl>
              <a:tblPr firstRow="1" bandRow="1">
                <a:tableStyleId>{5C22544A-7EE6-4342-B048-85BDC9FD1C3A}</a:tableStyleId>
              </a:tblPr>
              <a:tblGrid>
                <a:gridCol w="1214120"/>
                <a:gridCol w="1780709"/>
                <a:gridCol w="1537885"/>
                <a:gridCol w="728472"/>
                <a:gridCol w="1295061"/>
              </a:tblGrid>
              <a:tr h="731520">
                <a:tc>
                  <a:txBody>
                    <a:bodyPr wrap="square"/>
                    <a:lstStyle/>
                    <a:p>
                      <a:r>
                        <a:rPr sz="950" b="1">
                          <a:solidFill>
                            <a:srgbClr val="FFFFFF"/>
                          </a:solidFill>
                          <a:latin typeface="Montserrat"/>
                        </a:rPr>
                        <a:t>Producto</a:t>
                      </a:r>
                    </a:p>
                  </a:txBody>
                  <a:tcPr marL="73152" marR="73152" marT="36576" marB="36576" anchor="ctr">
                    <a:solidFill>
                      <a:srgbClr val="5B3F80"/>
                    </a:solidFill>
                  </a:tcPr>
                </a:tc>
                <a:tc>
                  <a:txBody>
                    <a:bodyPr wrap="square"/>
                    <a:lstStyle/>
                    <a:p>
                      <a:r>
                        <a:rPr sz="950" b="1">
                          <a:solidFill>
                            <a:srgbClr val="FFFFFF"/>
                          </a:solidFill>
                          <a:latin typeface="Montserrat"/>
                        </a:rPr>
                        <a:t>Precio</a:t>
                      </a:r>
                    </a:p>
                  </a:txBody>
                  <a:tcPr marL="73152" marR="73152" marT="36576" marB="36576" anchor="ctr">
                    <a:solidFill>
                      <a:srgbClr val="5B3F80"/>
                    </a:solidFill>
                  </a:tcPr>
                </a:tc>
                <a:tc>
                  <a:txBody>
                    <a:bodyPr wrap="square"/>
                    <a:lstStyle/>
                    <a:p>
                      <a:r>
                        <a:rPr sz="950" b="1">
                          <a:solidFill>
                            <a:srgbClr val="FFFFFF"/>
                          </a:solidFill>
                          <a:latin typeface="Montserrat"/>
                        </a:rPr>
                        <a:t>Finados y nov. (−15%)</a:t>
                      </a:r>
                    </a:p>
                  </a:txBody>
                  <a:tcPr marL="73152" marR="73152" marT="36576" marB="36576" anchor="ctr">
                    <a:solidFill>
                      <a:srgbClr val="5B3F80"/>
                    </a:solidFill>
                  </a:tcPr>
                </a:tc>
                <a:tc>
                  <a:txBody>
                    <a:bodyPr wrap="square"/>
                    <a:lstStyle/>
                    <a:p>
                      <a:r>
                        <a:rPr sz="950" b="1">
                          <a:solidFill>
                            <a:srgbClr val="FFFFFF"/>
                          </a:solidFill>
                          <a:latin typeface="Montserrat"/>
                        </a:rPr>
                        <a:t>Capac.</a:t>
                      </a:r>
                    </a:p>
                  </a:txBody>
                  <a:tcPr marL="73152" marR="73152" marT="36576" marB="36576" anchor="ctr">
                    <a:solidFill>
                      <a:srgbClr val="5B3F80"/>
                    </a:solidFill>
                  </a:tcPr>
                </a:tc>
                <a:tc>
                  <a:txBody>
                    <a:bodyPr wrap="square"/>
                    <a:lstStyle/>
                    <a:p>
                      <a:r>
                        <a:rPr sz="950" b="1">
                          <a:solidFill>
                            <a:srgbClr val="FFFFFF"/>
                          </a:solidFill>
                          <a:latin typeface="Montserrat"/>
                        </a:rPr>
                        <a:t>Incluye</a:t>
                      </a:r>
                    </a:p>
                  </a:txBody>
                  <a:tcPr marL="73152" marR="73152" marT="36576" marB="36576" anchor="ctr">
                    <a:solidFill>
                      <a:srgbClr val="5B3F80"/>
                    </a:solidFill>
                  </a:tcPr>
                </a:tc>
              </a:tr>
              <a:tr h="731520">
                <a:tc>
                  <a:txBody>
                    <a:bodyPr wrap="square"/>
                    <a:lstStyle/>
                    <a:p>
                      <a:r>
                        <a:rPr sz="950" b="1">
                          <a:solidFill>
                            <a:srgbClr val="5B3F80"/>
                          </a:solidFill>
                          <a:latin typeface="Montserrat"/>
                        </a:rPr>
                        <a:t>Supremo Plus</a:t>
                      </a:r>
                    </a:p>
                  </a:txBody>
                  <a:tcPr marL="73152" marR="73152" marT="36576" marB="36576" anchor="ctr">
                    <a:solidFill>
                      <a:srgbClr val="FFFFFF"/>
                    </a:solidFill>
                  </a:tcPr>
                </a:tc>
                <a:tc>
                  <a:txBody>
                    <a:bodyPr wrap="square"/>
                    <a:lstStyle/>
                    <a:p>
                      <a:r>
                        <a:rPr sz="950" b="0">
                          <a:solidFill>
                            <a:srgbClr val="2E2A36"/>
                          </a:solidFill>
                          <a:latin typeface="Montserrat"/>
                        </a:rPr>
                        <a:t>Definida US$ 3.400–3.900 · Futuro US$ 2.700–3.200</a:t>
                      </a:r>
                    </a:p>
                  </a:txBody>
                  <a:tcPr marL="73152" marR="73152" marT="36576" marB="36576" anchor="ctr">
                    <a:solidFill>
                      <a:srgbClr val="FFFFFF"/>
                    </a:solidFill>
                  </a:tcPr>
                </a:tc>
                <a:tc>
                  <a:txBody>
                    <a:bodyPr wrap="square"/>
                    <a:lstStyle/>
                    <a:p>
                      <a:r>
                        <a:rPr sz="950" b="0">
                          <a:solidFill>
                            <a:srgbClr val="2E2A36"/>
                          </a:solidFill>
                          <a:latin typeface="Montserrat"/>
                        </a:rPr>
                        <a:t>US$ 2.890–3.315 · US$ 2.295–2.720</a:t>
                      </a:r>
                    </a:p>
                  </a:txBody>
                  <a:tcPr marL="73152" marR="73152" marT="36576" marB="36576" anchor="ctr">
                    <a:solidFill>
                      <a:srgbClr val="FFFFFF"/>
                    </a:solidFill>
                  </a:tcPr>
                </a:tc>
                <a:tc>
                  <a:txBody>
                    <a:bodyPr wrap="square"/>
                    <a:lstStyle/>
                    <a:p>
                      <a:r>
                        <a:rPr sz="950" b="0">
                          <a:solidFill>
                            <a:srgbClr val="2E2A36"/>
                          </a:solidFill>
                          <a:latin typeface="Montserrat"/>
                        </a:rPr>
                        <a:t>2 urnas</a:t>
                      </a:r>
                    </a:p>
                  </a:txBody>
                  <a:tcPr marL="73152" marR="73152" marT="36576" marB="36576" anchor="ctr">
                    <a:solidFill>
                      <a:srgbClr val="FFFFFF"/>
                    </a:solidFill>
                  </a:tcPr>
                </a:tc>
                <a:tc>
                  <a:txBody>
                    <a:bodyPr wrap="square"/>
                    <a:lstStyle/>
                    <a:p>
                      <a:r>
                        <a:rPr sz="950" b="0">
                          <a:solidFill>
                            <a:srgbClr val="2E2A36"/>
                          </a:solidFill>
                          <a:latin typeface="Montserrat"/>
                        </a:rPr>
                        <a:t>Funeral + 2 cremaciones + columbario</a:t>
                      </a:r>
                    </a:p>
                  </a:txBody>
                  <a:tcPr marL="73152" marR="73152" marT="36576" marB="36576" anchor="ctr">
                    <a:solidFill>
                      <a:srgbClr val="FFFFFF"/>
                    </a:solidFill>
                  </a:tcPr>
                </a:tc>
              </a:tr>
              <a:tr h="731520">
                <a:tc>
                  <a:txBody>
                    <a:bodyPr wrap="square"/>
                    <a:lstStyle/>
                    <a:p>
                      <a:r>
                        <a:rPr sz="950" b="1">
                          <a:solidFill>
                            <a:srgbClr val="5B3F80"/>
                          </a:solidFill>
                          <a:latin typeface="Montserrat"/>
                        </a:rPr>
                        <a:t>Mármol o Cristal</a:t>
                      </a:r>
                    </a:p>
                  </a:txBody>
                  <a:tcPr marL="73152" marR="73152" marT="36576" marB="36576" anchor="ctr">
                    <a:solidFill>
                      <a:srgbClr val="F5F2F8"/>
                    </a:solidFill>
                  </a:tcPr>
                </a:tc>
                <a:tc>
                  <a:txBody>
                    <a:bodyPr wrap="square"/>
                    <a:lstStyle/>
                    <a:p>
                      <a:r>
                        <a:rPr sz="950" b="0">
                          <a:solidFill>
                            <a:srgbClr val="2E2A36"/>
                          </a:solidFill>
                          <a:latin typeface="Montserrat"/>
                        </a:rPr>
                        <a:t>Definida US$ 2.600 · Futuro US$ 1.200–1.900</a:t>
                      </a:r>
                    </a:p>
                  </a:txBody>
                  <a:tcPr marL="73152" marR="73152" marT="36576" marB="36576" anchor="ctr">
                    <a:solidFill>
                      <a:srgbClr val="F5F2F8"/>
                    </a:solidFill>
                  </a:tcPr>
                </a:tc>
                <a:tc>
                  <a:txBody>
                    <a:bodyPr wrap="square"/>
                    <a:lstStyle/>
                    <a:p>
                      <a:r>
                        <a:rPr sz="950" b="0">
                          <a:solidFill>
                            <a:srgbClr val="2E2A36"/>
                          </a:solidFill>
                          <a:latin typeface="Montserrat"/>
                        </a:rPr>
                        <a:t>US$ 2.210 · US$ 1.020–1.615</a:t>
                      </a:r>
                    </a:p>
                  </a:txBody>
                  <a:tcPr marL="73152" marR="73152" marT="36576" marB="36576" anchor="ctr">
                    <a:solidFill>
                      <a:srgbClr val="F5F2F8"/>
                    </a:solidFill>
                  </a:tcPr>
                </a:tc>
                <a:tc>
                  <a:txBody>
                    <a:bodyPr wrap="square"/>
                    <a:lstStyle/>
                    <a:p>
                      <a:r>
                        <a:rPr sz="950" b="0">
                          <a:solidFill>
                            <a:srgbClr val="2E2A36"/>
                          </a:solidFill>
                          <a:latin typeface="Montserrat"/>
                        </a:rPr>
                        <a:t>2 urnas</a:t>
                      </a:r>
                    </a:p>
                  </a:txBody>
                  <a:tcPr marL="73152" marR="73152" marT="36576" marB="36576" anchor="ctr">
                    <a:solidFill>
                      <a:srgbClr val="F5F2F8"/>
                    </a:solidFill>
                  </a:tcPr>
                </a:tc>
                <a:tc>
                  <a:txBody>
                    <a:bodyPr wrap="square"/>
                    <a:lstStyle/>
                    <a:p>
                      <a:r>
                        <a:rPr sz="950" b="0">
                          <a:solidFill>
                            <a:srgbClr val="2E2A36"/>
                          </a:solidFill>
                          <a:latin typeface="Montserrat"/>
                        </a:rPr>
                        <a:t>Solo columbario</a:t>
                      </a:r>
                    </a:p>
                  </a:txBody>
                  <a:tcPr marL="73152" marR="73152" marT="36576" marB="36576" anchor="ctr">
                    <a:solidFill>
                      <a:srgbClr val="F5F2F8"/>
                    </a:solidFill>
                  </a:tcPr>
                </a:tc>
              </a:tr>
              <a:tr h="731520">
                <a:tc>
                  <a:txBody>
                    <a:bodyPr wrap="square"/>
                    <a:lstStyle/>
                    <a:p>
                      <a:r>
                        <a:rPr sz="950" b="1">
                          <a:solidFill>
                            <a:srgbClr val="5B3F80"/>
                          </a:solidFill>
                          <a:latin typeface="Montserrat"/>
                        </a:rPr>
                        <a:t>Columbario Ónix</a:t>
                      </a:r>
                    </a:p>
                  </a:txBody>
                  <a:tcPr marL="73152" marR="73152" marT="36576" marB="36576" anchor="ctr">
                    <a:solidFill>
                      <a:srgbClr val="FFFFFF"/>
                    </a:solidFill>
                  </a:tcPr>
                </a:tc>
                <a:tc>
                  <a:txBody>
                    <a:bodyPr wrap="square"/>
                    <a:lstStyle/>
                    <a:p>
                      <a:r>
                        <a:rPr sz="950" b="0">
                          <a:solidFill>
                            <a:srgbClr val="2E2A36"/>
                          </a:solidFill>
                          <a:latin typeface="Montserrat"/>
                        </a:rPr>
                        <a:t>Estándar US$ 3.100 · Familiar US$ 5.000</a:t>
                      </a:r>
                    </a:p>
                  </a:txBody>
                  <a:tcPr marL="73152" marR="73152" marT="36576" marB="36576" anchor="ctr">
                    <a:solidFill>
                      <a:srgbClr val="FFFFFF"/>
                    </a:solidFill>
                  </a:tcPr>
                </a:tc>
                <a:tc>
                  <a:txBody>
                    <a:bodyPr wrap="square"/>
                    <a:lstStyle/>
                    <a:p>
                      <a:r>
                        <a:rPr sz="950" b="0">
                          <a:solidFill>
                            <a:srgbClr val="2E2A36"/>
                          </a:solidFill>
                          <a:latin typeface="Montserrat"/>
                        </a:rPr>
                        <a:t>US$ 2.635 · US$ 4.250</a:t>
                      </a:r>
                    </a:p>
                  </a:txBody>
                  <a:tcPr marL="73152" marR="73152" marT="36576" marB="36576" anchor="ctr">
                    <a:solidFill>
                      <a:srgbClr val="FFFFFF"/>
                    </a:solidFill>
                  </a:tcPr>
                </a:tc>
                <a:tc>
                  <a:txBody>
                    <a:bodyPr wrap="square"/>
                    <a:lstStyle/>
                    <a:p>
                      <a:r>
                        <a:rPr sz="950" b="0">
                          <a:solidFill>
                            <a:srgbClr val="2E2A36"/>
                          </a:solidFill>
                          <a:latin typeface="Montserrat"/>
                        </a:rPr>
                        <a:t>2 o 4 urnas</a:t>
                      </a:r>
                    </a:p>
                  </a:txBody>
                  <a:tcPr marL="73152" marR="73152" marT="36576" marB="36576" anchor="ctr">
                    <a:solidFill>
                      <a:srgbClr val="FFFFFF"/>
                    </a:solidFill>
                  </a:tcPr>
                </a:tc>
                <a:tc>
                  <a:txBody>
                    <a:bodyPr wrap="square"/>
                    <a:lstStyle/>
                    <a:p>
                      <a:r>
                        <a:rPr sz="950" b="0">
                          <a:solidFill>
                            <a:srgbClr val="2E2A36"/>
                          </a:solidFill>
                          <a:latin typeface="Montserrat"/>
                        </a:rPr>
                        <a:t>Solo columbario</a:t>
                      </a:r>
                    </a:p>
                  </a:txBody>
                  <a:tcPr marL="73152" marR="73152" marT="36576" marB="36576" anchor="ctr">
                    <a:solidFill>
                      <a:srgbClr val="FFFFFF"/>
                    </a:solidFill>
                  </a:tcPr>
                </a:tc>
              </a:tr>
              <a:tr h="731520">
                <a:tc>
                  <a:txBody>
                    <a:bodyPr wrap="square"/>
                    <a:lstStyle/>
                    <a:p>
                      <a:r>
                        <a:rPr sz="950" b="1">
                          <a:solidFill>
                            <a:srgbClr val="5B3F80"/>
                          </a:solidFill>
                          <a:latin typeface="Montserrat"/>
                        </a:rPr>
                        <a:t>Obra de Arte</a:t>
                      </a:r>
                    </a:p>
                  </a:txBody>
                  <a:tcPr marL="73152" marR="73152" marT="36576" marB="36576" anchor="ctr">
                    <a:solidFill>
                      <a:srgbClr val="F5F2F8"/>
                    </a:solidFill>
                  </a:tcPr>
                </a:tc>
                <a:tc>
                  <a:txBody>
                    <a:bodyPr wrap="square"/>
                    <a:lstStyle/>
                    <a:p>
                      <a:r>
                        <a:rPr sz="950" b="0">
                          <a:solidFill>
                            <a:srgbClr val="2E2A36"/>
                          </a:solidFill>
                          <a:latin typeface="Montserrat"/>
                        </a:rPr>
                        <a:t>Familiar US$ 12.500</a:t>
                      </a:r>
                    </a:p>
                  </a:txBody>
                  <a:tcPr marL="73152" marR="73152" marT="36576" marB="36576" anchor="ctr">
                    <a:solidFill>
                      <a:srgbClr val="F5F2F8"/>
                    </a:solidFill>
                  </a:tcPr>
                </a:tc>
                <a:tc>
                  <a:txBody>
                    <a:bodyPr wrap="square"/>
                    <a:lstStyle/>
                    <a:p>
                      <a:r>
                        <a:rPr sz="950" b="0">
                          <a:solidFill>
                            <a:srgbClr val="2E2A36"/>
                          </a:solidFill>
                          <a:latin typeface="Montserrat"/>
                        </a:rPr>
                        <a:t>US$ 10.625</a:t>
                      </a:r>
                    </a:p>
                  </a:txBody>
                  <a:tcPr marL="73152" marR="73152" marT="36576" marB="36576" anchor="ctr">
                    <a:solidFill>
                      <a:srgbClr val="F5F2F8"/>
                    </a:solidFill>
                  </a:tcPr>
                </a:tc>
                <a:tc>
                  <a:txBody>
                    <a:bodyPr wrap="square"/>
                    <a:lstStyle/>
                    <a:p>
                      <a:r>
                        <a:rPr sz="950" b="0">
                          <a:solidFill>
                            <a:srgbClr val="2E2A36"/>
                          </a:solidFill>
                          <a:latin typeface="Montserrat"/>
                        </a:rPr>
                        <a:t>4 urnas</a:t>
                      </a:r>
                    </a:p>
                  </a:txBody>
                  <a:tcPr marL="73152" marR="73152" marT="36576" marB="36576" anchor="ctr">
                    <a:solidFill>
                      <a:srgbClr val="F5F2F8"/>
                    </a:solidFill>
                  </a:tcPr>
                </a:tc>
                <a:tc>
                  <a:txBody>
                    <a:bodyPr wrap="square"/>
                    <a:lstStyle/>
                    <a:p>
                      <a:r>
                        <a:rPr sz="950" b="0">
                          <a:solidFill>
                            <a:srgbClr val="2E2A36"/>
                          </a:solidFill>
                          <a:latin typeface="Montserrat"/>
                        </a:rPr>
                        <a:t>Solo columbario</a:t>
                      </a:r>
                    </a:p>
                  </a:txBody>
                  <a:tcPr marL="73152" marR="73152" marT="36576" marB="36576" anchor="ctr">
                    <a:solidFill>
                      <a:srgbClr val="F5F2F8"/>
                    </a:solidFill>
                  </a:tcPr>
                </a:tc>
              </a:tr>
              <a:tr h="731520">
                <a:tc>
                  <a:txBody>
                    <a:bodyPr wrap="square"/>
                    <a:lstStyle/>
                    <a:p>
                      <a:r>
                        <a:rPr sz="950" b="1">
                          <a:solidFill>
                            <a:srgbClr val="5B3F80"/>
                          </a:solidFill>
                          <a:latin typeface="Montserrat"/>
                        </a:rPr>
                        <a:t>Bella Vista</a:t>
                      </a:r>
                    </a:p>
                  </a:txBody>
                  <a:tcPr marL="73152" marR="73152" marT="36576" marB="36576" anchor="ctr">
                    <a:solidFill>
                      <a:srgbClr val="FFFFFF"/>
                    </a:solidFill>
                  </a:tcPr>
                </a:tc>
                <a:tc>
                  <a:txBody>
                    <a:bodyPr wrap="square"/>
                    <a:lstStyle/>
                    <a:p>
                      <a:r>
                        <a:rPr sz="950" b="0">
                          <a:solidFill>
                            <a:srgbClr val="2E2A36"/>
                          </a:solidFill>
                          <a:latin typeface="Montserrat"/>
                        </a:rPr>
                        <a:t>Estándar US$ 1.800 / 1.300 · Familiar US$ 2.900 / 2.300</a:t>
                      </a:r>
                    </a:p>
                  </a:txBody>
                  <a:tcPr marL="73152" marR="73152" marT="36576" marB="36576" anchor="ctr">
                    <a:solidFill>
                      <a:srgbClr val="FFFFFF"/>
                    </a:solidFill>
                  </a:tcPr>
                </a:tc>
                <a:tc>
                  <a:txBody>
                    <a:bodyPr wrap="square"/>
                    <a:lstStyle/>
                    <a:p>
                      <a:r>
                        <a:rPr sz="950" b="0">
                          <a:solidFill>
                            <a:srgbClr val="2E2A36"/>
                          </a:solidFill>
                          <a:latin typeface="Montserrat"/>
                        </a:rPr>
                        <a:t>US$ 1.530 / 1.105 · US$ 2.465 / 1.955</a:t>
                      </a:r>
                    </a:p>
                  </a:txBody>
                  <a:tcPr marL="73152" marR="73152" marT="36576" marB="36576" anchor="ctr">
                    <a:solidFill>
                      <a:srgbClr val="FFFFFF"/>
                    </a:solidFill>
                  </a:tcPr>
                </a:tc>
                <a:tc>
                  <a:txBody>
                    <a:bodyPr wrap="square"/>
                    <a:lstStyle/>
                    <a:p>
                      <a:r>
                        <a:rPr sz="950" b="0">
                          <a:solidFill>
                            <a:srgbClr val="2E2A36"/>
                          </a:solidFill>
                          <a:latin typeface="Montserrat"/>
                        </a:rPr>
                        <a:t>2 o 4 urnas</a:t>
                      </a:r>
                    </a:p>
                  </a:txBody>
                  <a:tcPr marL="73152" marR="73152" marT="36576" marB="36576" anchor="ctr">
                    <a:solidFill>
                      <a:srgbClr val="FFFFFF"/>
                    </a:solidFill>
                  </a:tcPr>
                </a:tc>
                <a:tc>
                  <a:txBody>
                    <a:bodyPr wrap="square"/>
                    <a:lstStyle/>
                    <a:p>
                      <a:r>
                        <a:rPr sz="950" b="0">
                          <a:solidFill>
                            <a:srgbClr val="2E2A36"/>
                          </a:solidFill>
                          <a:latin typeface="Montserrat"/>
                        </a:rPr>
                        <a:t>Cremación + columbario</a:t>
                      </a:r>
                    </a:p>
                  </a:txBody>
                  <a:tcPr marL="73152" marR="73152" marT="36576" marB="36576" anchor="ctr">
                    <a:solidFill>
                      <a:srgbClr val="FFFFFF"/>
                    </a:solidFill>
                  </a:tcPr>
                </a:tc>
              </a:tr>
            </a:tbl>
          </a:graphicData>
        </a:graphic>
      </p:graphicFrame>
      <p:sp>
        <p:nvSpPr>
          <p:cNvPr id="9" name="Rectangle 8"/>
          <p:cNvSpPr/>
          <p:nvPr/>
        </p:nvSpPr>
        <p:spPr>
          <a:xfrm>
            <a:off x="502920" y="7726679"/>
            <a:ext cx="6556248" cy="13716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7726679"/>
            <a:ext cx="73152" cy="1371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7726679"/>
            <a:ext cx="6099048" cy="1371600"/>
          </a:xfrm>
          <a:prstGeom prst="rect">
            <a:avLst/>
          </a:prstGeom>
          <a:noFill/>
        </p:spPr>
        <p:txBody>
          <a:bodyPr wrap="square" anchor="ctr" lIns="45720" rIns="45720" tIns="27432" bIns="27432">
            <a:spAutoFit/>
          </a:bodyPr>
          <a:lstStyle/>
          <a:p>
            <a:pPr algn="l">
              <a:lnSpc>
                <a:spcPct val="115000"/>
              </a:lnSpc>
              <a:spcAft>
                <a:spcPts val="600"/>
              </a:spcAft>
            </a:pPr>
            <a:r>
              <a:rPr sz="1000" b="1" i="0">
                <a:solidFill>
                  <a:srgbClr val="5B3F80"/>
                </a:solidFill>
                <a:latin typeface="Montserrat"/>
              </a:rPr>
              <a:t>UBICACIÓN DEFINIDA O A FUTURO   </a:t>
            </a:r>
            <a:r>
              <a:rPr sz="1100" b="0" i="0">
                <a:solidFill>
                  <a:srgbClr val="2E2A36"/>
                </a:solidFill>
                <a:latin typeface="Montserrat"/>
              </a:rPr>
              <a:t>Ubicación definida: el nicho se elige al contratar. Ubicación a futuro: se compra hoy y el nicho se asigna más adelante. El precio varía según la fila y el nivel.</a:t>
            </a:r>
          </a:p>
          <a:p>
            <a:pPr algn="l">
              <a:lnSpc>
                <a:spcPct val="115000"/>
              </a:lnSpc>
              <a:spcAft>
                <a:spcPts val="600"/>
              </a:spcAft>
            </a:pPr>
            <a:r>
              <a:rPr sz="1000" b="0" i="1">
                <a:solidFill>
                  <a:srgbClr val="7D7887"/>
                </a:solidFill>
                <a:latin typeface="Montserrat"/>
              </a:rPr>
              <a:t>Precios según fila y nivel (Bella Vista: definida / a futuro). Pago único o financiado en hasta 120 meses, con intereses. El 15% vale solo en Finados y durante noviembre.</a:t>
            </a:r>
          </a:p>
        </p:txBody>
      </p:sp>
      <p:sp>
        <p:nvSpPr>
          <p:cNvPr id="12" name="TextBox 11"/>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3" name="TextBox 12"/>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Reglas comerciales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02920" y="1645920"/>
          <a:ext cx="6556248" cy="6949440"/>
        </p:xfrm>
        <a:graphic>
          <a:graphicData uri="http://schemas.openxmlformats.org/drawingml/2006/table">
            <a:tbl>
              <a:tblPr firstRow="1" bandRow="1">
                <a:tableStyleId>{5C22544A-7EE6-4342-B048-85BDC9FD1C3A}</a:tableStyleId>
              </a:tblPr>
              <a:tblGrid>
                <a:gridCol w="1821180"/>
                <a:gridCol w="4735068"/>
              </a:tblGrid>
              <a:tr h="868680">
                <a:tc>
                  <a:txBody>
                    <a:bodyPr wrap="square"/>
                    <a:lstStyle/>
                    <a:p>
                      <a:r>
                        <a:rPr sz="1100" b="1">
                          <a:solidFill>
                            <a:srgbClr val="FFFFFF"/>
                          </a:solidFill>
                          <a:latin typeface="Montserrat"/>
                        </a:rPr>
                        <a:t>Tema</a:t>
                      </a:r>
                    </a:p>
                  </a:txBody>
                  <a:tcPr marL="73152" marR="73152" marT="36576" marB="36576" anchor="ctr">
                    <a:solidFill>
                      <a:srgbClr val="5B3F80"/>
                    </a:solidFill>
                  </a:tcPr>
                </a:tc>
                <a:tc>
                  <a:txBody>
                    <a:bodyPr wrap="square"/>
                    <a:lstStyle/>
                    <a:p>
                      <a:r>
                        <a:rPr sz="1100" b="1">
                          <a:solidFill>
                            <a:srgbClr val="FFFFFF"/>
                          </a:solidFill>
                          <a:latin typeface="Montserrat"/>
                        </a:rPr>
                        <a:t>Regla</a:t>
                      </a:r>
                    </a:p>
                  </a:txBody>
                  <a:tcPr marL="73152" marR="73152" marT="36576" marB="36576" anchor="ctr">
                    <a:solidFill>
                      <a:srgbClr val="5B3F80"/>
                    </a:solidFill>
                  </a:tcPr>
                </a:tc>
              </a:tr>
              <a:tr h="868680">
                <a:tc>
                  <a:txBody>
                    <a:bodyPr wrap="square"/>
                    <a:lstStyle/>
                    <a:p>
                      <a:r>
                        <a:rPr sz="1100" b="1">
                          <a:solidFill>
                            <a:srgbClr val="5B3F80"/>
                          </a:solidFill>
                          <a:latin typeface="Montserrat"/>
                        </a:rPr>
                        <a:t>Precios</a:t>
                      </a:r>
                    </a:p>
                  </a:txBody>
                  <a:tcPr marL="73152" marR="73152" marT="36576" marB="36576" anchor="ctr">
                    <a:solidFill>
                      <a:srgbClr val="FFFFFF"/>
                    </a:solidFill>
                  </a:tcPr>
                </a:tc>
                <a:tc>
                  <a:txBody>
                    <a:bodyPr wrap="square"/>
                    <a:lstStyle/>
                    <a:p>
                      <a:r>
                        <a:rPr sz="1100" b="0">
                          <a:solidFill>
                            <a:srgbClr val="2E2A36"/>
                          </a:solidFill>
                          <a:latin typeface="Montserrat"/>
                        </a:rPr>
                        <a:t>Precios sugeridos en US$ con IVA incluido. Consulte siempre la Ficha Técnica vigente.</a:t>
                      </a:r>
                    </a:p>
                  </a:txBody>
                  <a:tcPr marL="73152" marR="73152" marT="36576" marB="36576" anchor="ctr">
                    <a:solidFill>
                      <a:srgbClr val="FFFFFF"/>
                    </a:solidFill>
                  </a:tcPr>
                </a:tc>
              </a:tr>
              <a:tr h="868680">
                <a:tc>
                  <a:txBody>
                    <a:bodyPr wrap="square"/>
                    <a:lstStyle/>
                    <a:p>
                      <a:r>
                        <a:rPr sz="1100" b="1">
                          <a:solidFill>
                            <a:srgbClr val="5B3F80"/>
                          </a:solidFill>
                          <a:latin typeface="Montserrat"/>
                        </a:rPr>
                        <a:t>Descuentos</a:t>
                      </a:r>
                    </a:p>
                  </a:txBody>
                  <a:tcPr marL="73152" marR="73152" marT="36576" marB="36576" anchor="ctr">
                    <a:solidFill>
                      <a:srgbClr val="F5F2F8"/>
                    </a:solidFill>
                  </a:tcPr>
                </a:tc>
                <a:tc>
                  <a:txBody>
                    <a:bodyPr wrap="square"/>
                    <a:lstStyle/>
                    <a:p>
                      <a:r>
                        <a:rPr sz="1100" b="0">
                          <a:solidFill>
                            <a:srgbClr val="2E2A36"/>
                          </a:solidFill>
                          <a:latin typeface="Montserrat"/>
                        </a:rPr>
                        <a:t>Productos de lanzamiento (ver Ficha Técnica): 20%. Portafolio existente de columbarios: 15%. Ambos descuentos valen solo en Finados y durante noviembre. Cualquier otro descuento, solo con autorización del supervisor (emergencia: máximo 5%).</a:t>
                      </a:r>
                    </a:p>
                  </a:txBody>
                  <a:tcPr marL="73152" marR="73152" marT="36576" marB="36576" anchor="ctr">
                    <a:solidFill>
                      <a:srgbClr val="F5F2F8"/>
                    </a:solidFill>
                  </a:tcPr>
                </a:tc>
              </a:tr>
              <a:tr h="868680">
                <a:tc>
                  <a:txBody>
                    <a:bodyPr wrap="square"/>
                    <a:lstStyle/>
                    <a:p>
                      <a:r>
                        <a:rPr sz="1100" b="1">
                          <a:solidFill>
                            <a:srgbClr val="5B3F80"/>
                          </a:solidFill>
                          <a:latin typeface="Montserrat"/>
                        </a:rPr>
                        <a:t>Mantenimiento</a:t>
                      </a:r>
                    </a:p>
                  </a:txBody>
                  <a:tcPr marL="73152" marR="73152" marT="36576" marB="36576" anchor="ctr">
                    <a:solidFill>
                      <a:srgbClr val="FFFFFF"/>
                    </a:solidFill>
                  </a:tcPr>
                </a:tc>
                <a:tc>
                  <a:txBody>
                    <a:bodyPr wrap="square"/>
                    <a:lstStyle/>
                    <a:p>
                      <a:r>
                        <a:rPr sz="1100" b="0">
                          <a:solidFill>
                            <a:srgbClr val="2E2A36"/>
                          </a:solidFill>
                          <a:latin typeface="Montserrat"/>
                        </a:rPr>
                        <a:t>Individual US$ 15/año y Familiar US$ 24/año. No es opcional: se explica antes de firmar.</a:t>
                      </a:r>
                    </a:p>
                  </a:txBody>
                  <a:tcPr marL="73152" marR="73152" marT="36576" marB="36576" anchor="ctr">
                    <a:solidFill>
                      <a:srgbClr val="FFFFFF"/>
                    </a:solidFill>
                  </a:tcPr>
                </a:tc>
              </a:tr>
              <a:tr h="868680">
                <a:tc>
                  <a:txBody>
                    <a:bodyPr wrap="square"/>
                    <a:lstStyle/>
                    <a:p>
                      <a:r>
                        <a:rPr sz="1100" b="1">
                          <a:solidFill>
                            <a:srgbClr val="5B3F80"/>
                          </a:solidFill>
                          <a:latin typeface="Montserrat"/>
                        </a:rPr>
                        <a:t>Plazos</a:t>
                      </a:r>
                    </a:p>
                  </a:txBody>
                  <a:tcPr marL="73152" marR="73152" marT="36576" marB="36576" anchor="ctr">
                    <a:solidFill>
                      <a:srgbClr val="F5F2F8"/>
                    </a:solidFill>
                  </a:tcPr>
                </a:tc>
                <a:tc>
                  <a:txBody>
                    <a:bodyPr wrap="square"/>
                    <a:lstStyle/>
                    <a:p>
                      <a:r>
                        <a:rPr sz="1100" b="0">
                          <a:solidFill>
                            <a:srgbClr val="2E2A36"/>
                          </a:solidFill>
                          <a:latin typeface="Montserrat"/>
                        </a:rPr>
                        <a:t>Individual y Familiar: 30 años desde la primera inhumación, renovables. Ecológico y Mascotas: 3 años. Se explica con total transparencia en la primera conversación.</a:t>
                      </a:r>
                    </a:p>
                  </a:txBody>
                  <a:tcPr marL="73152" marR="73152" marT="36576" marB="36576" anchor="ctr">
                    <a:solidFill>
                      <a:srgbClr val="F5F2F8"/>
                    </a:solidFill>
                  </a:tcPr>
                </a:tc>
              </a:tr>
              <a:tr h="868680">
                <a:tc>
                  <a:txBody>
                    <a:bodyPr wrap="square"/>
                    <a:lstStyle/>
                    <a:p>
                      <a:r>
                        <a:rPr sz="1100" b="1">
                          <a:solidFill>
                            <a:srgbClr val="5B3F80"/>
                          </a:solidFill>
                          <a:latin typeface="Montserrat"/>
                        </a:rPr>
                        <a:t>Placas memoriales</a:t>
                      </a:r>
                    </a:p>
                  </a:txBody>
                  <a:tcPr marL="73152" marR="73152" marT="36576" marB="36576" anchor="ctr">
                    <a:solidFill>
                      <a:srgbClr val="FFFFFF"/>
                    </a:solidFill>
                  </a:tcPr>
                </a:tc>
                <a:tc>
                  <a:txBody>
                    <a:bodyPr wrap="square"/>
                    <a:lstStyle/>
                    <a:p>
                      <a:r>
                        <a:rPr sz="1100" b="0">
                          <a:solidFill>
                            <a:srgbClr val="2E2A36"/>
                          </a:solidFill>
                          <a:latin typeface="Montserrat"/>
                        </a:rPr>
                        <a:t>Incluida en el Jardín Ecológico y en el Jardín de Mascotas.</a:t>
                      </a:r>
                    </a:p>
                  </a:txBody>
                  <a:tcPr marL="73152" marR="73152" marT="36576" marB="36576" anchor="ctr">
                    <a:solidFill>
                      <a:srgbClr val="FFFFFF"/>
                    </a:solidFill>
                  </a:tcPr>
                </a:tc>
              </a:tr>
              <a:tr h="868680">
                <a:tc>
                  <a:txBody>
                    <a:bodyPr wrap="square"/>
                    <a:lstStyle/>
                    <a:p>
                      <a:r>
                        <a:rPr sz="1100" b="1">
                          <a:solidFill>
                            <a:srgbClr val="5B3F80"/>
                          </a:solidFill>
                          <a:latin typeface="Montserrat"/>
                        </a:rPr>
                        <a:t>Dueño del contacto</a:t>
                      </a:r>
                    </a:p>
                  </a:txBody>
                  <a:tcPr marL="73152" marR="73152" marT="36576" marB="36576" anchor="ctr">
                    <a:solidFill>
                      <a:srgbClr val="F5F2F8"/>
                    </a:solidFill>
                  </a:tcPr>
                </a:tc>
                <a:tc>
                  <a:txBody>
                    <a:bodyPr wrap="square"/>
                    <a:lstStyle/>
                    <a:p>
                      <a:r>
                        <a:rPr sz="1100" b="0">
                          <a:solidFill>
                            <a:srgbClr val="2E2A36"/>
                          </a:solidFill>
                          <a:latin typeface="Montserrat"/>
                        </a:rPr>
                        <a:t>Quien registra primero. Sin interacción en 15 días, el contacto puede reasignarse.</a:t>
                      </a:r>
                    </a:p>
                  </a:txBody>
                  <a:tcPr marL="73152" marR="73152" marT="36576" marB="36576" anchor="ctr">
                    <a:solidFill>
                      <a:srgbClr val="F5F2F8"/>
                    </a:solidFill>
                  </a:tcPr>
                </a:tc>
              </a:tr>
              <a:tr h="868680">
                <a:tc>
                  <a:txBody>
                    <a:bodyPr wrap="square"/>
                    <a:lstStyle/>
                    <a:p>
                      <a:r>
                        <a:rPr sz="1100" b="1">
                          <a:solidFill>
                            <a:srgbClr val="5B3F80"/>
                          </a:solidFill>
                          <a:latin typeface="Montserrat"/>
                        </a:rPr>
                        <a:t>Lo que NO se promete</a:t>
                      </a:r>
                    </a:p>
                  </a:txBody>
                  <a:tcPr marL="73152" marR="73152" marT="36576" marB="36576" anchor="ctr">
                    <a:solidFill>
                      <a:srgbClr val="FFFFFF"/>
                    </a:solidFill>
                  </a:tcPr>
                </a:tc>
                <a:tc>
                  <a:txBody>
                    <a:bodyPr wrap="square"/>
                    <a:lstStyle/>
                    <a:p>
                      <a:r>
                        <a:rPr sz="1100" b="0">
                          <a:solidFill>
                            <a:srgbClr val="2E2A36"/>
                          </a:solidFill>
                          <a:latin typeface="Montserrat"/>
                        </a:rPr>
                        <a:t>Fechas o precios del Jardín Ceremonial; descuentos fuera de política; ubicaciones específicas sin confirmar disponibilidad.</a:t>
                      </a:r>
                    </a:p>
                  </a:txBody>
                  <a:tcPr marL="73152" marR="73152" marT="36576" marB="36576" anchor="ctr">
                    <a:solidFill>
                      <a:srgbClr val="FFFFFF"/>
                    </a:solidFill>
                  </a:tcPr>
                </a:tc>
              </a:tr>
            </a:tbl>
          </a:graphicData>
        </a:graphic>
      </p:graphicFrame>
      <p:sp>
        <p:nvSpPr>
          <p:cNvPr id="7" name="TextBox 6"/>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07 · POLÍTICA DE COMISIONES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Comisión única de 8%</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Sobre el precio sin IVA. Validar con la Gerencia Comercial.</a:t>
            </a:r>
          </a:p>
        </p:txBody>
      </p:sp>
      <p:pic>
        <p:nvPicPr>
          <p:cNvPr id="7" name="Picture 6" descr="05_comisiones.png"/>
          <p:cNvPicPr>
            <a:picLocks noChangeAspect="1"/>
          </p:cNvPicPr>
          <p:nvPr/>
        </p:nvPicPr>
        <p:blipFill>
          <a:blip r:embed="rId2"/>
          <a:stretch>
            <a:fillRect/>
          </a:stretch>
        </p:blipFill>
        <p:spPr>
          <a:xfrm>
            <a:off x="502920" y="2157870"/>
            <a:ext cx="6556248" cy="2130780"/>
          </a:xfrm>
          <a:prstGeom prst="rect">
            <a:avLst/>
          </a:prstGeom>
        </p:spPr>
      </p:pic>
      <p:graphicFrame>
        <p:nvGraphicFramePr>
          <p:cNvPr id="8" name="Table 7"/>
          <p:cNvGraphicFramePr>
            <a:graphicFrameLocks noGrp="1"/>
          </p:cNvGraphicFramePr>
          <p:nvPr/>
        </p:nvGraphicFramePr>
        <p:xfrm>
          <a:off x="502920" y="4663440"/>
          <a:ext cx="6556246" cy="5266944"/>
        </p:xfrm>
        <a:graphic>
          <a:graphicData uri="http://schemas.openxmlformats.org/drawingml/2006/table">
            <a:tbl>
              <a:tblPr firstRow="1" bandRow="1">
                <a:tableStyleId>{5C22544A-7EE6-4342-B048-85BDC9FD1C3A}</a:tableStyleId>
              </a:tblPr>
              <a:tblGrid>
                <a:gridCol w="1681089"/>
                <a:gridCol w="504326"/>
                <a:gridCol w="1008653"/>
                <a:gridCol w="2017307"/>
                <a:gridCol w="1344871"/>
              </a:tblGrid>
              <a:tr h="658368">
                <a:tc>
                  <a:txBody>
                    <a:bodyPr wrap="square"/>
                    <a:lstStyle/>
                    <a:p>
                      <a:r>
                        <a:rPr sz="950" b="1">
                          <a:solidFill>
                            <a:srgbClr val="FFFFFF"/>
                          </a:solidFill>
                          <a:latin typeface="Montserrat"/>
                        </a:rPr>
                        <a:t>Producto</a:t>
                      </a:r>
                    </a:p>
                  </a:txBody>
                  <a:tcPr marL="73152" marR="73152" marT="36576" marB="36576" anchor="ctr">
                    <a:solidFill>
                      <a:srgbClr val="5B3F80"/>
                    </a:solidFill>
                  </a:tcPr>
                </a:tc>
                <a:tc>
                  <a:txBody>
                    <a:bodyPr wrap="square"/>
                    <a:lstStyle/>
                    <a:p>
                      <a:r>
                        <a:rPr sz="950" b="1">
                          <a:solidFill>
                            <a:srgbClr val="FFFFFF"/>
                          </a:solidFill>
                          <a:latin typeface="Montserrat"/>
                        </a:rPr>
                        <a:t>%</a:t>
                      </a:r>
                    </a:p>
                  </a:txBody>
                  <a:tcPr marL="73152" marR="73152" marT="36576" marB="36576" anchor="ctr">
                    <a:solidFill>
                      <a:srgbClr val="5B3F80"/>
                    </a:solidFill>
                  </a:tcPr>
                </a:tc>
                <a:tc>
                  <a:txBody>
                    <a:bodyPr wrap="square"/>
                    <a:lstStyle/>
                    <a:p>
                      <a:r>
                        <a:rPr sz="950" b="1">
                          <a:solidFill>
                            <a:srgbClr val="FFFFFF"/>
                          </a:solidFill>
                          <a:latin typeface="Montserrat"/>
                        </a:rPr>
                        <a:t>Comisión</a:t>
                      </a:r>
                    </a:p>
                  </a:txBody>
                  <a:tcPr marL="73152" marR="73152" marT="36576" marB="36576" anchor="ctr">
                    <a:solidFill>
                      <a:srgbClr val="5B3F80"/>
                    </a:solidFill>
                  </a:tcPr>
                </a:tc>
                <a:tc>
                  <a:txBody>
                    <a:bodyPr wrap="square"/>
                    <a:lstStyle/>
                    <a:p>
                      <a:r>
                        <a:rPr sz="950" b="1">
                          <a:solidFill>
                            <a:srgbClr val="FFFFFF"/>
                          </a:solidFill>
                          <a:latin typeface="Montserrat"/>
                        </a:rPr>
                        <a:t>Cuándo se paga</a:t>
                      </a:r>
                    </a:p>
                  </a:txBody>
                  <a:tcPr marL="73152" marR="73152" marT="36576" marB="36576" anchor="ctr">
                    <a:solidFill>
                      <a:srgbClr val="5B3F80"/>
                    </a:solidFill>
                  </a:tcPr>
                </a:tc>
                <a:tc>
                  <a:txBody>
                    <a:bodyPr wrap="square"/>
                    <a:lstStyle/>
                    <a:p>
                      <a:r>
                        <a:rPr sz="950" b="1">
                          <a:solidFill>
                            <a:srgbClr val="FFFFFF"/>
                          </a:solidFill>
                          <a:latin typeface="Montserrat"/>
                        </a:rPr>
                        <a:t>Estorno</a:t>
                      </a:r>
                    </a:p>
                  </a:txBody>
                  <a:tcPr marL="73152" marR="73152" marT="36576" marB="36576" anchor="ctr">
                    <a:solidFill>
                      <a:srgbClr val="5B3F80"/>
                    </a:solidFill>
                  </a:tcPr>
                </a:tc>
              </a:tr>
              <a:tr h="658368">
                <a:tc>
                  <a:txBody>
                    <a:bodyPr wrap="square"/>
                    <a:lstStyle/>
                    <a:p>
                      <a:r>
                        <a:rPr sz="950" b="1">
                          <a:solidFill>
                            <a:srgbClr val="5B3F80"/>
                          </a:solidFill>
                          <a:latin typeface="Montserrat"/>
                        </a:rPr>
                        <a:t>Solución Modular</a:t>
                      </a:r>
                    </a:p>
                  </a:txBody>
                  <a:tcPr marL="73152" marR="73152" marT="36576" marB="36576" anchor="ctr">
                    <a:solidFill>
                      <a:srgbClr val="FFFFFF"/>
                    </a:solidFill>
                  </a:tcPr>
                </a:tc>
                <a:tc>
                  <a:txBody>
                    <a:bodyPr wrap="square"/>
                    <a:lstStyle/>
                    <a:p>
                      <a:r>
                        <a:rPr sz="950" b="0">
                          <a:solidFill>
                            <a:srgbClr val="2E2A36"/>
                          </a:solidFill>
                          <a:latin typeface="Montserrat"/>
                        </a:rPr>
                        <a:t>8%</a:t>
                      </a:r>
                    </a:p>
                  </a:txBody>
                  <a:tcPr marL="73152" marR="73152" marT="36576" marB="36576" anchor="ctr">
                    <a:solidFill>
                      <a:srgbClr val="FFFFFF"/>
                    </a:solidFill>
                  </a:tcPr>
                </a:tc>
                <a:tc>
                  <a:txBody>
                    <a:bodyPr wrap="square"/>
                    <a:lstStyle/>
                    <a:p>
                      <a:r>
                        <a:rPr sz="950" b="0">
                          <a:solidFill>
                            <a:srgbClr val="2E2A36"/>
                          </a:solidFill>
                          <a:latin typeface="Montserrat"/>
                        </a:rPr>
                        <a:t>US$ 70,80</a:t>
                      </a:r>
                    </a:p>
                  </a:txBody>
                  <a:tcPr marL="73152" marR="73152" marT="36576" marB="36576" anchor="ctr">
                    <a:solidFill>
                      <a:srgbClr val="FFFFFF"/>
                    </a:solidFill>
                  </a:tcPr>
                </a:tc>
                <a:tc>
                  <a:txBody>
                    <a:bodyPr wrap="square"/>
                    <a:lstStyle/>
                    <a:p>
                      <a:r>
                        <a:rPr sz="950" b="0">
                          <a:solidFill>
                            <a:srgbClr val="2E2A36"/>
                          </a:solidFill>
                          <a:latin typeface="Montserrat"/>
                        </a:rPr>
                        <a:t>Pago único al pagar el cliente la 3ª cuota</a:t>
                      </a:r>
                    </a:p>
                  </a:txBody>
                  <a:tcPr marL="73152" marR="73152" marT="36576" marB="36576" anchor="ctr">
                    <a:solidFill>
                      <a:srgbClr val="FFFFFF"/>
                    </a:solidFill>
                  </a:tcPr>
                </a:tc>
                <a:tc>
                  <a:txBody>
                    <a:bodyPr wrap="square"/>
                    <a:lstStyle/>
                    <a:p>
                      <a:r>
                        <a:rPr sz="950" b="0">
                          <a:solidFill>
                            <a:srgbClr val="2E2A36"/>
                          </a:solidFill>
                          <a:latin typeface="Montserrat"/>
                        </a:rPr>
                        <a:t>Si cancela antes de la 12ª cuota</a:t>
                      </a:r>
                    </a:p>
                  </a:txBody>
                  <a:tcPr marL="73152" marR="73152" marT="36576" marB="36576" anchor="ctr">
                    <a:solidFill>
                      <a:srgbClr val="FFFFFF"/>
                    </a:solidFill>
                  </a:tcPr>
                </a:tc>
              </a:tr>
              <a:tr h="658368">
                <a:tc>
                  <a:txBody>
                    <a:bodyPr wrap="square"/>
                    <a:lstStyle/>
                    <a:p>
                      <a:r>
                        <a:rPr sz="950" b="1">
                          <a:solidFill>
                            <a:srgbClr val="5B3F80"/>
                          </a:solidFill>
                          <a:latin typeface="Montserrat"/>
                        </a:rPr>
                        <a:t>Jardín Individual</a:t>
                      </a:r>
                    </a:p>
                  </a:txBody>
                  <a:tcPr marL="73152" marR="73152" marT="36576" marB="36576" anchor="ctr">
                    <a:solidFill>
                      <a:srgbClr val="F5F2F8"/>
                    </a:solidFill>
                  </a:tcPr>
                </a:tc>
                <a:tc>
                  <a:txBody>
                    <a:bodyPr wrap="square"/>
                    <a:lstStyle/>
                    <a:p>
                      <a:r>
                        <a:rPr sz="950" b="0">
                          <a:solidFill>
                            <a:srgbClr val="2E2A36"/>
                          </a:solidFill>
                          <a:latin typeface="Montserrat"/>
                        </a:rPr>
                        <a:t>8%</a:t>
                      </a:r>
                    </a:p>
                  </a:txBody>
                  <a:tcPr marL="73152" marR="73152" marT="36576" marB="36576" anchor="ctr">
                    <a:solidFill>
                      <a:srgbClr val="F5F2F8"/>
                    </a:solidFill>
                  </a:tcPr>
                </a:tc>
                <a:tc>
                  <a:txBody>
                    <a:bodyPr wrap="square"/>
                    <a:lstStyle/>
                    <a:p>
                      <a:r>
                        <a:rPr sz="950" b="0">
                          <a:solidFill>
                            <a:srgbClr val="2E2A36"/>
                          </a:solidFill>
                          <a:latin typeface="Montserrat"/>
                        </a:rPr>
                        <a:t>US$ 42,48</a:t>
                      </a:r>
                    </a:p>
                  </a:txBody>
                  <a:tcPr marL="73152" marR="73152" marT="36576" marB="36576" anchor="ctr">
                    <a:solidFill>
                      <a:srgbClr val="F5F2F8"/>
                    </a:solidFill>
                  </a:tcPr>
                </a:tc>
                <a:tc>
                  <a:txBody>
                    <a:bodyPr wrap="square"/>
                    <a:lstStyle/>
                    <a:p>
                      <a:r>
                        <a:rPr sz="950" b="0">
                          <a:solidFill>
                            <a:srgbClr val="2E2A36"/>
                          </a:solidFill>
                          <a:latin typeface="Montserrat"/>
                        </a:rPr>
                        <a:t>Contado: mes siguiente · Financiado: proporcional a lo cobrado</a:t>
                      </a:r>
                    </a:p>
                  </a:txBody>
                  <a:tcPr marL="73152" marR="73152" marT="36576" marB="36576" anchor="ctr">
                    <a:solidFill>
                      <a:srgbClr val="F5F2F8"/>
                    </a:solidFill>
                  </a:tcPr>
                </a:tc>
                <a:tc>
                  <a:txBody>
                    <a:bodyPr wrap="square"/>
                    <a:lstStyle/>
                    <a:p>
                      <a:r>
                        <a:rPr sz="950" b="0">
                          <a:solidFill>
                            <a:srgbClr val="2E2A36"/>
                          </a:solidFill>
                          <a:latin typeface="Montserrat"/>
                        </a:rPr>
                        <a:t>Cancelación en 90 días</a:t>
                      </a:r>
                    </a:p>
                  </a:txBody>
                  <a:tcPr marL="73152" marR="73152" marT="36576" marB="36576" anchor="ctr">
                    <a:solidFill>
                      <a:srgbClr val="F5F2F8"/>
                    </a:solidFill>
                  </a:tcPr>
                </a:tc>
              </a:tr>
              <a:tr h="658368">
                <a:tc>
                  <a:txBody>
                    <a:bodyPr wrap="square"/>
                    <a:lstStyle/>
                    <a:p>
                      <a:r>
                        <a:rPr sz="950" b="1">
                          <a:solidFill>
                            <a:srgbClr val="5B3F80"/>
                          </a:solidFill>
                          <a:latin typeface="Montserrat"/>
                        </a:rPr>
                        <a:t>Jardín Familiar</a:t>
                      </a:r>
                    </a:p>
                  </a:txBody>
                  <a:tcPr marL="73152" marR="73152" marT="36576" marB="36576" anchor="ctr">
                    <a:solidFill>
                      <a:srgbClr val="FFFFFF"/>
                    </a:solidFill>
                  </a:tcPr>
                </a:tc>
                <a:tc>
                  <a:txBody>
                    <a:bodyPr wrap="square"/>
                    <a:lstStyle/>
                    <a:p>
                      <a:r>
                        <a:rPr sz="950" b="0">
                          <a:solidFill>
                            <a:srgbClr val="2E2A36"/>
                          </a:solidFill>
                          <a:latin typeface="Montserrat"/>
                        </a:rPr>
                        <a:t>8%</a:t>
                      </a:r>
                    </a:p>
                  </a:txBody>
                  <a:tcPr marL="73152" marR="73152" marT="36576" marB="36576" anchor="ctr">
                    <a:solidFill>
                      <a:srgbClr val="FFFFFF"/>
                    </a:solidFill>
                  </a:tcPr>
                </a:tc>
                <a:tc>
                  <a:txBody>
                    <a:bodyPr wrap="square"/>
                    <a:lstStyle/>
                    <a:p>
                      <a:r>
                        <a:rPr sz="950" b="0">
                          <a:solidFill>
                            <a:srgbClr val="2E2A36"/>
                          </a:solidFill>
                          <a:latin typeface="Montserrat"/>
                        </a:rPr>
                        <a:t>US$ 141,59</a:t>
                      </a:r>
                    </a:p>
                  </a:txBody>
                  <a:tcPr marL="73152" marR="73152" marT="36576" marB="36576" anchor="ctr">
                    <a:solidFill>
                      <a:srgbClr val="FFFFFF"/>
                    </a:solidFill>
                  </a:tcPr>
                </a:tc>
                <a:tc>
                  <a:txBody>
                    <a:bodyPr wrap="square"/>
                    <a:lstStyle/>
                    <a:p>
                      <a:r>
                        <a:rPr sz="950" b="0">
                          <a:solidFill>
                            <a:srgbClr val="2E2A36"/>
                          </a:solidFill>
                          <a:latin typeface="Montserrat"/>
                        </a:rPr>
                        <a:t>Contado: mes siguiente · Financiado: proporcional a lo cobrado</a:t>
                      </a:r>
                    </a:p>
                  </a:txBody>
                  <a:tcPr marL="73152" marR="73152" marT="36576" marB="36576" anchor="ctr">
                    <a:solidFill>
                      <a:srgbClr val="FFFFFF"/>
                    </a:solidFill>
                  </a:tcPr>
                </a:tc>
                <a:tc>
                  <a:txBody>
                    <a:bodyPr wrap="square"/>
                    <a:lstStyle/>
                    <a:p>
                      <a:r>
                        <a:rPr sz="950" b="0">
                          <a:solidFill>
                            <a:srgbClr val="2E2A36"/>
                          </a:solidFill>
                          <a:latin typeface="Montserrat"/>
                        </a:rPr>
                        <a:t>Cancelación en 90 días</a:t>
                      </a:r>
                    </a:p>
                  </a:txBody>
                  <a:tcPr marL="73152" marR="73152" marT="36576" marB="36576" anchor="ctr">
                    <a:solidFill>
                      <a:srgbClr val="FFFFFF"/>
                    </a:solidFill>
                  </a:tcPr>
                </a:tc>
              </a:tr>
              <a:tr h="658368">
                <a:tc>
                  <a:txBody>
                    <a:bodyPr wrap="square"/>
                    <a:lstStyle/>
                    <a:p>
                      <a:r>
                        <a:rPr sz="950" b="1">
                          <a:solidFill>
                            <a:srgbClr val="5B3F80"/>
                          </a:solidFill>
                          <a:latin typeface="Montserrat"/>
                        </a:rPr>
                        <a:t>Jardín Ecológico</a:t>
                      </a:r>
                    </a:p>
                  </a:txBody>
                  <a:tcPr marL="73152" marR="73152" marT="36576" marB="36576" anchor="ctr">
                    <a:solidFill>
                      <a:srgbClr val="F5F2F8"/>
                    </a:solidFill>
                  </a:tcPr>
                </a:tc>
                <a:tc>
                  <a:txBody>
                    <a:bodyPr wrap="square"/>
                    <a:lstStyle/>
                    <a:p>
                      <a:r>
                        <a:rPr sz="950" b="0">
                          <a:solidFill>
                            <a:srgbClr val="2E2A36"/>
                          </a:solidFill>
                          <a:latin typeface="Montserrat"/>
                        </a:rPr>
                        <a:t>8%</a:t>
                      </a:r>
                    </a:p>
                  </a:txBody>
                  <a:tcPr marL="73152" marR="73152" marT="36576" marB="36576" anchor="ctr">
                    <a:solidFill>
                      <a:srgbClr val="F5F2F8"/>
                    </a:solidFill>
                  </a:tcPr>
                </a:tc>
                <a:tc>
                  <a:txBody>
                    <a:bodyPr wrap="square"/>
                    <a:lstStyle/>
                    <a:p>
                      <a:r>
                        <a:rPr sz="950" b="0">
                          <a:solidFill>
                            <a:srgbClr val="2E2A36"/>
                          </a:solidFill>
                          <a:latin typeface="Montserrat"/>
                        </a:rPr>
                        <a:t>US$ 53,10</a:t>
                      </a:r>
                    </a:p>
                  </a:txBody>
                  <a:tcPr marL="73152" marR="73152" marT="36576" marB="36576" anchor="ctr">
                    <a:solidFill>
                      <a:srgbClr val="F5F2F8"/>
                    </a:solidFill>
                  </a:tcPr>
                </a:tc>
                <a:tc>
                  <a:txBody>
                    <a:bodyPr wrap="square"/>
                    <a:lstStyle/>
                    <a:p>
                      <a:r>
                        <a:rPr sz="950" b="0">
                          <a:solidFill>
                            <a:srgbClr val="2E2A36"/>
                          </a:solidFill>
                          <a:latin typeface="Montserrat"/>
                        </a:rPr>
                        <a:t>Contado: mes siguiente · Financiado: proporcional a lo cobrado</a:t>
                      </a:r>
                    </a:p>
                  </a:txBody>
                  <a:tcPr marL="73152" marR="73152" marT="36576" marB="36576" anchor="ctr">
                    <a:solidFill>
                      <a:srgbClr val="F5F2F8"/>
                    </a:solidFill>
                  </a:tcPr>
                </a:tc>
                <a:tc>
                  <a:txBody>
                    <a:bodyPr wrap="square"/>
                    <a:lstStyle/>
                    <a:p>
                      <a:r>
                        <a:rPr sz="950" b="0">
                          <a:solidFill>
                            <a:srgbClr val="2E2A36"/>
                          </a:solidFill>
                          <a:latin typeface="Montserrat"/>
                        </a:rPr>
                        <a:t>Cancelación en 90 días</a:t>
                      </a:r>
                    </a:p>
                  </a:txBody>
                  <a:tcPr marL="73152" marR="73152" marT="36576" marB="36576" anchor="ctr">
                    <a:solidFill>
                      <a:srgbClr val="F5F2F8"/>
                    </a:solidFill>
                  </a:tcPr>
                </a:tc>
              </a:tr>
              <a:tr h="658368">
                <a:tc>
                  <a:txBody>
                    <a:bodyPr wrap="square"/>
                    <a:lstStyle/>
                    <a:p>
                      <a:r>
                        <a:rPr sz="950" b="1">
                          <a:solidFill>
                            <a:srgbClr val="5B3F80"/>
                          </a:solidFill>
                          <a:latin typeface="Montserrat"/>
                        </a:rPr>
                        <a:t>Mascotas · solo espacio</a:t>
                      </a:r>
                    </a:p>
                  </a:txBody>
                  <a:tcPr marL="73152" marR="73152" marT="36576" marB="36576" anchor="ctr">
                    <a:solidFill>
                      <a:srgbClr val="FFFFFF"/>
                    </a:solidFill>
                  </a:tcPr>
                </a:tc>
                <a:tc>
                  <a:txBody>
                    <a:bodyPr wrap="square"/>
                    <a:lstStyle/>
                    <a:p>
                      <a:r>
                        <a:rPr sz="950" b="0">
                          <a:solidFill>
                            <a:srgbClr val="2E2A36"/>
                          </a:solidFill>
                          <a:latin typeface="Montserrat"/>
                        </a:rPr>
                        <a:t>8%</a:t>
                      </a:r>
                    </a:p>
                  </a:txBody>
                  <a:tcPr marL="73152" marR="73152" marT="36576" marB="36576" anchor="ctr">
                    <a:solidFill>
                      <a:srgbClr val="FFFFFF"/>
                    </a:solidFill>
                  </a:tcPr>
                </a:tc>
                <a:tc>
                  <a:txBody>
                    <a:bodyPr wrap="square"/>
                    <a:lstStyle/>
                    <a:p>
                      <a:r>
                        <a:rPr sz="950" b="0">
                          <a:solidFill>
                            <a:srgbClr val="2E2A36"/>
                          </a:solidFill>
                          <a:latin typeface="Montserrat"/>
                        </a:rPr>
                        <a:t>US$ 28,32</a:t>
                      </a:r>
                    </a:p>
                  </a:txBody>
                  <a:tcPr marL="73152" marR="73152" marT="36576" marB="36576" anchor="ctr">
                    <a:solidFill>
                      <a:srgbClr val="FFFFFF"/>
                    </a:solidFill>
                  </a:tcPr>
                </a:tc>
                <a:tc>
                  <a:txBody>
                    <a:bodyPr wrap="square"/>
                    <a:lstStyle/>
                    <a:p>
                      <a:r>
                        <a:rPr sz="950" b="0">
                          <a:solidFill>
                            <a:srgbClr val="2E2A36"/>
                          </a:solidFill>
                          <a:latin typeface="Montserrat"/>
                        </a:rPr>
                        <a:t>Mes siguiente al pago</a:t>
                      </a:r>
                    </a:p>
                  </a:txBody>
                  <a:tcPr marL="73152" marR="73152" marT="36576" marB="36576" anchor="ctr">
                    <a:solidFill>
                      <a:srgbClr val="FFFFFF"/>
                    </a:solidFill>
                  </a:tcPr>
                </a:tc>
                <a:tc>
                  <a:txBody>
                    <a:bodyPr wrap="square"/>
                    <a:lstStyle/>
                    <a:p>
                      <a:r>
                        <a:rPr sz="950" b="0">
                          <a:solidFill>
                            <a:srgbClr val="2E2A36"/>
                          </a:solidFill>
                          <a:latin typeface="Montserrat"/>
                        </a:rPr>
                        <a:t>Cancelación en 90 días</a:t>
                      </a:r>
                    </a:p>
                  </a:txBody>
                  <a:tcPr marL="73152" marR="73152" marT="36576" marB="36576" anchor="ctr">
                    <a:solidFill>
                      <a:srgbClr val="FFFFFF"/>
                    </a:solidFill>
                  </a:tcPr>
                </a:tc>
              </a:tr>
              <a:tr h="658368">
                <a:tc>
                  <a:txBody>
                    <a:bodyPr wrap="square"/>
                    <a:lstStyle/>
                    <a:p>
                      <a:r>
                        <a:rPr sz="950" b="1">
                          <a:solidFill>
                            <a:srgbClr val="5B3F80"/>
                          </a:solidFill>
                          <a:latin typeface="Montserrat"/>
                        </a:rPr>
                        <a:t>Mascotas · jardín + cremación</a:t>
                      </a:r>
                    </a:p>
                  </a:txBody>
                  <a:tcPr marL="73152" marR="73152" marT="36576" marB="36576" anchor="ctr">
                    <a:solidFill>
                      <a:srgbClr val="F5F2F8"/>
                    </a:solidFill>
                  </a:tcPr>
                </a:tc>
                <a:tc>
                  <a:txBody>
                    <a:bodyPr wrap="square"/>
                    <a:lstStyle/>
                    <a:p>
                      <a:r>
                        <a:rPr sz="950" b="0">
                          <a:solidFill>
                            <a:srgbClr val="2E2A36"/>
                          </a:solidFill>
                          <a:latin typeface="Montserrat"/>
                        </a:rPr>
                        <a:t>8%</a:t>
                      </a:r>
                    </a:p>
                  </a:txBody>
                  <a:tcPr marL="73152" marR="73152" marT="36576" marB="36576" anchor="ctr">
                    <a:solidFill>
                      <a:srgbClr val="F5F2F8"/>
                    </a:solidFill>
                  </a:tcPr>
                </a:tc>
                <a:tc>
                  <a:txBody>
                    <a:bodyPr wrap="square"/>
                    <a:lstStyle/>
                    <a:p>
                      <a:r>
                        <a:rPr sz="950" b="0">
                          <a:solidFill>
                            <a:srgbClr val="2E2A36"/>
                          </a:solidFill>
                          <a:latin typeface="Montserrat"/>
                        </a:rPr>
                        <a:t>US$ 38,94</a:t>
                      </a:r>
                    </a:p>
                  </a:txBody>
                  <a:tcPr marL="73152" marR="73152" marT="36576" marB="36576" anchor="ctr">
                    <a:solidFill>
                      <a:srgbClr val="F5F2F8"/>
                    </a:solidFill>
                  </a:tcPr>
                </a:tc>
                <a:tc>
                  <a:txBody>
                    <a:bodyPr wrap="square"/>
                    <a:lstStyle/>
                    <a:p>
                      <a:r>
                        <a:rPr sz="950" b="0">
                          <a:solidFill>
                            <a:srgbClr val="2E2A36"/>
                          </a:solidFill>
                          <a:latin typeface="Montserrat"/>
                        </a:rPr>
                        <a:t>Mes siguiente al pago</a:t>
                      </a:r>
                    </a:p>
                  </a:txBody>
                  <a:tcPr marL="73152" marR="73152" marT="36576" marB="36576" anchor="ctr">
                    <a:solidFill>
                      <a:srgbClr val="F5F2F8"/>
                    </a:solidFill>
                  </a:tcPr>
                </a:tc>
                <a:tc>
                  <a:txBody>
                    <a:bodyPr wrap="square"/>
                    <a:lstStyle/>
                    <a:p>
                      <a:r>
                        <a:rPr sz="950" b="0">
                          <a:solidFill>
                            <a:srgbClr val="2E2A36"/>
                          </a:solidFill>
                          <a:latin typeface="Montserrat"/>
                        </a:rPr>
                        <a:t>Cancelación en 90 días</a:t>
                      </a:r>
                    </a:p>
                  </a:txBody>
                  <a:tcPr marL="73152" marR="73152" marT="36576" marB="36576" anchor="ctr">
                    <a:solidFill>
                      <a:srgbClr val="F5F2F8"/>
                    </a:solidFill>
                  </a:tcPr>
                </a:tc>
              </a:tr>
              <a:tr h="658368">
                <a:tc>
                  <a:txBody>
                    <a:bodyPr wrap="square"/>
                    <a:lstStyle/>
                    <a:p>
                      <a:r>
                        <a:rPr sz="950" b="1">
                          <a:solidFill>
                            <a:srgbClr val="5B3F80"/>
                          </a:solidFill>
                          <a:latin typeface="Montserrat"/>
                        </a:rPr>
                        <a:t>Jardín Ceremonial</a:t>
                      </a:r>
                    </a:p>
                  </a:txBody>
                  <a:tcPr marL="73152" marR="73152" marT="36576" marB="36576" anchor="ctr">
                    <a:solidFill>
                      <a:srgbClr val="FBF6EC"/>
                    </a:solidFill>
                  </a:tcPr>
                </a:tc>
                <a:tc>
                  <a:txBody>
                    <a:bodyPr wrap="square"/>
                    <a:lstStyle/>
                    <a:p>
                      <a:r>
                        <a:rPr sz="950" b="0">
                          <a:solidFill>
                            <a:srgbClr val="2E2A36"/>
                          </a:solidFill>
                          <a:latin typeface="Montserrat"/>
                        </a:rPr>
                        <a:t>A definir</a:t>
                      </a:r>
                    </a:p>
                  </a:txBody>
                  <a:tcPr marL="73152" marR="73152" marT="36576" marB="36576" anchor="ctr">
                    <a:solidFill>
                      <a:srgbClr val="FBF6EC"/>
                    </a:solidFill>
                  </a:tcPr>
                </a:tc>
                <a:tc>
                  <a:txBody>
                    <a:bodyPr wrap="square"/>
                    <a:lstStyle/>
                    <a:p>
                      <a:r>
                        <a:rPr sz="950" b="0">
                          <a:solidFill>
                            <a:srgbClr val="2E2A36"/>
                          </a:solidFill>
                          <a:latin typeface="Montserrat"/>
                        </a:rPr>
                        <a:t>—</a:t>
                      </a:r>
                    </a:p>
                  </a:txBody>
                  <a:tcPr marL="73152" marR="73152" marT="36576" marB="36576" anchor="ctr">
                    <a:solidFill>
                      <a:srgbClr val="FBF6EC"/>
                    </a:solidFill>
                  </a:tcPr>
                </a:tc>
                <a:tc>
                  <a:txBody>
                    <a:bodyPr wrap="square"/>
                    <a:lstStyle/>
                    <a:p>
                      <a:r>
                        <a:rPr sz="950" b="0">
                          <a:solidFill>
                            <a:srgbClr val="2E2A36"/>
                          </a:solidFill>
                          <a:latin typeface="Montserrat"/>
                        </a:rPr>
                        <a:t>—</a:t>
                      </a:r>
                    </a:p>
                  </a:txBody>
                  <a:tcPr marL="73152" marR="73152" marT="36576" marB="36576" anchor="ctr">
                    <a:solidFill>
                      <a:srgbClr val="FBF6EC"/>
                    </a:solidFill>
                  </a:tcPr>
                </a:tc>
                <a:tc>
                  <a:txBody>
                    <a:bodyPr wrap="square"/>
                    <a:lstStyle/>
                    <a:p>
                      <a:r>
                        <a:rPr sz="950" b="0">
                          <a:solidFill>
                            <a:srgbClr val="2E2A36"/>
                          </a:solidFill>
                          <a:latin typeface="Montserrat"/>
                        </a:rPr>
                        <a:t>—</a:t>
                      </a:r>
                    </a:p>
                  </a:txBody>
                  <a:tcPr marL="73152" marR="73152" marT="36576" marB="36576" anchor="ctr">
                    <a:solidFill>
                      <a:srgbClr val="FBF6EC"/>
                    </a:solidFill>
                  </a:tcPr>
                </a:tc>
              </a:tr>
            </a:tbl>
          </a:graphicData>
        </a:graphic>
      </p:graphicFrame>
      <p:sp>
        <p:nvSpPr>
          <p:cNvPr id="9" name="TextBox 8"/>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0" name="TextBox 9"/>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07 · POLÍTICA DE COMISIONES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Reglas de comisión</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91640"/>
            <a:ext cx="6556248" cy="4206240"/>
          </a:xfrm>
          <a:prstGeom prst="rect">
            <a:avLst/>
          </a:prstGeom>
          <a:noFill/>
        </p:spPr>
        <p:txBody>
          <a:bodyPr wrap="square" anchor="t" lIns="45720" rIns="45720" tIns="27432" bIns="27432">
            <a:spAutoFit/>
          </a:bodyPr>
          <a:lstStyle/>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Base de cálculo: valor efectivamente cobrado al cliente, sin IVA (13%).</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Comisión única de 8% para todos los productos.</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No generan comisión: cuotas de mantenimiento anual (US$ 15 / US$ 24).</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Bono de venta combinada: US$ 15 al vender la Solución Modular junto con cualquier jardín.</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Acelerador Día de los Muertos (opcional): +2 pp en Individual y Ecológico hasta el 30/11/2026.</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Estorno: la comisión se descuenta de los pagos siguientes al asesor.</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Portafolio existente (columbarios): la comisión se definirá en un sistema propio, en preparación.</a:t>
            </a:r>
          </a:p>
        </p:txBody>
      </p:sp>
      <p:sp>
        <p:nvSpPr>
          <p:cNvPr id="7" name="Rectangle 6"/>
          <p:cNvSpPr/>
          <p:nvPr/>
        </p:nvSpPr>
        <p:spPr>
          <a:xfrm>
            <a:off x="502920" y="6035040"/>
            <a:ext cx="6556248" cy="13716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035040"/>
            <a:ext cx="6007608" cy="1371600"/>
          </a:xfrm>
          <a:prstGeom prst="rect">
            <a:avLst/>
          </a:prstGeom>
          <a:noFill/>
        </p:spPr>
        <p:txBody>
          <a:bodyPr wrap="square" anchor="ctr" lIns="45720" rIns="45720" tIns="27432" bIns="27432">
            <a:spAutoFit/>
          </a:bodyPr>
          <a:lstStyle/>
          <a:p>
            <a:pPr algn="l">
              <a:lnSpc>
                <a:spcPct val="115000"/>
              </a:lnSpc>
              <a:spcAft>
                <a:spcPts val="400"/>
              </a:spcAft>
            </a:pPr>
            <a:r>
              <a:rPr sz="1300" b="0" i="1">
                <a:solidFill>
                  <a:srgbClr val="FFFFFF"/>
                </a:solidFill>
                <a:latin typeface="Playfair Display"/>
              </a:rPr>
              <a:t>La comisión premia la venta buena, no solo la venta: una familia que paga a tiempo vale más que un contrato que se cancela. Por eso el pago está ligado al cobro.</a:t>
            </a:r>
          </a:p>
        </p:txBody>
      </p:sp>
      <p:sp>
        <p:nvSpPr>
          <p:cNvPr id="9" name="TextBox 8"/>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0" name="TextBox 9"/>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08 · HERRAMIENTAS DE APOYO</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Lo que usted tiene a mano</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45920"/>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45920"/>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82496"/>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Ficha Técnica de Cremación</a:t>
            </a:r>
          </a:p>
          <a:p>
            <a:pPr algn="l">
              <a:lnSpc>
                <a:spcPct val="115000"/>
              </a:lnSpc>
              <a:spcAft>
                <a:spcPts val="100"/>
              </a:spcAft>
            </a:pPr>
            <a:r>
              <a:rPr sz="1050" b="0" i="0">
                <a:solidFill>
                  <a:srgbClr val="2E2A36"/>
                </a:solidFill>
                <a:latin typeface="Montserrat"/>
              </a:rPr>
              <a:t>Precios, especificaciones y condiciones vigentes de cada producto.</a:t>
            </a:r>
          </a:p>
        </p:txBody>
      </p:sp>
      <p:sp>
        <p:nvSpPr>
          <p:cNvPr id="9" name="Rectangle 8"/>
          <p:cNvSpPr/>
          <p:nvPr/>
        </p:nvSpPr>
        <p:spPr>
          <a:xfrm>
            <a:off x="502920" y="2450592"/>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2450592"/>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487168"/>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Visita al jardín</a:t>
            </a:r>
          </a:p>
          <a:p>
            <a:pPr algn="l">
              <a:lnSpc>
                <a:spcPct val="115000"/>
              </a:lnSpc>
              <a:spcAft>
                <a:spcPts val="100"/>
              </a:spcAft>
            </a:pPr>
            <a:r>
              <a:rPr sz="1050" b="0" i="0">
                <a:solidFill>
                  <a:srgbClr val="2E2A36"/>
                </a:solidFill>
                <a:latin typeface="Montserrat"/>
              </a:rPr>
              <a:t>La herramienta de venta más poderosa. Agende siempre que sea posible.</a:t>
            </a:r>
          </a:p>
        </p:txBody>
      </p:sp>
      <p:sp>
        <p:nvSpPr>
          <p:cNvPr id="12" name="Rectangle 11"/>
          <p:cNvSpPr/>
          <p:nvPr/>
        </p:nvSpPr>
        <p:spPr>
          <a:xfrm>
            <a:off x="502920" y="3255264"/>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3255264"/>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291840"/>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Presentación "Jardines de Cenizas"</a:t>
            </a:r>
          </a:p>
          <a:p>
            <a:pPr algn="l">
              <a:lnSpc>
                <a:spcPct val="115000"/>
              </a:lnSpc>
              <a:spcAft>
                <a:spcPts val="100"/>
              </a:spcAft>
            </a:pPr>
            <a:r>
              <a:rPr sz="1050" b="0" i="0">
                <a:solidFill>
                  <a:srgbClr val="2E2A36"/>
                </a:solidFill>
                <a:latin typeface="Montserrat"/>
              </a:rPr>
              <a:t>Fotos y medidas de cada jardín para mostrar en la visita o en la casa.</a:t>
            </a:r>
          </a:p>
        </p:txBody>
      </p:sp>
      <p:sp>
        <p:nvSpPr>
          <p:cNvPr id="15" name="Rectangle 14"/>
          <p:cNvSpPr/>
          <p:nvPr/>
        </p:nvSpPr>
        <p:spPr>
          <a:xfrm>
            <a:off x="502920" y="4059936"/>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4059936"/>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096512"/>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Plazo de pago</a:t>
            </a:r>
          </a:p>
          <a:p>
            <a:pPr algn="l">
              <a:lnSpc>
                <a:spcPct val="115000"/>
              </a:lnSpc>
              <a:spcAft>
                <a:spcPts val="100"/>
              </a:spcAft>
            </a:pPr>
            <a:r>
              <a:rPr sz="1050" b="0" i="0">
                <a:solidFill>
                  <a:srgbClr val="2E2A36"/>
                </a:solidFill>
                <a:latin typeface="Montserrat"/>
              </a:rPr>
              <a:t>Comunique que se paga en hasta 120 meses con intereses; no prometa un valor de cuota.</a:t>
            </a:r>
          </a:p>
        </p:txBody>
      </p:sp>
      <p:sp>
        <p:nvSpPr>
          <p:cNvPr id="18" name="Rectangle 17"/>
          <p:cNvSpPr/>
          <p:nvPr/>
        </p:nvSpPr>
        <p:spPr>
          <a:xfrm>
            <a:off x="502920" y="4864608"/>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864608"/>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901184"/>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Registro de contactos</a:t>
            </a:r>
          </a:p>
          <a:p>
            <a:pPr algn="l">
              <a:lnSpc>
                <a:spcPct val="115000"/>
              </a:lnSpc>
              <a:spcAft>
                <a:spcPts val="100"/>
              </a:spcAft>
            </a:pPr>
            <a:r>
              <a:rPr sz="1050" b="0" i="0">
                <a:solidFill>
                  <a:srgbClr val="2E2A36"/>
                </a:solidFill>
                <a:latin typeface="Montserrat"/>
              </a:rPr>
              <a:t>Un contacto no registrado no existe: sin datos no hay gestión ni comisión.</a:t>
            </a:r>
          </a:p>
        </p:txBody>
      </p:sp>
      <p:sp>
        <p:nvSpPr>
          <p:cNvPr id="21" name="Rectangle 20"/>
          <p:cNvSpPr/>
          <p:nvPr/>
        </p:nvSpPr>
        <p:spPr>
          <a:xfrm>
            <a:off x="502920" y="5806440"/>
            <a:ext cx="6556248" cy="42519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5943600"/>
            <a:ext cx="5916168" cy="457200"/>
          </a:xfrm>
          <a:prstGeom prst="rect">
            <a:avLst/>
          </a:prstGeom>
          <a:noFill/>
        </p:spPr>
        <p:txBody>
          <a:bodyPr wrap="square" anchor="t" lIns="45720" rIns="45720" tIns="27432" bIns="27432">
            <a:spAutoFit/>
          </a:bodyPr>
          <a:lstStyle/>
          <a:p>
            <a:pPr algn="l">
              <a:lnSpc>
                <a:spcPct val="115000"/>
              </a:lnSpc>
              <a:spcAft>
                <a:spcPts val="400"/>
              </a:spcAft>
            </a:pPr>
            <a:r>
              <a:rPr sz="2000" b="1" i="0">
                <a:solidFill>
                  <a:srgbClr val="C9A86A"/>
                </a:solidFill>
                <a:latin typeface="Playfair Display"/>
              </a:rPr>
              <a:t>Checklist antes de cerrar</a:t>
            </a:r>
          </a:p>
        </p:txBody>
      </p:sp>
      <p:sp>
        <p:nvSpPr>
          <p:cNvPr id="23" name="TextBox 22"/>
          <p:cNvSpPr txBox="1"/>
          <p:nvPr/>
        </p:nvSpPr>
        <p:spPr>
          <a:xfrm>
            <a:off x="822960" y="6537960"/>
            <a:ext cx="5916168" cy="3474720"/>
          </a:xfrm>
          <a:prstGeom prst="rect">
            <a:avLst/>
          </a:prstGeom>
          <a:noFill/>
        </p:spPr>
        <p:txBody>
          <a:bodyPr wrap="square" anchor="t" lIns="45720" rIns="45720" tIns="27432" bIns="27432">
            <a:spAutoFit/>
          </a:bodyPr>
          <a:lstStyle/>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Expliqué qué incluye el producto y qué no incluye.</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Expliqué la cuota de mantenimiento y el plazo (30 años renovables o 3 años), según el caso.</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Confirmé el precio y la forma de pago con la Ficha Técnica vigente.</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El descuento, si lo hubo, está dentro de la política y autorizado.</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El cliente recibió copia del contrato y el contacto de su asesor.</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Registré la venta completa el mismo día.</a:t>
            </a:r>
          </a:p>
        </p:txBody>
      </p:sp>
      <p:sp>
        <p:nvSpPr>
          <p:cNvPr id="24" name="TextBox 23"/>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5" name="TextBox 24"/>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731520" y="2194560"/>
            <a:ext cx="6099048" cy="3291840"/>
          </a:xfrm>
          <a:prstGeom prst="rect">
            <a:avLst/>
          </a:prstGeom>
          <a:noFill/>
        </p:spPr>
        <p:txBody>
          <a:bodyPr wrap="square" anchor="ctr" lIns="45720" rIns="45720" tIns="27432" bIns="27432">
            <a:spAutoFit/>
          </a:bodyPr>
          <a:lstStyle/>
          <a:p>
            <a:pPr algn="ctr">
              <a:lnSpc>
                <a:spcPct val="115000"/>
              </a:lnSpc>
              <a:spcAft>
                <a:spcPts val="400"/>
              </a:spcAft>
            </a:pPr>
            <a:r>
              <a:rPr sz="2600" b="0" i="1">
                <a:solidFill>
                  <a:srgbClr val="FFFFFF"/>
                </a:solidFill>
                <a:latin typeface="Playfair Display"/>
              </a:rPr>
              <a:t>"Cada familia que atendemos recordará cómo la tratamos en uno de los momentos más sensibles de su vida. Ese es nuestro verdadero producto."</a:t>
            </a:r>
          </a:p>
        </p:txBody>
      </p:sp>
      <p:sp>
        <p:nvSpPr>
          <p:cNvPr id="3" name="Rectangle 2"/>
          <p:cNvSpPr/>
          <p:nvPr/>
        </p:nvSpPr>
        <p:spPr>
          <a:xfrm>
            <a:off x="3140964" y="576072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035040"/>
            <a:ext cx="6556248" cy="457200"/>
          </a:xfrm>
          <a:prstGeom prst="rect">
            <a:avLst/>
          </a:prstGeom>
          <a:noFill/>
        </p:spPr>
        <p:txBody>
          <a:bodyPr wrap="square" anchor="t" lIns="45720" rIns="45720" tIns="27432" bIns="27432">
            <a:spAutoFit/>
          </a:bodyPr>
          <a:lstStyle/>
          <a:p>
            <a:pPr algn="ctr">
              <a:lnSpc>
                <a:spcPct val="115000"/>
              </a:lnSpc>
              <a:spcAft>
                <a:spcPts val="400"/>
              </a:spcAft>
            </a:pPr>
            <a:r>
              <a:rPr sz="1300" b="1" i="0">
                <a:solidFill>
                  <a:srgbClr val="C9A86A"/>
                </a:solidFill>
                <a:latin typeface="Montserrat"/>
              </a:rPr>
              <a:t>La Auxiliadora · Hogar de las Memorias · Las Colinas · Vangrupo</a:t>
            </a:r>
          </a:p>
        </p:txBody>
      </p:sp>
      <p:sp>
        <p:nvSpPr>
          <p:cNvPr id="5" name="Rounded Rectangle 4"/>
          <p:cNvSpPr/>
          <p:nvPr/>
        </p:nvSpPr>
        <p:spPr>
          <a:xfrm>
            <a:off x="502920" y="8412480"/>
            <a:ext cx="6556248" cy="11430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a_auxiliadora.png"/>
          <p:cNvPicPr>
            <a:picLocks noChangeAspect="1"/>
          </p:cNvPicPr>
          <p:nvPr/>
        </p:nvPicPr>
        <p:blipFill>
          <a:blip r:embed="rId2"/>
          <a:stretch>
            <a:fillRect/>
          </a:stretch>
        </p:blipFill>
        <p:spPr>
          <a:xfrm>
            <a:off x="640080" y="8753565"/>
            <a:ext cx="1467612" cy="460830"/>
          </a:xfrm>
          <a:prstGeom prst="rect">
            <a:avLst/>
          </a:prstGeom>
        </p:spPr>
      </p:pic>
      <p:pic>
        <p:nvPicPr>
          <p:cNvPr id="7" name="Picture 6" descr="hogar_de_las_memorias.png"/>
          <p:cNvPicPr>
            <a:picLocks noChangeAspect="1"/>
          </p:cNvPicPr>
          <p:nvPr/>
        </p:nvPicPr>
        <p:blipFill>
          <a:blip r:embed="rId3"/>
          <a:stretch>
            <a:fillRect/>
          </a:stretch>
        </p:blipFill>
        <p:spPr>
          <a:xfrm>
            <a:off x="2244852" y="8690458"/>
            <a:ext cx="1467612" cy="587044"/>
          </a:xfrm>
          <a:prstGeom prst="rect">
            <a:avLst/>
          </a:prstGeom>
        </p:spPr>
      </p:pic>
      <p:pic>
        <p:nvPicPr>
          <p:cNvPr id="8" name="Picture 7" descr="las_colinas.png"/>
          <p:cNvPicPr>
            <a:picLocks noChangeAspect="1"/>
          </p:cNvPicPr>
          <p:nvPr/>
        </p:nvPicPr>
        <p:blipFill>
          <a:blip r:embed="rId4"/>
          <a:stretch>
            <a:fillRect/>
          </a:stretch>
        </p:blipFill>
        <p:spPr>
          <a:xfrm>
            <a:off x="3890223" y="8549640"/>
            <a:ext cx="1386413" cy="868680"/>
          </a:xfrm>
          <a:prstGeom prst="rect">
            <a:avLst/>
          </a:prstGeom>
        </p:spPr>
      </p:pic>
      <p:pic>
        <p:nvPicPr>
          <p:cNvPr id="9" name="Picture 8" descr="vangrupo.png"/>
          <p:cNvPicPr>
            <a:picLocks noChangeAspect="1"/>
          </p:cNvPicPr>
          <p:nvPr/>
        </p:nvPicPr>
        <p:blipFill>
          <a:blip r:embed="rId5"/>
          <a:stretch>
            <a:fillRect/>
          </a:stretch>
        </p:blipFill>
        <p:spPr>
          <a:xfrm>
            <a:off x="5454396" y="8795938"/>
            <a:ext cx="1467612" cy="376084"/>
          </a:xfrm>
          <a:prstGeom prst="rect">
            <a:avLst/>
          </a:prstGeom>
        </p:spPr>
      </p:pic>
      <p:sp>
        <p:nvSpPr>
          <p:cNvPr id="10" name="Rectangle 9"/>
          <p:cNvSpPr/>
          <p:nvPr/>
        </p:nvSpPr>
        <p:spPr>
          <a:xfrm>
            <a:off x="0" y="10460736"/>
            <a:ext cx="7562088" cy="228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