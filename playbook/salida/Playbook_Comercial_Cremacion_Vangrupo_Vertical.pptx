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05742"/>
            <a:ext cx="2002536" cy="628796"/>
          </a:xfrm>
          <a:prstGeom prst="rect">
            <a:avLst/>
          </a:prstGeom>
        </p:spPr>
      </p:pic>
      <p:pic>
        <p:nvPicPr>
          <p:cNvPr id="4" name="Picture 3" descr="hogar_de_las_memorias.png"/>
          <p:cNvPicPr>
            <a:picLocks noChangeAspect="1"/>
          </p:cNvPicPr>
          <p:nvPr/>
        </p:nvPicPr>
        <p:blipFill>
          <a:blip r:embed="rId3"/>
          <a:stretch>
            <a:fillRect/>
          </a:stretch>
        </p:blipFill>
        <p:spPr>
          <a:xfrm>
            <a:off x="2779776" y="719633"/>
            <a:ext cx="2002536" cy="801014"/>
          </a:xfrm>
          <a:prstGeom prst="rect">
            <a:avLst/>
          </a:prstGeom>
        </p:spPr>
      </p:pic>
      <p:pic>
        <p:nvPicPr>
          <p:cNvPr id="5" name="Picture 4" descr="vangrupo.png"/>
          <p:cNvPicPr>
            <a:picLocks noChangeAspect="1"/>
          </p:cNvPicPr>
          <p:nvPr/>
        </p:nvPicPr>
        <p:blipFill>
          <a:blip r:embed="rId4"/>
          <a:stretch>
            <a:fillRect/>
          </a:stretch>
        </p:blipFill>
        <p:spPr>
          <a:xfrm>
            <a:off x="4919472" y="863559"/>
            <a:ext cx="2002536" cy="513162"/>
          </a:xfrm>
          <a:prstGeom prst="rect">
            <a:avLst/>
          </a:prstGeom>
        </p:spPr>
      </p:pic>
      <p:sp>
        <p:nvSpPr>
          <p:cNvPr id="6" name="TextBox 5"/>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5A059"/>
                </a:solidFill>
                <a:latin typeface="Montserrat"/>
              </a:rPr>
              <a:t>CAMPAÑA DÍA DE LOS MUERTOS 2026</a:t>
            </a:r>
          </a:p>
        </p:txBody>
      </p:sp>
      <p:sp>
        <p:nvSpPr>
          <p:cNvPr id="7" name="TextBox 6"/>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8" name="TextBox 7"/>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E8EDF3"/>
                </a:solidFill>
                <a:latin typeface="Playfair Display"/>
              </a:rPr>
              <a:t>Portafolio de Cremación y Jardines de Cenizas</a:t>
            </a:r>
          </a:p>
        </p:txBody>
      </p:sp>
      <p:sp>
        <p:nvSpPr>
          <p:cNvPr id="9" name="Rectangle 8"/>
          <p:cNvSpPr/>
          <p:nvPr/>
        </p:nvSpPr>
        <p:spPr>
          <a:xfrm>
            <a:off x="640080" y="662940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1" name="TextBox 10"/>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5A059"/>
                </a:solidFill>
                <a:latin typeface="Montserrat"/>
              </a:rPr>
              <a:t>La Auxiliadora · Hogar de las Memorias · Vangrupo</a:t>
            </a:r>
          </a:p>
        </p:txBody>
      </p:sp>
      <p:sp>
        <p:nvSpPr>
          <p:cNvPr id="12" name="TextBox 11"/>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9FB0C4"/>
                </a:solidFill>
                <a:latin typeface="Montserrat"/>
              </a:rPr>
              <a:t>Versión 1.0 · Octubre 2026 · Uso interno del equipo comercial</a:t>
            </a:r>
          </a:p>
        </p:txBody>
      </p:sp>
      <p:sp>
        <p:nvSpPr>
          <p:cNvPr id="13" name="Rectangle 12"/>
          <p:cNvSpPr/>
          <p:nvPr/>
        </p:nvSpPr>
        <p:spPr>
          <a:xfrm>
            <a:off x="0" y="10460736"/>
            <a:ext cx="7562088" cy="22860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C3E50"/>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1B365D"/>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5A059"/>
                </a:solidFill>
                <a:latin typeface="Montserrat"/>
              </a:rPr>
              <a:t>■  </a:t>
            </a:r>
            <a:r>
              <a:rPr sz="1150" b="0" i="0">
                <a:solidFill>
                  <a:srgbClr val="2C3E50"/>
                </a:solidFill>
                <a:latin typeface="Montserrat"/>
              </a:rPr>
              <a:t>Política de comisiones: 8% en todos los productos. Confirmar con el Gerente Comercial antes de aplicar.</a:t>
            </a:r>
          </a:p>
          <a:p>
            <a:pPr algn="l">
              <a:lnSpc>
                <a:spcPct val="115000"/>
              </a:lnSpc>
              <a:spcAft>
                <a:spcPts val="400"/>
              </a:spcAft>
            </a:pPr>
            <a:r>
              <a:rPr sz="850" b="1" i="0">
                <a:solidFill>
                  <a:srgbClr val="C5A059"/>
                </a:solidFill>
                <a:latin typeface="Montserrat"/>
              </a:rPr>
              <a:t>■  </a:t>
            </a:r>
            <a:r>
              <a:rPr sz="1150" b="0" i="0">
                <a:solidFill>
                  <a:srgbClr val="2C3E50"/>
                </a:solidFill>
                <a:latin typeface="Montserrat"/>
              </a:rPr>
              <a:t>Jardín de Mascotas: confirmar si la urna biodegradable está incluida en el precio.</a:t>
            </a:r>
          </a:p>
          <a:p>
            <a:pPr algn="l">
              <a:lnSpc>
                <a:spcPct val="115000"/>
              </a:lnSpc>
              <a:spcAft>
                <a:spcPts val="400"/>
              </a:spcAft>
            </a:pPr>
            <a:r>
              <a:rPr sz="850" b="1" i="0">
                <a:solidFill>
                  <a:srgbClr val="C5A059"/>
                </a:solidFill>
                <a:latin typeface="Montserrat"/>
              </a:rPr>
              <a:t>■  </a:t>
            </a:r>
            <a:r>
              <a:rPr sz="1150" b="0" i="0">
                <a:solidFill>
                  <a:srgbClr val="2C3E50"/>
                </a:solidFill>
                <a:latin typeface="Montserrat"/>
              </a:rPr>
              <a:t>Placas de madera: confirmar el tratamiento de la madera para contacto con el suelo.</a:t>
            </a:r>
          </a:p>
          <a:p>
            <a:pPr algn="l">
              <a:lnSpc>
                <a:spcPct val="115000"/>
              </a:lnSpc>
              <a:spcAft>
                <a:spcPts val="400"/>
              </a:spcAft>
            </a:pPr>
            <a:r>
              <a:rPr sz="850" b="1" i="0">
                <a:solidFill>
                  <a:srgbClr val="C5A059"/>
                </a:solidFill>
                <a:latin typeface="Montserrat"/>
              </a:rPr>
              <a:t>■  </a:t>
            </a:r>
            <a:r>
              <a:rPr sz="1150" b="0" i="0">
                <a:solidFill>
                  <a:srgbClr val="2C3E50"/>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1B365D"/>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A quién le vendemos</a:t>
            </a:r>
          </a:p>
        </p:txBody>
      </p:sp>
      <p:sp>
        <p:nvSpPr>
          <p:cNvPr id="17" name="Rectangle 16"/>
          <p:cNvSpPr/>
          <p:nvPr/>
        </p:nvSpPr>
        <p:spPr>
          <a:xfrm>
            <a:off x="502920" y="6967728"/>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El proceso de venta</a:t>
            </a:r>
          </a:p>
        </p:txBody>
      </p:sp>
      <p:sp>
        <p:nvSpPr>
          <p:cNvPr id="20" name="Rectangle 19"/>
          <p:cNvSpPr/>
          <p:nvPr/>
        </p:nvSpPr>
        <p:spPr>
          <a:xfrm>
            <a:off x="502920" y="7452360"/>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Manejo de objeciones</a:t>
            </a:r>
          </a:p>
        </p:txBody>
      </p:sp>
      <p:sp>
        <p:nvSpPr>
          <p:cNvPr id="26" name="Rectangle 25"/>
          <p:cNvSpPr/>
          <p:nvPr/>
        </p:nvSpPr>
        <p:spPr>
          <a:xfrm>
            <a:off x="502920" y="8421624"/>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Política de comisiones</a:t>
            </a:r>
          </a:p>
        </p:txBody>
      </p:sp>
      <p:sp>
        <p:nvSpPr>
          <p:cNvPr id="32" name="Rectangle 31"/>
          <p:cNvSpPr/>
          <p:nvPr/>
        </p:nvSpPr>
        <p:spPr>
          <a:xfrm>
            <a:off x="502920" y="9390888"/>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Herramientas de apoyo</a:t>
            </a:r>
          </a:p>
        </p:txBody>
      </p:sp>
      <p:sp>
        <p:nvSpPr>
          <p:cNvPr id="35" name="Rectangle 34"/>
          <p:cNvSpPr/>
          <p:nvPr/>
        </p:nvSpPr>
        <p:spPr>
          <a:xfrm>
            <a:off x="502920" y="9875520"/>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Acompañamos familias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En La Auxiliadora y Hogar de las Memorias,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02920" y="3213230"/>
            <a:ext cx="6556248" cy="2854699"/>
          </a:xfrm>
          <a:prstGeom prst="rect">
            <a:avLst/>
          </a:prstGeom>
        </p:spPr>
      </p:pic>
      <p:sp>
        <p:nvSpPr>
          <p:cNvPr id="8" name="Rectangle 7"/>
          <p:cNvSpPr/>
          <p:nvPr/>
        </p:nvSpPr>
        <p:spPr>
          <a:xfrm>
            <a:off x="502920" y="626364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Desde US$ 400 y con financiamiento: un destino final al alcance de más familias.</a:t>
            </a:r>
          </a:p>
        </p:txBody>
      </p:sp>
      <p:sp>
        <p:nvSpPr>
          <p:cNvPr id="16" name="Rectangle 15"/>
          <p:cNvSpPr/>
          <p:nvPr/>
        </p:nvSpPr>
        <p:spPr>
          <a:xfrm>
            <a:off x="502920" y="754380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5A059"/>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Dos momentos de venta</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1B365D"/>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1B365D"/>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A8794"/>
                </a:solidFill>
                <a:latin typeface="Montserrat"/>
              </a:rPr>
              <a:t>Acompaña a la familia durante el servicio y trabaja referidos.</a:t>
            </a:r>
          </a:p>
          <a:p>
            <a:pPr algn="l">
              <a:lnSpc>
                <a:spcPct val="115000"/>
              </a:lnSpc>
              <a:spcAft>
                <a:spcPts val="400"/>
              </a:spcAft>
            </a:pPr>
            <a:r>
              <a:rPr sz="1050" b="1" i="0">
                <a:solidFill>
                  <a:srgbClr val="C5A059"/>
                </a:solidFill>
                <a:latin typeface="Montserrat"/>
              </a:rPr>
              <a:t>Producto foco: </a:t>
            </a:r>
            <a:r>
              <a:rPr sz="1050" b="1" i="0">
                <a:solidFill>
                  <a:srgbClr val="2C3E50"/>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A8794"/>
                </a:solidFill>
                <a:latin typeface="Montserrat"/>
              </a:rPr>
              <a:t>Eventos, centros comerciales, bases de cancelaciones y telemercadeo.</a:t>
            </a:r>
          </a:p>
          <a:p>
            <a:pPr algn="l">
              <a:lnSpc>
                <a:spcPct val="115000"/>
              </a:lnSpc>
              <a:spcAft>
                <a:spcPts val="400"/>
              </a:spcAft>
            </a:pPr>
            <a:r>
              <a:rPr sz="1050" b="1" i="0">
                <a:solidFill>
                  <a:srgbClr val="C5A059"/>
                </a:solidFill>
                <a:latin typeface="Montserrat"/>
              </a:rPr>
              <a:t>Producto foco: </a:t>
            </a:r>
            <a:r>
              <a:rPr sz="1050" b="1" i="0">
                <a:solidFill>
                  <a:srgbClr val="2C3E50"/>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A8794"/>
                </a:solidFill>
                <a:latin typeface="Montserrat"/>
              </a:rPr>
              <a:t>Prospección sistemática en colonias.</a:t>
            </a:r>
          </a:p>
          <a:p>
            <a:pPr algn="l">
              <a:lnSpc>
                <a:spcPct val="115000"/>
              </a:lnSpc>
              <a:spcAft>
                <a:spcPts val="400"/>
              </a:spcAft>
            </a:pPr>
            <a:r>
              <a:rPr sz="1050" b="1" i="0">
                <a:solidFill>
                  <a:srgbClr val="C5A059"/>
                </a:solidFill>
                <a:latin typeface="Montserrat"/>
              </a:rPr>
              <a:t>Producto foco: </a:t>
            </a:r>
            <a:r>
              <a:rPr sz="1050" b="1" i="0">
                <a:solidFill>
                  <a:srgbClr val="2C3E50"/>
                </a:solidFill>
                <a:latin typeface="Montserrat"/>
              </a:rPr>
              <a:t>Solución Modular + Jardín Individual: la combinación más completa para el hogar.</a:t>
            </a:r>
          </a:p>
        </p:txBody>
      </p:sp>
      <p:sp>
        <p:nvSpPr>
          <p:cNvPr id="27" name="TextBox 26"/>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C9D3DF"/>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Tranquilidad y legado. No quiere dejar cargas a su familia.</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Calma, sin prisa, datos claros.</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C9D3DF"/>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Practicidad, control del presupuesto, evitar improvisar.</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Claro, práctico, comparativo.</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C9D3DF"/>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Quitar peso, dignidad, agilidad.</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Acogida total, nunca comercial.</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C9D3DF"/>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Volver a la tierra, sencillez, sostenibilidad.</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Inspirador, natural, sin solemnidad excesiva.</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Jardín Ecológico</a:t>
            </a:r>
          </a:p>
        </p:txBody>
      </p:sp>
      <p:sp>
        <p:nvSpPr>
          <p:cNvPr id="23" name="Rectangle 22"/>
          <p:cNvSpPr/>
          <p:nvPr/>
        </p:nvSpPr>
        <p:spPr>
          <a:xfrm>
            <a:off x="502920" y="74523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C9D3DF"/>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Respeto al vínculo, un lugar para recordar.</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Emocional, cálido y ligero.</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Jardín de Mascotas</a:t>
            </a:r>
          </a:p>
        </p:txBody>
      </p:sp>
      <p:sp>
        <p:nvSpPr>
          <p:cNvPr id="27" name="Rectangle 26"/>
          <p:cNvSpPr/>
          <p:nvPr/>
        </p:nvSpPr>
        <p:spPr>
          <a:xfrm>
            <a:off x="502920" y="8869680"/>
            <a:ext cx="6556248" cy="118872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1B365D"/>
                </a:solidFill>
                <a:latin typeface="Montserrat"/>
              </a:rPr>
              <a:t>FILTRO N·O·A   </a:t>
            </a:r>
            <a:r>
              <a:rPr sz="1050" b="0" i="0">
                <a:solidFill>
                  <a:srgbClr val="2C3E50"/>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Rituales del equipo</a:t>
            </a:r>
          </a:p>
        </p:txBody>
      </p:sp>
      <p:sp>
        <p:nvSpPr>
          <p:cNvPr id="9" name="Rectangle 8"/>
          <p:cNvSpPr/>
          <p:nvPr/>
        </p:nvSpPr>
        <p:spPr>
          <a:xfrm>
            <a:off x="502920" y="6949440"/>
            <a:ext cx="6556248" cy="9144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C3E50"/>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C3E50"/>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C3E50"/>
                </a:solidFill>
                <a:latin typeface="Montserrat"/>
              </a:rPr>
              <a:t>Resultado vs. meta, ajuste de ruta y reconocimiento.</a:t>
            </a:r>
          </a:p>
        </p:txBody>
      </p:sp>
      <p:sp>
        <p:nvSpPr>
          <p:cNvPr id="21" name="TextBox 20"/>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Hasta 120 cuotas mensuales (≈ US$ 8,50/mes)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Proceso completo de cremación individual</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Urna cineraria de línea modular</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Trámites legales básicos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Alquiler temporal de columbario por 1 año (nivel 1, Hogar de las Memorias)</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Se vende como adicional a un plan funerario (actual o nuevo).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Cobertura individual: un módulo por titular o beneficiario.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Debe estar pagado en su totalidad para usar la cremación y el columbario.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El columbario temporal es por 12 meses; al término, la familia elige destino final (oportunidad para ofrecer un Jardín de Cenizas).</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«Usted ya protegió a su familia con su plan. Por menos de lo que cuesta un refresco a la semana, alrededor de ocho dólares al mes,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¿Su plan actual incluye la cremación o solo el servicio funerario?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¿Ha conversado en familia qué preferencia tiene usted?</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Inhumación de la urna en un contenedor enterrado con tapa de granito grabada, en un jardín de plantas de sombra: un lugar permanente para visitar.</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quieren un lugar permanente para visitar, con una inversión moderada.</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de la urna en contenedor individual (Ø 32 × 40 cm)</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Tapa de granito con los datos del ser querido</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Ubicación en el Jardín 1, con paisajismo de plantas de sombra</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1 urna.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Cuota de mantenimiento anual: US$ 15.</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¿Dónde le gustaría poder visitar a su ser querido?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¿Tienen hoy las cenizas en casa o en un columbario temporal?</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El jardín vende solo: priorice siempre la visita.</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Pago único o financiado · Mantenimiento US$ 25/año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Parcela familiar en el Jardín 1 con cuatro contenedores agrupados, cada uno con tapa de granito grabada. Sin plazo de permanencia.</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buscan un espacio propio y permanente para varias generaciones.</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de hasta 4 urnas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Tapa de granito grabada para cada espacio</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Ubicación en el Jardín 1, con paisajismo de plantas de sombra</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Lugar permanente de homenaje familiar, sin plazo</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hasta 4 espacios.</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Permanencia: sin plazo.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Cuota de mantenimiento anual: US$ 25 por parcela.</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«Así como una familia comparte una casa, también puede compartir un lugar de memoria. La parcela familiar reúne hasta cuatro seres queridos en un mismo espacio, para siempre, y cuesta US$ 500 por espacio, menos que comprarlos por separado.»</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¿Les gustaría que la familia esté reunida en un mismo lugar?</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¿Cuántas personas de la familia considerarían este destino?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Use el argumento por espacio (US$ 500) y no el total.</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ecológica con urna biodegradable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Placa de identificación (madera en el Jardín 2 · mármol en el Bosque)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Entorno natural con agua corriente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1 urna. Espacio de 30 × 30 cm, 40 cm de profundidad.</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Permanencia: 3 años. Después, el espacio se reutiliza.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Placa memorial en el monumento: incluida en el precio de US$ 750.</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¿Su ser querido tenía un vínculo especial con la naturaleza?</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¿Qué significa para ustedes «volver a la tierra»?</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ciclo de 3 años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1B365D"/>
                </a:solidFill>
                <a:latin typeface="Montserrat"/>
              </a:rPr>
              <a:t>TRANSPARENCIA   </a:t>
            </a:r>
            <a:r>
              <a:rPr sz="1150" b="0" i="0">
                <a:solidFill>
                  <a:srgbClr val="2C3E50"/>
                </a:solidFill>
                <a:latin typeface="Montserrat"/>
              </a:rPr>
              <a:t>Explique el plazo de 3 años desde la primera conversación. La placa memorial está incluida en el Jardín Ecológico (US$ 750) y en la opción de Mascotas de US$ 550.</a:t>
            </a:r>
          </a:p>
        </p:txBody>
      </p:sp>
      <p:sp>
        <p:nvSpPr>
          <p:cNvPr id="10" name="TextBox 9"/>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US$ 400 solo espacio · US$ 550 con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Inhumación ecológica de las cenizas de la mascota: la urna biodegradable se entierra en el jardín y se identifica con una placa de madera.</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ecológica en el jardín de mascotas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Placa de madera de 20 cm para identificación</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Permanencia de 3 años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Placa memorial en el monumento al término del plazo (opción US$ 550)</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1 mascota por servicio.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Permanencia: 3 años. Después, el espacio se reutiliza.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Placa memorial en el monumento: incluida solo en la opción de US$ 550.</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¿Cómo se llamaba su compañero?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¿Les gustaría que su nombre quede para siempre en el monumento memorial?</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«¿Prefieren la opción con placa memorial incluida, para que su nombre quede siempre en el jardín?»</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Llame a la mascota por su nombre durante toda la conversación.</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de urnas de cenizas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Ceremonia con agua en fuente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PRÓXIMO LANZAMIENTO: no se vende ni se cotiza todavía.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No aplica todavía.</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No prometa fechas ni precios.</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método V·R·A</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gustaría conocer el jardín y ver cómo es el lugar?»</a:t>
            </a:r>
          </a:p>
        </p:txBody>
      </p:sp>
      <p:sp>
        <p:nvSpPr>
          <p:cNvPr id="23" name="TextBox 22"/>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En la urgencia los costos son mayores y se pagan de golpe. Hoy fija el precio y lo paga en cuotas: la Solución Modular cuesta alrededor de US$ 8,50 al mes.</a:t>
            </a:r>
          </a:p>
        </p:txBody>
      </p:sp>
      <p:sp>
        <p:nvSpPr>
          <p:cNvPr id="20" name="Rectangle 19"/>
          <p:cNvSpPr/>
          <p:nvPr/>
        </p:nvSpPr>
        <p:spPr>
          <a:xfrm>
            <a:off x="5230368"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«¿Qué cuota mensual le resultaría cómoda?»</a:t>
            </a:r>
          </a:p>
        </p:txBody>
      </p:sp>
      <p:sp>
        <p:nvSpPr>
          <p:cNvPr id="22" name="Rectangle 21"/>
          <p:cNvSpPr/>
          <p:nvPr/>
        </p:nvSpPr>
        <p:spPr>
          <a:xfrm>
            <a:off x="502920" y="598932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«¿Puedo llamarle el [día] para ver si quedó alguna pregunta?»</a:t>
            </a:r>
          </a:p>
        </p:txBody>
      </p:sp>
      <p:sp>
        <p:nvSpPr>
          <p:cNvPr id="30" name="TextBox 29"/>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La cuota (US$ 15 o US$ 25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Somos La Auxiliadora y Hogar de las Memorias,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«¿Agendamos una visita sin compromiso?»</a:t>
            </a:r>
          </a:p>
        </p:txBody>
      </p:sp>
      <p:sp>
        <p:nvSpPr>
          <p:cNvPr id="30" name="TextBox 29"/>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Tabla de precios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1B365D"/>
                    </a:solidFill>
                  </a:tcPr>
                </a:tc>
                <a:tc>
                  <a:txBody>
                    <a:bodyPr wrap="square"/>
                    <a:lstStyle/>
                    <a:p>
                      <a:r>
                        <a:rPr sz="1000" b="1">
                          <a:solidFill>
                            <a:srgbClr val="FFFFFF"/>
                          </a:solidFill>
                          <a:latin typeface="Montserrat"/>
                        </a:rPr>
                        <a:t>Precio</a:t>
                      </a:r>
                    </a:p>
                  </a:txBody>
                  <a:tcPr marL="73152" marR="73152" marT="36576" marB="36576" anchor="ctr">
                    <a:solidFill>
                      <a:srgbClr val="1B365D"/>
                    </a:solidFill>
                  </a:tcPr>
                </a:tc>
                <a:tc>
                  <a:txBody>
                    <a:bodyPr wrap="square"/>
                    <a:lstStyle/>
                    <a:p>
                      <a:r>
                        <a:rPr sz="1000" b="1">
                          <a:solidFill>
                            <a:srgbClr val="FFFFFF"/>
                          </a:solidFill>
                          <a:latin typeface="Montserrat"/>
                        </a:rPr>
                        <a:t>Pago</a:t>
                      </a:r>
                    </a:p>
                  </a:txBody>
                  <a:tcPr marL="73152" marR="73152" marT="36576" marB="36576" anchor="ctr">
                    <a:solidFill>
                      <a:srgbClr val="1B365D"/>
                    </a:solidFill>
                  </a:tcPr>
                </a:tc>
                <a:tc>
                  <a:txBody>
                    <a:bodyPr wrap="square"/>
                    <a:lstStyle/>
                    <a:p>
                      <a:r>
                        <a:rPr sz="1000" b="1">
                          <a:solidFill>
                            <a:srgbClr val="FFFFFF"/>
                          </a:solidFill>
                          <a:latin typeface="Montserrat"/>
                        </a:rPr>
                        <a:t>Mant.</a:t>
                      </a:r>
                    </a:p>
                  </a:txBody>
                  <a:tcPr marL="73152" marR="73152" marT="36576" marB="36576" anchor="ctr">
                    <a:solidFill>
                      <a:srgbClr val="1B365D"/>
                    </a:solidFill>
                  </a:tcPr>
                </a:tc>
                <a:tc>
                  <a:txBody>
                    <a:bodyPr wrap="square"/>
                    <a:lstStyle/>
                    <a:p>
                      <a:r>
                        <a:rPr sz="1000" b="1">
                          <a:solidFill>
                            <a:srgbClr val="FFFFFF"/>
                          </a:solidFill>
                          <a:latin typeface="Montserrat"/>
                        </a:rPr>
                        <a:t>Plazo / condición</a:t>
                      </a:r>
                    </a:p>
                  </a:txBody>
                  <a:tcPr marL="73152" marR="73152" marT="36576" marB="36576" anchor="ctr">
                    <a:solidFill>
                      <a:srgbClr val="1B365D"/>
                    </a:solidFill>
                  </a:tcPr>
                </a:tc>
              </a:tr>
              <a:tr h="566928">
                <a:tc>
                  <a:txBody>
                    <a:bodyPr wrap="square"/>
                    <a:lstStyle/>
                    <a:p>
                      <a:r>
                        <a:rPr sz="1000" b="1">
                          <a:solidFill>
                            <a:srgbClr val="1B365D"/>
                          </a:solidFill>
                          <a:latin typeface="Montserrat"/>
                        </a:rPr>
                        <a:t>Solución Modular</a:t>
                      </a:r>
                    </a:p>
                  </a:txBody>
                  <a:tcPr marL="73152" marR="73152" marT="36576" marB="36576" anchor="ctr">
                    <a:solidFill>
                      <a:srgbClr val="FFFFFF"/>
                    </a:solidFill>
                  </a:tcPr>
                </a:tc>
                <a:tc>
                  <a:txBody>
                    <a:bodyPr wrap="square"/>
                    <a:lstStyle/>
                    <a:p>
                      <a:r>
                        <a:rPr sz="1000" b="0">
                          <a:solidFill>
                            <a:srgbClr val="2C3E50"/>
                          </a:solidFill>
                          <a:latin typeface="Montserrat"/>
                        </a:rPr>
                        <a:t>US$ 1.000</a:t>
                      </a:r>
                    </a:p>
                  </a:txBody>
                  <a:tcPr marL="73152" marR="73152" marT="36576" marB="36576" anchor="ctr">
                    <a:solidFill>
                      <a:srgbClr val="FFFFFF"/>
                    </a:solidFill>
                  </a:tcPr>
                </a:tc>
                <a:tc>
                  <a:txBody>
                    <a:bodyPr wrap="square"/>
                    <a:lstStyle/>
                    <a:p>
                      <a:r>
                        <a:rPr sz="1000" b="0">
                          <a:solidFill>
                            <a:srgbClr val="2C3E50"/>
                          </a:solidFill>
                          <a:latin typeface="Montserrat"/>
                        </a:rPr>
                        <a:t>Hasta 120 cuotas (≈ US$ 8,50/mes)</a:t>
                      </a:r>
                    </a:p>
                  </a:txBody>
                  <a:tcPr marL="73152" marR="73152" marT="36576" marB="36576" anchor="ctr">
                    <a:solidFill>
                      <a:srgbClr val="FFFFFF"/>
                    </a:solidFill>
                  </a:tcPr>
                </a:tc>
                <a:tc>
                  <a:txBody>
                    <a:bodyPr wrap="square"/>
                    <a:lstStyle/>
                    <a:p>
                      <a:r>
                        <a:rPr sz="1000" b="0">
                          <a:solidFill>
                            <a:srgbClr val="2C3E50"/>
                          </a:solidFill>
                          <a:latin typeface="Montserrat"/>
                        </a:rPr>
                        <a:t>—</a:t>
                      </a:r>
                    </a:p>
                  </a:txBody>
                  <a:tcPr marL="73152" marR="73152" marT="36576" marB="36576" anchor="ctr">
                    <a:solidFill>
                      <a:srgbClr val="FFFFFF"/>
                    </a:solidFill>
                  </a:tcPr>
                </a:tc>
                <a:tc>
                  <a:txBody>
                    <a:bodyPr wrap="square"/>
                    <a:lstStyle/>
                    <a:p>
                      <a:r>
                        <a:rPr sz="1000" b="0">
                          <a:solidFill>
                            <a:srgbClr val="2C3E50"/>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1B365D"/>
                          </a:solidFill>
                          <a:latin typeface="Montserrat"/>
                        </a:rPr>
                        <a:t>Jardín Individual</a:t>
                      </a:r>
                    </a:p>
                  </a:txBody>
                  <a:tcPr marL="73152" marR="73152" marT="36576" marB="36576" anchor="ctr">
                    <a:solidFill>
                      <a:srgbClr val="F4F7FA"/>
                    </a:solidFill>
                  </a:tcPr>
                </a:tc>
                <a:tc>
                  <a:txBody>
                    <a:bodyPr wrap="square"/>
                    <a:lstStyle/>
                    <a:p>
                      <a:r>
                        <a:rPr sz="1000" b="0">
                          <a:solidFill>
                            <a:srgbClr val="2C3E50"/>
                          </a:solidFill>
                          <a:latin typeface="Montserrat"/>
                        </a:rPr>
                        <a:t>US$ 600</a:t>
                      </a:r>
                    </a:p>
                  </a:txBody>
                  <a:tcPr marL="73152" marR="73152" marT="36576" marB="36576" anchor="ctr">
                    <a:solidFill>
                      <a:srgbClr val="F4F7FA"/>
                    </a:solidFill>
                  </a:tcPr>
                </a:tc>
                <a:tc>
                  <a:txBody>
                    <a:bodyPr wrap="square"/>
                    <a:lstStyle/>
                    <a:p>
                      <a:r>
                        <a:rPr sz="1000" b="0">
                          <a:solidFill>
                            <a:srgbClr val="2C3E50"/>
                          </a:solidFill>
                          <a:latin typeface="Montserrat"/>
                        </a:rPr>
                        <a:t>Único o financiado</a:t>
                      </a:r>
                    </a:p>
                  </a:txBody>
                  <a:tcPr marL="73152" marR="73152" marT="36576" marB="36576" anchor="ctr">
                    <a:solidFill>
                      <a:srgbClr val="F4F7FA"/>
                    </a:solidFill>
                  </a:tcPr>
                </a:tc>
                <a:tc>
                  <a:txBody>
                    <a:bodyPr wrap="square"/>
                    <a:lstStyle/>
                    <a:p>
                      <a:r>
                        <a:rPr sz="1000" b="0">
                          <a:solidFill>
                            <a:srgbClr val="2C3E50"/>
                          </a:solidFill>
                          <a:latin typeface="Montserrat"/>
                        </a:rPr>
                        <a:t>US$ 15/año</a:t>
                      </a:r>
                    </a:p>
                  </a:txBody>
                  <a:tcPr marL="73152" marR="73152" marT="36576" marB="36576" anchor="ctr">
                    <a:solidFill>
                      <a:srgbClr val="F4F7FA"/>
                    </a:solidFill>
                  </a:tcPr>
                </a:tc>
                <a:tc>
                  <a:txBody>
                    <a:bodyPr wrap="square"/>
                    <a:lstStyle/>
                    <a:p>
                      <a:r>
                        <a:rPr sz="1000" b="0">
                          <a:solidFill>
                            <a:srgbClr val="2C3E50"/>
                          </a:solidFill>
                          <a:latin typeface="Montserrat"/>
                        </a:rPr>
                        <a:t>Sin plazo</a:t>
                      </a:r>
                    </a:p>
                  </a:txBody>
                  <a:tcPr marL="73152" marR="73152" marT="36576" marB="36576" anchor="ctr">
                    <a:solidFill>
                      <a:srgbClr val="F4F7FA"/>
                    </a:solidFill>
                  </a:tcPr>
                </a:tc>
              </a:tr>
              <a:tr h="566928">
                <a:tc>
                  <a:txBody>
                    <a:bodyPr wrap="square"/>
                    <a:lstStyle/>
                    <a:p>
                      <a:r>
                        <a:rPr sz="1000" b="1">
                          <a:solidFill>
                            <a:srgbClr val="1B365D"/>
                          </a:solidFill>
                          <a:latin typeface="Montserrat"/>
                        </a:rPr>
                        <a:t>Jardín Familiar</a:t>
                      </a:r>
                    </a:p>
                  </a:txBody>
                  <a:tcPr marL="73152" marR="73152" marT="36576" marB="36576" anchor="ctr">
                    <a:solidFill>
                      <a:srgbClr val="FFFFFF"/>
                    </a:solidFill>
                  </a:tcPr>
                </a:tc>
                <a:tc>
                  <a:txBody>
                    <a:bodyPr wrap="square"/>
                    <a:lstStyle/>
                    <a:p>
                      <a:r>
                        <a:rPr sz="1000" b="0">
                          <a:solidFill>
                            <a:srgbClr val="2C3E50"/>
                          </a:solidFill>
                          <a:latin typeface="Montserrat"/>
                        </a:rPr>
                        <a:t>US$ 2.000</a:t>
                      </a:r>
                    </a:p>
                  </a:txBody>
                  <a:tcPr marL="73152" marR="73152" marT="36576" marB="36576" anchor="ctr">
                    <a:solidFill>
                      <a:srgbClr val="FFFFFF"/>
                    </a:solidFill>
                  </a:tcPr>
                </a:tc>
                <a:tc>
                  <a:txBody>
                    <a:bodyPr wrap="square"/>
                    <a:lstStyle/>
                    <a:p>
                      <a:r>
                        <a:rPr sz="1000" b="0">
                          <a:solidFill>
                            <a:srgbClr val="2C3E50"/>
                          </a:solidFill>
                          <a:latin typeface="Montserrat"/>
                        </a:rPr>
                        <a:t>Único o financiado</a:t>
                      </a:r>
                    </a:p>
                  </a:txBody>
                  <a:tcPr marL="73152" marR="73152" marT="36576" marB="36576" anchor="ctr">
                    <a:solidFill>
                      <a:srgbClr val="FFFFFF"/>
                    </a:solidFill>
                  </a:tcPr>
                </a:tc>
                <a:tc>
                  <a:txBody>
                    <a:bodyPr wrap="square"/>
                    <a:lstStyle/>
                    <a:p>
                      <a:r>
                        <a:rPr sz="1000" b="0">
                          <a:solidFill>
                            <a:srgbClr val="2C3E50"/>
                          </a:solidFill>
                          <a:latin typeface="Montserrat"/>
                        </a:rPr>
                        <a:t>US$ 25/año</a:t>
                      </a:r>
                    </a:p>
                  </a:txBody>
                  <a:tcPr marL="73152" marR="73152" marT="36576" marB="36576" anchor="ctr">
                    <a:solidFill>
                      <a:srgbClr val="FFFFFF"/>
                    </a:solidFill>
                  </a:tcPr>
                </a:tc>
                <a:tc>
                  <a:txBody>
                    <a:bodyPr wrap="square"/>
                    <a:lstStyle/>
                    <a:p>
                      <a:r>
                        <a:rPr sz="1000" b="0">
                          <a:solidFill>
                            <a:srgbClr val="2C3E50"/>
                          </a:solidFill>
                          <a:latin typeface="Montserrat"/>
                        </a:rPr>
                        <a:t>Hasta 4 espacios, sin plazo</a:t>
                      </a:r>
                    </a:p>
                  </a:txBody>
                  <a:tcPr marL="73152" marR="73152" marT="36576" marB="36576" anchor="ctr">
                    <a:solidFill>
                      <a:srgbClr val="FFFFFF"/>
                    </a:solidFill>
                  </a:tcPr>
                </a:tc>
              </a:tr>
              <a:tr h="566928">
                <a:tc>
                  <a:txBody>
                    <a:bodyPr wrap="square"/>
                    <a:lstStyle/>
                    <a:p>
                      <a:r>
                        <a:rPr sz="1000" b="1">
                          <a:solidFill>
                            <a:srgbClr val="1B365D"/>
                          </a:solidFill>
                          <a:latin typeface="Montserrat"/>
                        </a:rPr>
                        <a:t>Jardín Ecológico</a:t>
                      </a:r>
                    </a:p>
                  </a:txBody>
                  <a:tcPr marL="73152" marR="73152" marT="36576" marB="36576" anchor="ctr">
                    <a:solidFill>
                      <a:srgbClr val="F4F7FA"/>
                    </a:solidFill>
                  </a:tcPr>
                </a:tc>
                <a:tc>
                  <a:txBody>
                    <a:bodyPr wrap="square"/>
                    <a:lstStyle/>
                    <a:p>
                      <a:r>
                        <a:rPr sz="1000" b="0">
                          <a:solidFill>
                            <a:srgbClr val="2C3E50"/>
                          </a:solidFill>
                          <a:latin typeface="Montserrat"/>
                        </a:rPr>
                        <a:t>US$ 750</a:t>
                      </a:r>
                    </a:p>
                  </a:txBody>
                  <a:tcPr marL="73152" marR="73152" marT="36576" marB="36576" anchor="ctr">
                    <a:solidFill>
                      <a:srgbClr val="F4F7FA"/>
                    </a:solidFill>
                  </a:tcPr>
                </a:tc>
                <a:tc>
                  <a:txBody>
                    <a:bodyPr wrap="square"/>
                    <a:lstStyle/>
                    <a:p>
                      <a:r>
                        <a:rPr sz="1000" b="0">
                          <a:solidFill>
                            <a:srgbClr val="2C3E50"/>
                          </a:solidFill>
                          <a:latin typeface="Montserrat"/>
                        </a:rPr>
                        <a:t>Único o financiado</a:t>
                      </a:r>
                    </a:p>
                  </a:txBody>
                  <a:tcPr marL="73152" marR="73152" marT="36576" marB="36576" anchor="ctr">
                    <a:solidFill>
                      <a:srgbClr val="F4F7FA"/>
                    </a:solidFill>
                  </a:tcPr>
                </a:tc>
                <a:tc>
                  <a:txBody>
                    <a:bodyPr wrap="square"/>
                    <a:lstStyle/>
                    <a:p>
                      <a:r>
                        <a:rPr sz="1000" b="0">
                          <a:solidFill>
                            <a:srgbClr val="2C3E50"/>
                          </a:solidFill>
                          <a:latin typeface="Montserrat"/>
                        </a:rPr>
                        <a:t>—</a:t>
                      </a:r>
                    </a:p>
                  </a:txBody>
                  <a:tcPr marL="73152" marR="73152" marT="36576" marB="36576" anchor="ctr">
                    <a:solidFill>
                      <a:srgbClr val="F4F7FA"/>
                    </a:solidFill>
                  </a:tcPr>
                </a:tc>
                <a:tc>
                  <a:txBody>
                    <a:bodyPr wrap="square"/>
                    <a:lstStyle/>
                    <a:p>
                      <a:r>
                        <a:rPr sz="1000" b="0">
                          <a:solidFill>
                            <a:srgbClr val="2C3E50"/>
                          </a:solidFill>
                          <a:latin typeface="Montserrat"/>
                        </a:rPr>
                        <a:t>3 años · placa memorial incluida</a:t>
                      </a:r>
                    </a:p>
                  </a:txBody>
                  <a:tcPr marL="73152" marR="73152" marT="36576" marB="36576" anchor="ctr">
                    <a:solidFill>
                      <a:srgbClr val="F4F7FA"/>
                    </a:solidFill>
                  </a:tcPr>
                </a:tc>
              </a:tr>
              <a:tr h="566928">
                <a:tc>
                  <a:txBody>
                    <a:bodyPr wrap="square"/>
                    <a:lstStyle/>
                    <a:p>
                      <a:r>
                        <a:rPr sz="1000" b="1">
                          <a:solidFill>
                            <a:srgbClr val="1B365D"/>
                          </a:solidFill>
                          <a:latin typeface="Montserrat"/>
                        </a:rPr>
                        <a:t>Jardín de Mascotas</a:t>
                      </a:r>
                    </a:p>
                  </a:txBody>
                  <a:tcPr marL="73152" marR="73152" marT="36576" marB="36576" anchor="ctr">
                    <a:solidFill>
                      <a:srgbClr val="FFFFFF"/>
                    </a:solidFill>
                  </a:tcPr>
                </a:tc>
                <a:tc>
                  <a:txBody>
                    <a:bodyPr wrap="square"/>
                    <a:lstStyle/>
                    <a:p>
                      <a:r>
                        <a:rPr sz="1000" b="0">
                          <a:solidFill>
                            <a:srgbClr val="2C3E50"/>
                          </a:solidFill>
                          <a:latin typeface="Montserrat"/>
                        </a:rPr>
                        <a:t>US$ 400 / 550</a:t>
                      </a:r>
                    </a:p>
                  </a:txBody>
                  <a:tcPr marL="73152" marR="73152" marT="36576" marB="36576" anchor="ctr">
                    <a:solidFill>
                      <a:srgbClr val="FFFFFF"/>
                    </a:solidFill>
                  </a:tcPr>
                </a:tc>
                <a:tc>
                  <a:txBody>
                    <a:bodyPr wrap="square"/>
                    <a:lstStyle/>
                    <a:p>
                      <a:r>
                        <a:rPr sz="1000" b="0">
                          <a:solidFill>
                            <a:srgbClr val="2C3E50"/>
                          </a:solidFill>
                          <a:latin typeface="Montserrat"/>
                        </a:rPr>
                        <a:t>Pago único</a:t>
                      </a:r>
                    </a:p>
                  </a:txBody>
                  <a:tcPr marL="73152" marR="73152" marT="36576" marB="36576" anchor="ctr">
                    <a:solidFill>
                      <a:srgbClr val="FFFFFF"/>
                    </a:solidFill>
                  </a:tcPr>
                </a:tc>
                <a:tc>
                  <a:txBody>
                    <a:bodyPr wrap="square"/>
                    <a:lstStyle/>
                    <a:p>
                      <a:r>
                        <a:rPr sz="1000" b="0">
                          <a:solidFill>
                            <a:srgbClr val="2C3E50"/>
                          </a:solidFill>
                          <a:latin typeface="Montserrat"/>
                        </a:rPr>
                        <a:t>—</a:t>
                      </a:r>
                    </a:p>
                  </a:txBody>
                  <a:tcPr marL="73152" marR="73152" marT="36576" marB="36576" anchor="ctr">
                    <a:solidFill>
                      <a:srgbClr val="FFFFFF"/>
                    </a:solidFill>
                  </a:tcPr>
                </a:tc>
                <a:tc>
                  <a:txBody>
                    <a:bodyPr wrap="square"/>
                    <a:lstStyle/>
                    <a:p>
                      <a:r>
                        <a:rPr sz="1000" b="0">
                          <a:solidFill>
                            <a:srgbClr val="2C3E50"/>
                          </a:solidFill>
                          <a:latin typeface="Montserrat"/>
                        </a:rPr>
                        <a:t>3 años · placa incluida en la opción de US$ 550</a:t>
                      </a:r>
                    </a:p>
                  </a:txBody>
                  <a:tcPr marL="73152" marR="73152" marT="36576" marB="36576" anchor="ctr">
                    <a:solidFill>
                      <a:srgbClr val="FFFFFF"/>
                    </a:solidFill>
                  </a:tcPr>
                </a:tc>
              </a:tr>
              <a:tr h="566928">
                <a:tc>
                  <a:txBody>
                    <a:bodyPr wrap="square"/>
                    <a:lstStyle/>
                    <a:p>
                      <a:r>
                        <a:rPr sz="1000" b="1">
                          <a:solidFill>
                            <a:srgbClr val="1B365D"/>
                          </a:solidFill>
                          <a:latin typeface="Montserrat"/>
                        </a:rPr>
                        <a:t>Jardín Ceremonial</a:t>
                      </a:r>
                    </a:p>
                  </a:txBody>
                  <a:tcPr marL="73152" marR="73152" marT="36576" marB="36576" anchor="ctr">
                    <a:solidFill>
                      <a:srgbClr val="FBF3E1"/>
                    </a:solidFill>
                  </a:tcPr>
                </a:tc>
                <a:tc>
                  <a:txBody>
                    <a:bodyPr wrap="square"/>
                    <a:lstStyle/>
                    <a:p>
                      <a:r>
                        <a:rPr sz="1000" b="0">
                          <a:solidFill>
                            <a:srgbClr val="2C3E50"/>
                          </a:solidFill>
                          <a:latin typeface="Montserrat"/>
                        </a:rPr>
                        <a:t>A definir</a:t>
                      </a:r>
                    </a:p>
                  </a:txBody>
                  <a:tcPr marL="73152" marR="73152" marT="36576" marB="36576" anchor="ctr">
                    <a:solidFill>
                      <a:srgbClr val="FBF3E1"/>
                    </a:solidFill>
                  </a:tcPr>
                </a:tc>
                <a:tc>
                  <a:txBody>
                    <a:bodyPr wrap="square"/>
                    <a:lstStyle/>
                    <a:p>
                      <a:r>
                        <a:rPr sz="1000" b="0">
                          <a:solidFill>
                            <a:srgbClr val="2C3E50"/>
                          </a:solidFill>
                          <a:latin typeface="Montserrat"/>
                        </a:rPr>
                        <a:t>A definir</a:t>
                      </a:r>
                    </a:p>
                  </a:txBody>
                  <a:tcPr marL="73152" marR="73152" marT="36576" marB="36576" anchor="ctr">
                    <a:solidFill>
                      <a:srgbClr val="FBF3E1"/>
                    </a:solidFill>
                  </a:tcPr>
                </a:tc>
                <a:tc>
                  <a:txBody>
                    <a:bodyPr wrap="square"/>
                    <a:lstStyle/>
                    <a:p>
                      <a:r>
                        <a:rPr sz="1000" b="0">
                          <a:solidFill>
                            <a:srgbClr val="2C3E50"/>
                          </a:solidFill>
                          <a:latin typeface="Montserrat"/>
                        </a:rPr>
                        <a:t>A definir</a:t>
                      </a:r>
                    </a:p>
                  </a:txBody>
                  <a:tcPr marL="73152" marR="73152" marT="36576" marB="36576" anchor="ctr">
                    <a:solidFill>
                      <a:srgbClr val="FBF3E1"/>
                    </a:solidFill>
                  </a:tcPr>
                </a:tc>
                <a:tc>
                  <a:txBody>
                    <a:bodyPr wrap="square"/>
                    <a:lstStyle/>
                    <a:p>
                      <a:r>
                        <a:rPr sz="1000" b="0">
                          <a:solidFill>
                            <a:srgbClr val="2C3E50"/>
                          </a:solidFill>
                          <a:latin typeface="Montserrat"/>
                        </a:rPr>
                        <a:t>Próximo lanzamiento</a:t>
                      </a:r>
                    </a:p>
                  </a:txBody>
                  <a:tcPr marL="73152" marR="73152" marT="36576" marB="36576" anchor="ctr">
                    <a:solidFill>
                      <a:srgbClr val="FBF3E1"/>
                    </a:solidFill>
                  </a:tcPr>
                </a:tc>
              </a:tr>
            </a:tbl>
          </a:graphicData>
        </a:graphic>
      </p:graphicFrame>
      <p:sp>
        <p:nvSpPr>
          <p:cNvPr id="8" name="Rectangle 7"/>
          <p:cNvSpPr/>
          <p:nvPr/>
        </p:nvSpPr>
        <p:spPr>
          <a:xfrm>
            <a:off x="502920" y="6263640"/>
            <a:ext cx="6556248" cy="118872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1B365D"/>
                </a:solidFill>
                <a:latin typeface="Montserrat"/>
              </a:rPr>
              <a:t>EL DESCUENTO NO ES LA SALIDA   </a:t>
            </a:r>
            <a:r>
              <a:rPr sz="1100" b="0" i="0">
                <a:solidFill>
                  <a:srgbClr val="2C3E50"/>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Reglas comerciales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1B365D"/>
                    </a:solidFill>
                  </a:tcPr>
                </a:tc>
                <a:tc>
                  <a:txBody>
                    <a:bodyPr wrap="square"/>
                    <a:lstStyle/>
                    <a:p>
                      <a:r>
                        <a:rPr sz="1100" b="1">
                          <a:solidFill>
                            <a:srgbClr val="FFFFFF"/>
                          </a:solidFill>
                          <a:latin typeface="Montserrat"/>
                        </a:rPr>
                        <a:t>Regla</a:t>
                      </a:r>
                    </a:p>
                  </a:txBody>
                  <a:tcPr marL="73152" marR="73152" marT="36576" marB="36576" anchor="ctr">
                    <a:solidFill>
                      <a:srgbClr val="1B365D"/>
                    </a:solidFill>
                  </a:tcPr>
                </a:tc>
              </a:tr>
              <a:tr h="868680">
                <a:tc>
                  <a:txBody>
                    <a:bodyPr wrap="square"/>
                    <a:lstStyle/>
                    <a:p>
                      <a:r>
                        <a:rPr sz="1100" b="1">
                          <a:solidFill>
                            <a:srgbClr val="1B365D"/>
                          </a:solidFill>
                          <a:latin typeface="Montserrat"/>
                        </a:rPr>
                        <a:t>Precios</a:t>
                      </a:r>
                    </a:p>
                  </a:txBody>
                  <a:tcPr marL="73152" marR="73152" marT="36576" marB="36576" anchor="ctr">
                    <a:solidFill>
                      <a:srgbClr val="FFFFFF"/>
                    </a:solidFill>
                  </a:tcPr>
                </a:tc>
                <a:tc>
                  <a:txBody>
                    <a:bodyPr wrap="square"/>
                    <a:lstStyle/>
                    <a:p>
                      <a:r>
                        <a:rPr sz="1100" b="0">
                          <a:solidFill>
                            <a:srgbClr val="2C3E50"/>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1B365D"/>
                          </a:solidFill>
                          <a:latin typeface="Montserrat"/>
                        </a:rPr>
                        <a:t>Descuentos</a:t>
                      </a:r>
                    </a:p>
                  </a:txBody>
                  <a:tcPr marL="73152" marR="73152" marT="36576" marB="36576" anchor="ctr">
                    <a:solidFill>
                      <a:srgbClr val="F4F7FA"/>
                    </a:solidFill>
                  </a:tcPr>
                </a:tc>
                <a:tc>
                  <a:txBody>
                    <a:bodyPr wrap="square"/>
                    <a:lstStyle/>
                    <a:p>
                      <a:r>
                        <a:rPr sz="1100" b="0">
                          <a:solidFill>
                            <a:srgbClr val="2C3E50"/>
                          </a:solidFill>
                          <a:latin typeface="Montserrat"/>
                        </a:rPr>
                        <a:t>Prenecesidad: hasta 20% según la campaña del mes. Emergencia: máximo 5%. Siempre con autorización del supervisor.</a:t>
                      </a:r>
                    </a:p>
                  </a:txBody>
                  <a:tcPr marL="73152" marR="73152" marT="36576" marB="36576" anchor="ctr">
                    <a:solidFill>
                      <a:srgbClr val="F4F7FA"/>
                    </a:solidFill>
                  </a:tcPr>
                </a:tc>
              </a:tr>
              <a:tr h="868680">
                <a:tc>
                  <a:txBody>
                    <a:bodyPr wrap="square"/>
                    <a:lstStyle/>
                    <a:p>
                      <a:r>
                        <a:rPr sz="1100" b="1">
                          <a:solidFill>
                            <a:srgbClr val="1B365D"/>
                          </a:solidFill>
                          <a:latin typeface="Montserrat"/>
                        </a:rPr>
                        <a:t>Mantenimiento</a:t>
                      </a:r>
                    </a:p>
                  </a:txBody>
                  <a:tcPr marL="73152" marR="73152" marT="36576" marB="36576" anchor="ctr">
                    <a:solidFill>
                      <a:srgbClr val="FFFFFF"/>
                    </a:solidFill>
                  </a:tcPr>
                </a:tc>
                <a:tc>
                  <a:txBody>
                    <a:bodyPr wrap="square"/>
                    <a:lstStyle/>
                    <a:p>
                      <a:r>
                        <a:rPr sz="1100" b="0">
                          <a:solidFill>
                            <a:srgbClr val="2C3E50"/>
                          </a:solidFill>
                          <a:latin typeface="Montserrat"/>
                        </a:rPr>
                        <a:t>Individual US$ 15/año y Familiar US$ 25/año. No es opcional: se explica antes de firmar.</a:t>
                      </a:r>
                    </a:p>
                  </a:txBody>
                  <a:tcPr marL="73152" marR="73152" marT="36576" marB="36576" anchor="ctr">
                    <a:solidFill>
                      <a:srgbClr val="FFFFFF"/>
                    </a:solidFill>
                  </a:tcPr>
                </a:tc>
              </a:tr>
              <a:tr h="868680">
                <a:tc>
                  <a:txBody>
                    <a:bodyPr wrap="square"/>
                    <a:lstStyle/>
                    <a:p>
                      <a:r>
                        <a:rPr sz="1100" b="1">
                          <a:solidFill>
                            <a:srgbClr val="1B365D"/>
                          </a:solidFill>
                          <a:latin typeface="Montserrat"/>
                        </a:rPr>
                        <a:t>Plazo de 3 años</a:t>
                      </a:r>
                    </a:p>
                  </a:txBody>
                  <a:tcPr marL="73152" marR="73152" marT="36576" marB="36576" anchor="ctr">
                    <a:solidFill>
                      <a:srgbClr val="F4F7FA"/>
                    </a:solidFill>
                  </a:tcPr>
                </a:tc>
                <a:tc>
                  <a:txBody>
                    <a:bodyPr wrap="square"/>
                    <a:lstStyle/>
                    <a:p>
                      <a:r>
                        <a:rPr sz="1100" b="0">
                          <a:solidFill>
                            <a:srgbClr val="2C3E50"/>
                          </a:solidFill>
                          <a:latin typeface="Montserrat"/>
                        </a:rPr>
                        <a:t>Ecológico y Mascotas: se explica con total transparencia en la primera conversación.</a:t>
                      </a:r>
                    </a:p>
                  </a:txBody>
                  <a:tcPr marL="73152" marR="73152" marT="36576" marB="36576" anchor="ctr">
                    <a:solidFill>
                      <a:srgbClr val="F4F7FA"/>
                    </a:solidFill>
                  </a:tcPr>
                </a:tc>
              </a:tr>
              <a:tr h="868680">
                <a:tc>
                  <a:txBody>
                    <a:bodyPr wrap="square"/>
                    <a:lstStyle/>
                    <a:p>
                      <a:r>
                        <a:rPr sz="1100" b="1">
                          <a:solidFill>
                            <a:srgbClr val="1B365D"/>
                          </a:solidFill>
                          <a:latin typeface="Montserrat"/>
                        </a:rPr>
                        <a:t>Placas memoriales</a:t>
                      </a:r>
                    </a:p>
                  </a:txBody>
                  <a:tcPr marL="73152" marR="73152" marT="36576" marB="36576" anchor="ctr">
                    <a:solidFill>
                      <a:srgbClr val="FFFFFF"/>
                    </a:solidFill>
                  </a:tcPr>
                </a:tc>
                <a:tc>
                  <a:txBody>
                    <a:bodyPr wrap="square"/>
                    <a:lstStyle/>
                    <a:p>
                      <a:r>
                        <a:rPr sz="1100" b="0">
                          <a:solidFill>
                            <a:srgbClr val="2C3E50"/>
                          </a:solidFill>
                          <a:latin typeface="Montserrat"/>
                        </a:rPr>
                        <a:t>Incluida en el Jardín Ecológico (US$ 750) y en la opción de Mascotas de US$ 550.</a:t>
                      </a:r>
                    </a:p>
                  </a:txBody>
                  <a:tcPr marL="73152" marR="73152" marT="36576" marB="36576" anchor="ctr">
                    <a:solidFill>
                      <a:srgbClr val="FFFFFF"/>
                    </a:solidFill>
                  </a:tcPr>
                </a:tc>
              </a:tr>
              <a:tr h="868680">
                <a:tc>
                  <a:txBody>
                    <a:bodyPr wrap="square"/>
                    <a:lstStyle/>
                    <a:p>
                      <a:r>
                        <a:rPr sz="1100" b="1">
                          <a:solidFill>
                            <a:srgbClr val="1B365D"/>
                          </a:solidFill>
                          <a:latin typeface="Montserrat"/>
                        </a:rPr>
                        <a:t>Dueño del contacto</a:t>
                      </a:r>
                    </a:p>
                  </a:txBody>
                  <a:tcPr marL="73152" marR="73152" marT="36576" marB="36576" anchor="ctr">
                    <a:solidFill>
                      <a:srgbClr val="F4F7FA"/>
                    </a:solidFill>
                  </a:tcPr>
                </a:tc>
                <a:tc>
                  <a:txBody>
                    <a:bodyPr wrap="square"/>
                    <a:lstStyle/>
                    <a:p>
                      <a:r>
                        <a:rPr sz="1100" b="0">
                          <a:solidFill>
                            <a:srgbClr val="2C3E50"/>
                          </a:solidFill>
                          <a:latin typeface="Montserrat"/>
                        </a:rPr>
                        <a:t>Quien registra primero. Sin interacción en 15 días, el contacto puede reasignarse.</a:t>
                      </a:r>
                    </a:p>
                  </a:txBody>
                  <a:tcPr marL="73152" marR="73152" marT="36576" marB="36576" anchor="ctr">
                    <a:solidFill>
                      <a:srgbClr val="F4F7FA"/>
                    </a:solidFill>
                  </a:tcPr>
                </a:tc>
              </a:tr>
              <a:tr h="868680">
                <a:tc>
                  <a:txBody>
                    <a:bodyPr wrap="square"/>
                    <a:lstStyle/>
                    <a:p>
                      <a:r>
                        <a:rPr sz="1100" b="1">
                          <a:solidFill>
                            <a:srgbClr val="1B365D"/>
                          </a:solidFill>
                          <a:latin typeface="Montserrat"/>
                        </a:rPr>
                        <a:t>Lo que NO se promete</a:t>
                      </a:r>
                    </a:p>
                  </a:txBody>
                  <a:tcPr marL="73152" marR="73152" marT="36576" marB="36576" anchor="ctr">
                    <a:solidFill>
                      <a:srgbClr val="FFFFFF"/>
                    </a:solidFill>
                  </a:tcPr>
                </a:tc>
                <a:tc>
                  <a:txBody>
                    <a:bodyPr wrap="square"/>
                    <a:lstStyle/>
                    <a:p>
                      <a:r>
                        <a:rPr sz="1100" b="0">
                          <a:solidFill>
                            <a:srgbClr val="2C3E50"/>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Comisión única de 8%</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Sobre el precio sin IVA. Validar con la Gerencia Comercial.</a:t>
            </a:r>
          </a:p>
        </p:txBody>
      </p:sp>
      <p:pic>
        <p:nvPicPr>
          <p:cNvPr id="7" name="Picture 6" descr="05_comisiones.png"/>
          <p:cNvPicPr>
            <a:picLocks noChangeAspect="1"/>
          </p:cNvPicPr>
          <p:nvPr/>
        </p:nvPicPr>
        <p:blipFill>
          <a:blip r:embed="rId2"/>
          <a:stretch>
            <a:fillRect/>
          </a:stretch>
        </p:blipFill>
        <p:spPr>
          <a:xfrm>
            <a:off x="502920" y="2157870"/>
            <a:ext cx="6556248" cy="2130780"/>
          </a:xfrm>
          <a:prstGeom prst="rect">
            <a:avLst/>
          </a:prstGeom>
        </p:spPr>
      </p:pic>
      <p:graphicFrame>
        <p:nvGraphicFramePr>
          <p:cNvPr id="8" name="Table 7"/>
          <p:cNvGraphicFramePr>
            <a:graphicFrameLocks noGrp="1"/>
          </p:cNvGraphicFramePr>
          <p:nvPr/>
        </p:nvGraphicFramePr>
        <p:xfrm>
          <a:off x="502920" y="4663440"/>
          <a:ext cx="6556246" cy="5266944"/>
        </p:xfrm>
        <a:graphic>
          <a:graphicData uri="http://schemas.openxmlformats.org/drawingml/2006/table">
            <a:tbl>
              <a:tblPr firstRow="1" bandRow="1">
                <a:tableStyleId>{5C22544A-7EE6-4342-B048-85BDC9FD1C3A}</a:tableStyleId>
              </a:tblPr>
              <a:tblGrid>
                <a:gridCol w="1681089"/>
                <a:gridCol w="504326"/>
                <a:gridCol w="1008653"/>
                <a:gridCol w="2017307"/>
                <a:gridCol w="1344871"/>
              </a:tblGrid>
              <a:tr h="658368">
                <a:tc>
                  <a:txBody>
                    <a:bodyPr wrap="square"/>
                    <a:lstStyle/>
                    <a:p>
                      <a:r>
                        <a:rPr sz="950" b="1">
                          <a:solidFill>
                            <a:srgbClr val="FFFFFF"/>
                          </a:solidFill>
                          <a:latin typeface="Montserrat"/>
                        </a:rPr>
                        <a:t>Producto</a:t>
                      </a:r>
                    </a:p>
                  </a:txBody>
                  <a:tcPr marL="73152" marR="73152" marT="36576" marB="36576" anchor="ctr">
                    <a:solidFill>
                      <a:srgbClr val="1B365D"/>
                    </a:solidFill>
                  </a:tcPr>
                </a:tc>
                <a:tc>
                  <a:txBody>
                    <a:bodyPr wrap="square"/>
                    <a:lstStyle/>
                    <a:p>
                      <a:r>
                        <a:rPr sz="950" b="1">
                          <a:solidFill>
                            <a:srgbClr val="FFFFFF"/>
                          </a:solidFill>
                          <a:latin typeface="Montserrat"/>
                        </a:rPr>
                        <a:t>%</a:t>
                      </a:r>
                    </a:p>
                  </a:txBody>
                  <a:tcPr marL="73152" marR="73152" marT="36576" marB="36576" anchor="ctr">
                    <a:solidFill>
                      <a:srgbClr val="1B365D"/>
                    </a:solidFill>
                  </a:tcPr>
                </a:tc>
                <a:tc>
                  <a:txBody>
                    <a:bodyPr wrap="square"/>
                    <a:lstStyle/>
                    <a:p>
                      <a:r>
                        <a:rPr sz="950" b="1">
                          <a:solidFill>
                            <a:srgbClr val="FFFFFF"/>
                          </a:solidFill>
                          <a:latin typeface="Montserrat"/>
                        </a:rPr>
                        <a:t>Comisión</a:t>
                      </a:r>
                    </a:p>
                  </a:txBody>
                  <a:tcPr marL="73152" marR="73152" marT="36576" marB="36576" anchor="ctr">
                    <a:solidFill>
                      <a:srgbClr val="1B365D"/>
                    </a:solidFill>
                  </a:tcPr>
                </a:tc>
                <a:tc>
                  <a:txBody>
                    <a:bodyPr wrap="square"/>
                    <a:lstStyle/>
                    <a:p>
                      <a:r>
                        <a:rPr sz="950" b="1">
                          <a:solidFill>
                            <a:srgbClr val="FFFFFF"/>
                          </a:solidFill>
                          <a:latin typeface="Montserrat"/>
                        </a:rPr>
                        <a:t>Cuándo se paga</a:t>
                      </a:r>
                    </a:p>
                  </a:txBody>
                  <a:tcPr marL="73152" marR="73152" marT="36576" marB="36576" anchor="ctr">
                    <a:solidFill>
                      <a:srgbClr val="1B365D"/>
                    </a:solidFill>
                  </a:tcPr>
                </a:tc>
                <a:tc>
                  <a:txBody>
                    <a:bodyPr wrap="square"/>
                    <a:lstStyle/>
                    <a:p>
                      <a:r>
                        <a:rPr sz="950" b="1">
                          <a:solidFill>
                            <a:srgbClr val="FFFFFF"/>
                          </a:solidFill>
                          <a:latin typeface="Montserrat"/>
                        </a:rPr>
                        <a:t>Estorno</a:t>
                      </a:r>
                    </a:p>
                  </a:txBody>
                  <a:tcPr marL="73152" marR="73152" marT="36576" marB="36576" anchor="ctr">
                    <a:solidFill>
                      <a:srgbClr val="1B365D"/>
                    </a:solidFill>
                  </a:tcPr>
                </a:tc>
              </a:tr>
              <a:tr h="658368">
                <a:tc>
                  <a:txBody>
                    <a:bodyPr wrap="square"/>
                    <a:lstStyle/>
                    <a:p>
                      <a:r>
                        <a:rPr sz="950" b="1">
                          <a:solidFill>
                            <a:srgbClr val="1B365D"/>
                          </a:solidFill>
                          <a:latin typeface="Montserrat"/>
                        </a:rPr>
                        <a:t>Solución Modular</a:t>
                      </a:r>
                    </a:p>
                  </a:txBody>
                  <a:tcPr marL="73152" marR="73152" marT="36576" marB="36576" anchor="ctr">
                    <a:solidFill>
                      <a:srgbClr val="FFFFFF"/>
                    </a:solidFill>
                  </a:tcPr>
                </a:tc>
                <a:tc>
                  <a:txBody>
                    <a:bodyPr wrap="square"/>
                    <a:lstStyle/>
                    <a:p>
                      <a:r>
                        <a:rPr sz="950" b="0">
                          <a:solidFill>
                            <a:srgbClr val="2C3E50"/>
                          </a:solidFill>
                          <a:latin typeface="Montserrat"/>
                        </a:rPr>
                        <a:t>8%</a:t>
                      </a:r>
                    </a:p>
                  </a:txBody>
                  <a:tcPr marL="73152" marR="73152" marT="36576" marB="36576" anchor="ctr">
                    <a:solidFill>
                      <a:srgbClr val="FFFFFF"/>
                    </a:solidFill>
                  </a:tcPr>
                </a:tc>
                <a:tc>
                  <a:txBody>
                    <a:bodyPr wrap="square"/>
                    <a:lstStyle/>
                    <a:p>
                      <a:r>
                        <a:rPr sz="950" b="0">
                          <a:solidFill>
                            <a:srgbClr val="2C3E50"/>
                          </a:solidFill>
                          <a:latin typeface="Montserrat"/>
                        </a:rPr>
                        <a:t>US$ 70,80</a:t>
                      </a:r>
                    </a:p>
                  </a:txBody>
                  <a:tcPr marL="73152" marR="73152" marT="36576" marB="36576" anchor="ctr">
                    <a:solidFill>
                      <a:srgbClr val="FFFFFF"/>
                    </a:solidFill>
                  </a:tcPr>
                </a:tc>
                <a:tc>
                  <a:txBody>
                    <a:bodyPr wrap="square"/>
                    <a:lstStyle/>
                    <a:p>
                      <a:r>
                        <a:rPr sz="950" b="0">
                          <a:solidFill>
                            <a:srgbClr val="2C3E50"/>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C3E50"/>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1B365D"/>
                          </a:solidFill>
                          <a:latin typeface="Montserrat"/>
                        </a:rPr>
                        <a:t>Jardín Individual</a:t>
                      </a:r>
                    </a:p>
                  </a:txBody>
                  <a:tcPr marL="73152" marR="73152" marT="36576" marB="36576" anchor="ctr">
                    <a:solidFill>
                      <a:srgbClr val="F4F7FA"/>
                    </a:solidFill>
                  </a:tcPr>
                </a:tc>
                <a:tc>
                  <a:txBody>
                    <a:bodyPr wrap="square"/>
                    <a:lstStyle/>
                    <a:p>
                      <a:r>
                        <a:rPr sz="950" b="0">
                          <a:solidFill>
                            <a:srgbClr val="2C3E50"/>
                          </a:solidFill>
                          <a:latin typeface="Montserrat"/>
                        </a:rPr>
                        <a:t>8%</a:t>
                      </a:r>
                    </a:p>
                  </a:txBody>
                  <a:tcPr marL="73152" marR="73152" marT="36576" marB="36576" anchor="ctr">
                    <a:solidFill>
                      <a:srgbClr val="F4F7FA"/>
                    </a:solidFill>
                  </a:tcPr>
                </a:tc>
                <a:tc>
                  <a:txBody>
                    <a:bodyPr wrap="square"/>
                    <a:lstStyle/>
                    <a:p>
                      <a:r>
                        <a:rPr sz="950" b="0">
                          <a:solidFill>
                            <a:srgbClr val="2C3E50"/>
                          </a:solidFill>
                          <a:latin typeface="Montserrat"/>
                        </a:rPr>
                        <a:t>US$ 42,48</a:t>
                      </a:r>
                    </a:p>
                  </a:txBody>
                  <a:tcPr marL="73152" marR="73152" marT="36576" marB="36576" anchor="ctr">
                    <a:solidFill>
                      <a:srgbClr val="F4F7FA"/>
                    </a:solidFill>
                  </a:tcPr>
                </a:tc>
                <a:tc>
                  <a:txBody>
                    <a:bodyPr wrap="square"/>
                    <a:lstStyle/>
                    <a:p>
                      <a:r>
                        <a:rPr sz="950" b="0">
                          <a:solidFill>
                            <a:srgbClr val="2C3E50"/>
                          </a:solidFill>
                          <a:latin typeface="Montserrat"/>
                        </a:rPr>
                        <a:t>Contado: mes siguiente · Financiado: proporcional a lo cobrado</a:t>
                      </a:r>
                    </a:p>
                  </a:txBody>
                  <a:tcPr marL="73152" marR="73152" marT="36576" marB="36576" anchor="ctr">
                    <a:solidFill>
                      <a:srgbClr val="F4F7FA"/>
                    </a:solidFill>
                  </a:tcPr>
                </a:tc>
                <a:tc>
                  <a:txBody>
                    <a:bodyPr wrap="square"/>
                    <a:lstStyle/>
                    <a:p>
                      <a:r>
                        <a:rPr sz="950" b="0">
                          <a:solidFill>
                            <a:srgbClr val="2C3E50"/>
                          </a:solidFill>
                          <a:latin typeface="Montserrat"/>
                        </a:rPr>
                        <a:t>Cancelación en 90 días</a:t>
                      </a:r>
                    </a:p>
                  </a:txBody>
                  <a:tcPr marL="73152" marR="73152" marT="36576" marB="36576" anchor="ctr">
                    <a:solidFill>
                      <a:srgbClr val="F4F7FA"/>
                    </a:solidFill>
                  </a:tcPr>
                </a:tc>
              </a:tr>
              <a:tr h="658368">
                <a:tc>
                  <a:txBody>
                    <a:bodyPr wrap="square"/>
                    <a:lstStyle/>
                    <a:p>
                      <a:r>
                        <a:rPr sz="950" b="1">
                          <a:solidFill>
                            <a:srgbClr val="1B365D"/>
                          </a:solidFill>
                          <a:latin typeface="Montserrat"/>
                        </a:rPr>
                        <a:t>Jardín Familiar</a:t>
                      </a:r>
                    </a:p>
                  </a:txBody>
                  <a:tcPr marL="73152" marR="73152" marT="36576" marB="36576" anchor="ctr">
                    <a:solidFill>
                      <a:srgbClr val="FFFFFF"/>
                    </a:solidFill>
                  </a:tcPr>
                </a:tc>
                <a:tc>
                  <a:txBody>
                    <a:bodyPr wrap="square"/>
                    <a:lstStyle/>
                    <a:p>
                      <a:r>
                        <a:rPr sz="950" b="0">
                          <a:solidFill>
                            <a:srgbClr val="2C3E50"/>
                          </a:solidFill>
                          <a:latin typeface="Montserrat"/>
                        </a:rPr>
                        <a:t>8%</a:t>
                      </a:r>
                    </a:p>
                  </a:txBody>
                  <a:tcPr marL="73152" marR="73152" marT="36576" marB="36576" anchor="ctr">
                    <a:solidFill>
                      <a:srgbClr val="FFFFFF"/>
                    </a:solidFill>
                  </a:tcPr>
                </a:tc>
                <a:tc>
                  <a:txBody>
                    <a:bodyPr wrap="square"/>
                    <a:lstStyle/>
                    <a:p>
                      <a:r>
                        <a:rPr sz="950" b="0">
                          <a:solidFill>
                            <a:srgbClr val="2C3E50"/>
                          </a:solidFill>
                          <a:latin typeface="Montserrat"/>
                        </a:rPr>
                        <a:t>US$ 141,59</a:t>
                      </a:r>
                    </a:p>
                  </a:txBody>
                  <a:tcPr marL="73152" marR="73152" marT="36576" marB="36576" anchor="ctr">
                    <a:solidFill>
                      <a:srgbClr val="FFFFFF"/>
                    </a:solidFill>
                  </a:tcPr>
                </a:tc>
                <a:tc>
                  <a:txBody>
                    <a:bodyPr wrap="square"/>
                    <a:lstStyle/>
                    <a:p>
                      <a:r>
                        <a:rPr sz="950" b="0">
                          <a:solidFill>
                            <a:srgbClr val="2C3E50"/>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950" b="0">
                          <a:solidFill>
                            <a:srgbClr val="2C3E50"/>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1B365D"/>
                          </a:solidFill>
                          <a:latin typeface="Montserrat"/>
                        </a:rPr>
                        <a:t>Jardín Ecológico</a:t>
                      </a:r>
                    </a:p>
                  </a:txBody>
                  <a:tcPr marL="73152" marR="73152" marT="36576" marB="36576" anchor="ctr">
                    <a:solidFill>
                      <a:srgbClr val="F4F7FA"/>
                    </a:solidFill>
                  </a:tcPr>
                </a:tc>
                <a:tc>
                  <a:txBody>
                    <a:bodyPr wrap="square"/>
                    <a:lstStyle/>
                    <a:p>
                      <a:r>
                        <a:rPr sz="950" b="0">
                          <a:solidFill>
                            <a:srgbClr val="2C3E50"/>
                          </a:solidFill>
                          <a:latin typeface="Montserrat"/>
                        </a:rPr>
                        <a:t>8%</a:t>
                      </a:r>
                    </a:p>
                  </a:txBody>
                  <a:tcPr marL="73152" marR="73152" marT="36576" marB="36576" anchor="ctr">
                    <a:solidFill>
                      <a:srgbClr val="F4F7FA"/>
                    </a:solidFill>
                  </a:tcPr>
                </a:tc>
                <a:tc>
                  <a:txBody>
                    <a:bodyPr wrap="square"/>
                    <a:lstStyle/>
                    <a:p>
                      <a:r>
                        <a:rPr sz="950" b="0">
                          <a:solidFill>
                            <a:srgbClr val="2C3E50"/>
                          </a:solidFill>
                          <a:latin typeface="Montserrat"/>
                        </a:rPr>
                        <a:t>US$ 53,10</a:t>
                      </a:r>
                    </a:p>
                  </a:txBody>
                  <a:tcPr marL="73152" marR="73152" marT="36576" marB="36576" anchor="ctr">
                    <a:solidFill>
                      <a:srgbClr val="F4F7FA"/>
                    </a:solidFill>
                  </a:tcPr>
                </a:tc>
                <a:tc>
                  <a:txBody>
                    <a:bodyPr wrap="square"/>
                    <a:lstStyle/>
                    <a:p>
                      <a:r>
                        <a:rPr sz="950" b="0">
                          <a:solidFill>
                            <a:srgbClr val="2C3E50"/>
                          </a:solidFill>
                          <a:latin typeface="Montserrat"/>
                        </a:rPr>
                        <a:t>Contado: mes siguiente · Financiado: proporcional a lo cobrado</a:t>
                      </a:r>
                    </a:p>
                  </a:txBody>
                  <a:tcPr marL="73152" marR="73152" marT="36576" marB="36576" anchor="ctr">
                    <a:solidFill>
                      <a:srgbClr val="F4F7FA"/>
                    </a:solidFill>
                  </a:tcPr>
                </a:tc>
                <a:tc>
                  <a:txBody>
                    <a:bodyPr wrap="square"/>
                    <a:lstStyle/>
                    <a:p>
                      <a:r>
                        <a:rPr sz="950" b="0">
                          <a:solidFill>
                            <a:srgbClr val="2C3E50"/>
                          </a:solidFill>
                          <a:latin typeface="Montserrat"/>
                        </a:rPr>
                        <a:t>Cancelación en 90 días</a:t>
                      </a:r>
                    </a:p>
                  </a:txBody>
                  <a:tcPr marL="73152" marR="73152" marT="36576" marB="36576" anchor="ctr">
                    <a:solidFill>
                      <a:srgbClr val="F4F7FA"/>
                    </a:solidFill>
                  </a:tcPr>
                </a:tc>
              </a:tr>
              <a:tr h="658368">
                <a:tc>
                  <a:txBody>
                    <a:bodyPr wrap="square"/>
                    <a:lstStyle/>
                    <a:p>
                      <a:r>
                        <a:rPr sz="950" b="1">
                          <a:solidFill>
                            <a:srgbClr val="1B365D"/>
                          </a:solidFill>
                          <a:latin typeface="Montserrat"/>
                        </a:rPr>
                        <a:t>Mascotas · solo espacio</a:t>
                      </a:r>
                    </a:p>
                  </a:txBody>
                  <a:tcPr marL="73152" marR="73152" marT="36576" marB="36576" anchor="ctr">
                    <a:solidFill>
                      <a:srgbClr val="FFFFFF"/>
                    </a:solidFill>
                  </a:tcPr>
                </a:tc>
                <a:tc>
                  <a:txBody>
                    <a:bodyPr wrap="square"/>
                    <a:lstStyle/>
                    <a:p>
                      <a:r>
                        <a:rPr sz="950" b="0">
                          <a:solidFill>
                            <a:srgbClr val="2C3E50"/>
                          </a:solidFill>
                          <a:latin typeface="Montserrat"/>
                        </a:rPr>
                        <a:t>8%</a:t>
                      </a:r>
                    </a:p>
                  </a:txBody>
                  <a:tcPr marL="73152" marR="73152" marT="36576" marB="36576" anchor="ctr">
                    <a:solidFill>
                      <a:srgbClr val="FFFFFF"/>
                    </a:solidFill>
                  </a:tcPr>
                </a:tc>
                <a:tc>
                  <a:txBody>
                    <a:bodyPr wrap="square"/>
                    <a:lstStyle/>
                    <a:p>
                      <a:r>
                        <a:rPr sz="950" b="0">
                          <a:solidFill>
                            <a:srgbClr val="2C3E50"/>
                          </a:solidFill>
                          <a:latin typeface="Montserrat"/>
                        </a:rPr>
                        <a:t>US$ 28,32</a:t>
                      </a:r>
                    </a:p>
                  </a:txBody>
                  <a:tcPr marL="73152" marR="73152" marT="36576" marB="36576" anchor="ctr">
                    <a:solidFill>
                      <a:srgbClr val="FFFFFF"/>
                    </a:solidFill>
                  </a:tcPr>
                </a:tc>
                <a:tc>
                  <a:txBody>
                    <a:bodyPr wrap="square"/>
                    <a:lstStyle/>
                    <a:p>
                      <a:r>
                        <a:rPr sz="950" b="0">
                          <a:solidFill>
                            <a:srgbClr val="2C3E50"/>
                          </a:solidFill>
                          <a:latin typeface="Montserrat"/>
                        </a:rPr>
                        <a:t>Mes siguiente al pago</a:t>
                      </a:r>
                    </a:p>
                  </a:txBody>
                  <a:tcPr marL="73152" marR="73152" marT="36576" marB="36576" anchor="ctr">
                    <a:solidFill>
                      <a:srgbClr val="FFFFFF"/>
                    </a:solidFill>
                  </a:tcPr>
                </a:tc>
                <a:tc>
                  <a:txBody>
                    <a:bodyPr wrap="square"/>
                    <a:lstStyle/>
                    <a:p>
                      <a:r>
                        <a:rPr sz="950" b="0">
                          <a:solidFill>
                            <a:srgbClr val="2C3E50"/>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1B365D"/>
                          </a:solidFill>
                          <a:latin typeface="Montserrat"/>
                        </a:rPr>
                        <a:t>Mascotas · con placa</a:t>
                      </a:r>
                    </a:p>
                  </a:txBody>
                  <a:tcPr marL="73152" marR="73152" marT="36576" marB="36576" anchor="ctr">
                    <a:solidFill>
                      <a:srgbClr val="F4F7FA"/>
                    </a:solidFill>
                  </a:tcPr>
                </a:tc>
                <a:tc>
                  <a:txBody>
                    <a:bodyPr wrap="square"/>
                    <a:lstStyle/>
                    <a:p>
                      <a:r>
                        <a:rPr sz="950" b="0">
                          <a:solidFill>
                            <a:srgbClr val="2C3E50"/>
                          </a:solidFill>
                          <a:latin typeface="Montserrat"/>
                        </a:rPr>
                        <a:t>8%</a:t>
                      </a:r>
                    </a:p>
                  </a:txBody>
                  <a:tcPr marL="73152" marR="73152" marT="36576" marB="36576" anchor="ctr">
                    <a:solidFill>
                      <a:srgbClr val="F4F7FA"/>
                    </a:solidFill>
                  </a:tcPr>
                </a:tc>
                <a:tc>
                  <a:txBody>
                    <a:bodyPr wrap="square"/>
                    <a:lstStyle/>
                    <a:p>
                      <a:r>
                        <a:rPr sz="950" b="0">
                          <a:solidFill>
                            <a:srgbClr val="2C3E50"/>
                          </a:solidFill>
                          <a:latin typeface="Montserrat"/>
                        </a:rPr>
                        <a:t>US$ 38,94</a:t>
                      </a:r>
                    </a:p>
                  </a:txBody>
                  <a:tcPr marL="73152" marR="73152" marT="36576" marB="36576" anchor="ctr">
                    <a:solidFill>
                      <a:srgbClr val="F4F7FA"/>
                    </a:solidFill>
                  </a:tcPr>
                </a:tc>
                <a:tc>
                  <a:txBody>
                    <a:bodyPr wrap="square"/>
                    <a:lstStyle/>
                    <a:p>
                      <a:r>
                        <a:rPr sz="950" b="0">
                          <a:solidFill>
                            <a:srgbClr val="2C3E50"/>
                          </a:solidFill>
                          <a:latin typeface="Montserrat"/>
                        </a:rPr>
                        <a:t>Mes siguiente al pago</a:t>
                      </a:r>
                    </a:p>
                  </a:txBody>
                  <a:tcPr marL="73152" marR="73152" marT="36576" marB="36576" anchor="ctr">
                    <a:solidFill>
                      <a:srgbClr val="F4F7FA"/>
                    </a:solidFill>
                  </a:tcPr>
                </a:tc>
                <a:tc>
                  <a:txBody>
                    <a:bodyPr wrap="square"/>
                    <a:lstStyle/>
                    <a:p>
                      <a:r>
                        <a:rPr sz="950" b="0">
                          <a:solidFill>
                            <a:srgbClr val="2C3E50"/>
                          </a:solidFill>
                          <a:latin typeface="Montserrat"/>
                        </a:rPr>
                        <a:t>Cancelación en 90 días</a:t>
                      </a:r>
                    </a:p>
                  </a:txBody>
                  <a:tcPr marL="73152" marR="73152" marT="36576" marB="36576" anchor="ctr">
                    <a:solidFill>
                      <a:srgbClr val="F4F7FA"/>
                    </a:solidFill>
                  </a:tcPr>
                </a:tc>
              </a:tr>
              <a:tr h="658368">
                <a:tc>
                  <a:txBody>
                    <a:bodyPr wrap="square"/>
                    <a:lstStyle/>
                    <a:p>
                      <a:r>
                        <a:rPr sz="950" b="1">
                          <a:solidFill>
                            <a:srgbClr val="1B365D"/>
                          </a:solidFill>
                          <a:latin typeface="Montserrat"/>
                        </a:rPr>
                        <a:t>Jardín Ceremonial</a:t>
                      </a:r>
                    </a:p>
                  </a:txBody>
                  <a:tcPr marL="73152" marR="73152" marT="36576" marB="36576" anchor="ctr">
                    <a:solidFill>
                      <a:srgbClr val="FBF3E1"/>
                    </a:solidFill>
                  </a:tcPr>
                </a:tc>
                <a:tc>
                  <a:txBody>
                    <a:bodyPr wrap="square"/>
                    <a:lstStyle/>
                    <a:p>
                      <a:r>
                        <a:rPr sz="950" b="0">
                          <a:solidFill>
                            <a:srgbClr val="2C3E50"/>
                          </a:solidFill>
                          <a:latin typeface="Montserrat"/>
                        </a:rPr>
                        <a:t>A definir</a:t>
                      </a:r>
                    </a:p>
                  </a:txBody>
                  <a:tcPr marL="73152" marR="73152" marT="36576" marB="36576" anchor="ctr">
                    <a:solidFill>
                      <a:srgbClr val="FBF3E1"/>
                    </a:solidFill>
                  </a:tcPr>
                </a:tc>
                <a:tc>
                  <a:txBody>
                    <a:bodyPr wrap="square"/>
                    <a:lstStyle/>
                    <a:p>
                      <a:r>
                        <a:rPr sz="950" b="0">
                          <a:solidFill>
                            <a:srgbClr val="2C3E50"/>
                          </a:solidFill>
                          <a:latin typeface="Montserrat"/>
                        </a:rPr>
                        <a:t>—</a:t>
                      </a:r>
                    </a:p>
                  </a:txBody>
                  <a:tcPr marL="73152" marR="73152" marT="36576" marB="36576" anchor="ctr">
                    <a:solidFill>
                      <a:srgbClr val="FBF3E1"/>
                    </a:solidFill>
                  </a:tcPr>
                </a:tc>
                <a:tc>
                  <a:txBody>
                    <a:bodyPr wrap="square"/>
                    <a:lstStyle/>
                    <a:p>
                      <a:r>
                        <a:rPr sz="950" b="0">
                          <a:solidFill>
                            <a:srgbClr val="2C3E50"/>
                          </a:solidFill>
                          <a:latin typeface="Montserrat"/>
                        </a:rPr>
                        <a:t>—</a:t>
                      </a:r>
                    </a:p>
                  </a:txBody>
                  <a:tcPr marL="73152" marR="73152" marT="36576" marB="36576" anchor="ctr">
                    <a:solidFill>
                      <a:srgbClr val="FBF3E1"/>
                    </a:solidFill>
                  </a:tcPr>
                </a:tc>
                <a:tc>
                  <a:txBody>
                    <a:bodyPr wrap="square"/>
                    <a:lstStyle/>
                    <a:p>
                      <a:r>
                        <a:rPr sz="950" b="0">
                          <a:solidFill>
                            <a:srgbClr val="2C3E50"/>
                          </a:solidFill>
                          <a:latin typeface="Montserrat"/>
                        </a:rPr>
                        <a:t>—</a:t>
                      </a:r>
                    </a:p>
                  </a:txBody>
                  <a:tcPr marL="73152" marR="73152" marT="36576" marB="36576" anchor="ctr">
                    <a:solidFill>
                      <a:srgbClr val="FBF3E1"/>
                    </a:solidFill>
                  </a:tcPr>
                </a:tc>
              </a:tr>
            </a:tbl>
          </a:graphicData>
        </a:graphic>
      </p:graphicFrame>
      <p:sp>
        <p:nvSpPr>
          <p:cNvPr id="9" name="TextBox 8"/>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Reglas de comisión</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Base de cálculo: valor efectivamente cobrado al cliente, sin IVA (13%).</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Comisión única de 8% para todos los productos.</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No generan comisión: cuotas de mantenimiento anual (US$ 15 / US$ 25).</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Bono de venta combinada: US$ 15 al vender la Solución Modular junto con cualquier jardín.</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Acelerador Día de los Muertos (opcional): +2 pp en Individual y Ecológico hasta el 30/11/2026.</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Estorno: la comisión se descuenta de los pagos siguientes al asesor.</a:t>
            </a:r>
          </a:p>
        </p:txBody>
      </p:sp>
      <p:sp>
        <p:nvSpPr>
          <p:cNvPr id="7" name="Rectangle 6"/>
          <p:cNvSpPr/>
          <p:nvPr/>
        </p:nvSpPr>
        <p:spPr>
          <a:xfrm>
            <a:off x="502920" y="6035040"/>
            <a:ext cx="6556248"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Ficha Técnica de Cremación</a:t>
            </a:r>
          </a:p>
          <a:p>
            <a:pPr algn="l">
              <a:lnSpc>
                <a:spcPct val="115000"/>
              </a:lnSpc>
              <a:spcAft>
                <a:spcPts val="100"/>
              </a:spcAft>
            </a:pPr>
            <a:r>
              <a:rPr sz="1050" b="0" i="0">
                <a:solidFill>
                  <a:srgbClr val="2C3E50"/>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Visita al jardín</a:t>
            </a:r>
          </a:p>
          <a:p>
            <a:pPr algn="l">
              <a:lnSpc>
                <a:spcPct val="115000"/>
              </a:lnSpc>
              <a:spcAft>
                <a:spcPts val="100"/>
              </a:spcAft>
            </a:pPr>
            <a:r>
              <a:rPr sz="1050" b="0" i="0">
                <a:solidFill>
                  <a:srgbClr val="2C3E50"/>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Presentación «Jardines de Cenizas»</a:t>
            </a:r>
          </a:p>
          <a:p>
            <a:pPr algn="l">
              <a:lnSpc>
                <a:spcPct val="115000"/>
              </a:lnSpc>
              <a:spcAft>
                <a:spcPts val="100"/>
              </a:spcAft>
            </a:pPr>
            <a:r>
              <a:rPr sz="1050" b="0" i="0">
                <a:solidFill>
                  <a:srgbClr val="2C3E50"/>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Simulación de cuotas</a:t>
            </a:r>
          </a:p>
          <a:p>
            <a:pPr algn="l">
              <a:lnSpc>
                <a:spcPct val="115000"/>
              </a:lnSpc>
              <a:spcAft>
                <a:spcPts val="100"/>
              </a:spcAft>
            </a:pPr>
            <a:r>
              <a:rPr sz="1050" b="0" i="0">
                <a:solidFill>
                  <a:srgbClr val="2C3E50"/>
                </a:solidFill>
                <a:latin typeface="Montserrat"/>
              </a:rPr>
              <a:t>Calcule la cuota con el cliente: transparencia genera confianza.</a:t>
            </a:r>
          </a:p>
        </p:txBody>
      </p:sp>
      <p:sp>
        <p:nvSpPr>
          <p:cNvPr id="18" name="Rectangle 17"/>
          <p:cNvSpPr/>
          <p:nvPr/>
        </p:nvSpPr>
        <p:spPr>
          <a:xfrm>
            <a:off x="502920" y="4864608"/>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Registro de contactos</a:t>
            </a:r>
          </a:p>
          <a:p>
            <a:pPr algn="l">
              <a:lnSpc>
                <a:spcPct val="115000"/>
              </a:lnSpc>
              <a:spcAft>
                <a:spcPts val="100"/>
              </a:spcAft>
            </a:pPr>
            <a:r>
              <a:rPr sz="1050" b="0" i="0">
                <a:solidFill>
                  <a:srgbClr val="2C3E50"/>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5A059"/>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Expliqué la cuota de mantenimiento o el plazo de 3 años, según el caso.</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5A059"/>
                </a:solidFill>
                <a:latin typeface="Montserrat"/>
              </a:rPr>
              <a:t>La Auxiliadora · Hogar de las Memorias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669582"/>
            <a:ext cx="2002536" cy="628796"/>
          </a:xfrm>
          <a:prstGeom prst="rect">
            <a:avLst/>
          </a:prstGeom>
        </p:spPr>
      </p:pic>
      <p:pic>
        <p:nvPicPr>
          <p:cNvPr id="7" name="Picture 6" descr="hogar_de_las_memorias.png"/>
          <p:cNvPicPr>
            <a:picLocks noChangeAspect="1"/>
          </p:cNvPicPr>
          <p:nvPr/>
        </p:nvPicPr>
        <p:blipFill>
          <a:blip r:embed="rId3"/>
          <a:stretch>
            <a:fillRect/>
          </a:stretch>
        </p:blipFill>
        <p:spPr>
          <a:xfrm>
            <a:off x="2779776" y="8583473"/>
            <a:ext cx="2002536" cy="801014"/>
          </a:xfrm>
          <a:prstGeom prst="rect">
            <a:avLst/>
          </a:prstGeom>
        </p:spPr>
      </p:pic>
      <p:pic>
        <p:nvPicPr>
          <p:cNvPr id="8" name="Picture 7" descr="vangrupo.png"/>
          <p:cNvPicPr>
            <a:picLocks noChangeAspect="1"/>
          </p:cNvPicPr>
          <p:nvPr/>
        </p:nvPicPr>
        <p:blipFill>
          <a:blip r:embed="rId4"/>
          <a:stretch>
            <a:fillRect/>
          </a:stretch>
        </p:blipFill>
        <p:spPr>
          <a:xfrm>
            <a:off x="4919472" y="8727399"/>
            <a:ext cx="2002536" cy="513162"/>
          </a:xfrm>
          <a:prstGeom prst="rect">
            <a:avLst/>
          </a:prstGeom>
        </p:spPr>
      </p:pic>
      <p:sp>
        <p:nvSpPr>
          <p:cNvPr id="9" name="Rectangle 8"/>
          <p:cNvSpPr/>
          <p:nvPr/>
        </p:nvSpPr>
        <p:spPr>
          <a:xfrm>
            <a:off x="0" y="10460736"/>
            <a:ext cx="7562088" cy="22860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